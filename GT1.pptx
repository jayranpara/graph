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726" r:id="rId2"/>
    <p:sldMasterId id="2147483713" r:id="rId3"/>
  </p:sldMasterIdLst>
  <p:notesMasterIdLst>
    <p:notesMasterId r:id="rId90"/>
  </p:notesMasterIdLst>
  <p:handoutMasterIdLst>
    <p:handoutMasterId r:id="rId91"/>
  </p:handoutMasterIdLst>
  <p:sldIdLst>
    <p:sldId id="256" r:id="rId4"/>
    <p:sldId id="265" r:id="rId5"/>
    <p:sldId id="862" r:id="rId6"/>
    <p:sldId id="748" r:id="rId7"/>
    <p:sldId id="747" r:id="rId8"/>
    <p:sldId id="751" r:id="rId9"/>
    <p:sldId id="753" r:id="rId10"/>
    <p:sldId id="754" r:id="rId11"/>
    <p:sldId id="863" r:id="rId12"/>
    <p:sldId id="771" r:id="rId13"/>
    <p:sldId id="777" r:id="rId14"/>
    <p:sldId id="864" r:id="rId15"/>
    <p:sldId id="752" r:id="rId16"/>
    <p:sldId id="758" r:id="rId17"/>
    <p:sldId id="760" r:id="rId18"/>
    <p:sldId id="776" r:id="rId19"/>
    <p:sldId id="775" r:id="rId20"/>
    <p:sldId id="768" r:id="rId21"/>
    <p:sldId id="761" r:id="rId22"/>
    <p:sldId id="764" r:id="rId23"/>
    <p:sldId id="766" r:id="rId24"/>
    <p:sldId id="865" r:id="rId25"/>
    <p:sldId id="866" r:id="rId26"/>
    <p:sldId id="779" r:id="rId27"/>
    <p:sldId id="781" r:id="rId28"/>
    <p:sldId id="773" r:id="rId29"/>
    <p:sldId id="774" r:id="rId30"/>
    <p:sldId id="783" r:id="rId31"/>
    <p:sldId id="784" r:id="rId32"/>
    <p:sldId id="786" r:id="rId33"/>
    <p:sldId id="867" r:id="rId34"/>
    <p:sldId id="868" r:id="rId35"/>
    <p:sldId id="800" r:id="rId36"/>
    <p:sldId id="790" r:id="rId37"/>
    <p:sldId id="793" r:id="rId38"/>
    <p:sldId id="842" r:id="rId39"/>
    <p:sldId id="795" r:id="rId40"/>
    <p:sldId id="850" r:id="rId41"/>
    <p:sldId id="869" r:id="rId42"/>
    <p:sldId id="848" r:id="rId43"/>
    <p:sldId id="851" r:id="rId44"/>
    <p:sldId id="870" r:id="rId45"/>
    <p:sldId id="871" r:id="rId46"/>
    <p:sldId id="857" r:id="rId47"/>
    <p:sldId id="858" r:id="rId48"/>
    <p:sldId id="859" r:id="rId49"/>
    <p:sldId id="797" r:id="rId50"/>
    <p:sldId id="808" r:id="rId51"/>
    <p:sldId id="839" r:id="rId52"/>
    <p:sldId id="846" r:id="rId53"/>
    <p:sldId id="845" r:id="rId54"/>
    <p:sldId id="801" r:id="rId55"/>
    <p:sldId id="802" r:id="rId56"/>
    <p:sldId id="847" r:id="rId57"/>
    <p:sldId id="810" r:id="rId58"/>
    <p:sldId id="811" r:id="rId59"/>
    <p:sldId id="812" r:id="rId60"/>
    <p:sldId id="874" r:id="rId61"/>
    <p:sldId id="814" r:id="rId62"/>
    <p:sldId id="872" r:id="rId63"/>
    <p:sldId id="873" r:id="rId64"/>
    <p:sldId id="815" r:id="rId65"/>
    <p:sldId id="817" r:id="rId66"/>
    <p:sldId id="875" r:id="rId67"/>
    <p:sldId id="818" r:id="rId68"/>
    <p:sldId id="841" r:id="rId69"/>
    <p:sldId id="876" r:id="rId70"/>
    <p:sldId id="822" r:id="rId71"/>
    <p:sldId id="820" r:id="rId72"/>
    <p:sldId id="823" r:id="rId73"/>
    <p:sldId id="826" r:id="rId74"/>
    <p:sldId id="827" r:id="rId75"/>
    <p:sldId id="824" r:id="rId76"/>
    <p:sldId id="825" r:id="rId77"/>
    <p:sldId id="828" r:id="rId78"/>
    <p:sldId id="829" r:id="rId79"/>
    <p:sldId id="830" r:id="rId80"/>
    <p:sldId id="831" r:id="rId81"/>
    <p:sldId id="832" r:id="rId82"/>
    <p:sldId id="833" r:id="rId83"/>
    <p:sldId id="834" r:id="rId84"/>
    <p:sldId id="835" r:id="rId85"/>
    <p:sldId id="836" r:id="rId86"/>
    <p:sldId id="837" r:id="rId87"/>
    <p:sldId id="838" r:id="rId88"/>
    <p:sldId id="264" r:id="rId89"/>
  </p:sldIdLst>
  <p:sldSz cx="12192000" cy="6858000"/>
  <p:notesSz cx="6858000" cy="9144000"/>
  <p:embeddedFontLst>
    <p:embeddedFont>
      <p:font typeface="Calibri" panose="020F0502020204030204" pitchFamily="34" charset="0"/>
      <p:regular r:id="rId92"/>
      <p:bold r:id="rId93"/>
      <p:italic r:id="rId94"/>
      <p:boldItalic r:id="rId95"/>
    </p:embeddedFont>
    <p:embeddedFont>
      <p:font typeface="Calibri Light" panose="020F0302020204030204" pitchFamily="34" charset="0"/>
      <p:regular r:id="rId96"/>
      <p:italic r:id="rId97"/>
    </p:embeddedFont>
    <p:embeddedFont>
      <p:font typeface="Cambria" panose="02040503050406030204" pitchFamily="18" charset="0"/>
      <p:regular r:id="rId98"/>
      <p:bold r:id="rId99"/>
      <p:italic r:id="rId100"/>
      <p:boldItalic r:id="rId101"/>
    </p:embeddedFont>
    <p:embeddedFont>
      <p:font typeface="Cambria Math" panose="02040503050406030204" pitchFamily="18" charset="0"/>
      <p:regular r:id="rId102"/>
    </p:embeddedFont>
    <p:embeddedFont>
      <p:font typeface="Roboto Condensed" panose="02000000000000000000" pitchFamily="2" charset="0"/>
      <p:regular r:id="rId103"/>
      <p:bold r:id="rId104"/>
      <p:italic r:id="rId105"/>
      <p:boldItalic r:id="rId106"/>
    </p:embeddedFont>
    <p:embeddedFont>
      <p:font typeface="Roboto Condensed Light" panose="02000000000000000000" pitchFamily="2" charset="0"/>
      <p:regular r:id="rId107"/>
      <p:italic r:id="rId108"/>
    </p:embeddedFont>
    <p:embeddedFont>
      <p:font typeface="Wingdings 3" panose="05040102010807070707" pitchFamily="18" charset="2"/>
      <p:regular r:id="rId10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y6lc9WSe5lMGuGeJAkmxPQ==" hashData="vHG7I74v7Xoc1y0IYoW8+XlYuKIKkYNE5+w0TfTNBm81zvE+o1RnxBaQg406Qxti+6QaOnQd9fU5D5zwg2hQbQ=="/>
  <p:extLst>
    <p:ext uri="{EFAFB233-063F-42B5-8137-9DF3F51BA10A}">
      <p15:sldGuideLst xmlns:p15="http://schemas.microsoft.com/office/powerpoint/2012/main">
        <p15:guide id="1" orient="horz" pos="2886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46D79"/>
    <a:srgbClr val="00B050"/>
    <a:srgbClr val="FADFCC"/>
    <a:srgbClr val="E9E9E9"/>
    <a:srgbClr val="D10233"/>
    <a:srgbClr val="B71B1C"/>
    <a:srgbClr val="3D0FE7"/>
    <a:srgbClr val="005E6A"/>
    <a:srgbClr val="0E4AA4"/>
    <a:srgbClr val="0E47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03" autoAdjust="0"/>
    <p:restoredTop sz="94660"/>
  </p:normalViewPr>
  <p:slideViewPr>
    <p:cSldViewPr snapToGrid="0">
      <p:cViewPr>
        <p:scale>
          <a:sx n="66" d="100"/>
          <a:sy n="66" d="100"/>
        </p:scale>
        <p:origin x="720" y="336"/>
      </p:cViewPr>
      <p:guideLst>
        <p:guide orient="horz" pos="2886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7" d="100"/>
          <a:sy n="57" d="100"/>
        </p:scale>
        <p:origin x="283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slide" Target="slides/slide81.xml"/><Relationship Id="rId89" Type="http://schemas.openxmlformats.org/officeDocument/2006/relationships/slide" Target="slides/slide86.xml"/><Relationship Id="rId112" Type="http://schemas.openxmlformats.org/officeDocument/2006/relationships/theme" Target="theme/theme1.xml"/><Relationship Id="rId16" Type="http://schemas.openxmlformats.org/officeDocument/2006/relationships/slide" Target="slides/slide13.xml"/><Relationship Id="rId107" Type="http://schemas.openxmlformats.org/officeDocument/2006/relationships/font" Target="fonts/font16.fntdata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102" Type="http://schemas.openxmlformats.org/officeDocument/2006/relationships/font" Target="fonts/font11.fntdata"/><Relationship Id="rId5" Type="http://schemas.openxmlformats.org/officeDocument/2006/relationships/slide" Target="slides/slide2.xml"/><Relationship Id="rId90" Type="http://schemas.openxmlformats.org/officeDocument/2006/relationships/notesMaster" Target="notesMasters/notesMaster1.xml"/><Relationship Id="rId95" Type="http://schemas.openxmlformats.org/officeDocument/2006/relationships/font" Target="fonts/font4.fntdata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113" Type="http://schemas.openxmlformats.org/officeDocument/2006/relationships/tableStyles" Target="tableStyles.xml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59" Type="http://schemas.openxmlformats.org/officeDocument/2006/relationships/slide" Target="slides/slide56.xml"/><Relationship Id="rId103" Type="http://schemas.openxmlformats.org/officeDocument/2006/relationships/font" Target="fonts/font12.fntdata"/><Relationship Id="rId108" Type="http://schemas.openxmlformats.org/officeDocument/2006/relationships/font" Target="fonts/font17.fntdata"/><Relationship Id="rId54" Type="http://schemas.openxmlformats.org/officeDocument/2006/relationships/slide" Target="slides/slide51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91" Type="http://schemas.openxmlformats.org/officeDocument/2006/relationships/handoutMaster" Target="handoutMasters/handoutMaster1.xml"/><Relationship Id="rId96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6" Type="http://schemas.openxmlformats.org/officeDocument/2006/relationships/font" Target="fonts/font15.fntdata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94" Type="http://schemas.openxmlformats.org/officeDocument/2006/relationships/font" Target="fonts/font3.fntdata"/><Relationship Id="rId99" Type="http://schemas.openxmlformats.org/officeDocument/2006/relationships/font" Target="fonts/font8.fntdata"/><Relationship Id="rId101" Type="http://schemas.openxmlformats.org/officeDocument/2006/relationships/font" Target="fonts/font10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109" Type="http://schemas.openxmlformats.org/officeDocument/2006/relationships/font" Target="fonts/font18.fntdata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97" Type="http://schemas.openxmlformats.org/officeDocument/2006/relationships/font" Target="fonts/font6.fntdata"/><Relationship Id="rId104" Type="http://schemas.openxmlformats.org/officeDocument/2006/relationships/font" Target="fonts/font13.fntdata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font" Target="fonts/font1.fntdata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slide" Target="slides/slide84.xml"/><Relationship Id="rId110" Type="http://schemas.openxmlformats.org/officeDocument/2006/relationships/presProps" Target="presProps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56" Type="http://schemas.openxmlformats.org/officeDocument/2006/relationships/slide" Target="slides/slide53.xml"/><Relationship Id="rId77" Type="http://schemas.openxmlformats.org/officeDocument/2006/relationships/slide" Target="slides/slide74.xml"/><Relationship Id="rId100" Type="http://schemas.openxmlformats.org/officeDocument/2006/relationships/font" Target="fonts/font9.fntdata"/><Relationship Id="rId105" Type="http://schemas.openxmlformats.org/officeDocument/2006/relationships/font" Target="fonts/font14.fntdata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93" Type="http://schemas.openxmlformats.org/officeDocument/2006/relationships/font" Target="fonts/font2.fntdata"/><Relationship Id="rId98" Type="http://schemas.openxmlformats.org/officeDocument/2006/relationships/font" Target="fonts/font7.fntdata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22.xml"/><Relationship Id="rId46" Type="http://schemas.openxmlformats.org/officeDocument/2006/relationships/slide" Target="slides/slide43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62" Type="http://schemas.openxmlformats.org/officeDocument/2006/relationships/slide" Target="slides/slide59.xml"/><Relationship Id="rId83" Type="http://schemas.openxmlformats.org/officeDocument/2006/relationships/slide" Target="slides/slide80.xml"/><Relationship Id="rId88" Type="http://schemas.openxmlformats.org/officeDocument/2006/relationships/slide" Target="slides/slide85.xml"/><Relationship Id="rId111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0691E0-E0E7-464F-892B-71ACC2518A4D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53689D-5810-4E66-9D5F-1657D824C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0960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3756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819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7615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10.jpe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3.png"/><Relationship Id="rId7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1.png"/><Relationship Id="rId4" Type="http://schemas.openxmlformats.org/officeDocument/2006/relationships/image" Target="../media/image7.png"/><Relationship Id="rId9" Type="http://schemas.openxmlformats.org/officeDocument/2006/relationships/image" Target="../media/image1.png"/></Relationships>
</file>

<file path=ppt/slideLayouts/_rels/slideLayout12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10.jpeg"/></Relationships>
</file>

<file path=ppt/slideLayouts/_rels/slideLayout13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10.jpeg"/></Relationships>
</file>

<file path=ppt/slideLayouts/_rels/slideLayout14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10.jpe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3.png"/><Relationship Id="rId7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10.jpeg"/></Relationships>
</file>

<file path=ppt/slideLayouts/_rels/slideLayout18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10.jpe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3.png"/><Relationship Id="rId7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.png"/></Relationships>
</file>

<file path=ppt/slideLayouts/_rels/slideLayout20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11" Type="http://schemas.openxmlformats.org/officeDocument/2006/relationships/image" Target="../media/image1.png"/><Relationship Id="rId5" Type="http://schemas.openxmlformats.org/officeDocument/2006/relationships/image" Target="../media/image7.png"/><Relationship Id="rId10" Type="http://schemas.openxmlformats.org/officeDocument/2006/relationships/image" Target="../media/image10.jpeg"/><Relationship Id="rId4" Type="http://schemas.openxmlformats.org/officeDocument/2006/relationships/image" Target="../media/image6.png"/><Relationship Id="rId9" Type="http://schemas.openxmlformats.org/officeDocument/2006/relationships/image" Target="../media/image14.jpeg"/></Relationships>
</file>

<file path=ppt/slideLayouts/_rels/slideLayout2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10.jpe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9A329F3-B4EA-403B-BD1C-FDD65D8E9D3F}"/>
              </a:ext>
            </a:extLst>
          </p:cNvPr>
          <p:cNvGrpSpPr/>
          <p:nvPr userDrawn="1"/>
        </p:nvGrpSpPr>
        <p:grpSpPr>
          <a:xfrm>
            <a:off x="10721798" y="852808"/>
            <a:ext cx="1339023" cy="407045"/>
            <a:chOff x="10721798" y="852808"/>
            <a:chExt cx="1339023" cy="40704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0325C5E-F004-43A9-9277-53A0BD206A7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B63808E-204C-4894-A747-B51DDC7425C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800">
                <a:solidFill>
                  <a:srgbClr val="002060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800">
                <a:solidFill>
                  <a:srgbClr val="002060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2800">
                <a:solidFill>
                  <a:srgbClr val="002060"/>
                </a:solidFill>
              </a:defRPr>
            </a:lvl3pPr>
            <a:lvl4pPr algn="just">
              <a:buClr>
                <a:schemeClr val="accent6"/>
              </a:buClr>
              <a:defRPr sz="2800">
                <a:solidFill>
                  <a:srgbClr val="002060"/>
                </a:solidFill>
              </a:defRPr>
            </a:lvl4pPr>
            <a:lvl5pPr algn="just">
              <a:buClr>
                <a:schemeClr val="accent6"/>
              </a:buClr>
              <a:defRPr sz="2800"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Prof. </a:t>
            </a:r>
            <a:r>
              <a:rPr lang="en-US" sz="1200" b="0" kern="12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Punit</a:t>
            </a:r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kern="12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Vadher</a:t>
            </a:r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21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976258" y="6604000"/>
            <a:ext cx="4239482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#2301HS301 (Graph theory)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   Unit 1 – Tree</a:t>
            </a:r>
          </a:p>
        </p:txBody>
      </p:sp>
    </p:spTree>
    <p:extLst>
      <p:ext uri="{BB962C8B-B14F-4D97-AF65-F5344CB8AC3E}">
        <p14:creationId xmlns:p14="http://schemas.microsoft.com/office/powerpoint/2010/main" val="1306942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721797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800">
                <a:solidFill>
                  <a:srgbClr val="002060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800">
                <a:solidFill>
                  <a:srgbClr val="002060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2800">
                <a:solidFill>
                  <a:srgbClr val="002060"/>
                </a:solidFill>
              </a:defRPr>
            </a:lvl3pPr>
            <a:lvl4pPr algn="just">
              <a:buClr>
                <a:schemeClr val="accent6"/>
              </a:buClr>
              <a:defRPr sz="2800">
                <a:solidFill>
                  <a:srgbClr val="002060"/>
                </a:solidFill>
              </a:defRPr>
            </a:lvl4pPr>
            <a:lvl5pPr algn="just">
              <a:buClr>
                <a:schemeClr val="accent6"/>
              </a:buClr>
              <a:defRPr sz="2800"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Prof. </a:t>
            </a:r>
            <a:r>
              <a:rPr lang="en-US" sz="1200" b="0" kern="12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Punit</a:t>
            </a:r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kern="12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Vadher</a:t>
            </a:r>
            <a:endParaRPr lang="en-US" sz="1200" b="0" kern="1200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1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933652" y="6604000"/>
            <a:ext cx="4324696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#2301CS595 (Graph theory)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   Unit 1 – Tree</a:t>
            </a:r>
          </a:p>
        </p:txBody>
      </p:sp>
    </p:spTree>
    <p:extLst>
      <p:ext uri="{BB962C8B-B14F-4D97-AF65-F5344CB8AC3E}">
        <p14:creationId xmlns:p14="http://schemas.microsoft.com/office/powerpoint/2010/main" val="529939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31179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Prof. </a:t>
            </a:r>
            <a:r>
              <a:rPr lang="en-US" sz="1200" b="0" kern="12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Punit</a:t>
            </a:r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kern="12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Vadher</a:t>
            </a:r>
            <a:endParaRPr lang="en-US" sz="1200" b="0" kern="1200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800">
                <a:solidFill>
                  <a:srgbClr val="002060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800">
                <a:solidFill>
                  <a:srgbClr val="002060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2800">
                <a:solidFill>
                  <a:srgbClr val="002060"/>
                </a:solidFill>
              </a:defRPr>
            </a:lvl3pPr>
            <a:lvl4pPr algn="just">
              <a:buClr>
                <a:schemeClr val="accent6"/>
              </a:buClr>
              <a:defRPr sz="2800">
                <a:solidFill>
                  <a:srgbClr val="002060"/>
                </a:solidFill>
              </a:defRPr>
            </a:lvl4pPr>
            <a:lvl5pPr algn="just">
              <a:buClr>
                <a:schemeClr val="accent6"/>
              </a:buClr>
              <a:defRPr sz="2800"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933652" y="6604000"/>
            <a:ext cx="4324696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#2301HS301 (Graph Theory)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   Unit 1 – Tree</a:t>
            </a:r>
          </a:p>
        </p:txBody>
      </p:sp>
    </p:spTree>
    <p:extLst>
      <p:ext uri="{BB962C8B-B14F-4D97-AF65-F5344CB8AC3E}">
        <p14:creationId xmlns:p14="http://schemas.microsoft.com/office/powerpoint/2010/main" val="3385785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0677938" y="6350844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90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Prof. Dhvanik H. Zala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AA5C57A-F840-488A-AACF-E658D398FCEC}"/>
              </a:ext>
            </a:extLst>
          </p:cNvPr>
          <p:cNvGrpSpPr/>
          <p:nvPr userDrawn="1"/>
        </p:nvGrpSpPr>
        <p:grpSpPr>
          <a:xfrm>
            <a:off x="10304203" y="212531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B8F12B0-F30C-4955-8E3F-625C9D2A74C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508BA0B-FE99-4953-98B0-D2708C070068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933652" y="6604000"/>
            <a:ext cx="4324696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#2301HS301 (Discrete Mathematics)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   Unit 4 – Graph Theory - I</a:t>
            </a:r>
          </a:p>
        </p:txBody>
      </p:sp>
    </p:spTree>
    <p:extLst>
      <p:ext uri="{BB962C8B-B14F-4D97-AF65-F5344CB8AC3E}">
        <p14:creationId xmlns:p14="http://schemas.microsoft.com/office/powerpoint/2010/main" val="4185281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Prof. </a:t>
            </a:r>
            <a:r>
              <a:rPr lang="en-US" sz="1200" b="0" kern="12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Punit</a:t>
            </a:r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kern="12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Vadher</a:t>
            </a:r>
            <a:endParaRPr lang="en-US" sz="1200" b="0" kern="1200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57991" y="5976558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933652" y="6604000"/>
            <a:ext cx="4324696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#2301HS301 (Graph Theory)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   Unit 1 – Tree</a:t>
            </a:r>
          </a:p>
        </p:txBody>
      </p:sp>
    </p:spTree>
    <p:extLst>
      <p:ext uri="{BB962C8B-B14F-4D97-AF65-F5344CB8AC3E}">
        <p14:creationId xmlns:p14="http://schemas.microsoft.com/office/powerpoint/2010/main" val="1879831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31179" y="6000405"/>
            <a:ext cx="1649043" cy="501287"/>
            <a:chOff x="10721798" y="852808"/>
            <a:chExt cx="1339023" cy="407045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Prof. Dhvanik H. Zala</a:t>
            </a:r>
          </a:p>
        </p:txBody>
      </p:sp>
      <p:sp>
        <p:nvSpPr>
          <p:cNvPr id="24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25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933652" y="6604000"/>
            <a:ext cx="4324696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#2301HS301 (Discrete Mathematics)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   Unit 4 – Graph Theory - I</a:t>
            </a:r>
          </a:p>
        </p:txBody>
      </p:sp>
    </p:spTree>
    <p:extLst>
      <p:ext uri="{BB962C8B-B14F-4D97-AF65-F5344CB8AC3E}">
        <p14:creationId xmlns:p14="http://schemas.microsoft.com/office/powerpoint/2010/main" val="3620674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4779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87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65C24A8B-C009-4A74-9481-67BB67CA49B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946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DCFBA18-DBB7-4232-9BDC-C0D95AE93AF0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2D49F10-F713-AD06-6440-6C6BB452A6F1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8579226" y="2084604"/>
            <a:ext cx="3433959" cy="1438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7843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E75AD4F-9BB9-4005-AB78-4A6D388A4CD6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9577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4964C355-848F-46E4-BB2A-EA2EE69FEBA2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5936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036D56FE-CA91-4481-9096-27448303AC2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4576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Unit 1: Tree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punit.vadher@darshan.ac.in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9662443859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Department of Humanities and Sciences 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Prof. </a:t>
            </a:r>
            <a:r>
              <a:rPr lang="en-US" dirty="0" err="1"/>
              <a:t>Punit</a:t>
            </a:r>
            <a:r>
              <a:rPr lang="en-US" dirty="0"/>
              <a:t> B </a:t>
            </a:r>
            <a:r>
              <a:rPr lang="en-US" dirty="0" err="1"/>
              <a:t>Vadher</a:t>
            </a:r>
            <a:endParaRPr lang="en-US" dirty="0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Graph Theory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561853C-B15A-4153-A982-7E7EB1213BCE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820" y="1336020"/>
            <a:ext cx="3388380" cy="3388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101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21B45-1703-4330-B544-825BD8F37AF2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3426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976521A-C815-4A64-A047-CE405ED0E59A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4997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31765DD-2E04-4EE4-AFB7-43E328823E61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9989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1018DFAF-9B15-4199-9C36-C730A2CE6C5E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DFB250A-3893-87F0-04F7-777249C1CBE2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9062429" y="1979469"/>
            <a:ext cx="2875475" cy="2164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44A518A-BE68-4048-BDCB-77578CB57230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949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C248CBD5-99BA-4017-857A-5ED400F43651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4210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31179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8805933F-A132-4F27-9B63-76662C25EE8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Prof.</a:t>
            </a:r>
            <a:r>
              <a:rPr lang="en-US" sz="1200" b="0" kern="1200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kern="1200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Punit</a:t>
            </a:r>
            <a:r>
              <a:rPr lang="en-US" sz="1200" b="0" kern="1200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kern="1200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Vadher</a:t>
            </a:r>
            <a:endParaRPr lang="en-US" sz="1200" b="0" kern="1200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31BD2762-073C-4A6C-A015-82D707DA9D9F}"/>
              </a:ext>
            </a:extLst>
          </p:cNvPr>
          <p:cNvSpPr txBox="1">
            <a:spLocks/>
          </p:cNvSpPr>
          <p:nvPr userDrawn="1"/>
        </p:nvSpPr>
        <p:spPr>
          <a:xfrm>
            <a:off x="3357601" y="6604000"/>
            <a:ext cx="5476799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#2301HS301 (</a:t>
            </a:r>
            <a:r>
              <a:rPr lang="en-IN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Graph theory</a:t>
            </a:r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   Unit</a:t>
            </a:r>
            <a:r>
              <a:rPr lang="en-US" sz="1200" b="0" kern="1200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 1</a:t>
            </a:r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 – Tree</a:t>
            </a:r>
            <a:r>
              <a:rPr lang="en-IN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 </a:t>
            </a:r>
            <a:endParaRPr lang="en-US" sz="1200" b="0" kern="1200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lnSpc>
                <a:spcPct val="125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800">
                <a:solidFill>
                  <a:srgbClr val="002060"/>
                </a:solidFill>
              </a:defRPr>
            </a:lvl1pPr>
            <a:lvl2pPr marL="628650" indent="-352425" algn="just">
              <a:lnSpc>
                <a:spcPct val="125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800">
                <a:solidFill>
                  <a:srgbClr val="002060"/>
                </a:solidFill>
              </a:defRPr>
            </a:lvl2pPr>
            <a:lvl3pPr marL="895350" indent="-228600" algn="just">
              <a:lnSpc>
                <a:spcPct val="125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2800">
                <a:solidFill>
                  <a:srgbClr val="002060"/>
                </a:solidFill>
              </a:defRPr>
            </a:lvl3pPr>
            <a:lvl4pPr marL="1257300" indent="-228600" algn="just">
              <a:lnSpc>
                <a:spcPct val="125000"/>
              </a:lnSpc>
              <a:spcBef>
                <a:spcPts val="1000"/>
              </a:spcBef>
              <a:buClr>
                <a:schemeClr val="accent6"/>
              </a:buClr>
              <a:defRPr sz="2800">
                <a:solidFill>
                  <a:srgbClr val="002060"/>
                </a:solidFill>
              </a:defRPr>
            </a:lvl4pPr>
            <a:lvl5pPr marL="1619250" indent="-228600" algn="just">
              <a:lnSpc>
                <a:spcPct val="125000"/>
              </a:lnSpc>
              <a:spcBef>
                <a:spcPts val="1000"/>
              </a:spcBef>
              <a:buClr>
                <a:schemeClr val="accent6"/>
              </a:buClr>
              <a:defRPr sz="2800"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060782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B174A-3678-4F11-89C2-E0E8A23F778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044C2-AE3D-42EF-919C-864D09930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929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B174A-3678-4F11-89C2-E0E8A23F778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044C2-AE3D-42EF-919C-864D09930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553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B174A-3678-4F11-89C2-E0E8A23F778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044C2-AE3D-42EF-919C-864D09930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6860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B174A-3678-4F11-89C2-E0E8A23F778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044C2-AE3D-42EF-919C-864D09930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53449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B174A-3678-4F11-89C2-E0E8A23F778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044C2-AE3D-42EF-919C-864D09930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2340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B174A-3678-4F11-89C2-E0E8A23F778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044C2-AE3D-42EF-919C-864D09930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12052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B174A-3678-4F11-89C2-E0E8A23F778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044C2-AE3D-42EF-919C-864D09930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8595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B174A-3678-4F11-89C2-E0E8A23F778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044C2-AE3D-42EF-919C-864D09930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39033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B174A-3678-4F11-89C2-E0E8A23F778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044C2-AE3D-42EF-919C-864D09930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60720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B174A-3678-4F11-89C2-E0E8A23F778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044C2-AE3D-42EF-919C-864D09930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6613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B174A-3678-4F11-89C2-E0E8A23F778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044C2-AE3D-42EF-919C-864D09930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29703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8DB99-FD62-4481-9A4B-A22D148AD42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59511-47C3-4666-B47A-5254F608EF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09676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8DB99-FD62-4481-9A4B-A22D148AD42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59511-47C3-4666-B47A-5254F608EF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11904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8DB99-FD62-4481-9A4B-A22D148AD42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59511-47C3-4666-B47A-5254F608EF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54442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8DB99-FD62-4481-9A4B-A22D148AD42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59511-47C3-4666-B47A-5254F608EF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83760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8DB99-FD62-4481-9A4B-A22D148AD42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59511-47C3-4666-B47A-5254F608EF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94392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8DB99-FD62-4481-9A4B-A22D148AD42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59511-47C3-4666-B47A-5254F608EF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91407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8DB99-FD62-4481-9A4B-A22D148AD42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59511-47C3-4666-B47A-5254F608EF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6908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8DB99-FD62-4481-9A4B-A22D148AD42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59511-47C3-4666-B47A-5254F608EF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40442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8DB99-FD62-4481-9A4B-A22D148AD42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59511-47C3-4666-B47A-5254F608EF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38270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8DB99-FD62-4481-9A4B-A22D148AD42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59511-47C3-4666-B47A-5254F608EF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85378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8DB99-FD62-4481-9A4B-A22D148AD42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59511-47C3-4666-B47A-5254F608EF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572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25" r:id="rId16"/>
    <p:sldLayoutId id="2147483708" r:id="rId17"/>
    <p:sldLayoutId id="2147483709" r:id="rId18"/>
    <p:sldLayoutId id="2147483684" r:id="rId19"/>
    <p:sldLayoutId id="2147483711" r:id="rId20"/>
    <p:sldLayoutId id="2147483712" r:id="rId21"/>
    <p:sldLayoutId id="2147483738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2B174A-3678-4F11-89C2-E0E8A23F778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4044C2-AE3D-42EF-919C-864D09930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998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F8DB99-FD62-4481-9A4B-A22D148AD42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359511-47C3-4666-B47A-5254F608EF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235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0.png"/><Relationship Id="rId3" Type="http://schemas.openxmlformats.org/officeDocument/2006/relationships/image" Target="../media/image530.png"/><Relationship Id="rId7" Type="http://schemas.openxmlformats.org/officeDocument/2006/relationships/image" Target="../media/image57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0.png"/><Relationship Id="rId5" Type="http://schemas.openxmlformats.org/officeDocument/2006/relationships/image" Target="../media/image550.png"/><Relationship Id="rId4" Type="http://schemas.openxmlformats.org/officeDocument/2006/relationships/image" Target="../media/image520.png"/><Relationship Id="rId9" Type="http://schemas.openxmlformats.org/officeDocument/2006/relationships/image" Target="../media/image63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3.pn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12" Type="http://schemas.openxmlformats.org/officeDocument/2006/relationships/image" Target="../media/image710.png"/><Relationship Id="rId2" Type="http://schemas.openxmlformats.org/officeDocument/2006/relationships/image" Target="../media/image6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11" Type="http://schemas.openxmlformats.org/officeDocument/2006/relationships/image" Target="../media/image700.png"/><Relationship Id="rId5" Type="http://schemas.openxmlformats.org/officeDocument/2006/relationships/image" Target="../media/image67.png"/><Relationship Id="rId10" Type="http://schemas.openxmlformats.org/officeDocument/2006/relationships/image" Target="../media/image72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1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2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91.png"/><Relationship Id="rId4" Type="http://schemas.openxmlformats.org/officeDocument/2006/relationships/image" Target="../media/image82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6.png"/><Relationship Id="rId18" Type="http://schemas.openxmlformats.org/officeDocument/2006/relationships/image" Target="../media/image91.png"/><Relationship Id="rId26" Type="http://schemas.openxmlformats.org/officeDocument/2006/relationships/image" Target="../media/image99.png"/><Relationship Id="rId39" Type="http://schemas.openxmlformats.org/officeDocument/2006/relationships/image" Target="../media/image112.png"/><Relationship Id="rId21" Type="http://schemas.openxmlformats.org/officeDocument/2006/relationships/image" Target="../media/image94.png"/><Relationship Id="rId34" Type="http://schemas.openxmlformats.org/officeDocument/2006/relationships/image" Target="../media/image107.png"/><Relationship Id="rId42" Type="http://schemas.openxmlformats.org/officeDocument/2006/relationships/image" Target="../media/image115.png"/><Relationship Id="rId7" Type="http://schemas.openxmlformats.org/officeDocument/2006/relationships/image" Target="../media/image800.png"/><Relationship Id="rId2" Type="http://schemas.openxmlformats.org/officeDocument/2006/relationships/image" Target="../media/image750.png"/><Relationship Id="rId16" Type="http://schemas.openxmlformats.org/officeDocument/2006/relationships/image" Target="../media/image89.png"/><Relationship Id="rId20" Type="http://schemas.openxmlformats.org/officeDocument/2006/relationships/image" Target="../media/image93.png"/><Relationship Id="rId29" Type="http://schemas.openxmlformats.org/officeDocument/2006/relationships/image" Target="../media/image102.png"/><Relationship Id="rId41" Type="http://schemas.openxmlformats.org/officeDocument/2006/relationships/image" Target="../media/image1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0.png"/><Relationship Id="rId11" Type="http://schemas.openxmlformats.org/officeDocument/2006/relationships/image" Target="../media/image840.png"/><Relationship Id="rId24" Type="http://schemas.openxmlformats.org/officeDocument/2006/relationships/image" Target="../media/image97.png"/><Relationship Id="rId32" Type="http://schemas.openxmlformats.org/officeDocument/2006/relationships/image" Target="../media/image105.png"/><Relationship Id="rId37" Type="http://schemas.openxmlformats.org/officeDocument/2006/relationships/image" Target="../media/image110.png"/><Relationship Id="rId40" Type="http://schemas.openxmlformats.org/officeDocument/2006/relationships/image" Target="../media/image113.png"/><Relationship Id="rId5" Type="http://schemas.openxmlformats.org/officeDocument/2006/relationships/image" Target="../media/image780.png"/><Relationship Id="rId15" Type="http://schemas.openxmlformats.org/officeDocument/2006/relationships/image" Target="../media/image88.png"/><Relationship Id="rId23" Type="http://schemas.openxmlformats.org/officeDocument/2006/relationships/image" Target="../media/image96.png"/><Relationship Id="rId28" Type="http://schemas.openxmlformats.org/officeDocument/2006/relationships/image" Target="../media/image101.png"/><Relationship Id="rId36" Type="http://schemas.openxmlformats.org/officeDocument/2006/relationships/image" Target="../media/image109.png"/><Relationship Id="rId10" Type="http://schemas.openxmlformats.org/officeDocument/2006/relationships/image" Target="../media/image830.png"/><Relationship Id="rId19" Type="http://schemas.openxmlformats.org/officeDocument/2006/relationships/image" Target="../media/image92.png"/><Relationship Id="rId31" Type="http://schemas.openxmlformats.org/officeDocument/2006/relationships/image" Target="../media/image104.png"/><Relationship Id="rId4" Type="http://schemas.openxmlformats.org/officeDocument/2006/relationships/image" Target="../media/image770.png"/><Relationship Id="rId9" Type="http://schemas.openxmlformats.org/officeDocument/2006/relationships/image" Target="../media/image820.png"/><Relationship Id="rId14" Type="http://schemas.openxmlformats.org/officeDocument/2006/relationships/image" Target="../media/image87.png"/><Relationship Id="rId22" Type="http://schemas.openxmlformats.org/officeDocument/2006/relationships/image" Target="../media/image95.png"/><Relationship Id="rId27" Type="http://schemas.openxmlformats.org/officeDocument/2006/relationships/image" Target="../media/image100.png"/><Relationship Id="rId30" Type="http://schemas.openxmlformats.org/officeDocument/2006/relationships/image" Target="../media/image103.png"/><Relationship Id="rId35" Type="http://schemas.openxmlformats.org/officeDocument/2006/relationships/image" Target="../media/image108.png"/><Relationship Id="rId43" Type="http://schemas.openxmlformats.org/officeDocument/2006/relationships/image" Target="../media/image116.png"/><Relationship Id="rId8" Type="http://schemas.openxmlformats.org/officeDocument/2006/relationships/image" Target="../media/image810.png"/><Relationship Id="rId3" Type="http://schemas.openxmlformats.org/officeDocument/2006/relationships/image" Target="../media/image760.png"/><Relationship Id="rId12" Type="http://schemas.openxmlformats.org/officeDocument/2006/relationships/image" Target="../media/image85.png"/><Relationship Id="rId17" Type="http://schemas.openxmlformats.org/officeDocument/2006/relationships/image" Target="../media/image90.png"/><Relationship Id="rId25" Type="http://schemas.openxmlformats.org/officeDocument/2006/relationships/image" Target="../media/image98.png"/><Relationship Id="rId33" Type="http://schemas.openxmlformats.org/officeDocument/2006/relationships/image" Target="../media/image106.png"/><Relationship Id="rId38" Type="http://schemas.openxmlformats.org/officeDocument/2006/relationships/image" Target="../media/image111.png"/></Relationships>
</file>

<file path=ppt/slides/_rels/slide5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6.png"/><Relationship Id="rId18" Type="http://schemas.openxmlformats.org/officeDocument/2006/relationships/image" Target="../media/image91.png"/><Relationship Id="rId26" Type="http://schemas.openxmlformats.org/officeDocument/2006/relationships/image" Target="../media/image99.png"/><Relationship Id="rId39" Type="http://schemas.openxmlformats.org/officeDocument/2006/relationships/image" Target="../media/image112.png"/><Relationship Id="rId21" Type="http://schemas.openxmlformats.org/officeDocument/2006/relationships/image" Target="../media/image94.png"/><Relationship Id="rId34" Type="http://schemas.openxmlformats.org/officeDocument/2006/relationships/image" Target="../media/image107.png"/><Relationship Id="rId42" Type="http://schemas.openxmlformats.org/officeDocument/2006/relationships/image" Target="../media/image115.png"/><Relationship Id="rId47" Type="http://schemas.openxmlformats.org/officeDocument/2006/relationships/image" Target="../media/image122.png"/><Relationship Id="rId50" Type="http://schemas.openxmlformats.org/officeDocument/2006/relationships/image" Target="../media/image125.png"/><Relationship Id="rId7" Type="http://schemas.openxmlformats.org/officeDocument/2006/relationships/image" Target="../media/image800.png"/><Relationship Id="rId2" Type="http://schemas.openxmlformats.org/officeDocument/2006/relationships/image" Target="../media/image750.png"/><Relationship Id="rId16" Type="http://schemas.openxmlformats.org/officeDocument/2006/relationships/image" Target="../media/image89.png"/><Relationship Id="rId29" Type="http://schemas.openxmlformats.org/officeDocument/2006/relationships/image" Target="../media/image102.png"/><Relationship Id="rId11" Type="http://schemas.openxmlformats.org/officeDocument/2006/relationships/image" Target="../media/image840.png"/><Relationship Id="rId24" Type="http://schemas.openxmlformats.org/officeDocument/2006/relationships/image" Target="../media/image97.png"/><Relationship Id="rId32" Type="http://schemas.openxmlformats.org/officeDocument/2006/relationships/image" Target="../media/image118.png"/><Relationship Id="rId37" Type="http://schemas.openxmlformats.org/officeDocument/2006/relationships/image" Target="../media/image110.png"/><Relationship Id="rId40" Type="http://schemas.openxmlformats.org/officeDocument/2006/relationships/image" Target="../media/image113.png"/><Relationship Id="rId45" Type="http://schemas.openxmlformats.org/officeDocument/2006/relationships/image" Target="../media/image120.png"/><Relationship Id="rId5" Type="http://schemas.openxmlformats.org/officeDocument/2006/relationships/image" Target="../media/image780.png"/><Relationship Id="rId15" Type="http://schemas.openxmlformats.org/officeDocument/2006/relationships/image" Target="../media/image88.png"/><Relationship Id="rId23" Type="http://schemas.openxmlformats.org/officeDocument/2006/relationships/image" Target="../media/image96.png"/><Relationship Id="rId28" Type="http://schemas.openxmlformats.org/officeDocument/2006/relationships/image" Target="../media/image101.png"/><Relationship Id="rId36" Type="http://schemas.openxmlformats.org/officeDocument/2006/relationships/image" Target="../media/image109.png"/><Relationship Id="rId49" Type="http://schemas.openxmlformats.org/officeDocument/2006/relationships/image" Target="../media/image124.png"/><Relationship Id="rId10" Type="http://schemas.openxmlformats.org/officeDocument/2006/relationships/image" Target="../media/image830.png"/><Relationship Id="rId19" Type="http://schemas.openxmlformats.org/officeDocument/2006/relationships/image" Target="../media/image92.png"/><Relationship Id="rId31" Type="http://schemas.openxmlformats.org/officeDocument/2006/relationships/image" Target="../media/image104.png"/><Relationship Id="rId44" Type="http://schemas.openxmlformats.org/officeDocument/2006/relationships/image" Target="../media/image119.png"/><Relationship Id="rId4" Type="http://schemas.openxmlformats.org/officeDocument/2006/relationships/image" Target="../media/image770.png"/><Relationship Id="rId9" Type="http://schemas.openxmlformats.org/officeDocument/2006/relationships/image" Target="../media/image820.png"/><Relationship Id="rId14" Type="http://schemas.openxmlformats.org/officeDocument/2006/relationships/image" Target="../media/image87.png"/><Relationship Id="rId22" Type="http://schemas.openxmlformats.org/officeDocument/2006/relationships/image" Target="../media/image95.png"/><Relationship Id="rId27" Type="http://schemas.openxmlformats.org/officeDocument/2006/relationships/image" Target="../media/image100.png"/><Relationship Id="rId30" Type="http://schemas.openxmlformats.org/officeDocument/2006/relationships/image" Target="../media/image117.png"/><Relationship Id="rId35" Type="http://schemas.openxmlformats.org/officeDocument/2006/relationships/image" Target="../media/image108.png"/><Relationship Id="rId43" Type="http://schemas.openxmlformats.org/officeDocument/2006/relationships/image" Target="../media/image116.png"/><Relationship Id="rId48" Type="http://schemas.openxmlformats.org/officeDocument/2006/relationships/image" Target="../media/image123.png"/><Relationship Id="rId8" Type="http://schemas.openxmlformats.org/officeDocument/2006/relationships/image" Target="../media/image810.png"/><Relationship Id="rId51" Type="http://schemas.openxmlformats.org/officeDocument/2006/relationships/image" Target="../media/image126.png"/><Relationship Id="rId3" Type="http://schemas.openxmlformats.org/officeDocument/2006/relationships/image" Target="../media/image760.png"/><Relationship Id="rId12" Type="http://schemas.openxmlformats.org/officeDocument/2006/relationships/image" Target="../media/image85.png"/><Relationship Id="rId17" Type="http://schemas.openxmlformats.org/officeDocument/2006/relationships/image" Target="../media/image90.png"/><Relationship Id="rId25" Type="http://schemas.openxmlformats.org/officeDocument/2006/relationships/image" Target="../media/image98.png"/><Relationship Id="rId33" Type="http://schemas.openxmlformats.org/officeDocument/2006/relationships/image" Target="../media/image106.png"/><Relationship Id="rId38" Type="http://schemas.openxmlformats.org/officeDocument/2006/relationships/image" Target="../media/image111.png"/><Relationship Id="rId46" Type="http://schemas.openxmlformats.org/officeDocument/2006/relationships/image" Target="../media/image121.png"/><Relationship Id="rId20" Type="http://schemas.openxmlformats.org/officeDocument/2006/relationships/image" Target="../media/image93.png"/><Relationship Id="rId41" Type="http://schemas.openxmlformats.org/officeDocument/2006/relationships/image" Target="../media/image1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7" Type="http://schemas.openxmlformats.org/officeDocument/2006/relationships/image" Target="../media/image132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1.png"/><Relationship Id="rId5" Type="http://schemas.openxmlformats.org/officeDocument/2006/relationships/image" Target="../media/image130.png"/><Relationship Id="rId4" Type="http://schemas.openxmlformats.org/officeDocument/2006/relationships/image" Target="../media/image129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9.png"/><Relationship Id="rId18" Type="http://schemas.openxmlformats.org/officeDocument/2006/relationships/image" Target="../media/image144.png"/><Relationship Id="rId26" Type="http://schemas.openxmlformats.org/officeDocument/2006/relationships/image" Target="../media/image152.png"/><Relationship Id="rId39" Type="http://schemas.openxmlformats.org/officeDocument/2006/relationships/image" Target="../media/image165.png"/><Relationship Id="rId21" Type="http://schemas.openxmlformats.org/officeDocument/2006/relationships/image" Target="../media/image147.png"/><Relationship Id="rId34" Type="http://schemas.openxmlformats.org/officeDocument/2006/relationships/image" Target="../media/image160.png"/><Relationship Id="rId42" Type="http://schemas.openxmlformats.org/officeDocument/2006/relationships/image" Target="../media/image168.png"/><Relationship Id="rId47" Type="http://schemas.openxmlformats.org/officeDocument/2006/relationships/image" Target="../media/image173.png"/><Relationship Id="rId50" Type="http://schemas.openxmlformats.org/officeDocument/2006/relationships/image" Target="../media/image176.png"/><Relationship Id="rId7" Type="http://schemas.openxmlformats.org/officeDocument/2006/relationships/image" Target="../media/image1330.png"/><Relationship Id="rId2" Type="http://schemas.openxmlformats.org/officeDocument/2006/relationships/image" Target="../media/image134.png"/><Relationship Id="rId16" Type="http://schemas.openxmlformats.org/officeDocument/2006/relationships/image" Target="../media/image142.png"/><Relationship Id="rId29" Type="http://schemas.openxmlformats.org/officeDocument/2006/relationships/image" Target="../media/image155.png"/><Relationship Id="rId11" Type="http://schemas.openxmlformats.org/officeDocument/2006/relationships/image" Target="../media/image137.png"/><Relationship Id="rId24" Type="http://schemas.openxmlformats.org/officeDocument/2006/relationships/image" Target="../media/image150.png"/><Relationship Id="rId32" Type="http://schemas.openxmlformats.org/officeDocument/2006/relationships/image" Target="../media/image158.png"/><Relationship Id="rId37" Type="http://schemas.openxmlformats.org/officeDocument/2006/relationships/image" Target="../media/image163.png"/><Relationship Id="rId40" Type="http://schemas.openxmlformats.org/officeDocument/2006/relationships/image" Target="../media/image166.png"/><Relationship Id="rId45" Type="http://schemas.openxmlformats.org/officeDocument/2006/relationships/image" Target="../media/image171.png"/><Relationship Id="rId5" Type="http://schemas.openxmlformats.org/officeDocument/2006/relationships/image" Target="../media/image1310.png"/><Relationship Id="rId15" Type="http://schemas.openxmlformats.org/officeDocument/2006/relationships/image" Target="../media/image141.png"/><Relationship Id="rId23" Type="http://schemas.openxmlformats.org/officeDocument/2006/relationships/image" Target="../media/image149.png"/><Relationship Id="rId28" Type="http://schemas.openxmlformats.org/officeDocument/2006/relationships/image" Target="../media/image154.png"/><Relationship Id="rId36" Type="http://schemas.openxmlformats.org/officeDocument/2006/relationships/image" Target="../media/image162.png"/><Relationship Id="rId49" Type="http://schemas.openxmlformats.org/officeDocument/2006/relationships/image" Target="../media/image175.png"/><Relationship Id="rId10" Type="http://schemas.openxmlformats.org/officeDocument/2006/relationships/image" Target="../media/image136.png"/><Relationship Id="rId19" Type="http://schemas.openxmlformats.org/officeDocument/2006/relationships/image" Target="../media/image145.png"/><Relationship Id="rId31" Type="http://schemas.openxmlformats.org/officeDocument/2006/relationships/image" Target="../media/image157.png"/><Relationship Id="rId44" Type="http://schemas.openxmlformats.org/officeDocument/2006/relationships/image" Target="../media/image170.png"/><Relationship Id="rId4" Type="http://schemas.openxmlformats.org/officeDocument/2006/relationships/image" Target="../media/image1300.png"/><Relationship Id="rId9" Type="http://schemas.openxmlformats.org/officeDocument/2006/relationships/image" Target="../media/image135.png"/><Relationship Id="rId14" Type="http://schemas.openxmlformats.org/officeDocument/2006/relationships/image" Target="../media/image140.png"/><Relationship Id="rId22" Type="http://schemas.openxmlformats.org/officeDocument/2006/relationships/image" Target="../media/image148.png"/><Relationship Id="rId27" Type="http://schemas.openxmlformats.org/officeDocument/2006/relationships/image" Target="../media/image153.png"/><Relationship Id="rId30" Type="http://schemas.openxmlformats.org/officeDocument/2006/relationships/image" Target="../media/image156.png"/><Relationship Id="rId35" Type="http://schemas.openxmlformats.org/officeDocument/2006/relationships/image" Target="../media/image161.png"/><Relationship Id="rId43" Type="http://schemas.openxmlformats.org/officeDocument/2006/relationships/image" Target="../media/image169.png"/><Relationship Id="rId48" Type="http://schemas.openxmlformats.org/officeDocument/2006/relationships/image" Target="../media/image174.png"/><Relationship Id="rId8" Type="http://schemas.openxmlformats.org/officeDocument/2006/relationships/image" Target="../media/image1340.png"/><Relationship Id="rId51" Type="http://schemas.openxmlformats.org/officeDocument/2006/relationships/image" Target="../media/image177.png"/><Relationship Id="rId3" Type="http://schemas.openxmlformats.org/officeDocument/2006/relationships/image" Target="../media/image1290.png"/><Relationship Id="rId12" Type="http://schemas.openxmlformats.org/officeDocument/2006/relationships/image" Target="../media/image138.png"/><Relationship Id="rId17" Type="http://schemas.openxmlformats.org/officeDocument/2006/relationships/image" Target="../media/image143.png"/><Relationship Id="rId25" Type="http://schemas.openxmlformats.org/officeDocument/2006/relationships/image" Target="../media/image151.png"/><Relationship Id="rId33" Type="http://schemas.openxmlformats.org/officeDocument/2006/relationships/image" Target="../media/image159.png"/><Relationship Id="rId38" Type="http://schemas.openxmlformats.org/officeDocument/2006/relationships/image" Target="../media/image164.png"/><Relationship Id="rId46" Type="http://schemas.openxmlformats.org/officeDocument/2006/relationships/image" Target="../media/image172.png"/><Relationship Id="rId20" Type="http://schemas.openxmlformats.org/officeDocument/2006/relationships/image" Target="../media/image146.png"/><Relationship Id="rId41" Type="http://schemas.openxmlformats.org/officeDocument/2006/relationships/image" Target="../media/image1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20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4.png"/><Relationship Id="rId13" Type="http://schemas.openxmlformats.org/officeDocument/2006/relationships/image" Target="../media/image189.png"/><Relationship Id="rId3" Type="http://schemas.openxmlformats.org/officeDocument/2006/relationships/image" Target="../media/image179.png"/><Relationship Id="rId7" Type="http://schemas.openxmlformats.org/officeDocument/2006/relationships/image" Target="../media/image183.png"/><Relationship Id="rId12" Type="http://schemas.openxmlformats.org/officeDocument/2006/relationships/image" Target="../media/image188.png"/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2.png"/><Relationship Id="rId11" Type="http://schemas.openxmlformats.org/officeDocument/2006/relationships/image" Target="../media/image187.png"/><Relationship Id="rId5" Type="http://schemas.openxmlformats.org/officeDocument/2006/relationships/image" Target="../media/image181.png"/><Relationship Id="rId10" Type="http://schemas.openxmlformats.org/officeDocument/2006/relationships/image" Target="../media/image186.png"/><Relationship Id="rId4" Type="http://schemas.openxmlformats.org/officeDocument/2006/relationships/image" Target="../media/image180.png"/><Relationship Id="rId9" Type="http://schemas.openxmlformats.org/officeDocument/2006/relationships/image" Target="../media/image185.png"/><Relationship Id="rId14" Type="http://schemas.openxmlformats.org/officeDocument/2006/relationships/image" Target="../media/image190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2.png"/><Relationship Id="rId2" Type="http://schemas.openxmlformats.org/officeDocument/2006/relationships/image" Target="../media/image19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4.png"/><Relationship Id="rId4" Type="http://schemas.openxmlformats.org/officeDocument/2006/relationships/image" Target="../media/image193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5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2.png"/><Relationship Id="rId3" Type="http://schemas.openxmlformats.org/officeDocument/2006/relationships/image" Target="../media/image197.png"/><Relationship Id="rId7" Type="http://schemas.openxmlformats.org/officeDocument/2006/relationships/image" Target="../media/image201.png"/><Relationship Id="rId2" Type="http://schemas.openxmlformats.org/officeDocument/2006/relationships/image" Target="../media/image19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0.png"/><Relationship Id="rId5" Type="http://schemas.openxmlformats.org/officeDocument/2006/relationships/image" Target="../media/image199.png"/><Relationship Id="rId4" Type="http://schemas.openxmlformats.org/officeDocument/2006/relationships/image" Target="../media/image198.pn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4.png"/><Relationship Id="rId2" Type="http://schemas.openxmlformats.org/officeDocument/2006/relationships/image" Target="../media/image20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7.png"/><Relationship Id="rId5" Type="http://schemas.openxmlformats.org/officeDocument/2006/relationships/image" Target="../media/image206.png"/><Relationship Id="rId4" Type="http://schemas.openxmlformats.org/officeDocument/2006/relationships/image" Target="../media/image205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4.png"/><Relationship Id="rId2" Type="http://schemas.openxmlformats.org/officeDocument/2006/relationships/image" Target="../media/image20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7.png"/><Relationship Id="rId5" Type="http://schemas.openxmlformats.org/officeDocument/2006/relationships/image" Target="../media/image206.png"/><Relationship Id="rId4" Type="http://schemas.openxmlformats.org/officeDocument/2006/relationships/image" Target="../media/image205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9.png"/><Relationship Id="rId2" Type="http://schemas.openxmlformats.org/officeDocument/2006/relationships/image" Target="../media/image208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2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8.png"/><Relationship Id="rId3" Type="http://schemas.openxmlformats.org/officeDocument/2006/relationships/image" Target="../media/image213.png"/><Relationship Id="rId7" Type="http://schemas.openxmlformats.org/officeDocument/2006/relationships/image" Target="../media/image217.png"/><Relationship Id="rId12" Type="http://schemas.openxmlformats.org/officeDocument/2006/relationships/image" Target="../media/image222.png"/><Relationship Id="rId2" Type="http://schemas.openxmlformats.org/officeDocument/2006/relationships/image" Target="../media/image15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6.png"/><Relationship Id="rId11" Type="http://schemas.openxmlformats.org/officeDocument/2006/relationships/image" Target="../media/image221.png"/><Relationship Id="rId5" Type="http://schemas.openxmlformats.org/officeDocument/2006/relationships/image" Target="../media/image215.png"/><Relationship Id="rId10" Type="http://schemas.openxmlformats.org/officeDocument/2006/relationships/image" Target="../media/image220.png"/><Relationship Id="rId4" Type="http://schemas.openxmlformats.org/officeDocument/2006/relationships/image" Target="../media/image214.png"/><Relationship Id="rId9" Type="http://schemas.openxmlformats.org/officeDocument/2006/relationships/image" Target="../media/image219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9.png"/><Relationship Id="rId13" Type="http://schemas.openxmlformats.org/officeDocument/2006/relationships/image" Target="../media/image234.png"/><Relationship Id="rId3" Type="http://schemas.openxmlformats.org/officeDocument/2006/relationships/image" Target="../media/image224.png"/><Relationship Id="rId7" Type="http://schemas.openxmlformats.org/officeDocument/2006/relationships/image" Target="../media/image228.png"/><Relationship Id="rId12" Type="http://schemas.openxmlformats.org/officeDocument/2006/relationships/image" Target="../media/image233.png"/><Relationship Id="rId2" Type="http://schemas.openxmlformats.org/officeDocument/2006/relationships/image" Target="../media/image223.png"/><Relationship Id="rId16" Type="http://schemas.openxmlformats.org/officeDocument/2006/relationships/image" Target="../media/image2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7.png"/><Relationship Id="rId11" Type="http://schemas.openxmlformats.org/officeDocument/2006/relationships/image" Target="../media/image232.png"/><Relationship Id="rId5" Type="http://schemas.openxmlformats.org/officeDocument/2006/relationships/image" Target="../media/image226.png"/><Relationship Id="rId15" Type="http://schemas.openxmlformats.org/officeDocument/2006/relationships/image" Target="../media/image236.png"/><Relationship Id="rId10" Type="http://schemas.openxmlformats.org/officeDocument/2006/relationships/image" Target="../media/image231.png"/><Relationship Id="rId4" Type="http://schemas.openxmlformats.org/officeDocument/2006/relationships/image" Target="../media/image225.png"/><Relationship Id="rId9" Type="http://schemas.openxmlformats.org/officeDocument/2006/relationships/image" Target="../media/image230.png"/><Relationship Id="rId14" Type="http://schemas.openxmlformats.org/officeDocument/2006/relationships/image" Target="../media/image235.pn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90.png"/><Relationship Id="rId13" Type="http://schemas.openxmlformats.org/officeDocument/2006/relationships/image" Target="../media/image1940.png"/><Relationship Id="rId3" Type="http://schemas.openxmlformats.org/officeDocument/2006/relationships/image" Target="../media/image1840.png"/><Relationship Id="rId7" Type="http://schemas.openxmlformats.org/officeDocument/2006/relationships/image" Target="../media/image1880.png"/><Relationship Id="rId12" Type="http://schemas.openxmlformats.org/officeDocument/2006/relationships/image" Target="../media/image1930.png"/><Relationship Id="rId2" Type="http://schemas.openxmlformats.org/officeDocument/2006/relationships/image" Target="../media/image18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70.png"/><Relationship Id="rId11" Type="http://schemas.openxmlformats.org/officeDocument/2006/relationships/image" Target="../media/image1920.png"/><Relationship Id="rId5" Type="http://schemas.openxmlformats.org/officeDocument/2006/relationships/image" Target="../media/image1860.png"/><Relationship Id="rId10" Type="http://schemas.openxmlformats.org/officeDocument/2006/relationships/image" Target="../media/image1910.png"/><Relationship Id="rId4" Type="http://schemas.openxmlformats.org/officeDocument/2006/relationships/image" Target="../media/image1850.png"/><Relationship Id="rId9" Type="http://schemas.openxmlformats.org/officeDocument/2006/relationships/image" Target="../media/image1900.png"/><Relationship Id="rId14" Type="http://schemas.openxmlformats.org/officeDocument/2006/relationships/image" Target="../media/image1950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8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90.png"/><Relationship Id="rId2" Type="http://schemas.openxmlformats.org/officeDocument/2006/relationships/image" Target="../media/image239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0.png"/><Relationship Id="rId2" Type="http://schemas.openxmlformats.org/officeDocument/2006/relationships/image" Target="../media/image1990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0.png"/><Relationship Id="rId2" Type="http://schemas.openxmlformats.org/officeDocument/2006/relationships/image" Target="../media/image1990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image" Target="../media/image2200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1.png"/><Relationship Id="rId2" Type="http://schemas.openxmlformats.org/officeDocument/2006/relationships/image" Target="../media/image22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2.png"/><Relationship Id="rId4" Type="http://schemas.openxmlformats.org/officeDocument/2006/relationships/image" Target="../media/image2001.png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40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3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3.png"/><Relationship Id="rId2" Type="http://schemas.openxmlformats.org/officeDocument/2006/relationships/image" Target="../media/image252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6D125B39-4795-4BA6-B9B5-11FFCFC984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350" y="1242129"/>
            <a:ext cx="7599954" cy="2578780"/>
          </a:xfrm>
        </p:spPr>
        <p:txBody>
          <a:bodyPr/>
          <a:lstStyle/>
          <a:p>
            <a:r>
              <a:rPr lang="en-US" dirty="0"/>
              <a:t>Unit – 1</a:t>
            </a:r>
            <a:br>
              <a:rPr lang="en-US" dirty="0"/>
            </a:br>
            <a:r>
              <a:rPr lang="en-US" dirty="0"/>
              <a:t>Trees &amp; Spanning Trees</a:t>
            </a:r>
            <a:br>
              <a:rPr lang="en-US" dirty="0"/>
            </a:b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5EEC38D-B69A-4F45-9CFB-3F832F2054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punit.vadher@darshan.ac.in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3B892750-977A-4A19-B627-46C829D9CDA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9662443859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DD3C75D-9CAD-401D-B6F2-D687EEC3CD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Department of Humanities &amp; Science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D6DA44CB-50AE-4D51-AC18-61617625288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</a:t>
            </a:r>
            <a:r>
              <a:rPr lang="en-US" dirty="0" err="1"/>
              <a:t>Punit</a:t>
            </a:r>
            <a:r>
              <a:rPr lang="en-US" dirty="0"/>
              <a:t> </a:t>
            </a:r>
            <a:r>
              <a:rPr lang="en-US" dirty="0" err="1"/>
              <a:t>Vadher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Placeholder 19">
                <a:extLst>
                  <a:ext uri="{FF2B5EF4-FFF2-40B4-BE49-F238E27FC236}">
                    <a16:creationId xmlns:a16="http://schemas.microsoft.com/office/drawing/2014/main" id="{FF5B8673-7BA1-4EA7-991A-5F4DCD3054D0}"/>
                  </a:ext>
                </a:extLst>
              </p:cNvPr>
              <p:cNvSpPr>
                <a:spLocks noGrp="1"/>
              </p:cNvSpPr>
              <p:nvPr>
                <p:ph type="body" sz="quarter" idx="16"/>
              </p:nvPr>
            </p:nvSpPr>
            <p:spPr>
              <a:xfrm>
                <a:off x="2581756" y="135956"/>
                <a:ext cx="4646358" cy="734653"/>
              </a:xfrm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en-US" dirty="0"/>
                  <a:t>B.Tech., B.Sc.(H) CS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baseline="30000" dirty="0"/>
                  <a:t>th</a:t>
                </a:r>
                <a:r>
                  <a:rPr lang="en-US" dirty="0"/>
                  <a:t>  Semester</a:t>
                </a:r>
              </a:p>
              <a:p>
                <a:pPr>
                  <a:lnSpc>
                    <a:spcPct val="125000"/>
                  </a:lnSpc>
                </a:pPr>
                <a:r>
                  <a:rPr lang="en-US" b="1" dirty="0"/>
                  <a:t>Graph theory(2301CS595) </a:t>
                </a:r>
              </a:p>
            </p:txBody>
          </p:sp>
        </mc:Choice>
        <mc:Fallback xmlns="">
          <p:sp>
            <p:nvSpPr>
              <p:cNvPr id="20" name="Text Placeholder 19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FF5B8673-7BA1-4EA7-991A-5F4DCD3054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6"/>
              </p:nvPr>
            </p:nvSpPr>
            <p:spPr>
              <a:xfrm>
                <a:off x="2581756" y="135956"/>
                <a:ext cx="4646358" cy="734653"/>
              </a:xfrm>
              <a:blipFill rotWithShape="0">
                <a:blip r:embed="rId2"/>
                <a:stretch>
                  <a:fillRect t="-1653" b="-74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Placeholder 2"/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12" name="Title 13">
            <a:extLst>
              <a:ext uri="{FF2B5EF4-FFF2-40B4-BE49-F238E27FC236}">
                <a16:creationId xmlns:a16="http://schemas.microsoft.com/office/drawing/2014/main" id="{F3B88914-E51B-4A33-96D7-EC0CE630740C}"/>
              </a:ext>
            </a:extLst>
          </p:cNvPr>
          <p:cNvSpPr txBox="1">
            <a:spLocks/>
          </p:cNvSpPr>
          <p:nvPr/>
        </p:nvSpPr>
        <p:spPr>
          <a:xfrm>
            <a:off x="602350" y="4188111"/>
            <a:ext cx="801907" cy="468715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sz="2400" b="0" dirty="0">
                <a:latin typeface="+mn-lt"/>
              </a:rPr>
              <a:t>CO1:</a:t>
            </a:r>
            <a:br>
              <a:rPr lang="en-US" sz="2400" dirty="0"/>
            </a:br>
            <a:endParaRPr lang="en-US" sz="2400" b="0" dirty="0">
              <a:latin typeface="+mn-lt"/>
            </a:endParaRPr>
          </a:p>
        </p:txBody>
      </p:sp>
      <p:sp>
        <p:nvSpPr>
          <p:cNvPr id="13" name="Title 13">
            <a:extLst>
              <a:ext uri="{FF2B5EF4-FFF2-40B4-BE49-F238E27FC236}">
                <a16:creationId xmlns:a16="http://schemas.microsoft.com/office/drawing/2014/main" id="{BBA8A0F4-F547-438E-815A-3C41AF4A49EB}"/>
              </a:ext>
            </a:extLst>
          </p:cNvPr>
          <p:cNvSpPr txBox="1">
            <a:spLocks/>
          </p:cNvSpPr>
          <p:nvPr/>
        </p:nvSpPr>
        <p:spPr>
          <a:xfrm>
            <a:off x="1252874" y="4188111"/>
            <a:ext cx="6599536" cy="821235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pPr algn="just"/>
            <a:r>
              <a:rPr lang="en-US" sz="2400" b="0" dirty="0">
                <a:latin typeface="+mn-lt"/>
              </a:rPr>
              <a:t>At the end of this unit, students will be able to </a:t>
            </a:r>
          </a:p>
          <a:p>
            <a:pPr algn="just"/>
            <a:r>
              <a:rPr lang="en-US" sz="2400" dirty="0">
                <a:solidFill>
                  <a:srgbClr val="FF0000"/>
                </a:solidFill>
              </a:rPr>
              <a:t>apply the properties of trees and spanning trees</a:t>
            </a:r>
            <a:endParaRPr lang="en-GB" sz="2400" dirty="0">
              <a:solidFill>
                <a:srgbClr val="FF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73260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  <a:stCxn id="6" idx="4"/>
          </p:cNvCxnSpPr>
          <p:nvPr/>
        </p:nvCxnSpPr>
        <p:spPr>
          <a:xfrm>
            <a:off x="1191446" y="1157468"/>
            <a:ext cx="0" cy="50902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4" y="646362"/>
            <a:ext cx="9445594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sz="2800" b="1" dirty="0">
                <a:solidFill>
                  <a:srgbClr val="FF0000"/>
                </a:solidFill>
              </a:rPr>
              <a:t>Topics of Unit 1</a:t>
            </a: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2060"/>
                </a:solidFill>
              </a:rPr>
              <a:t>Brief Introduction of Unit</a:t>
            </a: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2060"/>
                </a:solidFill>
              </a:rPr>
              <a:t>Introduction to Trees</a:t>
            </a:r>
          </a:p>
          <a:p>
            <a:pPr marL="1257300" lvl="2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2060"/>
                </a:solidFill>
              </a:rPr>
              <a:t>Definition </a:t>
            </a:r>
          </a:p>
          <a:p>
            <a:pPr marL="1257300" lvl="2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2060"/>
                </a:solidFill>
              </a:rPr>
              <a:t>Properties </a:t>
            </a: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2060"/>
                </a:solidFill>
              </a:rPr>
              <a:t>Pendent Vertices, Distance and Center in Trees</a:t>
            </a: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2060"/>
                </a:solidFill>
              </a:rPr>
              <a:t>Introduction to Spanning Trees</a:t>
            </a:r>
          </a:p>
          <a:p>
            <a:pPr marL="1257300" lvl="2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2060"/>
                </a:solidFill>
              </a:rPr>
              <a:t>Definition </a:t>
            </a:r>
          </a:p>
          <a:p>
            <a:pPr marL="1257300" lvl="2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2060"/>
                </a:solidFill>
              </a:rPr>
              <a:t>Properties</a:t>
            </a: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2060"/>
                </a:solidFill>
              </a:rPr>
              <a:t>Fundamental Circuits</a:t>
            </a: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2060"/>
                </a:solidFill>
              </a:rPr>
              <a:t>Finding all Spanning Trees of Graphs</a:t>
            </a:r>
            <a:endParaRPr lang="en-US" sz="2800" dirty="0">
              <a:solidFill>
                <a:srgbClr val="002060"/>
              </a:solidFill>
            </a:endParaRPr>
          </a:p>
          <a:p>
            <a:pPr lvl="2">
              <a:lnSpc>
                <a:spcPct val="125000"/>
              </a:lnSpc>
            </a:pPr>
            <a:endParaRPr lang="en-US" sz="2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1759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7200" u="sng" dirty="0">
                <a:uFill>
                  <a:solidFill>
                    <a:schemeClr val="bg1"/>
                  </a:solidFill>
                </a:uFill>
              </a:rPr>
              <a:t>Brief Introduction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1735973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Overview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l">
                  <a:lnSpc>
                    <a:spcPct val="150000"/>
                  </a:lnSpc>
                </a:pPr>
                <a:r>
                  <a:rPr lang="en-US" dirty="0"/>
                  <a:t>This Unit Focuses On</a:t>
                </a:r>
              </a:p>
              <a:p>
                <a:pPr lvl="1" algn="l">
                  <a:lnSpc>
                    <a:spcPct val="150000"/>
                  </a:lnSpc>
                </a:pPr>
                <a:r>
                  <a:rPr lang="en-US" dirty="0"/>
                  <a:t>A special class of connected graphs called </a:t>
                </a:r>
                <a:r>
                  <a:rPr lang="en-US" dirty="0">
                    <a:solidFill>
                      <a:srgbClr val="FF0000"/>
                    </a:solidFill>
                  </a:rPr>
                  <a:t>trees</a:t>
                </a:r>
                <a:r>
                  <a:rPr lang="en-US" dirty="0"/>
                  <a:t>.</a:t>
                </a:r>
              </a:p>
              <a:p>
                <a:pPr lvl="1" algn="l">
                  <a:lnSpc>
                    <a:spcPct val="150000"/>
                  </a:lnSpc>
                </a:pPr>
                <a:r>
                  <a:rPr lang="en-US" b="1" dirty="0"/>
                  <a:t>Unrooted</a:t>
                </a:r>
                <a:r>
                  <a:rPr lang="en-US" dirty="0"/>
                  <a:t> trees, along with their key properties.</a:t>
                </a:r>
              </a:p>
              <a:p>
                <a:pPr lvl="1" algn="l">
                  <a:lnSpc>
                    <a:spcPct val="150000"/>
                  </a:lnSpc>
                </a:pPr>
                <a:r>
                  <a:rPr lang="en-US" dirty="0"/>
                  <a:t>Trees as subgraphs of a connected graph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G</m:t>
                    </m:r>
                  </m:oMath>
                </a14:m>
                <a:r>
                  <a:rPr lang="en-US" dirty="0"/>
                  <a:t>, that include all vertices — called </a:t>
                </a:r>
                <a:r>
                  <a:rPr lang="en-US" dirty="0">
                    <a:solidFill>
                      <a:srgbClr val="FF0000"/>
                    </a:solidFill>
                  </a:rPr>
                  <a:t>spanning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rgbClr val="FF0000"/>
                    </a:solidFill>
                  </a:rPr>
                  <a:t>trees</a:t>
                </a:r>
                <a:r>
                  <a:rPr lang="en-US" dirty="0"/>
                  <a:t>.</a:t>
                </a:r>
              </a:p>
              <a:p>
                <a:pPr lvl="1" algn="l">
                  <a:lnSpc>
                    <a:spcPct val="150000"/>
                  </a:lnSpc>
                </a:pPr>
                <a:r>
                  <a:rPr lang="en-US" dirty="0"/>
                  <a:t>Methods to determine </a:t>
                </a:r>
                <a:r>
                  <a:rPr lang="en-US" b="1" dirty="0"/>
                  <a:t>all spanning trees</a:t>
                </a:r>
                <a:r>
                  <a:rPr lang="en-US" dirty="0"/>
                  <a:t> of a graph.</a:t>
                </a:r>
              </a:p>
              <a:p>
                <a:pPr lvl="1" algn="l">
                  <a:lnSpc>
                    <a:spcPct val="150000"/>
                  </a:lnSpc>
                </a:pPr>
                <a:r>
                  <a:rPr lang="en-US" dirty="0"/>
                  <a:t>Task</a:t>
                </a: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71" r="-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4643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uFill>
                  <a:solidFill>
                    <a:schemeClr val="bg1"/>
                  </a:solidFill>
                </a:uFill>
              </a:rPr>
              <a:t>Method – 1</a:t>
            </a:r>
            <a:br>
              <a:rPr lang="en-US" dirty="0"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en-US" dirty="0"/>
              <a:t>Introduction to Trees</a:t>
            </a:r>
          </a:p>
        </p:txBody>
      </p:sp>
    </p:spTree>
    <p:extLst>
      <p:ext uri="{BB962C8B-B14F-4D97-AF65-F5344CB8AC3E}">
        <p14:creationId xmlns:p14="http://schemas.microsoft.com/office/powerpoint/2010/main" val="1907672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0753" y="2990825"/>
            <a:ext cx="2816596" cy="265808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b="1" dirty="0"/>
              <a:t>Definition: </a:t>
            </a:r>
            <a:r>
              <a:rPr lang="en-US" dirty="0"/>
              <a:t>A </a:t>
            </a:r>
            <a:r>
              <a:rPr lang="en-US" b="1" dirty="0"/>
              <a:t>tree</a:t>
            </a:r>
            <a:r>
              <a:rPr lang="en-US" dirty="0"/>
              <a:t> is a connected graph with no cycles</a:t>
            </a:r>
            <a:r>
              <a:rPr lang="en-IN" b="1" dirty="0"/>
              <a:t>. </a:t>
            </a:r>
            <a:endParaRPr lang="en-IN" dirty="0"/>
          </a:p>
          <a:p>
            <a:endParaRPr lang="en-US" sz="2600" b="1" dirty="0">
              <a:latin typeface="Cambria Math" panose="020405030504060302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429" y="1868803"/>
            <a:ext cx="4249280" cy="421270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9815" y="2956344"/>
            <a:ext cx="2359356" cy="274953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611470" y="5540721"/>
            <a:ext cx="24160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(Disconnected Graph)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377105" y="5519471"/>
            <a:ext cx="21659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(Graph with circuit)</a:t>
            </a:r>
            <a:endParaRPr lang="en-US" sz="2000" b="1" dirty="0">
              <a:solidFill>
                <a:srgbClr val="FF0000"/>
              </a:solidFill>
            </a:endParaRPr>
          </a:p>
        </p:txBody>
      </p:sp>
      <p:cxnSp>
        <p:nvCxnSpPr>
          <p:cNvPr id="26" name="Straight Connector 25"/>
          <p:cNvCxnSpPr/>
          <p:nvPr/>
        </p:nvCxnSpPr>
        <p:spPr>
          <a:xfrm>
            <a:off x="3560064" y="1347216"/>
            <a:ext cx="2389632" cy="0"/>
          </a:xfrm>
          <a:prstGeom prst="line">
            <a:avLst/>
          </a:prstGeom>
          <a:ln w="28575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6639480" y="1347216"/>
            <a:ext cx="1292352" cy="0"/>
          </a:xfrm>
          <a:prstGeom prst="line">
            <a:avLst/>
          </a:prstGeom>
          <a:ln w="28575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4104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Remarks on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US" dirty="0"/>
              <a:t>Some authors allow a </a:t>
            </a:r>
            <a:r>
              <a:rPr lang="en-US" b="1" dirty="0"/>
              <a:t>null tree</a:t>
            </a:r>
            <a:r>
              <a:rPr lang="en-US" dirty="0"/>
              <a:t> (no vertices)</a:t>
            </a:r>
            <a:r>
              <a:rPr lang="en-IN" dirty="0"/>
              <a:t>. </a:t>
            </a:r>
          </a:p>
          <a:p>
            <a:pPr lvl="0">
              <a:lnSpc>
                <a:spcPct val="100000"/>
              </a:lnSpc>
            </a:pPr>
            <a:r>
              <a:rPr lang="en-US" dirty="0"/>
              <a:t>In this course, we consider </a:t>
            </a:r>
            <a:r>
              <a:rPr lang="en-US" b="1" dirty="0"/>
              <a:t>finite trees with at least one vertex</a:t>
            </a:r>
            <a:r>
              <a:rPr lang="en-IN" b="1" dirty="0"/>
              <a:t>. </a:t>
            </a:r>
            <a:endParaRPr lang="en-US" b="1" dirty="0"/>
          </a:p>
          <a:p>
            <a:pPr lvl="0">
              <a:lnSpc>
                <a:spcPct val="100000"/>
              </a:lnSpc>
            </a:pPr>
            <a:r>
              <a:rPr lang="en-US" dirty="0"/>
              <a:t>A tree is a </a:t>
            </a:r>
            <a:r>
              <a:rPr lang="en-US" b="1" dirty="0"/>
              <a:t>simple graph.</a:t>
            </a:r>
          </a:p>
          <a:p>
            <a:pPr lvl="0">
              <a:lnSpc>
                <a:spcPct val="100000"/>
              </a:lnSpc>
            </a:pPr>
            <a:r>
              <a:rPr lang="en-US" dirty="0"/>
              <a:t>We will not discuss </a:t>
            </a:r>
            <a:r>
              <a:rPr lang="en-US" dirty="0">
                <a:solidFill>
                  <a:srgbClr val="C00000"/>
                </a:solidFill>
              </a:rPr>
              <a:t>rooted trees </a:t>
            </a:r>
            <a:r>
              <a:rPr lang="en-US" dirty="0"/>
              <a:t>in this course, as you have already studied them in Data Structures.</a:t>
            </a:r>
          </a:p>
          <a:p>
            <a:pPr lvl="0">
              <a:lnSpc>
                <a:spcPct val="100000"/>
              </a:lnSpc>
            </a:pPr>
            <a:r>
              <a:rPr lang="en-US" b="1" dirty="0"/>
              <a:t>Any unrooted tree can be converted into a rooted tree by choosing any vertex as root.</a:t>
            </a:r>
          </a:p>
          <a:p>
            <a:pPr lvl="0">
              <a:lnSpc>
                <a:spcPct val="100000"/>
              </a:lnSpc>
            </a:pPr>
            <a:r>
              <a:rPr lang="en-US" dirty="0"/>
              <a:t>Applications of Trees: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Trees used in data structures (searching, sorting).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Hierarchical real-world systems.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9721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Trees with one, two, three, and four vertices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How many different trees are possible?</a:t>
            </a:r>
            <a:r>
              <a:rPr lang="en-US" dirty="0"/>
              <a:t> </a:t>
            </a:r>
            <a:r>
              <a:rPr lang="en-US" i="1" dirty="0"/>
              <a:t>(Non-isomorphic)</a:t>
            </a:r>
            <a:endParaRPr lang="en-US" dirty="0"/>
          </a:p>
          <a:p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379" y="2982058"/>
            <a:ext cx="634039" cy="223742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8800" y="1929871"/>
            <a:ext cx="627942" cy="3267739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0906" y="1882554"/>
            <a:ext cx="2152075" cy="3304318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2843" y="1287442"/>
            <a:ext cx="2755631" cy="3913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765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Recall: </a:t>
            </a:r>
            <a:r>
              <a:rPr lang="en-IN" dirty="0"/>
              <a:t>Graph Isomorphism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Two graphs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IN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IN" dirty="0"/>
                  <a:t> are isomorphic</a:t>
                </a:r>
                <a14:m>
                  <m:oMath xmlns:m="http://schemas.openxmlformats.org/officeDocument/2006/math">
                    <m:r>
                      <a:rPr lang="en-IN" i="1" dirty="0" smtClean="0">
                        <a:latin typeface="Cambria Math" panose="02040503050406030204" pitchFamily="18" charset="0"/>
                      </a:rPr>
                      <m:t> (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dirty="0"/>
                  <a:t> if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IN" dirty="0"/>
                  <a:t>(order same)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i="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n-IN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IN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i="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n-IN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IN" dirty="0"/>
              </a:p>
              <a:p>
                <a:pPr lvl="1">
                  <a:lnSpc>
                    <a:spcPct val="150000"/>
                  </a:lnSpc>
                </a:pPr>
                <a:r>
                  <a:rPr lang="en-IN" dirty="0"/>
                  <a:t>(size same)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i="0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IN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IN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i="0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IN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IN" dirty="0"/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i="0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a:rPr lang="en-IN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i="0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a:rPr lang="en-IN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dirty="0"/>
                  <a:t> have same degree sequence.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dirty="0"/>
                  <a:t>There exists a mapping that preserves adjacency</a:t>
                </a:r>
                <a:r>
                  <a:rPr lang="en-IN" dirty="0"/>
                  <a:t>.</a:t>
                </a:r>
              </a:p>
              <a:p>
                <a:r>
                  <a:rPr lang="en-US" b="1" dirty="0"/>
                  <a:t>First three conditions help us eliminate possibilities, but isomorphism is confirmed only by preserving adjacency.</a:t>
                </a: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71" t="-1963" r="-10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7224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 type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1" y="1009003"/>
            <a:ext cx="5778300" cy="178422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Path tree: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A tree in which: All </a:t>
            </a:r>
            <a:r>
              <a:rPr lang="en-US" b="1" dirty="0"/>
              <a:t>internal vertices</a:t>
            </a:r>
            <a:r>
              <a:rPr lang="en-US" dirty="0"/>
              <a:t> have degree </a:t>
            </a:r>
            <a:r>
              <a:rPr lang="en-US" b="1" dirty="0"/>
              <a:t>2. </a:t>
            </a:r>
            <a:r>
              <a:rPr lang="en-US" dirty="0"/>
              <a:t>End vertices (</a:t>
            </a:r>
            <a:r>
              <a:rPr lang="en-US" b="1" dirty="0"/>
              <a:t>leaves</a:t>
            </a:r>
            <a:r>
              <a:rPr lang="en-US" dirty="0"/>
              <a:t>) have degree </a:t>
            </a:r>
            <a:r>
              <a:rPr lang="en-US" b="1" dirty="0"/>
              <a:t>1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2893034" y="2671984"/>
            <a:ext cx="200001" cy="36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4407004">
            <a:off x="7910364" y="3432159"/>
            <a:ext cx="2285302" cy="202061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6096000" y="977343"/>
                <a:ext cx="5914030" cy="18158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b="1" dirty="0">
                    <a:solidFill>
                      <a:srgbClr val="002060"/>
                    </a:solidFill>
                  </a:rPr>
                  <a:t>Star tree: </a:t>
                </a:r>
              </a:p>
              <a:p>
                <a:pPr lvl="1"/>
                <a:r>
                  <a:rPr lang="en-US" sz="2800" dirty="0">
                    <a:solidFill>
                      <a:srgbClr val="002060"/>
                    </a:solidFill>
                  </a:rPr>
                  <a:t>A tree in which: One </a:t>
                </a:r>
                <a:r>
                  <a:rPr lang="en-US" sz="2800" b="1" dirty="0">
                    <a:solidFill>
                      <a:srgbClr val="002060"/>
                    </a:solidFill>
                  </a:rPr>
                  <a:t>central vertex </a:t>
                </a:r>
                <a:r>
                  <a:rPr lang="en-US" sz="2800" dirty="0">
                    <a:solidFill>
                      <a:srgbClr val="002060"/>
                    </a:solidFill>
                  </a:rPr>
                  <a:t>has degree</a:t>
                </a:r>
                <a14:m>
                  <m:oMath xmlns:m="http://schemas.openxmlformats.org/officeDocument/2006/math"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𝐧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All other vertices (</a:t>
                </a:r>
                <a:r>
                  <a:rPr lang="en-US" sz="2800" b="1" dirty="0">
                    <a:solidFill>
                      <a:srgbClr val="002060"/>
                    </a:solidFill>
                  </a:rPr>
                  <a:t>leaves</a:t>
                </a:r>
                <a:r>
                  <a:rPr lang="en-US" sz="2800" dirty="0">
                    <a:solidFill>
                      <a:srgbClr val="002060"/>
                    </a:solidFill>
                  </a:rPr>
                  <a:t>) have degree </a:t>
                </a:r>
                <a:r>
                  <a:rPr lang="en-US" sz="2800" b="1" dirty="0">
                    <a:solidFill>
                      <a:srgbClr val="002060"/>
                    </a:solidFill>
                  </a:rPr>
                  <a:t>1.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977343"/>
                <a:ext cx="5914030" cy="1815882"/>
              </a:xfrm>
              <a:prstGeom prst="rect">
                <a:avLst/>
              </a:prstGeom>
              <a:blipFill rotWithShape="0">
                <a:blip r:embed="rId4"/>
                <a:stretch>
                  <a:fillRect l="-2062" t="-3356" b="-8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ight Brace 5"/>
          <p:cNvSpPr/>
          <p:nvPr/>
        </p:nvSpPr>
        <p:spPr>
          <a:xfrm rot="16200000">
            <a:off x="2716067" y="3395843"/>
            <a:ext cx="859809" cy="1105143"/>
          </a:xfrm>
          <a:prstGeom prst="rightBrac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209656" y="3009133"/>
            <a:ext cx="18726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002060"/>
                </a:solidFill>
              </a:rPr>
              <a:t>Internal vertices 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16792" y="5334670"/>
            <a:ext cx="83388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002060"/>
                </a:solidFill>
              </a:rPr>
              <a:t>leaves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7383328" y="4326745"/>
            <a:ext cx="555081" cy="4904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6435730" y="4787362"/>
            <a:ext cx="161935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002060"/>
                </a:solidFill>
              </a:rPr>
              <a:t>central vertex 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H="1">
            <a:off x="9927770" y="3948414"/>
            <a:ext cx="821865" cy="128659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10002385" y="3948414"/>
            <a:ext cx="761261" cy="2138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 flipV="1">
            <a:off x="9712183" y="3209189"/>
            <a:ext cx="1037452" cy="7392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10783306" y="3748359"/>
            <a:ext cx="83388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002060"/>
                </a:solidFill>
              </a:rPr>
              <a:t>leaves</a:t>
            </a:r>
          </a:p>
        </p:txBody>
      </p:sp>
      <p:cxnSp>
        <p:nvCxnSpPr>
          <p:cNvPr id="28" name="Straight Connector 27"/>
          <p:cNvCxnSpPr/>
          <p:nvPr/>
        </p:nvCxnSpPr>
        <p:spPr>
          <a:xfrm>
            <a:off x="6059488" y="977342"/>
            <a:ext cx="0" cy="5152342"/>
          </a:xfrm>
          <a:prstGeom prst="line">
            <a:avLst/>
          </a:prstGeom>
          <a:ln w="38100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10" idx="1"/>
          </p:cNvCxnSpPr>
          <p:nvPr/>
        </p:nvCxnSpPr>
        <p:spPr>
          <a:xfrm flipH="1" flipV="1">
            <a:off x="1381760" y="4591711"/>
            <a:ext cx="1235032" cy="9430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10" idx="3"/>
          </p:cNvCxnSpPr>
          <p:nvPr/>
        </p:nvCxnSpPr>
        <p:spPr>
          <a:xfrm flipV="1">
            <a:off x="3450675" y="4571985"/>
            <a:ext cx="1161965" cy="9627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2099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10" grpId="0"/>
      <p:bldP spid="14" grpId="0"/>
      <p:bldP spid="2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2"/>
          <p:cNvSpPr txBox="1">
            <a:spLocks/>
          </p:cNvSpPr>
          <p:nvPr/>
        </p:nvSpPr>
        <p:spPr>
          <a:xfrm>
            <a:off x="131176" y="867839"/>
            <a:ext cx="11929645" cy="540047"/>
          </a:xfrm>
          <a:prstGeom prst="rect">
            <a:avLst/>
          </a:pr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lvl="0"/>
          </a:lstStyle>
          <a:p>
            <a:r>
              <a:rPr lang="en-US" sz="2800" dirty="0">
                <a:solidFill>
                  <a:schemeClr val="bg1"/>
                </a:solidFill>
              </a:rPr>
              <a:t>Construct: Path Tree (9 vertices) and Star Tree (10 vertices)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6719799" y="4815197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B93A0AB-EDDB-9B43-C76E-64EE43FC8989}"/>
              </a:ext>
            </a:extLst>
          </p:cNvPr>
          <p:cNvSpPr/>
          <p:nvPr/>
        </p:nvSpPr>
        <p:spPr>
          <a:xfrm rot="5400000">
            <a:off x="5279640" y="4815197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8" idx="4"/>
            <a:endCxn id="12" idx="0"/>
          </p:cNvCxnSpPr>
          <p:nvPr/>
        </p:nvCxnSpPr>
        <p:spPr>
          <a:xfrm flipH="1">
            <a:off x="6143719" y="4887197"/>
            <a:ext cx="576080" cy="0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CB93A0AB-EDDB-9B43-C76E-64EE43FC8989}"/>
              </a:ext>
            </a:extLst>
          </p:cNvPr>
          <p:cNvSpPr/>
          <p:nvPr/>
        </p:nvSpPr>
        <p:spPr>
          <a:xfrm rot="5400000">
            <a:off x="5999719" y="4815197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12" idx="4"/>
            <a:endCxn id="10" idx="0"/>
          </p:cNvCxnSpPr>
          <p:nvPr/>
        </p:nvCxnSpPr>
        <p:spPr>
          <a:xfrm flipH="1">
            <a:off x="5423640" y="4887197"/>
            <a:ext cx="576079" cy="0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4559559" y="4812614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B93A0AB-EDDB-9B43-C76E-64EE43FC8989}"/>
              </a:ext>
            </a:extLst>
          </p:cNvPr>
          <p:cNvSpPr/>
          <p:nvPr/>
        </p:nvSpPr>
        <p:spPr>
          <a:xfrm rot="5400000">
            <a:off x="3119400" y="4812614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14" idx="4"/>
            <a:endCxn id="18" idx="0"/>
          </p:cNvCxnSpPr>
          <p:nvPr/>
        </p:nvCxnSpPr>
        <p:spPr>
          <a:xfrm flipH="1">
            <a:off x="3983479" y="4884614"/>
            <a:ext cx="576080" cy="0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CB93A0AB-EDDB-9B43-C76E-64EE43FC8989}"/>
              </a:ext>
            </a:extLst>
          </p:cNvPr>
          <p:cNvSpPr/>
          <p:nvPr/>
        </p:nvSpPr>
        <p:spPr>
          <a:xfrm rot="5400000">
            <a:off x="3839479" y="4812614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18" idx="4"/>
            <a:endCxn id="15" idx="0"/>
          </p:cNvCxnSpPr>
          <p:nvPr/>
        </p:nvCxnSpPr>
        <p:spPr>
          <a:xfrm flipH="1">
            <a:off x="3263400" y="4884614"/>
            <a:ext cx="576079" cy="0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10" idx="4"/>
            <a:endCxn id="14" idx="0"/>
          </p:cNvCxnSpPr>
          <p:nvPr/>
        </p:nvCxnSpPr>
        <p:spPr>
          <a:xfrm flipH="1" flipV="1">
            <a:off x="4703559" y="4884614"/>
            <a:ext cx="576081" cy="2583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8880039" y="4815197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B93A0AB-EDDB-9B43-C76E-64EE43FC8989}"/>
              </a:ext>
            </a:extLst>
          </p:cNvPr>
          <p:cNvSpPr/>
          <p:nvPr/>
        </p:nvSpPr>
        <p:spPr>
          <a:xfrm rot="5400000">
            <a:off x="7439880" y="4815197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22" idx="4"/>
            <a:endCxn id="25" idx="0"/>
          </p:cNvCxnSpPr>
          <p:nvPr/>
        </p:nvCxnSpPr>
        <p:spPr>
          <a:xfrm flipH="1">
            <a:off x="8303959" y="4887197"/>
            <a:ext cx="576080" cy="0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CB93A0AB-EDDB-9B43-C76E-64EE43FC8989}"/>
              </a:ext>
            </a:extLst>
          </p:cNvPr>
          <p:cNvSpPr/>
          <p:nvPr/>
        </p:nvSpPr>
        <p:spPr>
          <a:xfrm rot="5400000">
            <a:off x="8159959" y="4815197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25" idx="4"/>
            <a:endCxn id="23" idx="0"/>
          </p:cNvCxnSpPr>
          <p:nvPr/>
        </p:nvCxnSpPr>
        <p:spPr>
          <a:xfrm flipH="1">
            <a:off x="7583880" y="4887197"/>
            <a:ext cx="576079" cy="0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23" idx="4"/>
            <a:endCxn id="8" idx="0"/>
          </p:cNvCxnSpPr>
          <p:nvPr/>
        </p:nvCxnSpPr>
        <p:spPr>
          <a:xfrm flipH="1">
            <a:off x="6863799" y="4887197"/>
            <a:ext cx="576081" cy="0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Examples of Special Trees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3617116"/>
          </a:xfrm>
        </p:spPr>
        <p:txBody>
          <a:bodyPr/>
          <a:lstStyle/>
          <a:p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Path tree where: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Internal vertices have degree </a:t>
            </a:r>
            <a:r>
              <a:rPr lang="en-US" b="1" dirty="0"/>
              <a:t>2</a:t>
            </a:r>
            <a:r>
              <a:rPr lang="en-US" dirty="0"/>
              <a:t> 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End vertices (</a:t>
            </a:r>
            <a:r>
              <a:rPr lang="en-US" b="1" dirty="0"/>
              <a:t>leaves</a:t>
            </a:r>
            <a:r>
              <a:rPr lang="en-US" dirty="0"/>
              <a:t>) have degree </a:t>
            </a:r>
            <a:r>
              <a:rPr lang="en-US" b="1" dirty="0"/>
              <a:t>1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/>
              <a:t>Structure:</a:t>
            </a:r>
            <a:r>
              <a:rPr lang="en-US" dirty="0"/>
              <a:t> Linear chain of vertices</a:t>
            </a:r>
          </a:p>
        </p:txBody>
      </p:sp>
    </p:spTree>
    <p:extLst>
      <p:ext uri="{BB962C8B-B14F-4D97-AF65-F5344CB8AC3E}">
        <p14:creationId xmlns:p14="http://schemas.microsoft.com/office/powerpoint/2010/main" val="2532340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2" grpId="0" animBg="1"/>
      <p:bldP spid="14" grpId="0" animBg="1"/>
      <p:bldP spid="15" grpId="0" animBg="1"/>
      <p:bldP spid="18" grpId="0" animBg="1"/>
      <p:bldP spid="22" grpId="0" animBg="1"/>
      <p:bldP spid="23" grpId="0" animBg="1"/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2"/>
          <p:cNvSpPr txBox="1">
            <a:spLocks/>
          </p:cNvSpPr>
          <p:nvPr/>
        </p:nvSpPr>
        <p:spPr>
          <a:xfrm>
            <a:off x="131176" y="867839"/>
            <a:ext cx="11929645" cy="540047"/>
          </a:xfrm>
          <a:prstGeom prst="rect">
            <a:avLst/>
          </a:pr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lvl="0"/>
          </a:lstStyle>
          <a:p>
            <a:r>
              <a:rPr lang="en-US" sz="2800" dirty="0">
                <a:solidFill>
                  <a:schemeClr val="bg1"/>
                </a:solidFill>
              </a:rPr>
              <a:t>Construct: Path Tree (9 vertices) and Star Tree (10 vertices)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Examples of Special Trees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131181" y="863444"/>
                <a:ext cx="6193420" cy="3617116"/>
              </a:xfrm>
            </p:spPr>
            <p:txBody>
              <a:bodyPr/>
              <a:lstStyle/>
              <a:p>
                <a:endParaRPr lang="en-US" dirty="0"/>
              </a:p>
              <a:p>
                <a:pPr>
                  <a:lnSpc>
                    <a:spcPct val="150000"/>
                  </a:lnSpc>
                </a:pPr>
                <a:r>
                  <a:rPr lang="en-US" dirty="0"/>
                  <a:t>Star tree where: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dirty="0"/>
                  <a:t>One central vertex has degree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𝐧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b="1" dirty="0"/>
              </a:p>
              <a:p>
                <a:pPr lvl="1">
                  <a:lnSpc>
                    <a:spcPct val="150000"/>
                  </a:lnSpc>
                </a:pPr>
                <a:r>
                  <a:rPr lang="en-US" dirty="0"/>
                  <a:t>Remaining vertices (leaves) have degree </a:t>
                </a:r>
                <a:r>
                  <a:rPr lang="en-US" b="1" dirty="0"/>
                  <a:t>1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b="1" dirty="0"/>
                  <a:t>Structure:</a:t>
                </a:r>
                <a:r>
                  <a:rPr lang="en-US" dirty="0"/>
                  <a:t> One central node connected to all others</a:t>
                </a: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1" y="863444"/>
                <a:ext cx="6193420" cy="3617116"/>
              </a:xfrm>
              <a:blipFill rotWithShape="0">
                <a:blip r:embed="rId3"/>
                <a:stretch>
                  <a:fillRect l="-1870" r="-1969" b="-327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Oval 27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8552326" y="4576627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7833816" y="3855409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7832590" y="3134192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9229633" y="3456165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8547053" y="2425856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9992561" y="2425855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10712552" y="3147072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10711326" y="3868282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9988883" y="4576628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31" idx="6"/>
            <a:endCxn id="36" idx="1"/>
          </p:cNvCxnSpPr>
          <p:nvPr/>
        </p:nvCxnSpPr>
        <p:spPr>
          <a:xfrm>
            <a:off x="9301633" y="3600165"/>
            <a:ext cx="810162" cy="997551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29" idx="0"/>
            <a:endCxn id="31" idx="5"/>
          </p:cNvCxnSpPr>
          <p:nvPr/>
        </p:nvCxnSpPr>
        <p:spPr>
          <a:xfrm flipV="1">
            <a:off x="7977816" y="3579077"/>
            <a:ext cx="1272905" cy="348332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32" idx="7"/>
            <a:endCxn id="31" idx="3"/>
          </p:cNvCxnSpPr>
          <p:nvPr/>
        </p:nvCxnSpPr>
        <p:spPr>
          <a:xfrm>
            <a:off x="8669965" y="2548768"/>
            <a:ext cx="580756" cy="928485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28" idx="1"/>
            <a:endCxn id="31" idx="6"/>
          </p:cNvCxnSpPr>
          <p:nvPr/>
        </p:nvCxnSpPr>
        <p:spPr>
          <a:xfrm flipV="1">
            <a:off x="8675238" y="3600165"/>
            <a:ext cx="626395" cy="997550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30" idx="0"/>
            <a:endCxn id="31" idx="4"/>
          </p:cNvCxnSpPr>
          <p:nvPr/>
        </p:nvCxnSpPr>
        <p:spPr>
          <a:xfrm>
            <a:off x="7976590" y="3206192"/>
            <a:ext cx="1253043" cy="321973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31" idx="7"/>
            <a:endCxn id="35" idx="4"/>
          </p:cNvCxnSpPr>
          <p:nvPr/>
        </p:nvCxnSpPr>
        <p:spPr>
          <a:xfrm>
            <a:off x="9352545" y="3579077"/>
            <a:ext cx="1358781" cy="361205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31" idx="1"/>
            <a:endCxn id="33" idx="5"/>
          </p:cNvCxnSpPr>
          <p:nvPr/>
        </p:nvCxnSpPr>
        <p:spPr>
          <a:xfrm flipV="1">
            <a:off x="9352545" y="2548767"/>
            <a:ext cx="661104" cy="928486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31" idx="0"/>
            <a:endCxn id="34" idx="4"/>
          </p:cNvCxnSpPr>
          <p:nvPr/>
        </p:nvCxnSpPr>
        <p:spPr>
          <a:xfrm flipV="1">
            <a:off x="9373633" y="3219072"/>
            <a:ext cx="1338919" cy="309093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9229633" y="2392724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31" idx="2"/>
            <a:endCxn id="45" idx="6"/>
          </p:cNvCxnSpPr>
          <p:nvPr/>
        </p:nvCxnSpPr>
        <p:spPr>
          <a:xfrm flipV="1">
            <a:off x="9301633" y="2536724"/>
            <a:ext cx="0" cy="919441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51168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3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85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200"/>
                            </p:stCondLst>
                            <p:childTnLst>
                              <p:par>
                                <p:cTn id="6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3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55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3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9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250"/>
                            </p:stCondLst>
                            <p:childTnLst>
                              <p:par>
                                <p:cTn id="7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3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600"/>
                            </p:stCondLst>
                            <p:childTnLst>
                              <p:par>
                                <p:cTn id="8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3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950"/>
                            </p:stCondLst>
                            <p:childTnLst>
                              <p:par>
                                <p:cTn id="8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7" dur="3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4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31181" y="863444"/>
                <a:ext cx="11740780" cy="5590565"/>
              </a:xfrm>
            </p:spPr>
            <p:txBody>
              <a:bodyPr/>
              <a:lstStyle/>
              <a:p>
                <a:pPr marL="514350" lvl="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dirty="0"/>
                  <a:t>A single-vertex tree contains no edges.</a:t>
                </a:r>
              </a:p>
              <a:p>
                <a:pPr marL="514350" lvl="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dirty="0">
                    <a:solidFill>
                      <a:srgbClr val="FF0000"/>
                    </a:solidFill>
                  </a:rPr>
                  <a:t>For any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≥2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a tree has</a:t>
                </a:r>
                <a14:m>
                  <m:oMath xmlns:m="http://schemas.openxmlformats.org/officeDocument/2006/math">
                    <m:r>
                      <a:rPr lang="en-US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𝐧</m:t>
                    </m:r>
                    <m:r>
                      <a:rPr lang="en-US" b="1" i="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edges</a:t>
                </a:r>
                <a:r>
                  <a:rPr lang="en-US" b="1" dirty="0"/>
                  <a:t> </a:t>
                </a:r>
                <a:r>
                  <a:rPr lang="en-US" dirty="0"/>
                  <a:t>(e.g., path tree and star tree)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3"/>
                </a:pPr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 dirty="0"/>
                  <a:t>, there are exactly </a:t>
                </a:r>
                <a:r>
                  <a:rPr lang="en-US" b="1" dirty="0"/>
                  <a:t>two non-isomorphic trees</a:t>
                </a:r>
                <a:r>
                  <a:rPr lang="en-US" dirty="0"/>
                  <a:t>: </a:t>
                </a:r>
                <a:r>
                  <a:rPr lang="en-US" b="1" dirty="0"/>
                  <a:t>path tree</a:t>
                </a:r>
                <a:r>
                  <a:rPr lang="en-US" dirty="0"/>
                  <a:t> and </a:t>
                </a:r>
                <a:r>
                  <a:rPr lang="en-US" b="1" dirty="0"/>
                  <a:t>star tree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3"/>
                </a:pPr>
                <a:r>
                  <a:rPr lang="en-US" dirty="0"/>
                  <a:t>Path tree is like a </a:t>
                </a:r>
                <a:r>
                  <a:rPr lang="en-US" dirty="0">
                    <a:solidFill>
                      <a:srgbClr val="FF0000"/>
                    </a:solidFill>
                  </a:rPr>
                  <a:t>chain</a:t>
                </a:r>
                <a:r>
                  <a:rPr lang="en-US" dirty="0"/>
                  <a:t>, while star tree is like a </a:t>
                </a:r>
                <a:r>
                  <a:rPr lang="en-US" dirty="0">
                    <a:solidFill>
                      <a:srgbClr val="FF0000"/>
                    </a:solidFill>
                  </a:rPr>
                  <a:t>hub</a:t>
                </a:r>
                <a:r>
                  <a:rPr lang="en-US" dirty="0"/>
                  <a:t>. These represent two extreme structures of trees.</a:t>
                </a:r>
              </a:p>
              <a:p>
                <a:pPr marL="514350" indent="-514350">
                  <a:lnSpc>
                    <a:spcPct val="100000"/>
                  </a:lnSpc>
                  <a:buFont typeface="+mj-lt"/>
                  <a:buAutoNum type="arabicPeriod" startAt="3"/>
                </a:pPr>
                <a:r>
                  <a:rPr lang="en-US" dirty="0"/>
                  <a:t>Path tree has </a:t>
                </a:r>
                <a:r>
                  <a:rPr lang="en-US" b="1" dirty="0"/>
                  <a:t>minimum branching</a:t>
                </a:r>
                <a:r>
                  <a:rPr lang="en-US" dirty="0"/>
                  <a:t>, while Star tree has </a:t>
                </a:r>
                <a:r>
                  <a:rPr lang="en-US" b="1" dirty="0"/>
                  <a:t>maximum branching and maximum degree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dirty="0">
                            <a:latin typeface="Cambria Math" panose="02040503050406030204" pitchFamily="18" charset="0"/>
                          </a:rPr>
                          <m:t>𝚫</m:t>
                        </m:r>
                        <m:r>
                          <a:rPr lang="en-US" b="1" i="0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0" dirty="0">
                            <a:latin typeface="Cambria Math" panose="02040503050406030204" pitchFamily="18" charset="0"/>
                          </a:rPr>
                          <m:t>𝐧</m:t>
                        </m:r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1" y="863444"/>
                <a:ext cx="11740780" cy="5590565"/>
              </a:xfrm>
              <a:blipFill rotWithShape="0">
                <a:blip r:embed="rId2"/>
                <a:stretch>
                  <a:fillRect l="-1090" r="-10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662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2"/>
          <p:cNvSpPr txBox="1">
            <a:spLocks/>
          </p:cNvSpPr>
          <p:nvPr/>
        </p:nvSpPr>
        <p:spPr>
          <a:xfrm>
            <a:off x="131176" y="867839"/>
            <a:ext cx="11929645" cy="567261"/>
          </a:xfrm>
          <a:prstGeom prst="rect">
            <a:avLst/>
          </a:pr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lvl="0"/>
          </a:lstStyle>
          <a:p>
            <a:r>
              <a:rPr lang="en-IN" sz="2800" dirty="0">
                <a:solidFill>
                  <a:schemeClr val="bg1"/>
                </a:solidFill>
              </a:rPr>
              <a:t>In a tree T, there </a:t>
            </a:r>
            <a:r>
              <a:rPr lang="en-IN" sz="2800" b="1" dirty="0">
                <a:solidFill>
                  <a:schemeClr val="bg1"/>
                </a:solidFill>
              </a:rPr>
              <a:t>exactly one path </a:t>
            </a:r>
            <a:r>
              <a:rPr lang="en-IN" sz="2800" dirty="0">
                <a:solidFill>
                  <a:schemeClr val="bg1"/>
                </a:solidFill>
              </a:rPr>
              <a:t>between every pair of vertices.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Property 1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31176" y="2328260"/>
                <a:ext cx="6433392" cy="1730328"/>
              </a:xfrm>
            </p:spPr>
            <p:txBody>
              <a:bodyPr/>
              <a:lstStyle/>
              <a:p>
                <a:r>
                  <a:rPr lang="en-US" dirty="0"/>
                  <a:t>Since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dirty="0"/>
                  <a:t> is connected, there exists at least one path between every pair of vertices.</a:t>
                </a:r>
              </a:p>
              <a:p>
                <a:r>
                  <a:rPr lang="en-US" dirty="0"/>
                  <a:t>Suppose there are two different paths between some vertices lets say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𝐚</m:t>
                    </m:r>
                  </m:oMath>
                </a14:m>
                <a:r>
                  <a:rPr lang="en-US" dirty="0"/>
                  <a:t> and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𝐛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76" y="2328260"/>
                <a:ext cx="6433392" cy="1730328"/>
              </a:xfrm>
              <a:blipFill rotWithShape="0">
                <a:blip r:embed="rId2"/>
                <a:stretch>
                  <a:fillRect l="-1801" t="-6338" r="-1896" b="-112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35C8299-099D-4E74-A7B7-29B2E1FD450E}"/>
              </a:ext>
            </a:extLst>
          </p:cNvPr>
          <p:cNvSpPr txBox="1">
            <a:spLocks/>
          </p:cNvSpPr>
          <p:nvPr/>
        </p:nvSpPr>
        <p:spPr>
          <a:xfrm>
            <a:off x="131355" y="1526656"/>
            <a:ext cx="1053501" cy="523220"/>
          </a:xfrm>
          <a:prstGeom prst="rect">
            <a:avLst/>
          </a:pr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lvl="0"/>
          </a:lstStyle>
          <a:p>
            <a:r>
              <a:rPr lang="en-IN" sz="2800" dirty="0">
                <a:solidFill>
                  <a:schemeClr val="bg1"/>
                </a:solidFill>
              </a:rPr>
              <a:t>Proof</a:t>
            </a: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118974">
            <a:off x="7039268" y="2212385"/>
            <a:ext cx="4615072" cy="2682472"/>
          </a:xfrm>
          <a:prstGeom prst="rect">
            <a:avLst/>
          </a:prstGeom>
        </p:spPr>
      </p:pic>
      <p:sp>
        <p:nvSpPr>
          <p:cNvPr id="15" name="Content Placeholder 2"/>
          <p:cNvSpPr txBox="1">
            <a:spLocks/>
          </p:cNvSpPr>
          <p:nvPr/>
        </p:nvSpPr>
        <p:spPr>
          <a:xfrm>
            <a:off x="131176" y="4336973"/>
            <a:ext cx="11803604" cy="17303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Then these paths form a cycle. But a tree has no cycles.</a:t>
            </a:r>
          </a:p>
          <a:p>
            <a:r>
              <a:rPr lang="en-US" dirty="0"/>
              <a:t>This contradicts the assumption that T is a tree.</a:t>
            </a:r>
          </a:p>
          <a:p>
            <a:r>
              <a:rPr lang="en-US" dirty="0"/>
              <a:t>Therefore, there is exactly one path between every pair of vertices.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128153">
            <a:off x="7030286" y="2270321"/>
            <a:ext cx="5060290" cy="2691675"/>
          </a:xfrm>
          <a:prstGeom prst="rect">
            <a:avLst/>
          </a:prstGeom>
        </p:spPr>
      </p:pic>
      <p:cxnSp>
        <p:nvCxnSpPr>
          <p:cNvPr id="21" name="Straight Connector 20"/>
          <p:cNvCxnSpPr/>
          <p:nvPr/>
        </p:nvCxnSpPr>
        <p:spPr>
          <a:xfrm>
            <a:off x="8679976" y="2836197"/>
            <a:ext cx="3029803" cy="53480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1626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2"/>
          <p:cNvSpPr txBox="1">
            <a:spLocks/>
          </p:cNvSpPr>
          <p:nvPr/>
        </p:nvSpPr>
        <p:spPr>
          <a:xfrm>
            <a:off x="131176" y="867839"/>
            <a:ext cx="11929645" cy="973661"/>
          </a:xfrm>
          <a:prstGeom prst="rect">
            <a:avLst/>
          </a:pr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lvl="0"/>
          </a:lstStyle>
          <a:p>
            <a:r>
              <a:rPr lang="en-IN" sz="2800" dirty="0">
                <a:solidFill>
                  <a:schemeClr val="bg1"/>
                </a:solidFill>
              </a:rPr>
              <a:t>If in a graph G, there is exactly one path between every pair of vertices, then G is a tree.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35C8299-099D-4E74-A7B7-29B2E1FD450E}"/>
              </a:ext>
            </a:extLst>
          </p:cNvPr>
          <p:cNvSpPr txBox="1">
            <a:spLocks/>
          </p:cNvSpPr>
          <p:nvPr/>
        </p:nvSpPr>
        <p:spPr>
          <a:xfrm>
            <a:off x="131355" y="1901306"/>
            <a:ext cx="1014865" cy="523220"/>
          </a:xfrm>
          <a:prstGeom prst="rect">
            <a:avLst/>
          </a:pr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lvl="0"/>
          </a:lstStyle>
          <a:p>
            <a:r>
              <a:rPr lang="en-IN" sz="2800" dirty="0">
                <a:solidFill>
                  <a:schemeClr val="bg1"/>
                </a:solidFill>
              </a:rPr>
              <a:t>Proof</a:t>
            </a:r>
            <a:endParaRPr lang="en-US" sz="2800" dirty="0">
              <a:solidFill>
                <a:schemeClr val="bg1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</p:cNvCxnSpPr>
          <p:nvPr/>
        </p:nvCxnSpPr>
        <p:spPr>
          <a:xfrm flipH="1" flipV="1">
            <a:off x="3528519" y="1394730"/>
            <a:ext cx="6361093" cy="2270"/>
          </a:xfrm>
          <a:prstGeom prst="line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Property 2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/>
              <p:cNvSpPr>
                <a:spLocks noGrp="1"/>
              </p:cNvSpPr>
              <p:nvPr>
                <p:ph idx="1"/>
              </p:nvPr>
            </p:nvSpPr>
            <p:spPr>
              <a:xfrm>
                <a:off x="131176" y="2669812"/>
                <a:ext cx="11715081" cy="25442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buClr>
                    <a:srgbClr val="B84742"/>
                  </a:buClr>
                </a:pPr>
                <a:r>
                  <a:rPr lang="en-US" dirty="0"/>
                  <a:t>Since there is exactly one path between every pair of vertices. </a:t>
                </a:r>
              </a:p>
              <a:p>
                <a:pPr>
                  <a:buClr>
                    <a:srgbClr val="B84742"/>
                  </a:buClr>
                </a:pPr>
                <a:r>
                  <a:rPr lang="en-US" dirty="0"/>
                  <a:t>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G</m:t>
                    </m:r>
                  </m:oMath>
                </a14:m>
                <a:r>
                  <a:rPr lang="en-US" dirty="0"/>
                  <a:t> is </a:t>
                </a:r>
                <a:r>
                  <a:rPr lang="en-US" b="1" dirty="0"/>
                  <a:t>connected</a:t>
                </a:r>
                <a:r>
                  <a:rPr lang="en-US" dirty="0"/>
                  <a:t>.</a:t>
                </a:r>
              </a:p>
              <a:p>
                <a:pPr>
                  <a:buClr>
                    <a:srgbClr val="B84742"/>
                  </a:buClr>
                </a:pPr>
                <a:r>
                  <a:rPr lang="en-US" dirty="0"/>
                  <a:t>Suppose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G</m:t>
                    </m:r>
                  </m:oMath>
                </a14:m>
                <a:r>
                  <a:rPr lang="en-US" dirty="0"/>
                  <a:t> contains a cycle. </a:t>
                </a:r>
              </a:p>
              <a:p>
                <a:pPr>
                  <a:buClr>
                    <a:srgbClr val="B84742"/>
                  </a:buClr>
                </a:pPr>
                <a:r>
                  <a:rPr lang="en-US" dirty="0"/>
                  <a:t>Then there exist two vertices having more than one path between them.</a:t>
                </a:r>
              </a:p>
              <a:p>
                <a:pPr>
                  <a:buClr>
                    <a:srgbClr val="B84742"/>
                  </a:buClr>
                </a:pPr>
                <a:r>
                  <a:rPr lang="en-US" dirty="0"/>
                  <a:t>This contradicts the given condition</a:t>
                </a:r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Content Placeholder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76" y="2669812"/>
                <a:ext cx="11715081" cy="2544286"/>
              </a:xfrm>
              <a:prstGeom prst="rect">
                <a:avLst/>
              </a:prstGeom>
              <a:blipFill rotWithShape="0">
                <a:blip r:embed="rId2"/>
                <a:stretch>
                  <a:fillRect l="-989" t="-4317" b="-59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6764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Minimally connected graph 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6481409"/>
            <a:ext cx="11814425" cy="10823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spcBef>
                <a:spcPts val="1000"/>
              </a:spcBef>
              <a:buClr>
                <a:srgbClr val="B84742"/>
              </a:buClr>
              <a:buFont typeface="Wingdings 3" panose="05040102010807070707" pitchFamily="18" charset="2"/>
              <a:buChar char=""/>
            </a:pPr>
            <a:endParaRPr lang="en-US" sz="2800" b="1" dirty="0">
              <a:solidFill>
                <a:srgbClr val="002060"/>
              </a:solidFill>
            </a:endParaRPr>
          </a:p>
          <a:p>
            <a:pPr lvl="1" algn="just">
              <a:spcBef>
                <a:spcPts val="1000"/>
              </a:spcBef>
              <a:buClr>
                <a:srgbClr val="B84742"/>
              </a:buClr>
            </a:pP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135" y="741595"/>
            <a:ext cx="1181442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just">
              <a:spcBef>
                <a:spcPts val="1000"/>
              </a:spcBef>
              <a:buClr>
                <a:srgbClr val="B84742"/>
              </a:buClr>
              <a:buFont typeface="Wingdings 3" panose="05040102010807070707" pitchFamily="18" charset="2"/>
              <a:buChar char=""/>
            </a:pPr>
            <a:r>
              <a:rPr lang="en-US" sz="2800" dirty="0"/>
              <a:t>A minimally connected graph is a connected graph in which </a:t>
            </a:r>
            <a:r>
              <a:rPr lang="en-US" sz="2800" b="1" dirty="0"/>
              <a:t>removing any edge </a:t>
            </a:r>
            <a:r>
              <a:rPr lang="en-US" sz="2800" dirty="0">
                <a:solidFill>
                  <a:srgbClr val="FF0000"/>
                </a:solidFill>
              </a:rPr>
              <a:t>disconnects</a:t>
            </a:r>
            <a:r>
              <a:rPr lang="en-US" sz="2800" dirty="0"/>
              <a:t> the graph.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3302894" y="2909374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61C1F4A-0F54-D84C-6D00-A1EB9F135299}"/>
              </a:ext>
            </a:extLst>
          </p:cNvPr>
          <p:cNvCxnSpPr>
            <a:cxnSpLocks/>
            <a:stCxn id="12" idx="6"/>
            <a:endCxn id="7" idx="2"/>
          </p:cNvCxnSpPr>
          <p:nvPr/>
        </p:nvCxnSpPr>
        <p:spPr>
          <a:xfrm>
            <a:off x="2661822" y="2345186"/>
            <a:ext cx="713072" cy="564188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7" idx="2"/>
            <a:endCxn id="13" idx="6"/>
          </p:cNvCxnSpPr>
          <p:nvPr/>
        </p:nvCxnSpPr>
        <p:spPr>
          <a:xfrm flipV="1">
            <a:off x="3374894" y="2388731"/>
            <a:ext cx="710007" cy="520643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6C0843A1-C99E-E42B-5017-D5F14DE578E1}"/>
              </a:ext>
            </a:extLst>
          </p:cNvPr>
          <p:cNvSpPr/>
          <p:nvPr/>
        </p:nvSpPr>
        <p:spPr>
          <a:xfrm rot="5400000">
            <a:off x="2589822" y="2201186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4012901" y="2244731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17" idx="2"/>
            <a:endCxn id="7" idx="6"/>
          </p:cNvCxnSpPr>
          <p:nvPr/>
        </p:nvCxnSpPr>
        <p:spPr>
          <a:xfrm flipV="1">
            <a:off x="3373485" y="3053374"/>
            <a:ext cx="1409" cy="594187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18" idx="2"/>
            <a:endCxn id="17" idx="6"/>
          </p:cNvCxnSpPr>
          <p:nvPr/>
        </p:nvCxnSpPr>
        <p:spPr>
          <a:xfrm flipH="1" flipV="1">
            <a:off x="3373485" y="3791561"/>
            <a:ext cx="12141" cy="558100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3301485" y="3647561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3313626" y="4349661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837306" y="4541089"/>
            <a:ext cx="31918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Minimally connected 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8465802" y="2870609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61C1F4A-0F54-D84C-6D00-A1EB9F135299}"/>
              </a:ext>
            </a:extLst>
          </p:cNvPr>
          <p:cNvCxnSpPr>
            <a:cxnSpLocks/>
            <a:stCxn id="23" idx="6"/>
            <a:endCxn id="20" idx="2"/>
          </p:cNvCxnSpPr>
          <p:nvPr/>
        </p:nvCxnSpPr>
        <p:spPr>
          <a:xfrm>
            <a:off x="7824730" y="2306421"/>
            <a:ext cx="713072" cy="564188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20" idx="2"/>
            <a:endCxn id="24" idx="6"/>
          </p:cNvCxnSpPr>
          <p:nvPr/>
        </p:nvCxnSpPr>
        <p:spPr>
          <a:xfrm flipV="1">
            <a:off x="8537802" y="2323461"/>
            <a:ext cx="710007" cy="547148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6C0843A1-C99E-E42B-5017-D5F14DE578E1}"/>
              </a:ext>
            </a:extLst>
          </p:cNvPr>
          <p:cNvSpPr/>
          <p:nvPr/>
        </p:nvSpPr>
        <p:spPr>
          <a:xfrm rot="5400000">
            <a:off x="7752730" y="2162421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9175809" y="2179461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27" idx="2"/>
            <a:endCxn id="20" idx="6"/>
          </p:cNvCxnSpPr>
          <p:nvPr/>
        </p:nvCxnSpPr>
        <p:spPr>
          <a:xfrm flipV="1">
            <a:off x="8536393" y="3014609"/>
            <a:ext cx="1409" cy="594187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28" idx="2"/>
            <a:endCxn id="27" idx="6"/>
          </p:cNvCxnSpPr>
          <p:nvPr/>
        </p:nvCxnSpPr>
        <p:spPr>
          <a:xfrm flipH="1" flipV="1">
            <a:off x="8536393" y="3752796"/>
            <a:ext cx="12141" cy="558100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8464393" y="3608796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8476534" y="4310896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61C1F4A-0F54-D84C-6D00-A1EB9F135299}"/>
              </a:ext>
            </a:extLst>
          </p:cNvPr>
          <p:cNvCxnSpPr>
            <a:cxnSpLocks/>
            <a:stCxn id="23" idx="0"/>
            <a:endCxn id="24" idx="4"/>
          </p:cNvCxnSpPr>
          <p:nvPr/>
        </p:nvCxnSpPr>
        <p:spPr>
          <a:xfrm>
            <a:off x="7896730" y="2234421"/>
            <a:ext cx="1279079" cy="17040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2" name="TextBox 31"/>
          <p:cNvSpPr txBox="1"/>
          <p:nvPr/>
        </p:nvSpPr>
        <p:spPr>
          <a:xfrm>
            <a:off x="6721918" y="4542079"/>
            <a:ext cx="37818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Not Minimally connected 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135" y="5237934"/>
            <a:ext cx="1181442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just">
              <a:spcBef>
                <a:spcPts val="1000"/>
              </a:spcBef>
              <a:buClr>
                <a:srgbClr val="B84742"/>
              </a:buClr>
              <a:buFont typeface="Wingdings 3" panose="05040102010807070707" pitchFamily="18" charset="2"/>
              <a:buChar char=""/>
            </a:pPr>
            <a:r>
              <a:rPr lang="en-US" sz="2800" b="1" dirty="0">
                <a:solidFill>
                  <a:srgbClr val="002060"/>
                </a:solidFill>
              </a:rPr>
              <a:t>Note:</a:t>
            </a:r>
            <a:r>
              <a:rPr lang="en-US" sz="2800" dirty="0">
                <a:solidFill>
                  <a:srgbClr val="002060"/>
                </a:solidFill>
              </a:rPr>
              <a:t> A minimally connected graph </a:t>
            </a:r>
            <a:r>
              <a:rPr lang="en-US" sz="2800" b="1" dirty="0">
                <a:solidFill>
                  <a:srgbClr val="002060"/>
                </a:solidFill>
              </a:rPr>
              <a:t>does not contain any cycles.</a:t>
            </a:r>
            <a:endParaRPr lang="en-US" sz="2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844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  <p:bldP spid="13" grpId="0" animBg="1"/>
      <p:bldP spid="17" grpId="0" animBg="1"/>
      <p:bldP spid="18" grpId="0" animBg="1"/>
      <p:bldP spid="2" grpId="0"/>
      <p:bldP spid="20" grpId="0" animBg="1"/>
      <p:bldP spid="23" grpId="0" animBg="1"/>
      <p:bldP spid="24" grpId="0" animBg="1"/>
      <p:bldP spid="27" grpId="0" animBg="1"/>
      <p:bldP spid="28" grpId="0" animBg="1"/>
      <p:bldP spid="3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2"/>
          <p:cNvSpPr txBox="1">
            <a:spLocks/>
          </p:cNvSpPr>
          <p:nvPr/>
        </p:nvSpPr>
        <p:spPr>
          <a:xfrm>
            <a:off x="131176" y="867840"/>
            <a:ext cx="11929645" cy="561716"/>
          </a:xfrm>
          <a:prstGeom prst="rect">
            <a:avLst/>
          </a:pr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lvl="0"/>
          </a:lstStyle>
          <a:p>
            <a:r>
              <a:rPr lang="en-US" sz="2800" dirty="0">
                <a:solidFill>
                  <a:schemeClr val="bg1"/>
                </a:solidFill>
              </a:rPr>
              <a:t>A graph is a tree if and only if it is minimally connected.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35C8299-099D-4E74-A7B7-29B2E1FD450E}"/>
              </a:ext>
            </a:extLst>
          </p:cNvPr>
          <p:cNvSpPr txBox="1">
            <a:spLocks/>
          </p:cNvSpPr>
          <p:nvPr/>
        </p:nvSpPr>
        <p:spPr>
          <a:xfrm>
            <a:off x="131356" y="1463425"/>
            <a:ext cx="1008332" cy="523220"/>
          </a:xfrm>
          <a:prstGeom prst="rect">
            <a:avLst/>
          </a:pr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lvl="0"/>
          </a:lstStyle>
          <a:p>
            <a:r>
              <a:rPr lang="en-IN" sz="2800" dirty="0">
                <a:solidFill>
                  <a:schemeClr val="bg1"/>
                </a:solidFill>
              </a:rPr>
              <a:t>Proof 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Property 3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/>
              <p:cNvSpPr>
                <a:spLocks noGrp="1"/>
              </p:cNvSpPr>
              <p:nvPr>
                <p:ph idx="1"/>
              </p:nvPr>
            </p:nvSpPr>
            <p:spPr>
              <a:xfrm>
                <a:off x="131763" y="2265363"/>
                <a:ext cx="11928475" cy="25442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indent="0" algn="just">
                  <a:spcBef>
                    <a:spcPts val="1000"/>
                  </a:spcBef>
                  <a:buClr>
                    <a:srgbClr val="B84742"/>
                  </a:buClr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80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⇒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  <a:r>
                  <a:rPr lang="en-US" sz="2800" b="1" dirty="0">
                    <a:solidFill>
                      <a:srgbClr val="002060"/>
                    </a:solidFill>
                  </a:rPr>
                  <a:t>If</a:t>
                </a:r>
                <a14:m>
                  <m:oMath xmlns:m="http://schemas.openxmlformats.org/officeDocument/2006/math">
                    <m:r>
                      <a:rPr lang="en-US" sz="2800" b="1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1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𝐆</m:t>
                    </m:r>
                  </m:oMath>
                </a14:m>
                <a:r>
                  <a:rPr lang="en-US" sz="2800" b="1" dirty="0">
                    <a:solidFill>
                      <a:srgbClr val="002060"/>
                    </a:solidFill>
                  </a:rPr>
                  <a:t> is a tree, then it is minimally connected.</a:t>
                </a:r>
              </a:p>
              <a:p>
                <a:pPr>
                  <a:buClr>
                    <a:srgbClr val="B84742"/>
                  </a:buClr>
                </a:pPr>
                <a:r>
                  <a:rPr lang="en-US" b="1" dirty="0"/>
                  <a:t>In a tree</a:t>
                </a:r>
                <a:r>
                  <a:rPr lang="en-US" dirty="0"/>
                  <a:t>, there is exactly one path between every pair of vertices.</a:t>
                </a:r>
              </a:p>
              <a:p>
                <a:pPr>
                  <a:buClr>
                    <a:srgbClr val="B84742"/>
                  </a:buClr>
                </a:pPr>
                <a:r>
                  <a:rPr lang="en-US" dirty="0"/>
                  <a:t>Removing any edge destroys this path. </a:t>
                </a:r>
              </a:p>
              <a:p>
                <a:pPr>
                  <a:buClr>
                    <a:srgbClr val="B84742"/>
                  </a:buClr>
                </a:pPr>
                <a:r>
                  <a:rPr lang="en-US" dirty="0"/>
                  <a:t>Hence, the graph becomes </a:t>
                </a:r>
                <a:r>
                  <a:rPr lang="en-US" b="1" dirty="0"/>
                  <a:t>disconnected.</a:t>
                </a:r>
              </a:p>
              <a:p>
                <a:pPr>
                  <a:buClr>
                    <a:srgbClr val="B84742"/>
                  </a:buClr>
                </a:pPr>
                <a:r>
                  <a:rPr lang="en-US" dirty="0"/>
                  <a:t>Therefore,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G</m:t>
                    </m:r>
                  </m:oMath>
                </a14:m>
                <a:r>
                  <a:rPr lang="en-US" dirty="0"/>
                  <a:t> is minimally connected.</a:t>
                </a:r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Content Placeholder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763" y="2265363"/>
                <a:ext cx="11928475" cy="2544286"/>
              </a:xfrm>
              <a:prstGeom prst="rect">
                <a:avLst/>
              </a:prstGeom>
              <a:blipFill rotWithShape="0">
                <a:blip r:embed="rId2"/>
                <a:stretch>
                  <a:fillRect l="-971" t="-4317" b="-59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4280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2"/>
          <p:cNvSpPr txBox="1">
            <a:spLocks/>
          </p:cNvSpPr>
          <p:nvPr/>
        </p:nvSpPr>
        <p:spPr>
          <a:xfrm>
            <a:off x="131176" y="867840"/>
            <a:ext cx="11929645" cy="535958"/>
          </a:xfrm>
          <a:prstGeom prst="rect">
            <a:avLst/>
          </a:pr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lvl="0"/>
          </a:lstStyle>
          <a:p>
            <a:r>
              <a:rPr lang="en-US" sz="2800" dirty="0">
                <a:solidFill>
                  <a:schemeClr val="bg1"/>
                </a:solidFill>
              </a:rPr>
              <a:t>A graph is a tree if and only if it is minimally connected.</a:t>
            </a:r>
          </a:p>
          <a:p>
            <a:r>
              <a:rPr lang="en-US" sz="28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35C8299-099D-4E74-A7B7-29B2E1FD450E}"/>
              </a:ext>
            </a:extLst>
          </p:cNvPr>
          <p:cNvSpPr txBox="1">
            <a:spLocks/>
          </p:cNvSpPr>
          <p:nvPr/>
        </p:nvSpPr>
        <p:spPr>
          <a:xfrm>
            <a:off x="131356" y="1437666"/>
            <a:ext cx="1021584" cy="523220"/>
          </a:xfrm>
          <a:prstGeom prst="rect">
            <a:avLst/>
          </a:pr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lvl="0"/>
          </a:lstStyle>
          <a:p>
            <a:r>
              <a:rPr lang="en-IN" sz="2800" dirty="0">
                <a:solidFill>
                  <a:schemeClr val="bg1"/>
                </a:solidFill>
              </a:rPr>
              <a:t>Proof 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Property 3(Cont.)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88685" y="1988922"/>
                <a:ext cx="11872136" cy="27597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1000"/>
                  </a:spcBef>
                  <a:buClr>
                    <a:srgbClr val="B84742"/>
                  </a:buClr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⇐</m:t>
                        </m:r>
                      </m:e>
                    </m:d>
                  </m:oMath>
                </a14:m>
                <a:r>
                  <a:rPr lang="en-US" sz="2800" b="1" dirty="0">
                    <a:solidFill>
                      <a:srgbClr val="002060"/>
                    </a:solidFill>
                  </a:rPr>
                  <a:t>If a graph is minimally connected, then it is a tree </a:t>
                </a:r>
              </a:p>
              <a:p>
                <a:pPr marL="265113" indent="-265113" algn="just">
                  <a:spcBef>
                    <a:spcPts val="1000"/>
                  </a:spcBef>
                  <a:buClr>
                    <a:srgbClr val="B84742"/>
                  </a:buClr>
                  <a:buFont typeface="Wingdings 3" panose="05040102010807070707" pitchFamily="18" charset="2"/>
                  <a:buChar char=""/>
                </a:pPr>
                <a:r>
                  <a:rPr lang="en-US" sz="2800" dirty="0">
                    <a:solidFill>
                      <a:srgbClr val="002060"/>
                    </a:solidFill>
                  </a:rPr>
                  <a:t>If a graph is minimally connected so it </a:t>
                </a:r>
                <a:r>
                  <a:rPr lang="en-US" sz="2800" b="1" dirty="0">
                    <a:solidFill>
                      <a:srgbClr val="C00000"/>
                    </a:solidFill>
                  </a:rPr>
                  <a:t>does not contain any cycles.</a:t>
                </a:r>
                <a:endParaRPr lang="en-US" sz="2800" dirty="0">
                  <a:solidFill>
                    <a:srgbClr val="002060"/>
                  </a:solidFill>
                </a:endParaRPr>
              </a:p>
              <a:p>
                <a:pPr marL="265113" indent="-265113" algn="just">
                  <a:spcBef>
                    <a:spcPts val="1000"/>
                  </a:spcBef>
                  <a:buClr>
                    <a:srgbClr val="B84742"/>
                  </a:buClr>
                  <a:buFont typeface="Wingdings 3" panose="05040102010807070707" pitchFamily="18" charset="2"/>
                  <a:buChar char=""/>
                </a:pPr>
                <a:r>
                  <a:rPr lang="en-US" sz="2800" dirty="0">
                    <a:solidFill>
                      <a:srgbClr val="002060"/>
                    </a:solidFill>
                  </a:rPr>
                  <a:t>So, the graph is 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connected without cycle</a:t>
                </a:r>
                <a:r>
                  <a:rPr lang="en-US" sz="2800" b="1" dirty="0">
                    <a:solidFill>
                      <a:srgbClr val="002060"/>
                    </a:solidFill>
                  </a:rPr>
                  <a:t>.</a:t>
                </a:r>
              </a:p>
              <a:p>
                <a:pPr marL="265113" indent="-265113" algn="just">
                  <a:spcBef>
                    <a:spcPts val="1000"/>
                  </a:spcBef>
                  <a:buClr>
                    <a:srgbClr val="B84742"/>
                  </a:buClr>
                  <a:buFont typeface="Wingdings 3" panose="05040102010807070707" pitchFamily="18" charset="2"/>
                  <a:buChar char=""/>
                </a:pPr>
                <a:r>
                  <a:rPr lang="en-US" sz="2800" dirty="0">
                    <a:solidFill>
                      <a:srgbClr val="002060"/>
                    </a:solidFill>
                  </a:rPr>
                  <a:t>Hence, It is a </a:t>
                </a:r>
                <a:r>
                  <a:rPr lang="en-US" sz="2800" b="1" dirty="0">
                    <a:solidFill>
                      <a:srgbClr val="002060"/>
                    </a:solidFill>
                  </a:rPr>
                  <a:t>tree</a:t>
                </a:r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  <a:endParaRPr lang="en-US" sz="2800" b="1" dirty="0">
                  <a:solidFill>
                    <a:srgbClr val="002060"/>
                  </a:solidFill>
                </a:endParaRPr>
              </a:p>
              <a:p>
                <a:pPr lvl="1" algn="just">
                  <a:spcBef>
                    <a:spcPts val="1000"/>
                  </a:spcBef>
                  <a:buClr>
                    <a:srgbClr val="B84742"/>
                  </a:buClr>
                </a:pPr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685" y="1988922"/>
                <a:ext cx="11872136" cy="2759730"/>
              </a:xfrm>
              <a:prstGeom prst="rect">
                <a:avLst/>
              </a:prstGeom>
              <a:blipFill rotWithShape="0">
                <a:blip r:embed="rId2"/>
                <a:stretch>
                  <a:fillRect l="-976" t="-2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6921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Key Results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131180" y="863444"/>
                <a:ext cx="11929641" cy="1156425"/>
              </a:xfrm>
            </p:spPr>
            <p:txBody>
              <a:bodyPr/>
              <a:lstStyle/>
              <a:p>
                <a:r>
                  <a:rPr lang="en-US" dirty="0"/>
                  <a:t>A tree with</a:t>
                </a:r>
                <a14:m>
                  <m:oMath xmlns:m="http://schemas.openxmlformats.org/officeDocument/2006/math">
                    <m:r>
                      <a:rPr lang="en-US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dirty="0"/>
                  <a:t> vertices has exactly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edges.</a:t>
                </a:r>
              </a:p>
              <a:p>
                <a:r>
                  <a:rPr lang="en-US" dirty="0"/>
                  <a:t>A graph with</a:t>
                </a:r>
                <a14:m>
                  <m:oMath xmlns:m="http://schemas.openxmlformats.org/officeDocument/2006/math">
                    <m:r>
                      <a:rPr lang="en-US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dirty="0"/>
                  <a:t> vertices is a tree if and only if it is connected and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edges.</a:t>
                </a: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863444"/>
                <a:ext cx="11929641" cy="1156425"/>
              </a:xfrm>
              <a:blipFill rotWithShape="0">
                <a:blip r:embed="rId2"/>
                <a:stretch>
                  <a:fillRect l="-971" t="-9524" r="-920" b="-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953" y="2584826"/>
            <a:ext cx="1151710" cy="111635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166987" y="2623959"/>
            <a:ext cx="1067926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</a:rPr>
              <a:t>These conditions allow us to identify a tree without checking cycles explicitly</a:t>
            </a:r>
          </a:p>
        </p:txBody>
      </p:sp>
    </p:spTree>
    <p:extLst>
      <p:ext uri="{BB962C8B-B14F-4D97-AF65-F5344CB8AC3E}">
        <p14:creationId xmlns:p14="http://schemas.microsoft.com/office/powerpoint/2010/main" val="2706519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Method-1</a:t>
            </a:r>
          </a:p>
        </p:txBody>
      </p:sp>
    </p:spTree>
    <p:extLst>
      <p:ext uri="{BB962C8B-B14F-4D97-AF65-F5344CB8AC3E}">
        <p14:creationId xmlns:p14="http://schemas.microsoft.com/office/powerpoint/2010/main" val="4626176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2"/>
          <p:cNvSpPr txBox="1">
            <a:spLocks/>
          </p:cNvSpPr>
          <p:nvPr/>
        </p:nvSpPr>
        <p:spPr>
          <a:xfrm>
            <a:off x="131176" y="867839"/>
            <a:ext cx="11929645" cy="548837"/>
          </a:xfrm>
          <a:prstGeom prst="rect">
            <a:avLst/>
          </a:pr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lvl="0"/>
          </a:lstStyle>
          <a:p>
            <a:r>
              <a:rPr lang="en-US" sz="2800" dirty="0">
                <a:solidFill>
                  <a:schemeClr val="bg1"/>
                </a:solidFill>
              </a:rPr>
              <a:t>How many edges does a tree with 7 vertices have? Construct such tree.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35C8299-099D-4E74-A7B7-29B2E1FD450E}"/>
              </a:ext>
            </a:extLst>
          </p:cNvPr>
          <p:cNvSpPr txBox="1">
            <a:spLocks/>
          </p:cNvSpPr>
          <p:nvPr/>
        </p:nvSpPr>
        <p:spPr>
          <a:xfrm>
            <a:off x="131355" y="1450541"/>
            <a:ext cx="1419149" cy="523220"/>
          </a:xfrm>
          <a:prstGeom prst="rect">
            <a:avLst/>
          </a:pr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lvl="0"/>
          </a:lstStyle>
          <a:p>
            <a:r>
              <a:rPr lang="en-IN" sz="2800" dirty="0">
                <a:solidFill>
                  <a:schemeClr val="bg1"/>
                </a:solidFill>
              </a:rPr>
              <a:t>Solution 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Method 1 ⇝ Example 1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31176" y="2139047"/>
                <a:ext cx="7384092" cy="220060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65113" indent="-265113" algn="just">
                  <a:spcBef>
                    <a:spcPts val="1000"/>
                  </a:spcBef>
                  <a:buClr>
                    <a:srgbClr val="B84742"/>
                  </a:buClr>
                  <a:buFont typeface="Wingdings 3" panose="05040102010807070707" pitchFamily="18" charset="2"/>
                  <a:buChar char=""/>
                </a:pPr>
                <a:r>
                  <a:rPr lang="en-US" sz="2800" dirty="0">
                    <a:solidFill>
                      <a:srgbClr val="002060"/>
                    </a:solidFill>
                  </a:rPr>
                  <a:t>A tree with </a:t>
                </a:r>
                <a14:m>
                  <m:oMath xmlns:m="http://schemas.openxmlformats.org/officeDocument/2006/math">
                    <m:r>
                      <a:rPr lang="en-US" sz="2800" b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𝐧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vertices have </a:t>
                </a:r>
                <a14:m>
                  <m:oMath xmlns:m="http://schemas.openxmlformats.org/officeDocument/2006/math">
                    <m:r>
                      <a:rPr lang="en-US" sz="2800" b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𝐧</m:t>
                    </m:r>
                    <m:r>
                      <a:rPr lang="en-US" sz="2800" b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 b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sz="2800" b="1" dirty="0">
                    <a:solidFill>
                      <a:srgbClr val="002060"/>
                    </a:solidFill>
                  </a:rPr>
                  <a:t> </a:t>
                </a:r>
                <a:r>
                  <a:rPr lang="en-US" sz="2800" dirty="0">
                    <a:solidFill>
                      <a:srgbClr val="002060"/>
                    </a:solidFill>
                  </a:rPr>
                  <a:t>edges.</a:t>
                </a:r>
              </a:p>
              <a:p>
                <a:pPr marL="265113" indent="-265113" algn="just">
                  <a:spcBef>
                    <a:spcPts val="1000"/>
                  </a:spcBef>
                  <a:buClr>
                    <a:srgbClr val="B84742"/>
                  </a:buClr>
                  <a:buFont typeface="Wingdings 3" panose="05040102010807070707" pitchFamily="18" charset="2"/>
                  <a:buChar char=""/>
                </a:pPr>
                <a:r>
                  <a:rPr lang="en-US" sz="2800" dirty="0">
                    <a:solidFill>
                      <a:srgbClr val="002060"/>
                    </a:solidFill>
                  </a:rPr>
                  <a:t>Here,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lang="en-US" sz="2800" b="0" dirty="0">
                    <a:solidFill>
                      <a:srgbClr val="002060"/>
                    </a:solidFill>
                  </a:rPr>
                  <a:t>.</a:t>
                </a:r>
              </a:p>
              <a:p>
                <a:pPr marL="265113" indent="-265113" algn="just">
                  <a:spcBef>
                    <a:spcPts val="1000"/>
                  </a:spcBef>
                  <a:buClr>
                    <a:srgbClr val="B84742"/>
                  </a:buClr>
                  <a:buFont typeface="Wingdings 3" panose="05040102010807070707" pitchFamily="18" charset="2"/>
                  <a:buChar char=""/>
                </a:pPr>
                <a:r>
                  <a:rPr lang="en-US" sz="2800" dirty="0">
                    <a:solidFill>
                      <a:srgbClr val="002060"/>
                    </a:solidFill>
                  </a:rPr>
                  <a:t>Then we have 6 edges.</a:t>
                </a:r>
              </a:p>
              <a:p>
                <a:pPr marL="265113" indent="-265113" algn="just">
                  <a:spcBef>
                    <a:spcPts val="1000"/>
                  </a:spcBef>
                  <a:buClr>
                    <a:srgbClr val="B84742"/>
                  </a:buClr>
                  <a:buFont typeface="Wingdings 3" panose="05040102010807070707" pitchFamily="18" charset="2"/>
                  <a:buChar char=""/>
                </a:pPr>
                <a:r>
                  <a:rPr lang="en-US" sz="2800" dirty="0">
                    <a:solidFill>
                      <a:srgbClr val="002060"/>
                    </a:solidFill>
                  </a:rPr>
                  <a:t>i.e. A tree with 7 vertices have 6 edges.</a:t>
                </a: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6" y="2139047"/>
                <a:ext cx="7384092" cy="2200602"/>
              </a:xfrm>
              <a:prstGeom prst="rect">
                <a:avLst/>
              </a:prstGeom>
              <a:blipFill rotWithShape="0">
                <a:blip r:embed="rId2"/>
                <a:stretch>
                  <a:fillRect l="-1569" t="-3047" b="-69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7226" y="2552435"/>
            <a:ext cx="3036071" cy="1597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6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2"/>
          <p:cNvSpPr txBox="1">
            <a:spLocks/>
          </p:cNvSpPr>
          <p:nvPr/>
        </p:nvSpPr>
        <p:spPr>
          <a:xfrm>
            <a:off x="131176" y="867839"/>
            <a:ext cx="11929645" cy="548837"/>
          </a:xfrm>
          <a:prstGeom prst="rect">
            <a:avLst/>
          </a:pr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lvl="0"/>
          </a:lstStyle>
          <a:p>
            <a:r>
              <a:rPr lang="en-US" sz="2800" dirty="0">
                <a:solidFill>
                  <a:schemeClr val="bg1"/>
                </a:solidFill>
              </a:rPr>
              <a:t>A graph has 7 vertices and 6 edges. Is it a tree? Justify.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35C8299-099D-4E74-A7B7-29B2E1FD450E}"/>
              </a:ext>
            </a:extLst>
          </p:cNvPr>
          <p:cNvSpPr txBox="1">
            <a:spLocks/>
          </p:cNvSpPr>
          <p:nvPr/>
        </p:nvSpPr>
        <p:spPr>
          <a:xfrm>
            <a:off x="131355" y="1450541"/>
            <a:ext cx="1419149" cy="523220"/>
          </a:xfrm>
          <a:prstGeom prst="rect">
            <a:avLst/>
          </a:pr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lvl="0"/>
          </a:lstStyle>
          <a:p>
            <a:r>
              <a:rPr lang="en-IN" sz="2800" dirty="0">
                <a:solidFill>
                  <a:schemeClr val="bg1"/>
                </a:solidFill>
              </a:rPr>
              <a:t>Solution 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Method 1 ⇝ Example 2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/>
              <p:cNvSpPr>
                <a:spLocks noGrp="1"/>
              </p:cNvSpPr>
              <p:nvPr>
                <p:ph idx="1"/>
              </p:nvPr>
            </p:nvSpPr>
            <p:spPr>
              <a:xfrm>
                <a:off x="131180" y="2138289"/>
                <a:ext cx="11929641" cy="4315720"/>
              </a:xfrm>
            </p:spPr>
            <p:txBody>
              <a:bodyPr/>
              <a:lstStyle/>
              <a:p>
                <a:r>
                  <a:rPr lang="en-US" dirty="0"/>
                  <a:t>Here we have 7 vertices and 6 edges.</a:t>
                </a:r>
              </a:p>
              <a:p>
                <a:r>
                  <a:rPr lang="en-US" dirty="0"/>
                  <a:t>A graph with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dirty="0"/>
                  <a:t> vertices is a tree if and only if it is </a:t>
                </a:r>
                <a:r>
                  <a:rPr lang="en-US" dirty="0">
                    <a:solidFill>
                      <a:srgbClr val="C00000"/>
                    </a:solidFill>
                  </a:rPr>
                  <a:t>connected</a:t>
                </a:r>
                <a:r>
                  <a:rPr lang="en-US" dirty="0"/>
                  <a:t> and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edges.</a:t>
                </a:r>
              </a:p>
              <a:p>
                <a:r>
                  <a:rPr lang="en-US" dirty="0"/>
                  <a:t>So, on</a:t>
                </a:r>
                <a:r>
                  <a:rPr lang="en-US" dirty="0" err="1"/>
                  <a:t>ly</a:t>
                </a:r>
                <a:r>
                  <a:rPr lang="en-US" dirty="0"/>
                  <a:t> having</a:t>
                </a:r>
                <a14:m>
                  <m:oMath xmlns:m="http://schemas.openxmlformats.org/officeDocument/2006/math">
                    <m:r>
                      <a:rPr lang="en-US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edges is </a:t>
                </a:r>
                <a:r>
                  <a:rPr lang="en-US" b="1" dirty="0"/>
                  <a:t>not sufficient.</a:t>
                </a:r>
              </a:p>
              <a:p>
                <a:r>
                  <a:rPr lang="en-US" dirty="0"/>
                  <a:t>The graph must also be </a:t>
                </a:r>
                <a:r>
                  <a:rPr lang="en-US" b="1" dirty="0"/>
                  <a:t>connected.</a:t>
                </a:r>
              </a:p>
              <a:p>
                <a:r>
                  <a:rPr lang="en-US" dirty="0"/>
                  <a:t>If the graph is connected, then it is a tree.</a:t>
                </a:r>
              </a:p>
              <a:p>
                <a:r>
                  <a:rPr lang="en-US" dirty="0"/>
                  <a:t>If the graph is not connected, then it is not a tree.</a:t>
                </a:r>
              </a:p>
            </p:txBody>
          </p:sp>
        </mc:Choice>
        <mc:Fallback xmlns="">
          <p:sp>
            <p:nvSpPr>
              <p:cNvPr id="7" name="Content Placeholder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2138289"/>
                <a:ext cx="11929641" cy="4315720"/>
              </a:xfrm>
              <a:blipFill rotWithShape="0">
                <a:blip r:embed="rId2"/>
                <a:stretch>
                  <a:fillRect l="-971" t="-2542" r="-9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9311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7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/>
              <p:cNvSpPr txBox="1">
                <a:spLocks/>
              </p:cNvSpPr>
              <p:nvPr/>
            </p:nvSpPr>
            <p:spPr>
              <a:xfrm>
                <a:off x="131176" y="867839"/>
                <a:ext cx="11929645" cy="2353664"/>
              </a:xfrm>
              <a:prstGeom prst="rect">
                <a:avLst/>
              </a:prstGeom>
              <a:gradFill>
                <a:gsLst>
                  <a:gs pos="10000">
                    <a:srgbClr val="273238"/>
                  </a:gs>
                  <a:gs pos="100000">
                    <a:srgbClr val="607D8B"/>
                  </a:gs>
                </a:gsLst>
                <a:lin ang="108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lvl="0"/>
              </a:lstStyle>
              <a:p>
                <a:r>
                  <a:rPr lang="en-US" sz="2800" dirty="0">
                    <a:solidFill>
                      <a:schemeClr val="bg1"/>
                    </a:solidFill>
                  </a:rPr>
                  <a:t>Solve followings: </a:t>
                </a:r>
              </a:p>
              <a:p>
                <a:pPr marL="514350" indent="-514350">
                  <a:buFont typeface="+mj-lt"/>
                  <a:buAutoNum type="alphaLcParenR"/>
                </a:pPr>
                <a:r>
                  <a:rPr lang="en-US" sz="2800" dirty="0">
                    <a:solidFill>
                      <a:schemeClr val="bg1"/>
                    </a:solidFill>
                  </a:rPr>
                  <a:t>Can a disconnected graph have 6 edges and 7 vertices?</a:t>
                </a:r>
              </a:p>
              <a:p>
                <a:pPr marL="514350" indent="-514350">
                  <a:buFont typeface="+mj-lt"/>
                  <a:buAutoNum type="alphaLcParenR"/>
                </a:pPr>
                <a:r>
                  <a:rPr lang="en-US" sz="2800" dirty="0">
                    <a:solidFill>
                      <a:schemeClr val="bg1"/>
                    </a:solidFill>
                  </a:rPr>
                  <a:t>What is the maximum degree possible in a tree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28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≥2</m:t>
                    </m:r>
                  </m:oMath>
                </a14:m>
                <a:r>
                  <a:rPr lang="en-US" sz="2800" dirty="0">
                    <a:solidFill>
                      <a:schemeClr val="bg1"/>
                    </a:solidFill>
                  </a:rPr>
                  <a:t> vertices?</a:t>
                </a:r>
              </a:p>
              <a:p>
                <a:pPr marL="514350" indent="-514350">
                  <a:buFont typeface="+mj-lt"/>
                  <a:buAutoNum type="alphaLcParenR"/>
                </a:pPr>
                <a:r>
                  <a:rPr lang="en-US" sz="2800" dirty="0">
                    <a:solidFill>
                      <a:schemeClr val="bg1"/>
                    </a:solidFill>
                  </a:rPr>
                  <a:t>What is the minimum degree possible in a tree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28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≥2</m:t>
                    </m:r>
                  </m:oMath>
                </a14:m>
                <a:r>
                  <a:rPr lang="en-US" sz="2800" dirty="0">
                    <a:solidFill>
                      <a:schemeClr val="bg1"/>
                    </a:solidFill>
                  </a:rPr>
                  <a:t> vertices?</a:t>
                </a:r>
              </a:p>
              <a:p>
                <a:pPr marL="514350" indent="-514350">
                  <a:buFont typeface="+mj-lt"/>
                  <a:buAutoNum type="alphaLcParenR"/>
                </a:pPr>
                <a:r>
                  <a:rPr lang="en-US" sz="2800" dirty="0">
                    <a:solidFill>
                      <a:schemeClr val="bg1"/>
                    </a:solidFill>
                  </a:rPr>
                  <a:t>Why minimum degree cannot be 0?</a:t>
                </a:r>
              </a:p>
              <a:p>
                <a:pPr marL="514350" indent="-514350">
                  <a:buFont typeface="+mj-lt"/>
                  <a:buAutoNum type="alphaLcParenR"/>
                </a:pPr>
                <a:endParaRPr lang="en-US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6" y="867839"/>
                <a:ext cx="11929645" cy="2353664"/>
              </a:xfrm>
              <a:prstGeom prst="rect">
                <a:avLst/>
              </a:prstGeom>
              <a:blipFill rotWithShape="0">
                <a:blip r:embed="rId2"/>
                <a:stretch>
                  <a:fillRect l="-1074" t="-2591" b="-18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35C8299-099D-4E74-A7B7-29B2E1FD450E}"/>
              </a:ext>
            </a:extLst>
          </p:cNvPr>
          <p:cNvSpPr txBox="1">
            <a:spLocks/>
          </p:cNvSpPr>
          <p:nvPr/>
        </p:nvSpPr>
        <p:spPr>
          <a:xfrm>
            <a:off x="131176" y="3378142"/>
            <a:ext cx="1419149" cy="523220"/>
          </a:xfrm>
          <a:prstGeom prst="rect">
            <a:avLst/>
          </a:pr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lvl="0"/>
          </a:lstStyle>
          <a:p>
            <a:r>
              <a:rPr lang="en-IN" sz="2800" dirty="0">
                <a:solidFill>
                  <a:schemeClr val="bg1"/>
                </a:solidFill>
              </a:rPr>
              <a:t>Solution 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Method 1 ⇝ Example 3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31180" y="4029865"/>
                <a:ext cx="11929641" cy="2818690"/>
              </a:xfrm>
            </p:spPr>
            <p:txBody>
              <a:bodyPr/>
              <a:lstStyle/>
              <a:p>
                <a:pPr marL="514350" indent="-514350">
                  <a:buFont typeface="+mj-lt"/>
                  <a:buAutoNum type="alphaLcParenR"/>
                </a:pPr>
                <a:r>
                  <a:rPr lang="en-US" dirty="0"/>
                  <a:t>Yes, it is possible.</a:t>
                </a:r>
              </a:p>
              <a:p>
                <a:pPr marL="514350" indent="-514350">
                  <a:buFont typeface="+mj-lt"/>
                  <a:buAutoNum type="alphaLcParenR"/>
                </a:pPr>
                <a:r>
                  <a:rPr lang="en-US" b="0" dirty="0"/>
                  <a:t>It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. Achieved in a </a:t>
                </a:r>
                <a:r>
                  <a:rPr lang="en-US" b="1" dirty="0"/>
                  <a:t>star tree.</a:t>
                </a:r>
              </a:p>
              <a:p>
                <a:pPr marL="514350" indent="-514350">
                  <a:buFont typeface="+mj-lt"/>
                  <a:buAutoNum type="alphaLcParenR"/>
                </a:pPr>
                <a:r>
                  <a:rPr lang="en-US" dirty="0"/>
                  <a:t>It is 1. Achieved in </a:t>
                </a:r>
                <a:r>
                  <a:rPr lang="en-US" b="1" dirty="0"/>
                  <a:t>any</a:t>
                </a:r>
                <a:r>
                  <a:rPr lang="en-US" dirty="0"/>
                  <a:t> </a:t>
                </a:r>
                <a:r>
                  <a:rPr lang="en-US" b="1" dirty="0"/>
                  <a:t>tree.</a:t>
                </a:r>
              </a:p>
              <a:p>
                <a:pPr marL="514350" indent="-514350">
                  <a:buFont typeface="+mj-lt"/>
                  <a:buAutoNum type="alphaLcParenR"/>
                </a:pPr>
                <a:r>
                  <a:rPr lang="en-US" dirty="0"/>
                  <a:t>Because tree is </a:t>
                </a:r>
                <a:r>
                  <a:rPr lang="en-US" b="1" dirty="0"/>
                  <a:t>connected.</a:t>
                </a:r>
              </a:p>
              <a:p>
                <a:pPr marL="514350" indent="-514350">
                  <a:buFont typeface="+mj-lt"/>
                  <a:buAutoNum type="alphaLcParenR"/>
                </a:pPr>
                <a:endParaRPr lang="en-US" dirty="0"/>
              </a:p>
              <a:p>
                <a:pPr marL="514350" indent="-514350">
                  <a:buFont typeface="+mj-lt"/>
                  <a:buAutoNum type="alphaLcParenR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4029865"/>
                <a:ext cx="11929641" cy="2818690"/>
              </a:xfrm>
              <a:blipFill rotWithShape="0">
                <a:blip r:embed="rId3"/>
                <a:stretch>
                  <a:fillRect l="-1074" t="-36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0347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2"/>
          <p:cNvSpPr txBox="1">
            <a:spLocks/>
          </p:cNvSpPr>
          <p:nvPr/>
        </p:nvSpPr>
        <p:spPr>
          <a:xfrm>
            <a:off x="131176" y="867839"/>
            <a:ext cx="11929645" cy="523639"/>
          </a:xfrm>
          <a:prstGeom prst="rect">
            <a:avLst/>
          </a:pr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lvl="0"/>
          </a:lstStyle>
          <a:p>
            <a:r>
              <a:rPr lang="en-US" sz="2800" dirty="0">
                <a:solidFill>
                  <a:schemeClr val="bg1"/>
                </a:solidFill>
              </a:rPr>
              <a:t>Find all non-isomorphic trees with 4 vertices.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35C8299-099D-4E74-A7B7-29B2E1FD450E}"/>
              </a:ext>
            </a:extLst>
          </p:cNvPr>
          <p:cNvSpPr txBox="1">
            <a:spLocks/>
          </p:cNvSpPr>
          <p:nvPr/>
        </p:nvSpPr>
        <p:spPr>
          <a:xfrm>
            <a:off x="131355" y="1437479"/>
            <a:ext cx="1419149" cy="523220"/>
          </a:xfrm>
          <a:prstGeom prst="rect">
            <a:avLst/>
          </a:pr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lvl="0"/>
          </a:lstStyle>
          <a:p>
            <a:r>
              <a:rPr lang="en-IN" sz="2800" dirty="0">
                <a:solidFill>
                  <a:schemeClr val="bg1"/>
                </a:solidFill>
              </a:rPr>
              <a:t>Solution 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Method 1 ⇝ Example 4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131180" y="2129051"/>
                <a:ext cx="11929641" cy="4324958"/>
              </a:xfrm>
            </p:spPr>
            <p:txBody>
              <a:bodyPr/>
              <a:lstStyle/>
              <a:p>
                <a:r>
                  <a:rPr lang="en-US" dirty="0"/>
                  <a:t>Two trees are </a:t>
                </a:r>
                <a:r>
                  <a:rPr lang="en-US" b="1" dirty="0"/>
                  <a:t>non-isomorphic</a:t>
                </a:r>
                <a:r>
                  <a:rPr lang="en-US" dirty="0"/>
                  <a:t> if their </a:t>
                </a:r>
                <a:r>
                  <a:rPr lang="en-US" b="1" dirty="0"/>
                  <a:t>structure (degree sequence) is different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As we know A tree with</a:t>
                </a:r>
                <a14:m>
                  <m:oMath xmlns:m="http://schemas.openxmlformats.org/officeDocument/2006/math">
                    <m:r>
                      <a:rPr lang="en-US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dirty="0"/>
                  <a:t> vertices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edges.  </a:t>
                </a:r>
              </a:p>
              <a:p>
                <a:r>
                  <a:rPr lang="en-US" dirty="0"/>
                  <a:t>So trees with 4 vertices having 3 edges.</a:t>
                </a:r>
              </a:p>
              <a:p>
                <a:r>
                  <a:rPr lang="en-US" dirty="0"/>
                  <a:t>By Degrees-Sum theorem, </a:t>
                </a:r>
                <a:r>
                  <a:rPr lang="en-US" b="0" i="0" dirty="0">
                    <a:latin typeface="+mj-lt"/>
                  </a:rPr>
                  <a:t>Sum of degree of each vertex is </a:t>
                </a:r>
                <a:r>
                  <a:rPr lang="en-US" i="0" dirty="0">
                    <a:latin typeface="+mj-lt"/>
                  </a:rPr>
                  <a:t>6</a:t>
                </a:r>
                <a:r>
                  <a:rPr lang="en-US" b="1" dirty="0"/>
                  <a:t>.</a:t>
                </a:r>
              </a:p>
              <a:p>
                <a:r>
                  <a:rPr lang="en-US" dirty="0"/>
                  <a:t>Possible degree sequences: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dirty="0">
                            <a:latin typeface="Cambria Math" panose="02040503050406030204" pitchFamily="18" charset="0"/>
                          </a:rPr>
                          <m:t>3, 1, 1, 1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dirty="0">
                            <a:latin typeface="Cambria Math" panose="02040503050406030204" pitchFamily="18" charset="0"/>
                          </a:rPr>
                          <m:t>2, 2, 1, 1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There are exactly </a:t>
                </a:r>
                <a:r>
                  <a:rPr lang="en-US" b="1" dirty="0"/>
                  <a:t>2 non-isomorphic trees with 4 vertices</a:t>
                </a:r>
                <a:endParaRPr lang="en-US" dirty="0"/>
              </a:p>
              <a:p>
                <a:pPr lvl="1"/>
                <a:endParaRPr lang="en-US" b="1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2129051"/>
                <a:ext cx="11929641" cy="4324958"/>
              </a:xfrm>
              <a:blipFill rotWithShape="0">
                <a:blip r:embed="rId2"/>
                <a:stretch>
                  <a:fillRect l="-971" t="-23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8658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2"/>
          <p:cNvSpPr txBox="1">
            <a:spLocks/>
          </p:cNvSpPr>
          <p:nvPr/>
        </p:nvSpPr>
        <p:spPr>
          <a:xfrm>
            <a:off x="131176" y="867839"/>
            <a:ext cx="11929645" cy="523639"/>
          </a:xfrm>
          <a:prstGeom prst="rect">
            <a:avLst/>
          </a:pr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lvl="0"/>
          </a:lstStyle>
          <a:p>
            <a:r>
              <a:rPr lang="en-US" sz="2800" dirty="0">
                <a:solidFill>
                  <a:schemeClr val="bg1"/>
                </a:solidFill>
              </a:rPr>
              <a:t>Find all non-isomorphic trees with 4 vertices.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35C8299-099D-4E74-A7B7-29B2E1FD450E}"/>
              </a:ext>
            </a:extLst>
          </p:cNvPr>
          <p:cNvSpPr txBox="1">
            <a:spLocks/>
          </p:cNvSpPr>
          <p:nvPr/>
        </p:nvSpPr>
        <p:spPr>
          <a:xfrm>
            <a:off x="131355" y="1437479"/>
            <a:ext cx="1419149" cy="523220"/>
          </a:xfrm>
          <a:prstGeom prst="rect">
            <a:avLst/>
          </a:pr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lvl="0"/>
          </a:lstStyle>
          <a:p>
            <a:r>
              <a:rPr lang="en-IN" sz="2800" dirty="0">
                <a:solidFill>
                  <a:schemeClr val="bg1"/>
                </a:solidFill>
              </a:rPr>
              <a:t>Solution 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Method 1 ⇝ Example 4(Conti.)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/>
              <p:cNvSpPr/>
              <p:nvPr/>
            </p:nvSpPr>
            <p:spPr>
              <a:xfrm>
                <a:off x="1905633" y="4535996"/>
                <a:ext cx="1760225" cy="8679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1000"/>
                  </a:spcBef>
                  <a:buClr>
                    <a:srgbClr val="B84742"/>
                  </a:buClr>
                </a:pPr>
                <a:r>
                  <a:rPr lang="en-US" sz="2800" dirty="0">
                    <a:solidFill>
                      <a:srgbClr val="002060"/>
                    </a:solidFill>
                  </a:rPr>
                  <a:t>Path tree </a:t>
                </a:r>
              </a:p>
              <a:p>
                <a:pPr algn="ctr">
                  <a:lnSpc>
                    <a:spcPct val="90000"/>
                  </a:lnSpc>
                  <a:spcBef>
                    <a:spcPts val="1000"/>
                  </a:spcBef>
                  <a:buClr>
                    <a:srgbClr val="B84742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2, 2, 1, 1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633" y="4535996"/>
                <a:ext cx="1760225" cy="867930"/>
              </a:xfrm>
              <a:prstGeom prst="rect">
                <a:avLst/>
              </a:prstGeom>
              <a:blipFill rotWithShape="0">
                <a:blip r:embed="rId2"/>
                <a:stretch>
                  <a:fillRect l="-3125" t="-1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Rectangle 70"/>
              <p:cNvSpPr/>
              <p:nvPr/>
            </p:nvSpPr>
            <p:spPr>
              <a:xfrm>
                <a:off x="6790942" y="4535996"/>
                <a:ext cx="1760225" cy="8679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1000"/>
                  </a:spcBef>
                  <a:buClr>
                    <a:srgbClr val="B84742"/>
                  </a:buClr>
                </a:pPr>
                <a:r>
                  <a:rPr lang="en-US" sz="2800" dirty="0">
                    <a:solidFill>
                      <a:srgbClr val="002060"/>
                    </a:solidFill>
                  </a:rPr>
                  <a:t>Star tree </a:t>
                </a:r>
              </a:p>
              <a:p>
                <a:pPr algn="ctr">
                  <a:lnSpc>
                    <a:spcPct val="90000"/>
                  </a:lnSpc>
                  <a:spcBef>
                    <a:spcPts val="1000"/>
                  </a:spcBef>
                  <a:buClr>
                    <a:srgbClr val="B84742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3, 1, 1, 1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1" name="Rectangle 7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0942" y="4535996"/>
                <a:ext cx="1760225" cy="867930"/>
              </a:xfrm>
              <a:prstGeom prst="rect">
                <a:avLst/>
              </a:prstGeom>
              <a:blipFill rotWithShape="0">
                <a:blip r:embed="rId3"/>
                <a:stretch>
                  <a:fillRect l="-692" t="-1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1140" y="2300754"/>
            <a:ext cx="164606" cy="201795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3877" y="2504988"/>
            <a:ext cx="1597290" cy="1609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316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7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2"/>
          <p:cNvSpPr txBox="1">
            <a:spLocks/>
          </p:cNvSpPr>
          <p:nvPr/>
        </p:nvSpPr>
        <p:spPr>
          <a:xfrm>
            <a:off x="131176" y="867839"/>
            <a:ext cx="11929645" cy="523639"/>
          </a:xfrm>
          <a:prstGeom prst="rect">
            <a:avLst/>
          </a:pr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lvl="0"/>
          </a:lstStyle>
          <a:p>
            <a:r>
              <a:rPr lang="en-US" sz="2800" dirty="0">
                <a:solidFill>
                  <a:schemeClr val="bg1"/>
                </a:solidFill>
              </a:rPr>
              <a:t>Find all non-isomorphic trees with 5 vertices.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35C8299-099D-4E74-A7B7-29B2E1FD450E}"/>
              </a:ext>
            </a:extLst>
          </p:cNvPr>
          <p:cNvSpPr txBox="1">
            <a:spLocks/>
          </p:cNvSpPr>
          <p:nvPr/>
        </p:nvSpPr>
        <p:spPr>
          <a:xfrm>
            <a:off x="131355" y="1437479"/>
            <a:ext cx="1419149" cy="523220"/>
          </a:xfrm>
          <a:prstGeom prst="rect">
            <a:avLst/>
          </a:pr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lvl="0"/>
          </a:lstStyle>
          <a:p>
            <a:r>
              <a:rPr lang="en-IN" sz="2800" dirty="0">
                <a:solidFill>
                  <a:schemeClr val="bg1"/>
                </a:solidFill>
              </a:rPr>
              <a:t>Solution 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Method 1 ⇝ Example 5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131180" y="2129051"/>
                <a:ext cx="11929641" cy="4324958"/>
              </a:xfrm>
            </p:spPr>
            <p:txBody>
              <a:bodyPr/>
              <a:lstStyle/>
              <a:p>
                <a:r>
                  <a:rPr lang="en-US" dirty="0"/>
                  <a:t>Two trees are </a:t>
                </a:r>
                <a:r>
                  <a:rPr lang="en-US" b="1" dirty="0"/>
                  <a:t>non-isomorphic</a:t>
                </a:r>
                <a:r>
                  <a:rPr lang="en-US" dirty="0"/>
                  <a:t> if their </a:t>
                </a:r>
                <a:r>
                  <a:rPr lang="en-US" b="1" dirty="0"/>
                  <a:t>structure (degree sequence) is different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As we know A tree with</a:t>
                </a:r>
                <a14:m>
                  <m:oMath xmlns:m="http://schemas.openxmlformats.org/officeDocument/2006/math">
                    <m:r>
                      <a:rPr lang="en-US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dirty="0"/>
                  <a:t> vertices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edges.  </a:t>
                </a:r>
              </a:p>
              <a:p>
                <a:r>
                  <a:rPr lang="en-US" dirty="0"/>
                  <a:t>So trees with 5 vertices having 4 edges.</a:t>
                </a:r>
              </a:p>
              <a:p>
                <a:r>
                  <a:rPr lang="en-US" dirty="0"/>
                  <a:t>By Degrees-Sum theorem, </a:t>
                </a:r>
                <a:r>
                  <a:rPr lang="en-US" b="0" i="0" dirty="0">
                    <a:latin typeface="+mj-lt"/>
                  </a:rPr>
                  <a:t>Sum of degree of each vertex is </a:t>
                </a:r>
                <a:r>
                  <a:rPr lang="en-US" dirty="0">
                    <a:latin typeface="+mj-lt"/>
                  </a:rPr>
                  <a:t>8</a:t>
                </a:r>
                <a:r>
                  <a:rPr lang="en-US" b="1" dirty="0"/>
                  <a:t>.</a:t>
                </a:r>
              </a:p>
              <a:p>
                <a:r>
                  <a:rPr lang="en-US" dirty="0"/>
                  <a:t>Possible degree sequences: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4,1,1,1,1</m:t>
                        </m:r>
                      </m:e>
                    </m:d>
                    <m:r>
                      <a:rPr lang="en-US" i="0" dirty="0"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i="0" dirty="0">
                    <a:latin typeface="+mj-lt"/>
                  </a:rPr>
                  <a:t>Star tree</a:t>
                </a:r>
                <a:endParaRPr lang="en-US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3,2,1,1,1</m:t>
                        </m:r>
                      </m:e>
                    </m:d>
                    <m:r>
                      <a:rPr lang="en-US" i="0" dirty="0"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i="0" dirty="0">
                    <a:latin typeface="+mj-lt"/>
                  </a:rPr>
                  <a:t>Y tree</a:t>
                </a:r>
                <a:endParaRPr lang="en-US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i="0" dirty="0">
                        <a:latin typeface="Cambria Math" panose="02040503050406030204" pitchFamily="18" charset="0"/>
                      </a:rPr>
                      <m:t>(2,2,2,1,1)→ </m:t>
                    </m:r>
                  </m:oMath>
                </a14:m>
                <a:r>
                  <a:rPr lang="en-US" i="0" dirty="0">
                    <a:latin typeface="+mj-lt"/>
                  </a:rPr>
                  <a:t>Path tree</a:t>
                </a:r>
                <a:endParaRPr lang="en-US" dirty="0"/>
              </a:p>
              <a:p>
                <a:r>
                  <a:rPr lang="en-US" dirty="0"/>
                  <a:t>There are exactly 3</a:t>
                </a:r>
                <a:r>
                  <a:rPr lang="en-US" b="1" dirty="0"/>
                  <a:t> non-isomorphic trees with 5 vertices</a:t>
                </a:r>
                <a:endParaRPr lang="en-US" dirty="0"/>
              </a:p>
              <a:p>
                <a:pPr lvl="1"/>
                <a:endParaRPr lang="en-US" b="1" dirty="0"/>
              </a:p>
            </p:txBody>
          </p:sp>
        </mc:Choice>
        <mc:Fallback xmlns="">
          <p:sp>
            <p:nvSpPr>
              <p:cNvPr id="6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2129051"/>
                <a:ext cx="11929641" cy="4324958"/>
              </a:xfrm>
              <a:blipFill rotWithShape="0">
                <a:blip r:embed="rId2"/>
                <a:stretch>
                  <a:fillRect l="-971" t="-2394" b="-50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0435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2"/>
          <p:cNvSpPr txBox="1">
            <a:spLocks/>
          </p:cNvSpPr>
          <p:nvPr/>
        </p:nvSpPr>
        <p:spPr>
          <a:xfrm>
            <a:off x="131176" y="867839"/>
            <a:ext cx="11929645" cy="523639"/>
          </a:xfrm>
          <a:prstGeom prst="rect">
            <a:avLst/>
          </a:pr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lvl="0"/>
          </a:lstStyle>
          <a:p>
            <a:r>
              <a:rPr lang="en-US" sz="2800" dirty="0">
                <a:solidFill>
                  <a:schemeClr val="bg1"/>
                </a:solidFill>
              </a:rPr>
              <a:t>Find all non-isomorphic trees with 5 vertices.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35C8299-099D-4E74-A7B7-29B2E1FD450E}"/>
              </a:ext>
            </a:extLst>
          </p:cNvPr>
          <p:cNvSpPr txBox="1">
            <a:spLocks/>
          </p:cNvSpPr>
          <p:nvPr/>
        </p:nvSpPr>
        <p:spPr>
          <a:xfrm>
            <a:off x="131355" y="1437479"/>
            <a:ext cx="1419149" cy="523220"/>
          </a:xfrm>
          <a:prstGeom prst="rect">
            <a:avLst/>
          </a:pr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lvl="0"/>
          </a:lstStyle>
          <a:p>
            <a:r>
              <a:rPr lang="en-IN" sz="2800" dirty="0">
                <a:solidFill>
                  <a:schemeClr val="bg1"/>
                </a:solidFill>
              </a:rPr>
              <a:t>Solution 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Method 1 ⇝ Example 5(Conti.)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/>
              <p:cNvSpPr/>
              <p:nvPr/>
            </p:nvSpPr>
            <p:spPr>
              <a:xfrm>
                <a:off x="1240266" y="4963142"/>
                <a:ext cx="2092560" cy="8679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1000"/>
                  </a:spcBef>
                  <a:buClr>
                    <a:srgbClr val="B84742"/>
                  </a:buClr>
                </a:pPr>
                <a:r>
                  <a:rPr lang="en-US" sz="2800" dirty="0">
                    <a:solidFill>
                      <a:srgbClr val="002060"/>
                    </a:solidFill>
                  </a:rPr>
                  <a:t>Path tree </a:t>
                </a:r>
              </a:p>
              <a:p>
                <a:pPr algn="ctr">
                  <a:lnSpc>
                    <a:spcPct val="90000"/>
                  </a:lnSpc>
                  <a:spcBef>
                    <a:spcPts val="1000"/>
                  </a:spcBef>
                  <a:buClr>
                    <a:srgbClr val="B84742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1, 1, 2, 2, 2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0266" y="4963142"/>
                <a:ext cx="2092560" cy="867930"/>
              </a:xfrm>
              <a:prstGeom prst="rect">
                <a:avLst/>
              </a:prstGeom>
              <a:blipFill rotWithShape="0">
                <a:blip r:embed="rId2"/>
                <a:stretch>
                  <a:fillRect t="-118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Rectangle 70"/>
              <p:cNvSpPr/>
              <p:nvPr/>
            </p:nvSpPr>
            <p:spPr>
              <a:xfrm>
                <a:off x="4893739" y="4932435"/>
                <a:ext cx="2092560" cy="8679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1000"/>
                  </a:spcBef>
                  <a:buClr>
                    <a:srgbClr val="B84742"/>
                  </a:buClr>
                </a:pPr>
                <a:r>
                  <a:rPr lang="en-US" sz="2800" dirty="0">
                    <a:solidFill>
                      <a:srgbClr val="002060"/>
                    </a:solidFill>
                  </a:rPr>
                  <a:t>Star tree </a:t>
                </a:r>
              </a:p>
              <a:p>
                <a:pPr algn="ctr">
                  <a:lnSpc>
                    <a:spcPct val="90000"/>
                  </a:lnSpc>
                  <a:spcBef>
                    <a:spcPts val="1000"/>
                  </a:spcBef>
                  <a:buClr>
                    <a:srgbClr val="B84742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1, 1, </m:t>
                          </m:r>
                          <m:r>
                            <a:rPr lang="en-US" sz="28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8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8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1" name="Rectangle 7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3739" y="4932435"/>
                <a:ext cx="2092560" cy="867930"/>
              </a:xfrm>
              <a:prstGeom prst="rect">
                <a:avLst/>
              </a:prstGeom>
              <a:blipFill rotWithShape="0">
                <a:blip r:embed="rId3"/>
                <a:stretch>
                  <a:fillRect t="-118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Rectangle 94"/>
              <p:cNvSpPr/>
              <p:nvPr/>
            </p:nvSpPr>
            <p:spPr>
              <a:xfrm>
                <a:off x="8426677" y="5006800"/>
                <a:ext cx="2092560" cy="8679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1000"/>
                  </a:spcBef>
                  <a:buClr>
                    <a:srgbClr val="B84742"/>
                  </a:buClr>
                </a:pPr>
                <a:r>
                  <a:rPr lang="en-US" sz="2800" dirty="0">
                    <a:solidFill>
                      <a:srgbClr val="002060"/>
                    </a:solidFill>
                  </a:rPr>
                  <a:t>Y tree </a:t>
                </a:r>
              </a:p>
              <a:p>
                <a:pPr algn="ctr">
                  <a:lnSpc>
                    <a:spcPct val="90000"/>
                  </a:lnSpc>
                  <a:spcBef>
                    <a:spcPts val="1000"/>
                  </a:spcBef>
                  <a:buClr>
                    <a:srgbClr val="B84742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1, 1, </m:t>
                          </m:r>
                          <m:r>
                            <a:rPr lang="en-US" sz="28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8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8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5" name="Rectangle 9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6677" y="5006800"/>
                <a:ext cx="2092560" cy="867930"/>
              </a:xfrm>
              <a:prstGeom prst="rect">
                <a:avLst/>
              </a:prstGeom>
              <a:blipFill rotWithShape="0">
                <a:blip r:embed="rId4"/>
                <a:stretch>
                  <a:fillRect t="-118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6" name="Picture 9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7291" y="1961793"/>
            <a:ext cx="158510" cy="3011685"/>
          </a:xfrm>
          <a:prstGeom prst="rect">
            <a:avLst/>
          </a:prstGeom>
        </p:spPr>
      </p:pic>
      <p:pic>
        <p:nvPicPr>
          <p:cNvPr id="97" name="Picture 9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35278" y="3090453"/>
            <a:ext cx="1609483" cy="1603387"/>
          </a:xfrm>
          <a:prstGeom prst="rect">
            <a:avLst/>
          </a:prstGeom>
        </p:spPr>
      </p:pic>
      <p:pic>
        <p:nvPicPr>
          <p:cNvPr id="98" name="Picture 9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3457" y="1888941"/>
            <a:ext cx="1579001" cy="305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503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71" grpId="0"/>
      <p:bldP spid="9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uFill>
                  <a:solidFill>
                    <a:schemeClr val="bg1"/>
                  </a:solidFill>
                </a:uFill>
              </a:rPr>
              <a:t>Method – 2</a:t>
            </a:r>
            <a:br>
              <a:rPr lang="en-US" dirty="0"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en-US" dirty="0"/>
              <a:t>Pendent Vertices, Distance and Center in Trees</a:t>
            </a:r>
          </a:p>
        </p:txBody>
      </p:sp>
    </p:spTree>
    <p:extLst>
      <p:ext uri="{BB962C8B-B14F-4D97-AF65-F5344CB8AC3E}">
        <p14:creationId xmlns:p14="http://schemas.microsoft.com/office/powerpoint/2010/main" val="13105684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Pendent Vertices (leaf/leaves) in Trees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561" y="729966"/>
            <a:ext cx="1118335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just">
              <a:spcBef>
                <a:spcPts val="1000"/>
              </a:spcBef>
              <a:buClr>
                <a:srgbClr val="B84742"/>
              </a:buClr>
              <a:buFont typeface="Wingdings 3" panose="05040102010807070707" pitchFamily="18" charset="2"/>
              <a:buChar char=""/>
            </a:pPr>
            <a:r>
              <a:rPr lang="en-IN" sz="2800" b="1" dirty="0">
                <a:solidFill>
                  <a:srgbClr val="002060"/>
                </a:solidFill>
              </a:rPr>
              <a:t>Definition:</a:t>
            </a:r>
            <a:r>
              <a:rPr lang="en-IN" sz="2800" b="1" dirty="0"/>
              <a:t> </a:t>
            </a:r>
            <a:r>
              <a:rPr lang="en-IN" sz="2800" dirty="0">
                <a:solidFill>
                  <a:srgbClr val="002060"/>
                </a:solidFill>
              </a:rPr>
              <a:t>A </a:t>
            </a:r>
            <a:r>
              <a:rPr lang="en-IN" sz="2800" dirty="0">
                <a:solidFill>
                  <a:srgbClr val="FF0000"/>
                </a:solidFill>
              </a:rPr>
              <a:t>pendant vertex </a:t>
            </a:r>
            <a:r>
              <a:rPr lang="en-IN" sz="2800" dirty="0">
                <a:solidFill>
                  <a:srgbClr val="002060"/>
                </a:solidFill>
              </a:rPr>
              <a:t>is defined as </a:t>
            </a:r>
            <a:r>
              <a:rPr lang="en-IN" sz="2800" b="1" dirty="0">
                <a:solidFill>
                  <a:srgbClr val="002060"/>
                </a:solidFill>
              </a:rPr>
              <a:t>a vertex with degree one</a:t>
            </a:r>
            <a:r>
              <a:rPr lang="en-IN" sz="2800" dirty="0"/>
              <a:t>. 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70479" y="4339010"/>
            <a:ext cx="264223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1000"/>
              </a:spcBef>
              <a:buClr>
                <a:srgbClr val="B84742"/>
              </a:buClr>
            </a:pPr>
            <a:r>
              <a:rPr lang="en-IN" sz="2400" b="1" dirty="0">
                <a:solidFill>
                  <a:srgbClr val="002060"/>
                </a:solidFill>
              </a:rPr>
              <a:t>2 pendant vertices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075166" y="4343734"/>
            <a:ext cx="25863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1000"/>
              </a:spcBef>
              <a:buClr>
                <a:srgbClr val="B84742"/>
              </a:buClr>
            </a:pPr>
            <a:r>
              <a:rPr lang="en-IN" sz="2400" b="1" dirty="0">
                <a:solidFill>
                  <a:srgbClr val="002060"/>
                </a:solidFill>
              </a:rPr>
              <a:t>3 pendant vertices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175276" y="4339010"/>
            <a:ext cx="257218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1000"/>
              </a:spcBef>
              <a:buClr>
                <a:srgbClr val="B84742"/>
              </a:buClr>
            </a:pPr>
            <a:r>
              <a:rPr lang="en-IN" sz="2400" b="1" dirty="0">
                <a:solidFill>
                  <a:srgbClr val="002060"/>
                </a:solidFill>
              </a:rPr>
              <a:t>4 pendant vertices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/>
              <p:cNvSpPr/>
              <p:nvPr/>
            </p:nvSpPr>
            <p:spPr>
              <a:xfrm>
                <a:off x="311167" y="5251166"/>
                <a:ext cx="1151797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65113" indent="-265113" algn="just">
                  <a:spcBef>
                    <a:spcPts val="1000"/>
                  </a:spcBef>
                  <a:buClr>
                    <a:srgbClr val="B84742"/>
                  </a:buClr>
                  <a:buFont typeface="Wingdings 3" panose="05040102010807070707" pitchFamily="18" charset="2"/>
                  <a:buChar char=""/>
                </a:pPr>
                <a:r>
                  <a:rPr lang="en-IN" sz="2800" dirty="0">
                    <a:solidFill>
                      <a:srgbClr val="002060"/>
                    </a:solidFill>
                  </a:rPr>
                  <a:t>Observation: Is a</a:t>
                </a:r>
                <a:r>
                  <a:rPr lang="en-US" sz="2800" dirty="0">
                    <a:solidFill>
                      <a:srgbClr val="002060"/>
                    </a:solidFill>
                  </a:rPr>
                  <a:t>ny tree with</a:t>
                </a:r>
                <a14:m>
                  <m:oMath xmlns:m="http://schemas.openxmlformats.org/officeDocument/2006/math"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≥2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vertices always has at least two </a:t>
                </a:r>
                <a:r>
                  <a:rPr lang="en-US" sz="2800" b="1" dirty="0">
                    <a:solidFill>
                      <a:srgbClr val="C00000"/>
                    </a:solidFill>
                  </a:rPr>
                  <a:t>leaves </a:t>
                </a:r>
                <a:r>
                  <a:rPr lang="en-US" sz="2800" b="1" dirty="0">
                    <a:solidFill>
                      <a:srgbClr val="002060"/>
                    </a:solidFill>
                  </a:rPr>
                  <a:t>?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5" name="Rectangle 6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167" y="5251166"/>
                <a:ext cx="11517976" cy="523220"/>
              </a:xfrm>
              <a:prstGeom prst="rect">
                <a:avLst/>
              </a:prstGeom>
              <a:blipFill rotWithShape="0">
                <a:blip r:embed="rId2"/>
                <a:stretch>
                  <a:fillRect l="-953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3085" y="2782239"/>
            <a:ext cx="158510" cy="810838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9696" y="2484516"/>
            <a:ext cx="1597290" cy="1609483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5070" y="1778799"/>
            <a:ext cx="1932599" cy="2353260"/>
          </a:xfrm>
          <a:prstGeom prst="rect">
            <a:avLst/>
          </a:prstGeom>
        </p:spPr>
      </p:pic>
      <p:sp>
        <p:nvSpPr>
          <p:cNvPr id="2" name="Oval 1"/>
          <p:cNvSpPr/>
          <p:nvPr/>
        </p:nvSpPr>
        <p:spPr>
          <a:xfrm>
            <a:off x="1598715" y="2623881"/>
            <a:ext cx="437882" cy="45076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1598715" y="3275115"/>
            <a:ext cx="437882" cy="45076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4411816" y="2358862"/>
            <a:ext cx="437882" cy="45076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5859193" y="2331278"/>
            <a:ext cx="437882" cy="45076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4439607" y="3782276"/>
            <a:ext cx="437882" cy="45076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8303821" y="1691831"/>
            <a:ext cx="437882" cy="45076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10130363" y="3093003"/>
            <a:ext cx="437882" cy="45076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9859154" y="1639508"/>
            <a:ext cx="437882" cy="45076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9063211" y="3831745"/>
            <a:ext cx="437882" cy="45076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867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Title 1">
                <a:extLst>
                  <a:ext uri="{FF2B5EF4-FFF2-40B4-BE49-F238E27FC236}">
                    <a16:creationId xmlns:a16="http://schemas.microsoft.com/office/drawing/2014/main" id="{D5CD07E8-CBAA-45BA-85CF-1233D4AA86C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0"/>
                <a:ext cx="12192000" cy="711200"/>
              </a:xfrm>
              <a:prstGeom prst="rect">
                <a:avLst/>
              </a:prstGeom>
              <a:solidFill>
                <a:srgbClr val="C0C0C0">
                  <a:alpha val="50000"/>
                </a:srgbClr>
              </a:solidFill>
              <a:ln>
                <a:noFill/>
              </a:ln>
            </p:spPr>
            <p:txBody>
              <a:bodyPr lIns="216000" tIns="108000" rIns="216000" bIns="108000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lang="en-US" sz="3400" b="1" kern="120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effectLst/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spcBef>
                    <a:spcPts val="1000"/>
                  </a:spcBef>
                  <a:buClr>
                    <a:srgbClr val="B84742"/>
                  </a:buClr>
                </a:pPr>
                <a:r>
                  <a:rPr lang="en-IN" sz="3600" dirty="0">
                    <a:solidFill>
                      <a:srgbClr val="002060"/>
                    </a:solidFill>
                  </a:rPr>
                  <a:t>A</a:t>
                </a:r>
                <a:r>
                  <a:rPr lang="en-US" sz="3600" dirty="0">
                    <a:solidFill>
                      <a:srgbClr val="002060"/>
                    </a:solidFill>
                  </a:rPr>
                  <a:t>ny tree with</a:t>
                </a:r>
                <a14:m>
                  <m:oMath xmlns:m="http://schemas.openxmlformats.org/officeDocument/2006/math">
                    <m:r>
                      <a:rPr lang="en-US" sz="36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36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36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≥2</m:t>
                    </m:r>
                  </m:oMath>
                </a14:m>
                <a:r>
                  <a:rPr lang="en-US" sz="3600" dirty="0">
                    <a:solidFill>
                      <a:srgbClr val="002060"/>
                    </a:solidFill>
                  </a:rPr>
                  <a:t> vertices always has at least two </a:t>
                </a:r>
                <a:r>
                  <a:rPr lang="en-US" sz="3600" dirty="0">
                    <a:solidFill>
                      <a:srgbClr val="C00000"/>
                    </a:solidFill>
                  </a:rPr>
                  <a:t>leaves.</a:t>
                </a:r>
                <a:endParaRPr lang="en-IN" sz="3600" dirty="0">
                  <a:solidFill>
                    <a:srgbClr val="C00000"/>
                  </a:solidFill>
                </a:endParaRPr>
              </a:p>
              <a:p>
                <a:pPr algn="just">
                  <a:spcBef>
                    <a:spcPts val="1000"/>
                  </a:spcBef>
                  <a:buClr>
                    <a:srgbClr val="B84742"/>
                  </a:buClr>
                </a:pPr>
                <a:endParaRPr lang="en-US" sz="36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itle 1">
                <a:extLst>
                  <a:ext uri="{FF2B5EF4-FFF2-40B4-BE49-F238E27FC236}">
                    <a16:creationId xmlns="" xmlns:a16="http://schemas.microsoft.com/office/drawing/2014/main" id="{D5CD07E8-CBAA-45BA-85CF-1233D4AA86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711200"/>
              </a:xfrm>
              <a:prstGeom prst="rect">
                <a:avLst/>
              </a:prstGeom>
              <a:blipFill rotWithShape="0">
                <a:blip r:embed="rId2"/>
                <a:stretch>
                  <a:fillRect l="-500" t="-11966" b="-2307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03884" y="863444"/>
                <a:ext cx="11756020" cy="5590565"/>
              </a:xfrm>
            </p:spPr>
            <p:txBody>
              <a:bodyPr/>
              <a:lstStyle/>
              <a:p>
                <a:pPr>
                  <a:buClr>
                    <a:srgbClr val="B84742"/>
                  </a:buClr>
                </a:pPr>
                <a:r>
                  <a:rPr lang="en-US" dirty="0"/>
                  <a:t>Let</a:t>
                </a:r>
                <a14:m>
                  <m:oMath xmlns:m="http://schemas.openxmlformats.org/officeDocument/2006/math">
                    <m:r>
                      <a:rPr lang="en-US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dirty="0"/>
                  <a:t> be a tree with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≥2 </m:t>
                    </m:r>
                  </m:oMath>
                </a14:m>
                <a:r>
                  <a:rPr lang="en-US" dirty="0"/>
                  <a:t>vertices.</a:t>
                </a:r>
              </a:p>
              <a:p>
                <a:pPr>
                  <a:buClr>
                    <a:srgbClr val="B84742"/>
                  </a:buClr>
                </a:pPr>
                <a:r>
                  <a:rPr lang="en-US" dirty="0"/>
                  <a:t>Since</a:t>
                </a:r>
                <a14:m>
                  <m:oMath xmlns:m="http://schemas.openxmlformats.org/officeDocument/2006/math">
                    <m:r>
                      <a:rPr lang="en-US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dirty="0"/>
                  <a:t> is connected and acyclic, there exists a </a:t>
                </a:r>
                <a:r>
                  <a:rPr lang="en-US" b="1" dirty="0"/>
                  <a:t>longest path</a:t>
                </a:r>
                <a:r>
                  <a:rPr lang="en-US" dirty="0"/>
                  <a:t> in</a:t>
                </a:r>
                <a14:m>
                  <m:oMath xmlns:m="http://schemas.openxmlformats.org/officeDocument/2006/math">
                    <m:r>
                      <a:rPr lang="en-US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i="0" dirty="0" err="1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Let this path be: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 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0" dirty="0">
                        <a:latin typeface="Cambria Math" panose="02040503050406030204" pitchFamily="18" charset="0"/>
                      </a:rPr>
                      <m:t> −⋯−</m:t>
                    </m:r>
                    <m:sSub>
                      <m:sSubPr>
                        <m:ctrlPr>
                          <a:rPr lang="en-US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err="1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 dirty="0" err="1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</m:oMath>
                </a14:m>
                <a:r>
                  <a:rPr lang="en-US" dirty="0"/>
                  <a:t>​.</a:t>
                </a:r>
              </a:p>
              <a:p>
                <a:r>
                  <a:rPr lang="en-US" dirty="0"/>
                  <a:t>Consider the endpoints</a:t>
                </a:r>
                <a14:m>
                  <m:oMath xmlns:m="http://schemas.openxmlformats.org/officeDocument/2006/math">
                    <m:r>
                      <a:rPr lang="en-US" i="0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and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err="1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 dirty="0" err="1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</m:oMath>
                </a14:m>
                <a:r>
                  <a:rPr lang="en-US" dirty="0"/>
                  <a:t>.​</a:t>
                </a:r>
              </a:p>
              <a:p>
                <a:r>
                  <a:rPr lang="en-US" dirty="0"/>
                  <a:t>Suppose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</a:t>
                </a:r>
                <a:r>
                  <a:rPr lang="en-US" b="1" dirty="0"/>
                  <a:t>not</a:t>
                </a:r>
                <a:r>
                  <a:rPr lang="en-US" dirty="0"/>
                  <a:t> a pendant vertex.</a:t>
                </a:r>
              </a:p>
              <a:p>
                <a:r>
                  <a:rPr lang="en-US" dirty="0"/>
                  <a:t>Then it has degree ≥ 2.</a:t>
                </a:r>
              </a:p>
              <a:p>
                <a:r>
                  <a:rPr lang="en-US" dirty="0"/>
                  <a:t>So, there exists another vertex connected to</a:t>
                </a:r>
                <a14:m>
                  <m:oMath xmlns:m="http://schemas.openxmlformats.org/officeDocument/2006/math">
                    <m:r>
                      <a:rPr lang="en-US" i="0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​outside the path.</a:t>
                </a:r>
              </a:p>
              <a:p>
                <a:r>
                  <a:rPr lang="en-US" dirty="0"/>
                  <a:t>This would create a </a:t>
                </a:r>
                <a:r>
                  <a:rPr lang="en-US" b="1" dirty="0"/>
                  <a:t>longer path</a:t>
                </a:r>
                <a:r>
                  <a:rPr lang="en-US" dirty="0"/>
                  <a:t>, which contradicts the assumption that the path is longest.</a:t>
                </a:r>
              </a:p>
              <a:p>
                <a:r>
                  <a:rPr lang="en-US" dirty="0"/>
                  <a:t>Therefore,</a:t>
                </a:r>
                <a14:m>
                  <m:oMath xmlns:m="http://schemas.openxmlformats.org/officeDocument/2006/math">
                    <m:r>
                      <a:rPr lang="en-US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must be a pendant vertex and similarly,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i="0" dirty="0" err="1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 dirty="0" err="1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</m:oMath>
                </a14:m>
                <a:r>
                  <a:rPr lang="en-US" dirty="0"/>
                  <a:t> is also a pendant vertex.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3884" y="863444"/>
                <a:ext cx="11756020" cy="5590565"/>
              </a:xfrm>
              <a:blipFill rotWithShape="0">
                <a:blip r:embed="rId3"/>
                <a:stretch>
                  <a:fillRect l="-933" t="-1963" r="-10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8206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just">
              <a:spcBef>
                <a:spcPts val="1000"/>
              </a:spcBef>
              <a:buClr>
                <a:srgbClr val="B84742"/>
              </a:buClr>
            </a:pPr>
            <a:r>
              <a:rPr lang="en-US" dirty="0"/>
              <a:t>Centers of Tree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6045" y="1210322"/>
            <a:ext cx="1814645" cy="1821572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31180" y="863444"/>
            <a:ext cx="8835399" cy="5590565"/>
          </a:xfrm>
        </p:spPr>
        <p:txBody>
          <a:bodyPr/>
          <a:lstStyle/>
          <a:p>
            <a:pPr>
              <a:buClr>
                <a:srgbClr val="B84742"/>
              </a:buClr>
            </a:pPr>
            <a:r>
              <a:rPr lang="en-US" dirty="0"/>
              <a:t>Here we have tree with four vertices. </a:t>
            </a:r>
          </a:p>
          <a:p>
            <a:pPr>
              <a:buClr>
                <a:srgbClr val="B84742"/>
              </a:buClr>
            </a:pPr>
            <a:r>
              <a:rPr lang="en-US" dirty="0"/>
              <a:t>If you look at it, vertex </a:t>
            </a:r>
            <a:r>
              <a:rPr lang="en-US" b="1" dirty="0"/>
              <a:t>b </a:t>
            </a:r>
            <a:r>
              <a:rPr lang="en-US" dirty="0"/>
              <a:t>appears to be more </a:t>
            </a:r>
            <a:r>
              <a:rPr lang="en-US" b="1" dirty="0"/>
              <a:t>“central”</a:t>
            </a:r>
            <a:r>
              <a:rPr lang="en-US" dirty="0"/>
              <a:t> than the other three vertices.</a:t>
            </a:r>
          </a:p>
          <a:p>
            <a:pPr>
              <a:buClr>
                <a:srgbClr val="B84742"/>
              </a:buClr>
            </a:pPr>
            <a:r>
              <a:rPr lang="en-US" dirty="0"/>
              <a:t>Is the center of a tree always unique? </a:t>
            </a:r>
          </a:p>
          <a:p>
            <a:pPr>
              <a:buClr>
                <a:srgbClr val="B84742"/>
              </a:buClr>
            </a:pPr>
            <a:r>
              <a:rPr lang="en-US" dirty="0"/>
              <a:t>Can a tree have more than one center? </a:t>
            </a:r>
          </a:p>
          <a:p>
            <a:pPr>
              <a:buClr>
                <a:srgbClr val="B84742"/>
              </a:buClr>
            </a:pPr>
            <a:r>
              <a:rPr lang="en-US" dirty="0"/>
              <a:t>What happens in: A path with odd length? A path with even length?</a:t>
            </a:r>
          </a:p>
          <a:p>
            <a:pPr>
              <a:buClr>
                <a:srgbClr val="B84742"/>
              </a:buClr>
            </a:pPr>
            <a:r>
              <a:rPr lang="en-US" dirty="0"/>
              <a:t>The center of a tree can be found using two methods:</a:t>
            </a:r>
          </a:p>
          <a:p>
            <a:pPr lvl="1">
              <a:lnSpc>
                <a:spcPct val="150000"/>
              </a:lnSpc>
              <a:buClr>
                <a:srgbClr val="B84742"/>
              </a:buClr>
            </a:pPr>
            <a:r>
              <a:rPr lang="en-US" dirty="0"/>
              <a:t>Leaf Pruning Method (intuitive &amp; visual)</a:t>
            </a:r>
          </a:p>
          <a:p>
            <a:pPr lvl="1">
              <a:lnSpc>
                <a:spcPct val="150000"/>
              </a:lnSpc>
              <a:buClr>
                <a:srgbClr val="B84742"/>
              </a:buClr>
            </a:pPr>
            <a:r>
              <a:rPr lang="en-US" dirty="0"/>
              <a:t>Distance Method (theoretical &amp; formula-based)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8045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just">
              <a:spcBef>
                <a:spcPts val="1000"/>
              </a:spcBef>
              <a:buClr>
                <a:srgbClr val="B84742"/>
              </a:buClr>
            </a:pPr>
            <a:r>
              <a:rPr lang="en-US" dirty="0"/>
              <a:t>Leaf Pruning Method (intuitive &amp; visual)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31180" y="863444"/>
            <a:ext cx="11742372" cy="5590565"/>
          </a:xfrm>
        </p:spPr>
        <p:txBody>
          <a:bodyPr/>
          <a:lstStyle/>
          <a:p>
            <a:pPr>
              <a:buClr>
                <a:srgbClr val="B84742"/>
              </a:buClr>
            </a:pPr>
            <a:r>
              <a:rPr lang="en-US" dirty="0"/>
              <a:t>The </a:t>
            </a:r>
            <a:r>
              <a:rPr lang="en-US" b="1" dirty="0"/>
              <a:t>center of a tree</a:t>
            </a:r>
            <a:r>
              <a:rPr lang="en-US" dirty="0"/>
              <a:t> is found by </a:t>
            </a:r>
            <a:r>
              <a:rPr lang="en-US" b="1" dirty="0"/>
              <a:t>removing leaves layer by layer.</a:t>
            </a:r>
          </a:p>
          <a:p>
            <a:pPr marL="0" indent="0">
              <a:buClr>
                <a:srgbClr val="B84742"/>
              </a:buClr>
              <a:buNone/>
            </a:pPr>
            <a:r>
              <a:rPr lang="en-US" dirty="0"/>
              <a:t>Steps: </a:t>
            </a:r>
          </a:p>
          <a:p>
            <a:pPr marL="514350" indent="-514350">
              <a:lnSpc>
                <a:spcPct val="150000"/>
              </a:lnSpc>
              <a:buClr>
                <a:srgbClr val="B84742"/>
              </a:buClr>
              <a:buFont typeface="+mj-lt"/>
              <a:buAutoNum type="arabicPeriod"/>
            </a:pPr>
            <a:r>
              <a:rPr lang="en-US" dirty="0"/>
              <a:t>Remove all pendant vertices.</a:t>
            </a:r>
          </a:p>
          <a:p>
            <a:pPr marL="514350" indent="-514350">
              <a:lnSpc>
                <a:spcPct val="150000"/>
              </a:lnSpc>
              <a:buClr>
                <a:srgbClr val="B84742"/>
              </a:buClr>
              <a:buFont typeface="+mj-lt"/>
              <a:buAutoNum type="arabicPeriod"/>
            </a:pPr>
            <a:r>
              <a:rPr lang="en-US" dirty="0"/>
              <a:t>Repeat the process on the remaining tree.</a:t>
            </a:r>
          </a:p>
          <a:p>
            <a:pPr marL="514350" indent="-514350">
              <a:lnSpc>
                <a:spcPct val="150000"/>
              </a:lnSpc>
              <a:buClr>
                <a:srgbClr val="B84742"/>
              </a:buClr>
              <a:buFont typeface="+mj-lt"/>
              <a:buAutoNum type="arabicPeriod"/>
            </a:pPr>
            <a:r>
              <a:rPr lang="en-US" dirty="0"/>
              <a:t>Continue until:</a:t>
            </a:r>
          </a:p>
          <a:p>
            <a:pPr marL="1058862" lvl="1" indent="-514350">
              <a:lnSpc>
                <a:spcPct val="150000"/>
              </a:lnSpc>
              <a:buClr>
                <a:srgbClr val="B84742"/>
              </a:buClr>
              <a:buFont typeface="+mj-lt"/>
              <a:buAutoNum type="arabicPeriod"/>
            </a:pPr>
            <a:r>
              <a:rPr lang="en-US" dirty="0"/>
              <a:t>Only 1 vertex remains → 1 center</a:t>
            </a:r>
          </a:p>
          <a:p>
            <a:pPr marL="1058862" lvl="1" indent="-514350">
              <a:lnSpc>
                <a:spcPct val="150000"/>
              </a:lnSpc>
              <a:buClr>
                <a:srgbClr val="B84742"/>
              </a:buClr>
              <a:buFont typeface="+mj-lt"/>
              <a:buAutoNum type="arabicPeriod"/>
            </a:pPr>
            <a:r>
              <a:rPr lang="en-US" dirty="0"/>
              <a:t>Or 2 vertices remain → 2 centers</a:t>
            </a:r>
          </a:p>
        </p:txBody>
      </p:sp>
    </p:spTree>
    <p:extLst>
      <p:ext uri="{BB962C8B-B14F-4D97-AF65-F5344CB8AC3E}">
        <p14:creationId xmlns:p14="http://schemas.microsoft.com/office/powerpoint/2010/main" val="163537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just">
              <a:spcBef>
                <a:spcPts val="1000"/>
              </a:spcBef>
              <a:buClr>
                <a:srgbClr val="B84742"/>
              </a:buClr>
            </a:pPr>
            <a:r>
              <a:rPr lang="en-US" dirty="0"/>
              <a:t>Find Center of tree using algorithm</a:t>
            </a:r>
          </a:p>
        </p:txBody>
      </p:sp>
      <p:sp>
        <p:nvSpPr>
          <p:cNvPr id="5" name="Rectangle 4"/>
          <p:cNvSpPr/>
          <p:nvPr/>
        </p:nvSpPr>
        <p:spPr>
          <a:xfrm>
            <a:off x="5547597" y="820601"/>
            <a:ext cx="652828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just">
              <a:spcBef>
                <a:spcPts val="1000"/>
              </a:spcBef>
              <a:buClr>
                <a:srgbClr val="B84742"/>
              </a:buClr>
            </a:pPr>
            <a:r>
              <a:rPr lang="en-US" sz="2800" dirty="0">
                <a:solidFill>
                  <a:srgbClr val="002060"/>
                </a:solidFill>
              </a:rPr>
              <a:t>We use </a:t>
            </a:r>
            <a:r>
              <a:rPr lang="en-US" sz="2800" b="1" dirty="0">
                <a:solidFill>
                  <a:srgbClr val="002060"/>
                </a:solidFill>
              </a:rPr>
              <a:t>iterative leaf pruning for finding center of tree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4055898" y="3607569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B93A0AB-EDDB-9B43-C76E-64EE43FC8989}"/>
              </a:ext>
            </a:extLst>
          </p:cNvPr>
          <p:cNvSpPr/>
          <p:nvPr/>
        </p:nvSpPr>
        <p:spPr>
          <a:xfrm rot="5400000">
            <a:off x="2615739" y="3607569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6" idx="4"/>
            <a:endCxn id="10" idx="0"/>
          </p:cNvCxnSpPr>
          <p:nvPr/>
        </p:nvCxnSpPr>
        <p:spPr>
          <a:xfrm flipH="1">
            <a:off x="3479818" y="3679569"/>
            <a:ext cx="576080" cy="0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CB93A0AB-EDDB-9B43-C76E-64EE43FC8989}"/>
              </a:ext>
            </a:extLst>
          </p:cNvPr>
          <p:cNvSpPr/>
          <p:nvPr/>
        </p:nvSpPr>
        <p:spPr>
          <a:xfrm rot="5400000">
            <a:off x="3335818" y="3607569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B93A0AB-EDDB-9B43-C76E-64EE43FC8989}"/>
              </a:ext>
            </a:extLst>
          </p:cNvPr>
          <p:cNvSpPr/>
          <p:nvPr/>
        </p:nvSpPr>
        <p:spPr>
          <a:xfrm rot="5400000">
            <a:off x="1895658" y="2884005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11" idx="6"/>
          </p:cNvCxnSpPr>
          <p:nvPr/>
        </p:nvCxnSpPr>
        <p:spPr>
          <a:xfrm flipH="1">
            <a:off x="1965555" y="3028005"/>
            <a:ext cx="2103" cy="606626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10" idx="4"/>
            <a:endCxn id="7" idx="0"/>
          </p:cNvCxnSpPr>
          <p:nvPr/>
        </p:nvCxnSpPr>
        <p:spPr>
          <a:xfrm flipH="1">
            <a:off x="2759739" y="3679569"/>
            <a:ext cx="576079" cy="0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1895658" y="3604986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B93A0AB-EDDB-9B43-C76E-64EE43FC8989}"/>
              </a:ext>
            </a:extLst>
          </p:cNvPr>
          <p:cNvSpPr/>
          <p:nvPr/>
        </p:nvSpPr>
        <p:spPr>
          <a:xfrm rot="5400000">
            <a:off x="455499" y="3604986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14" idx="4"/>
            <a:endCxn id="17" idx="0"/>
          </p:cNvCxnSpPr>
          <p:nvPr/>
        </p:nvCxnSpPr>
        <p:spPr>
          <a:xfrm flipH="1">
            <a:off x="1319578" y="3676986"/>
            <a:ext cx="576080" cy="0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CB93A0AB-EDDB-9B43-C76E-64EE43FC8989}"/>
              </a:ext>
            </a:extLst>
          </p:cNvPr>
          <p:cNvSpPr/>
          <p:nvPr/>
        </p:nvSpPr>
        <p:spPr>
          <a:xfrm rot="5400000">
            <a:off x="1175578" y="3604986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17" idx="4"/>
            <a:endCxn id="15" idx="0"/>
          </p:cNvCxnSpPr>
          <p:nvPr/>
        </p:nvCxnSpPr>
        <p:spPr>
          <a:xfrm flipH="1">
            <a:off x="599499" y="3676986"/>
            <a:ext cx="576079" cy="0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7" idx="4"/>
            <a:endCxn id="14" idx="0"/>
          </p:cNvCxnSpPr>
          <p:nvPr/>
        </p:nvCxnSpPr>
        <p:spPr>
          <a:xfrm flipH="1" flipV="1">
            <a:off x="2039658" y="3676986"/>
            <a:ext cx="576081" cy="2583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21" idx="5"/>
            <a:endCxn id="11" idx="1"/>
          </p:cNvCxnSpPr>
          <p:nvPr/>
        </p:nvCxnSpPr>
        <p:spPr>
          <a:xfrm flipH="1">
            <a:off x="2018570" y="2287738"/>
            <a:ext cx="610793" cy="617355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CB93A0AB-EDDB-9B43-C76E-64EE43FC8989}"/>
              </a:ext>
            </a:extLst>
          </p:cNvPr>
          <p:cNvSpPr/>
          <p:nvPr/>
        </p:nvSpPr>
        <p:spPr>
          <a:xfrm rot="5400000">
            <a:off x="2608275" y="2164826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B93A0AB-EDDB-9B43-C76E-64EE43FC8989}"/>
              </a:ext>
            </a:extLst>
          </p:cNvPr>
          <p:cNvSpPr/>
          <p:nvPr/>
        </p:nvSpPr>
        <p:spPr>
          <a:xfrm rot="5400000">
            <a:off x="1895658" y="2164826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22" idx="6"/>
            <a:endCxn id="11" idx="2"/>
          </p:cNvCxnSpPr>
          <p:nvPr/>
        </p:nvCxnSpPr>
        <p:spPr>
          <a:xfrm>
            <a:off x="1967658" y="2308826"/>
            <a:ext cx="0" cy="575179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CB93A0AB-EDDB-9B43-C76E-64EE43FC8989}"/>
              </a:ext>
            </a:extLst>
          </p:cNvPr>
          <p:cNvSpPr/>
          <p:nvPr/>
        </p:nvSpPr>
        <p:spPr>
          <a:xfrm rot="5400000">
            <a:off x="1175579" y="2157228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24" idx="7"/>
            <a:endCxn id="11" idx="3"/>
          </p:cNvCxnSpPr>
          <p:nvPr/>
        </p:nvCxnSpPr>
        <p:spPr>
          <a:xfrm>
            <a:off x="1298491" y="2280140"/>
            <a:ext cx="618255" cy="624953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27" idx="0"/>
            <a:endCxn id="11" idx="4"/>
          </p:cNvCxnSpPr>
          <p:nvPr/>
        </p:nvCxnSpPr>
        <p:spPr>
          <a:xfrm flipV="1">
            <a:off x="1320854" y="2956005"/>
            <a:ext cx="574804" cy="4350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CB93A0AB-EDDB-9B43-C76E-64EE43FC8989}"/>
              </a:ext>
            </a:extLst>
          </p:cNvPr>
          <p:cNvSpPr/>
          <p:nvPr/>
        </p:nvSpPr>
        <p:spPr>
          <a:xfrm rot="5400000">
            <a:off x="1176854" y="2888355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14" idx="6"/>
            <a:endCxn id="29" idx="2"/>
          </p:cNvCxnSpPr>
          <p:nvPr/>
        </p:nvCxnSpPr>
        <p:spPr>
          <a:xfrm flipH="1">
            <a:off x="1965555" y="3748986"/>
            <a:ext cx="2103" cy="572631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CB93A0AB-EDDB-9B43-C76E-64EE43FC8989}"/>
              </a:ext>
            </a:extLst>
          </p:cNvPr>
          <p:cNvSpPr/>
          <p:nvPr/>
        </p:nvSpPr>
        <p:spPr>
          <a:xfrm rot="5400000">
            <a:off x="1893555" y="4321617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32" idx="5"/>
            <a:endCxn id="6" idx="1"/>
          </p:cNvCxnSpPr>
          <p:nvPr/>
        </p:nvCxnSpPr>
        <p:spPr>
          <a:xfrm flipH="1">
            <a:off x="4178810" y="3013916"/>
            <a:ext cx="610793" cy="614741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6" idx="7"/>
            <a:endCxn id="33" idx="3"/>
          </p:cNvCxnSpPr>
          <p:nvPr/>
        </p:nvCxnSpPr>
        <p:spPr>
          <a:xfrm>
            <a:off x="4178810" y="3730481"/>
            <a:ext cx="631637" cy="612224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4768515" y="2891004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4789359" y="4321617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21445" y="3757559"/>
            <a:ext cx="3289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58566" y="3757559"/>
            <a:ext cx="3321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80637" y="3776390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580" y="3799343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31122" y="3780538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14342" y="3757559"/>
            <a:ext cx="2856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79743" y="252242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96891" y="4372529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21668" y="2315336"/>
            <a:ext cx="3321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37555" y="2768479"/>
            <a:ext cx="2600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j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58500" y="1774708"/>
            <a:ext cx="2616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580" y="2934194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9913" y="2205634"/>
            <a:ext cx="4122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99459" y="4372529"/>
            <a:ext cx="2616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latin typeface="Roboto Condensed" panose="02000000000000000000" pitchFamily="2" charset="0"/>
                <a:ea typeface="Roboto Condensed" panose="02000000000000000000" pitchFamily="2" charset="0"/>
              </a:rPr>
              <a:t>i</a:t>
            </a:r>
            <a:endParaRPr lang="en-US" sz="2400" b="1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468004" y="2663638"/>
            <a:ext cx="653410" cy="5987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5488556" y="1774708"/>
            <a:ext cx="6633117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just">
              <a:lnSpc>
                <a:spcPct val="150000"/>
              </a:lnSpc>
              <a:spcBef>
                <a:spcPts val="1000"/>
              </a:spcBef>
              <a:buClr>
                <a:srgbClr val="B84742"/>
              </a:buClr>
            </a:pPr>
            <a:r>
              <a:rPr lang="en-US" sz="2800" dirty="0">
                <a:solidFill>
                  <a:srgbClr val="002060"/>
                </a:solidFill>
              </a:rPr>
              <a:t>Step 1: Remove all pendant vertices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buClr>
                <a:srgbClr val="B84742"/>
              </a:buClr>
            </a:pPr>
            <a:r>
              <a:rPr lang="en-US" sz="2800" dirty="0">
                <a:solidFill>
                  <a:srgbClr val="002060"/>
                </a:solidFill>
              </a:rPr>
              <a:t>Step 2 : Repeat the process on the remaining tree.</a:t>
            </a: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buClr>
                <a:srgbClr val="B84742"/>
              </a:buClr>
            </a:pPr>
            <a:r>
              <a:rPr lang="en-US" sz="2800" dirty="0">
                <a:solidFill>
                  <a:srgbClr val="002060"/>
                </a:solidFill>
              </a:rPr>
              <a:t>So, </a:t>
            </a:r>
            <a:r>
              <a:rPr lang="en-US" sz="2800" b="1" dirty="0">
                <a:solidFill>
                  <a:srgbClr val="002060"/>
                </a:solidFill>
              </a:rPr>
              <a:t>d is center of tree. 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54911" y="4214815"/>
            <a:ext cx="653410" cy="5987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1638850" y="4227381"/>
            <a:ext cx="653410" cy="5987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2389269" y="2096781"/>
            <a:ext cx="653410" cy="5987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1638850" y="1789581"/>
            <a:ext cx="653410" cy="5987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/>
          <p:cNvSpPr/>
          <p:nvPr/>
        </p:nvSpPr>
        <p:spPr>
          <a:xfrm>
            <a:off x="856151" y="2008496"/>
            <a:ext cx="653410" cy="5987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/>
          <p:cNvSpPr/>
          <p:nvPr/>
        </p:nvSpPr>
        <p:spPr>
          <a:xfrm>
            <a:off x="869952" y="2732808"/>
            <a:ext cx="653410" cy="5987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201678" y="3551325"/>
            <a:ext cx="653410" cy="5987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/>
          <p:cNvSpPr/>
          <p:nvPr/>
        </p:nvSpPr>
        <p:spPr>
          <a:xfrm>
            <a:off x="1672646" y="2736027"/>
            <a:ext cx="653410" cy="5987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/>
          <p:cNvSpPr/>
          <p:nvPr/>
        </p:nvSpPr>
        <p:spPr>
          <a:xfrm>
            <a:off x="971755" y="3552065"/>
            <a:ext cx="653410" cy="5987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/>
          <p:cNvSpPr/>
          <p:nvPr/>
        </p:nvSpPr>
        <p:spPr>
          <a:xfrm>
            <a:off x="3814594" y="3551325"/>
            <a:ext cx="653410" cy="5987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/>
          <p:cNvSpPr/>
          <p:nvPr/>
        </p:nvSpPr>
        <p:spPr>
          <a:xfrm>
            <a:off x="3067815" y="3551325"/>
            <a:ext cx="653410" cy="5987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/>
          <p:cNvSpPr/>
          <p:nvPr/>
        </p:nvSpPr>
        <p:spPr>
          <a:xfrm>
            <a:off x="1703006" y="3551325"/>
            <a:ext cx="653410" cy="5987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743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4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4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4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1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1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1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5" dur="1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1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0" dur="1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1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1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1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9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0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42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8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9" dur="10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10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3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4" dur="1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1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8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9" dur="1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1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3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4" dur="1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1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8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9" dur="10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0" dur="10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3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10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10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8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9" dur="10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0" dur="10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3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4" dur="1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5" dur="1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9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0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4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5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9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4" dur="1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5" dur="1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9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0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3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4"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5"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9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0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4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5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fill="hold">
                      <p:stCondLst>
                        <p:cond delay="indefinite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6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7" dur="100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8" dur="100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2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3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5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6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7" dur="1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8" dur="1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2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3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5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6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7" dur="10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8" dur="10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0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2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3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7" dur="1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8" dur="1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0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1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2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3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5" fill="hold">
                      <p:stCondLst>
                        <p:cond delay="indefinite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  <p:bldP spid="11" grpId="0" animBg="1"/>
      <p:bldP spid="14" grpId="0" animBg="1"/>
      <p:bldP spid="15" grpId="0" animBg="1"/>
      <p:bldP spid="17" grpId="0" animBg="1"/>
      <p:bldP spid="21" grpId="0" animBg="1"/>
      <p:bldP spid="22" grpId="0" animBg="1"/>
      <p:bldP spid="24" grpId="0" animBg="1"/>
      <p:bldP spid="27" grpId="0" animBg="1"/>
      <p:bldP spid="29" grpId="0" animBg="1"/>
      <p:bldP spid="29" grpId="1" animBg="1"/>
      <p:bldP spid="32" grpId="0" animBg="1"/>
      <p:bldP spid="33" grpId="0" animBg="1"/>
      <p:bldP spid="34" grpId="0"/>
      <p:bldP spid="35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7" grpId="1"/>
      <p:bldP spid="2" grpId="0" animBg="1"/>
      <p:bldP spid="2" grpId="1" animBg="1"/>
      <p:bldP spid="3" grpId="0"/>
      <p:bldP spid="48" grpId="0" animBg="1"/>
      <p:bldP spid="48" grpId="1" animBg="1"/>
      <p:bldP spid="49" grpId="0" animBg="1"/>
      <p:bldP spid="49" grpId="1" animBg="1"/>
      <p:bldP spid="49" grpId="2" animBg="1"/>
      <p:bldP spid="50" grpId="0" animBg="1"/>
      <p:bldP spid="50" grpId="1" animBg="1"/>
      <p:bldP spid="51" grpId="0" animBg="1"/>
      <p:bldP spid="51" grpId="1" animBg="1"/>
      <p:bldP spid="52" grpId="0" animBg="1"/>
      <p:bldP spid="52" grpId="1" animBg="1"/>
      <p:bldP spid="53" grpId="0" animBg="1"/>
      <p:bldP spid="53" grpId="1" animBg="1"/>
      <p:bldP spid="54" grpId="0" animBg="1"/>
      <p:bldP spid="54" grpId="1" animBg="1"/>
      <p:bldP spid="96" grpId="0" animBg="1"/>
      <p:bldP spid="96" grpId="1" animBg="1"/>
      <p:bldP spid="97" grpId="0" animBg="1"/>
      <p:bldP spid="97" grpId="1" animBg="1"/>
      <p:bldP spid="98" grpId="0" animBg="1"/>
      <p:bldP spid="98" grpId="1" animBg="1"/>
      <p:bldP spid="99" grpId="0" animBg="1"/>
      <p:bldP spid="99" grpId="1" animBg="1"/>
      <p:bldP spid="100" grpId="0" animBg="1"/>
      <p:bldP spid="100" grpId="1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just">
              <a:spcBef>
                <a:spcPts val="1000"/>
              </a:spcBef>
              <a:buClr>
                <a:srgbClr val="B84742"/>
              </a:buClr>
            </a:pPr>
            <a:r>
              <a:rPr lang="en-US" dirty="0"/>
              <a:t>Distance And Centers in Tree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Clr>
                    <a:srgbClr val="B84742"/>
                  </a:buClr>
                </a:pPr>
                <a:r>
                  <a:rPr lang="en-IN" b="1" dirty="0"/>
                  <a:t>Definition: </a:t>
                </a:r>
                <a:r>
                  <a:rPr lang="en-US" dirty="0"/>
                  <a:t>In a connected graph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G</m:t>
                    </m:r>
                  </m:oMath>
                </a14:m>
                <a:r>
                  <a:rPr lang="en-US" dirty="0"/>
                  <a:t>, </a:t>
                </a:r>
                <a:r>
                  <a:rPr lang="en-US" b="1" dirty="0">
                    <a:solidFill>
                      <a:srgbClr val="FF0000"/>
                    </a:solidFill>
                  </a:rPr>
                  <a:t>the distance</a:t>
                </a:r>
                <a14:m>
                  <m:oMath xmlns:m="http://schemas.openxmlformats.org/officeDocument/2006/math"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between two of its vertices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dirty="0"/>
                  <a:t> and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</m:sSub>
                  </m:oMath>
                </a14:m>
                <a:r>
                  <a:rPr lang="en-US" dirty="0"/>
                  <a:t> (</a:t>
                </a:r>
                <a14:m>
                  <m:oMath xmlns:m="http://schemas.openxmlformats.org/officeDocument/2006/math"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𝐝</m:t>
                    </m:r>
                    <m:d>
                      <m:d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lang="en-US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𝐢</m:t>
                            </m:r>
                          </m:sub>
                        </m:sSub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lang="en-US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𝐣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), is </a:t>
                </a:r>
                <a:r>
                  <a:rPr lang="en-US" b="1" dirty="0"/>
                  <a:t>the length of the shortest path.</a:t>
                </a:r>
                <a:endParaRPr lang="en-US" dirty="0"/>
              </a:p>
              <a:p>
                <a:pPr>
                  <a:buClr>
                    <a:srgbClr val="B84742"/>
                  </a:buClr>
                </a:pPr>
                <a:r>
                  <a:rPr lang="en-US" dirty="0"/>
                  <a:t>The definition of distance between any two vertices is valid for any connected graph (</a:t>
                </a:r>
                <a:r>
                  <a:rPr lang="en-US" b="1" dirty="0"/>
                  <a:t>not necessarily a tree</a:t>
                </a:r>
                <a:r>
                  <a:rPr lang="en-US" dirty="0"/>
                  <a:t>). </a:t>
                </a:r>
              </a:p>
              <a:p>
                <a:pPr>
                  <a:buClr>
                    <a:srgbClr val="B84742"/>
                  </a:buClr>
                </a:pPr>
                <a:r>
                  <a:rPr lang="en-US" dirty="0"/>
                  <a:t>In a graph that is not a tree, there are generally several paths between a pair of vertices.</a:t>
                </a:r>
              </a:p>
              <a:p>
                <a:pPr>
                  <a:buClr>
                    <a:srgbClr val="B84742"/>
                  </a:buClr>
                </a:pPr>
                <a:r>
                  <a:rPr lang="en-US" dirty="0"/>
                  <a:t>We have to enumerate all these paths and find the length of the shortest one. (There may be several shortest paths.)</a:t>
                </a:r>
              </a:p>
              <a:p>
                <a:pPr>
                  <a:buClr>
                    <a:srgbClr val="B84742"/>
                  </a:buClr>
                </a:pPr>
                <a:r>
                  <a:rPr lang="en-US" b="1" dirty="0">
                    <a:solidFill>
                      <a:srgbClr val="FF0000"/>
                    </a:solidFill>
                  </a:rPr>
                  <a:t>In a tree, since there is exactly one path between any two vertices, the determination of distance is much easier.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71" t="-1963" r="-10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5981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just">
              <a:spcBef>
                <a:spcPts val="1000"/>
              </a:spcBef>
              <a:buClr>
                <a:srgbClr val="B84742"/>
              </a:buClr>
            </a:pPr>
            <a:r>
              <a:rPr lang="en-GB" dirty="0"/>
              <a:t>Example : </a:t>
            </a:r>
            <a:r>
              <a:rPr lang="en-US" dirty="0"/>
              <a:t>Distance in a tree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6409" y="729966"/>
                <a:ext cx="12175591" cy="27597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65113" indent="-265113" algn="just">
                  <a:spcBef>
                    <a:spcPts val="1000"/>
                  </a:spcBef>
                  <a:buClr>
                    <a:srgbClr val="B84742"/>
                  </a:buClr>
                  <a:buFont typeface="Wingdings 3" panose="05040102010807070707" pitchFamily="18" charset="2"/>
                  <a:buChar char=""/>
                </a:pPr>
                <a:r>
                  <a:rPr lang="en-US" sz="2800" dirty="0">
                    <a:solidFill>
                      <a:srgbClr val="002060"/>
                    </a:solidFill>
                  </a:rPr>
                  <a:t>In a given tree determine the distance between every vertex to</a:t>
                </a:r>
                <a14:m>
                  <m:oMath xmlns:m="http://schemas.openxmlformats.org/officeDocument/2006/math"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  <a:p>
                <a:pPr marL="265113" indent="-265113" algn="just">
                  <a:spcBef>
                    <a:spcPts val="1000"/>
                  </a:spcBef>
                  <a:buClr>
                    <a:srgbClr val="B84742"/>
                  </a:buClr>
                  <a:buFont typeface="Wingdings 3" panose="05040102010807070707" pitchFamily="18" charset="2"/>
                  <a:buChar char=""/>
                </a:pPr>
                <a:endParaRPr lang="en-US" sz="2800" dirty="0">
                  <a:solidFill>
                    <a:srgbClr val="002060"/>
                  </a:solidFill>
                </a:endParaRPr>
              </a:p>
              <a:p>
                <a:pPr marL="265113" indent="-265113" algn="just">
                  <a:spcBef>
                    <a:spcPts val="1000"/>
                  </a:spcBef>
                  <a:buClr>
                    <a:srgbClr val="B84742"/>
                  </a:buClr>
                  <a:buFont typeface="Wingdings 3" panose="05040102010807070707" pitchFamily="18" charset="2"/>
                  <a:buChar char=""/>
                </a:pPr>
                <a:endParaRPr lang="en-US" sz="2800" dirty="0">
                  <a:solidFill>
                    <a:srgbClr val="002060"/>
                  </a:solidFill>
                </a:endParaRPr>
              </a:p>
              <a:p>
                <a:pPr marL="265113" indent="-265113" algn="just">
                  <a:spcBef>
                    <a:spcPts val="1000"/>
                  </a:spcBef>
                  <a:buClr>
                    <a:srgbClr val="B84742"/>
                  </a:buClr>
                  <a:buFont typeface="Wingdings 3" panose="05040102010807070707" pitchFamily="18" charset="2"/>
                  <a:buChar char=""/>
                </a:pPr>
                <a:endParaRPr lang="en-US" sz="2800" dirty="0">
                  <a:solidFill>
                    <a:srgbClr val="002060"/>
                  </a:solidFill>
                </a:endParaRPr>
              </a:p>
              <a:p>
                <a:pPr marL="265113" indent="-265113" algn="just">
                  <a:spcBef>
                    <a:spcPts val="1000"/>
                  </a:spcBef>
                  <a:buClr>
                    <a:srgbClr val="B84742"/>
                  </a:buClr>
                  <a:buFont typeface="Wingdings 3" panose="05040102010807070707" pitchFamily="18" charset="2"/>
                  <a:buChar char=""/>
                </a:pPr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09" y="729966"/>
                <a:ext cx="12175591" cy="2759730"/>
              </a:xfrm>
              <a:prstGeom prst="rect">
                <a:avLst/>
              </a:prstGeom>
              <a:blipFill rotWithShape="0">
                <a:blip r:embed="rId3"/>
                <a:stretch>
                  <a:fillRect l="-951" t="-24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247650" y="4070423"/>
                <a:ext cx="1895061" cy="16414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65113" indent="-265113" algn="just">
                  <a:spcBef>
                    <a:spcPts val="1000"/>
                  </a:spcBef>
                  <a:buClr>
                    <a:srgbClr val="B84742"/>
                  </a:buClr>
                  <a:buFont typeface="Wingdings 3" panose="05040102010807070707" pitchFamily="18" charset="2"/>
                  <a:buChar char="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d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d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  <a:p>
                <a:pPr marL="265113" indent="-265113" algn="just">
                  <a:spcBef>
                    <a:spcPts val="1000"/>
                  </a:spcBef>
                  <a:buClr>
                    <a:srgbClr val="B84742"/>
                  </a:buClr>
                  <a:buFont typeface="Wingdings 3" panose="05040102010807070707" pitchFamily="18" charset="2"/>
                  <a:buChar char="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d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</m:d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  <a:p>
                <a:pPr marL="265113" indent="-265113" algn="just">
                  <a:spcBef>
                    <a:spcPts val="1000"/>
                  </a:spcBef>
                  <a:buClr>
                    <a:srgbClr val="B84742"/>
                  </a:buClr>
                  <a:buFont typeface="Wingdings 3" panose="05040102010807070707" pitchFamily="18" charset="2"/>
                  <a:buChar char="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d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</m:d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50" y="4070423"/>
                <a:ext cx="1895061" cy="164147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/>
          <p:cNvSpPr txBox="1"/>
          <p:nvPr/>
        </p:nvSpPr>
        <p:spPr>
          <a:xfrm>
            <a:off x="2169215" y="4093800"/>
            <a:ext cx="3626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62589" y="4643765"/>
            <a:ext cx="3626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69215" y="5206983"/>
            <a:ext cx="3626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2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4163047" y="2398529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61C1F4A-0F54-D84C-6D00-A1EB9F135299}"/>
              </a:ext>
            </a:extLst>
          </p:cNvPr>
          <p:cNvCxnSpPr>
            <a:cxnSpLocks/>
            <a:stCxn id="41" idx="7"/>
            <a:endCxn id="38" idx="3"/>
          </p:cNvCxnSpPr>
          <p:nvPr/>
        </p:nvCxnSpPr>
        <p:spPr>
          <a:xfrm>
            <a:off x="3753861" y="2048997"/>
            <a:ext cx="430274" cy="370620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38" idx="1"/>
            <a:endCxn id="42" idx="5"/>
          </p:cNvCxnSpPr>
          <p:nvPr/>
        </p:nvCxnSpPr>
        <p:spPr>
          <a:xfrm flipV="1">
            <a:off x="4285959" y="2045252"/>
            <a:ext cx="383037" cy="374365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6C0843A1-C99E-E42B-5017-D5F14DE578E1}"/>
              </a:ext>
            </a:extLst>
          </p:cNvPr>
          <p:cNvSpPr/>
          <p:nvPr/>
        </p:nvSpPr>
        <p:spPr>
          <a:xfrm rot="5400000">
            <a:off x="3630949" y="1926085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4647908" y="1922340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44" idx="2"/>
            <a:endCxn id="38" idx="6"/>
          </p:cNvCxnSpPr>
          <p:nvPr/>
        </p:nvCxnSpPr>
        <p:spPr>
          <a:xfrm flipH="1" flipV="1">
            <a:off x="4235047" y="2542529"/>
            <a:ext cx="4147" cy="598950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4" name="Oval 43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4167194" y="3141479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3522027" y="1616120"/>
                <a:ext cx="36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dirty="0" smtClean="0">
                          <a:latin typeface="Cambria Math" panose="02040503050406030204" pitchFamily="18" charset="0"/>
                        </a:rPr>
                        <m:t>𝐚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2027" y="1616120"/>
                <a:ext cx="364202" cy="36933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4538027" y="1622470"/>
                <a:ext cx="3497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𝐜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8027" y="1622470"/>
                <a:ext cx="349776" cy="36933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4055427" y="2079670"/>
                <a:ext cx="3770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𝐛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5427" y="2079670"/>
                <a:ext cx="377026" cy="36933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4243940" y="3079381"/>
                <a:ext cx="3786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𝐝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3940" y="3079381"/>
                <a:ext cx="378630" cy="369332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1" name="Picture 7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01129" y="1619712"/>
            <a:ext cx="1365622" cy="1835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072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  <p:bldP spid="3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Important terms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50000"/>
                  </a:lnSpc>
                  <a:buClr>
                    <a:srgbClr val="B84742"/>
                  </a:buClr>
                </a:pPr>
                <a:r>
                  <a:rPr lang="en-IN" b="1" dirty="0"/>
                  <a:t>Definition: </a:t>
                </a:r>
                <a:r>
                  <a:rPr lang="en-US" dirty="0"/>
                  <a:t>The distance from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dirty="0"/>
                  <a:t> to the vertex most distant from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dirty="0"/>
                  <a:t> is called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d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eccentricity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</a:rPr>
                  <a:t> </a:t>
                </a:r>
                <a:endParaRPr lang="en-US" b="1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50000"/>
                  </a:lnSpc>
                  <a:buClr>
                    <a:srgbClr val="B84742"/>
                  </a:buClr>
                </a:pPr>
                <a:r>
                  <a:rPr lang="en-US" b="1" dirty="0"/>
                  <a:t>Definition:</a:t>
                </a:r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A vertex with </a:t>
                </a:r>
                <a:r>
                  <a:rPr lang="en-US" b="1" dirty="0"/>
                  <a:t>minimum eccentricity</a:t>
                </a:r>
                <a:r>
                  <a:rPr lang="en-US" dirty="0"/>
                  <a:t> in graph G is called a </a:t>
                </a:r>
                <a:r>
                  <a:rPr lang="en-US" dirty="0">
                    <a:solidFill>
                      <a:srgbClr val="FF0000"/>
                    </a:solidFill>
                  </a:rPr>
                  <a:t>center</a:t>
                </a:r>
                <a:r>
                  <a:rPr lang="en-US" dirty="0"/>
                  <a:t> of G.</a:t>
                </a:r>
              </a:p>
              <a:p>
                <a:pPr>
                  <a:lnSpc>
                    <a:spcPct val="150000"/>
                  </a:lnSpc>
                  <a:buClr>
                    <a:srgbClr val="B84742"/>
                  </a:buClr>
                </a:pPr>
                <a:r>
                  <a:rPr lang="en-US" b="1" dirty="0"/>
                  <a:t>Definition</a:t>
                </a:r>
                <a:r>
                  <a:rPr lang="en-US" dirty="0"/>
                  <a:t>: The </a:t>
                </a:r>
                <a:r>
                  <a:rPr lang="en-US" b="1" dirty="0"/>
                  <a:t>eccentricity of a center </a:t>
                </a:r>
                <a:r>
                  <a:rPr lang="en-US" dirty="0"/>
                  <a:t>in a tree is called the </a:t>
                </a:r>
                <a:r>
                  <a:rPr lang="en-US" dirty="0">
                    <a:solidFill>
                      <a:srgbClr val="FF0000"/>
                    </a:solidFill>
                  </a:rPr>
                  <a:t>radius</a:t>
                </a:r>
                <a:r>
                  <a:rPr lang="en-US" dirty="0"/>
                  <a:t> of the tree.</a:t>
                </a:r>
              </a:p>
              <a:p>
                <a:pPr>
                  <a:lnSpc>
                    <a:spcPct val="150000"/>
                  </a:lnSpc>
                  <a:buClr>
                    <a:srgbClr val="B84742"/>
                  </a:buClr>
                </a:pPr>
                <a:r>
                  <a:rPr lang="en-US" b="1" dirty="0"/>
                  <a:t>Definition</a:t>
                </a:r>
                <a:r>
                  <a:rPr lang="en-US" dirty="0"/>
                  <a:t>: The </a:t>
                </a:r>
                <a:r>
                  <a:rPr lang="en-US" b="1" dirty="0"/>
                  <a:t>length of the longest path </a:t>
                </a:r>
                <a:r>
                  <a:rPr lang="en-US" dirty="0"/>
                  <a:t>in T is called the </a:t>
                </a:r>
                <a:r>
                  <a:rPr lang="en-US" dirty="0">
                    <a:solidFill>
                      <a:srgbClr val="FF0000"/>
                    </a:solidFill>
                  </a:rPr>
                  <a:t>diameter</a:t>
                </a:r>
                <a:r>
                  <a:rPr lang="en-US" dirty="0"/>
                  <a:t> of a tree.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406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just">
              <a:spcBef>
                <a:spcPts val="1000"/>
              </a:spcBef>
              <a:buClr>
                <a:srgbClr val="B84742"/>
              </a:buClr>
            </a:pPr>
            <a:r>
              <a:rPr lang="en-US" dirty="0"/>
              <a:t>Example </a:t>
            </a:r>
          </a:p>
        </p:txBody>
      </p:sp>
      <p:sp>
        <p:nvSpPr>
          <p:cNvPr id="5" name="Rectangle 4"/>
          <p:cNvSpPr/>
          <p:nvPr/>
        </p:nvSpPr>
        <p:spPr>
          <a:xfrm>
            <a:off x="167425" y="703461"/>
            <a:ext cx="10251583" cy="4996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just">
              <a:spcBef>
                <a:spcPts val="1000"/>
              </a:spcBef>
              <a:buClr>
                <a:srgbClr val="B84742"/>
              </a:buClr>
              <a:buFont typeface="Wingdings 3" panose="05040102010807070707" pitchFamily="18" charset="2"/>
              <a:buChar char=""/>
            </a:pPr>
            <a:r>
              <a:rPr lang="en-US" sz="2800" dirty="0">
                <a:solidFill>
                  <a:srgbClr val="002060"/>
                </a:solidFill>
              </a:rPr>
              <a:t>In the given tree,</a:t>
            </a:r>
          </a:p>
          <a:p>
            <a:pPr marL="265113" indent="-265113" algn="just">
              <a:spcBef>
                <a:spcPts val="1000"/>
              </a:spcBef>
              <a:buClr>
                <a:srgbClr val="B84742"/>
              </a:buClr>
              <a:buFont typeface="Wingdings 3" panose="05040102010807070707" pitchFamily="18" charset="2"/>
              <a:buChar char=""/>
            </a:pPr>
            <a:endParaRPr lang="en-US" sz="2800" dirty="0">
              <a:solidFill>
                <a:srgbClr val="002060"/>
              </a:solidFill>
            </a:endParaRPr>
          </a:p>
          <a:p>
            <a:pPr marL="265113" indent="-265113" algn="just">
              <a:spcBef>
                <a:spcPts val="1000"/>
              </a:spcBef>
              <a:buClr>
                <a:srgbClr val="B84742"/>
              </a:buClr>
              <a:buFont typeface="Wingdings 3" panose="05040102010807070707" pitchFamily="18" charset="2"/>
              <a:buChar char=""/>
            </a:pPr>
            <a:endParaRPr lang="en-US" sz="2800" dirty="0">
              <a:solidFill>
                <a:srgbClr val="002060"/>
              </a:solidFill>
            </a:endParaRPr>
          </a:p>
          <a:p>
            <a:pPr marL="265113" indent="-265113" algn="just">
              <a:spcBef>
                <a:spcPts val="1000"/>
              </a:spcBef>
              <a:buClr>
                <a:srgbClr val="B84742"/>
              </a:buClr>
              <a:buFont typeface="Wingdings 3" panose="05040102010807070707" pitchFamily="18" charset="2"/>
              <a:buChar char=""/>
            </a:pPr>
            <a:endParaRPr lang="en-US" sz="2800" dirty="0">
              <a:solidFill>
                <a:srgbClr val="002060"/>
              </a:solidFill>
            </a:endParaRPr>
          </a:p>
          <a:p>
            <a:pPr marL="265113" indent="-265113" algn="just">
              <a:spcBef>
                <a:spcPts val="1000"/>
              </a:spcBef>
              <a:buClr>
                <a:srgbClr val="B84742"/>
              </a:buClr>
              <a:buFont typeface="Wingdings 3" panose="05040102010807070707" pitchFamily="18" charset="2"/>
              <a:buChar char=""/>
            </a:pPr>
            <a:endParaRPr lang="en-US" sz="2800" dirty="0">
              <a:solidFill>
                <a:srgbClr val="002060"/>
              </a:solidFill>
            </a:endParaRPr>
          </a:p>
          <a:p>
            <a:pPr marL="265113" indent="-265113" algn="just">
              <a:spcBef>
                <a:spcPts val="1000"/>
              </a:spcBef>
              <a:buClr>
                <a:srgbClr val="B84742"/>
              </a:buClr>
              <a:buFont typeface="Wingdings 3" panose="05040102010807070707" pitchFamily="18" charset="2"/>
              <a:buChar char=""/>
            </a:pPr>
            <a:endParaRPr lang="en-US" sz="2800" dirty="0">
              <a:solidFill>
                <a:srgbClr val="002060"/>
              </a:solidFill>
            </a:endParaRPr>
          </a:p>
          <a:p>
            <a:pPr marL="265113" indent="-265113" algn="just">
              <a:spcBef>
                <a:spcPts val="1000"/>
              </a:spcBef>
              <a:buClr>
                <a:srgbClr val="B84742"/>
              </a:buClr>
              <a:buFont typeface="Wingdings 3" panose="05040102010807070707" pitchFamily="18" charset="2"/>
              <a:buChar char=""/>
            </a:pPr>
            <a:r>
              <a:rPr lang="en-US" sz="2800" dirty="0">
                <a:solidFill>
                  <a:srgbClr val="002060"/>
                </a:solidFill>
              </a:rPr>
              <a:t>Center of tree = </a:t>
            </a:r>
          </a:p>
          <a:p>
            <a:pPr marL="265113" indent="-265113" algn="just">
              <a:spcBef>
                <a:spcPts val="1000"/>
              </a:spcBef>
              <a:buClr>
                <a:srgbClr val="B84742"/>
              </a:buClr>
              <a:buFont typeface="Wingdings 3" panose="05040102010807070707" pitchFamily="18" charset="2"/>
              <a:buChar char=""/>
            </a:pPr>
            <a:r>
              <a:rPr lang="en-US" sz="2800" dirty="0">
                <a:solidFill>
                  <a:srgbClr val="002060"/>
                </a:solidFill>
              </a:rPr>
              <a:t>Radius of tree =</a:t>
            </a:r>
          </a:p>
          <a:p>
            <a:pPr marL="265113" indent="-265113" algn="just">
              <a:spcBef>
                <a:spcPts val="1000"/>
              </a:spcBef>
              <a:buClr>
                <a:srgbClr val="B84742"/>
              </a:buClr>
              <a:buFont typeface="Wingdings 3" panose="05040102010807070707" pitchFamily="18" charset="2"/>
              <a:buChar char=""/>
            </a:pPr>
            <a:r>
              <a:rPr lang="en-US" sz="2800" dirty="0">
                <a:solidFill>
                  <a:srgbClr val="002060"/>
                </a:solidFill>
              </a:rPr>
              <a:t>Diameter of tree =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91431" y="1512357"/>
            <a:ext cx="1944826" cy="56984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/>
              <p:cNvSpPr/>
              <p:nvPr/>
            </p:nvSpPr>
            <p:spPr>
              <a:xfrm>
                <a:off x="2973427" y="3411633"/>
                <a:ext cx="204651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1000"/>
                  </a:spcBef>
                  <a:buClr>
                    <a:srgbClr val="B84742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3427" y="3411633"/>
                <a:ext cx="2046516" cy="52322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ectangle 31"/>
          <p:cNvSpPr/>
          <p:nvPr/>
        </p:nvSpPr>
        <p:spPr>
          <a:xfrm>
            <a:off x="7966746" y="1475974"/>
            <a:ext cx="1944826" cy="56984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/>
              <p:cNvSpPr/>
              <p:nvPr/>
            </p:nvSpPr>
            <p:spPr>
              <a:xfrm>
                <a:off x="2919562" y="744199"/>
                <a:ext cx="131343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9562" y="744199"/>
                <a:ext cx="1313436" cy="52322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/>
              <p:cNvSpPr/>
              <p:nvPr/>
            </p:nvSpPr>
            <p:spPr>
              <a:xfrm>
                <a:off x="4105607" y="746804"/>
                <a:ext cx="53892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5607" y="746804"/>
                <a:ext cx="538929" cy="52322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41"/>
              <p:cNvSpPr/>
              <p:nvPr/>
            </p:nvSpPr>
            <p:spPr>
              <a:xfrm>
                <a:off x="4478487" y="750549"/>
                <a:ext cx="133587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2" name="Rectangle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8487" y="750549"/>
                <a:ext cx="1335879" cy="52322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/>
              <p:cNvSpPr/>
              <p:nvPr/>
            </p:nvSpPr>
            <p:spPr>
              <a:xfrm>
                <a:off x="5674057" y="743629"/>
                <a:ext cx="53893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3" name="Rectangle 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4057" y="743629"/>
                <a:ext cx="538930" cy="52322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/>
              <p:cNvSpPr/>
              <p:nvPr/>
            </p:nvSpPr>
            <p:spPr>
              <a:xfrm>
                <a:off x="6018362" y="744199"/>
                <a:ext cx="129740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4" name="Rectangle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8362" y="744199"/>
                <a:ext cx="1297406" cy="52322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/>
              <p:cNvSpPr/>
              <p:nvPr/>
            </p:nvSpPr>
            <p:spPr>
              <a:xfrm>
                <a:off x="7213932" y="746804"/>
                <a:ext cx="53892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5" name="Rectangle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3932" y="746804"/>
                <a:ext cx="538929" cy="5232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/>
              <p:cNvSpPr/>
              <p:nvPr/>
            </p:nvSpPr>
            <p:spPr>
              <a:xfrm>
                <a:off x="7577287" y="744199"/>
                <a:ext cx="133748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6" name="Rectangle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7287" y="744199"/>
                <a:ext cx="1337481" cy="523220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/>
              <p:cNvSpPr/>
              <p:nvPr/>
            </p:nvSpPr>
            <p:spPr>
              <a:xfrm>
                <a:off x="8753807" y="746804"/>
                <a:ext cx="46519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7" name="Rectangle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3807" y="746804"/>
                <a:ext cx="465192" cy="52322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/>
              <p:cNvSpPr/>
              <p:nvPr/>
            </p:nvSpPr>
            <p:spPr>
              <a:xfrm>
                <a:off x="3062297" y="1520637"/>
                <a:ext cx="681814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spcBef>
                    <a:spcPts val="1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=1,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=2,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2800" dirty="0">
                  <a:effectLst/>
                </a:endParaRPr>
              </a:p>
            </p:txBody>
          </p:sp>
        </mc:Choice>
        <mc:Fallback xmlns="">
          <p:sp>
            <p:nvSpPr>
              <p:cNvPr id="48" name="Rectangle 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2297" y="1520637"/>
                <a:ext cx="6818149" cy="523220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/>
              <p:cNvSpPr/>
              <p:nvPr/>
            </p:nvSpPr>
            <p:spPr>
              <a:xfrm>
                <a:off x="3054915" y="2493095"/>
                <a:ext cx="440287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=1,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9" name="Rectangle 4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4915" y="2493095"/>
                <a:ext cx="4402872" cy="523220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Rectangle 49"/>
          <p:cNvSpPr/>
          <p:nvPr/>
        </p:nvSpPr>
        <p:spPr>
          <a:xfrm>
            <a:off x="5498687" y="2477557"/>
            <a:ext cx="1944826" cy="56984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ectangle 50"/>
          <p:cNvSpPr/>
          <p:nvPr/>
        </p:nvSpPr>
        <p:spPr>
          <a:xfrm>
            <a:off x="3154630" y="2484814"/>
            <a:ext cx="1944826" cy="56984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Rectangle 51"/>
          <p:cNvSpPr/>
          <p:nvPr/>
        </p:nvSpPr>
        <p:spPr>
          <a:xfrm>
            <a:off x="3132857" y="3391957"/>
            <a:ext cx="1944826" cy="56984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/>
          <p:cNvSpPr/>
          <p:nvPr/>
        </p:nvSpPr>
        <p:spPr>
          <a:xfrm>
            <a:off x="3147371" y="1534128"/>
            <a:ext cx="1944826" cy="56984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1191" y="1570934"/>
            <a:ext cx="2054530" cy="2591025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789487" y="4043380"/>
            <a:ext cx="5338321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b </a:t>
            </a:r>
            <a:r>
              <a:rPr lang="en-US" sz="2800" dirty="0">
                <a:solidFill>
                  <a:srgbClr val="002060"/>
                </a:solidFill>
              </a:rPr>
              <a:t>(vertex with minimum eccentricity)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 </a:t>
            </a:r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4579486" y="703060"/>
            <a:ext cx="1506109" cy="56984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2794851" y="4599599"/>
            <a:ext cx="366318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1 </a:t>
            </a:r>
            <a:r>
              <a:rPr lang="en-US" sz="2800" dirty="0">
                <a:solidFill>
                  <a:srgbClr val="002060"/>
                </a:solidFill>
              </a:rPr>
              <a:t>(eccentricity of center)</a:t>
            </a:r>
          </a:p>
        </p:txBody>
      </p:sp>
      <p:sp>
        <p:nvSpPr>
          <p:cNvPr id="4" name="Rectangle 3"/>
          <p:cNvSpPr/>
          <p:nvPr/>
        </p:nvSpPr>
        <p:spPr>
          <a:xfrm>
            <a:off x="3060694" y="5137214"/>
            <a:ext cx="41665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Bef>
                <a:spcPts val="1000"/>
              </a:spcBef>
              <a:buClr>
                <a:srgbClr val="B84742"/>
              </a:buClr>
            </a:pPr>
            <a:r>
              <a:rPr lang="en-US" sz="2800" b="1" dirty="0">
                <a:solidFill>
                  <a:srgbClr val="FF0000"/>
                </a:solidFill>
              </a:rPr>
              <a:t>2</a:t>
            </a:r>
            <a:r>
              <a:rPr lang="en-US" sz="2800" dirty="0">
                <a:solidFill>
                  <a:srgbClr val="002060"/>
                </a:solidFill>
              </a:rPr>
              <a:t> (maximum of eccentricity)</a:t>
            </a:r>
          </a:p>
        </p:txBody>
      </p:sp>
    </p:spTree>
    <p:extLst>
      <p:ext uri="{BB962C8B-B14F-4D97-AF65-F5344CB8AC3E}">
        <p14:creationId xmlns:p14="http://schemas.microsoft.com/office/powerpoint/2010/main" val="4122610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8" grpId="1" animBg="1"/>
      <p:bldP spid="28" grpId="2" animBg="1"/>
      <p:bldP spid="28" grpId="3" animBg="1"/>
      <p:bldP spid="31" grpId="0"/>
      <p:bldP spid="32" grpId="0" animBg="1"/>
      <p:bldP spid="32" grpId="1" animBg="1"/>
      <p:bldP spid="32" grpId="2" animBg="1"/>
      <p:bldP spid="32" grpId="3" animBg="1"/>
      <p:bldP spid="34" grpId="0"/>
      <p:bldP spid="35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 animBg="1"/>
      <p:bldP spid="50" grpId="1" animBg="1"/>
      <p:bldP spid="51" grpId="0" animBg="1"/>
      <p:bldP spid="51" grpId="1" animBg="1"/>
      <p:bldP spid="52" grpId="0" animBg="1"/>
      <p:bldP spid="52" grpId="1" animBg="1"/>
      <p:bldP spid="52" grpId="2" animBg="1"/>
      <p:bldP spid="52" grpId="3" animBg="1"/>
      <p:bldP spid="53" grpId="0" animBg="1"/>
      <p:bldP spid="53" grpId="1" animBg="1"/>
      <p:bldP spid="2" grpId="0"/>
      <p:bldP spid="23" grpId="0" animBg="1"/>
      <p:bldP spid="23" grpId="1" animBg="1"/>
      <p:bldP spid="3" grpId="0"/>
      <p:bldP spid="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just">
              <a:spcBef>
                <a:spcPts val="1000"/>
              </a:spcBef>
              <a:buClr>
                <a:srgbClr val="B84742"/>
              </a:buClr>
            </a:pPr>
            <a:r>
              <a:rPr lang="en-US" dirty="0"/>
              <a:t>ON COUNTING TREES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Content Placeholder 54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know that the trees shown below </a:t>
                </a:r>
                <a:r>
                  <a:rPr lang="en-US" b="1" dirty="0"/>
                  <a:t>are isomorphic, </a:t>
                </a:r>
                <a:r>
                  <a:rPr lang="en-US" dirty="0"/>
                  <a:t>therefore, we count them as a single (unlabeled) tree.</a:t>
                </a:r>
              </a:p>
              <a:p>
                <a:r>
                  <a:rPr lang="en-US" dirty="0"/>
                  <a:t>However, the situation changes when we assign </a:t>
                </a:r>
                <a:r>
                  <a:rPr lang="en-US" b="1" dirty="0"/>
                  <a:t>labels</a:t>
                </a:r>
                <a:r>
                  <a:rPr lang="en-US" dirty="0"/>
                  <a:t> to the vertices of these trees.</a:t>
                </a:r>
              </a:p>
              <a:p>
                <a:r>
                  <a:rPr lang="en-US" dirty="0"/>
                  <a:t>In that case, even isomorphic trees can become different if their labeling differ.</a:t>
                </a:r>
              </a:p>
              <a:p>
                <a:r>
                  <a:rPr lang="en-US" dirty="0"/>
                  <a:t>This leads to a natural question: </a:t>
                </a:r>
                <a:r>
                  <a:rPr lang="en-US" b="1" dirty="0"/>
                  <a:t>What is a labeled tree?</a:t>
                </a:r>
                <a:br>
                  <a:rPr lang="en-US" dirty="0"/>
                </a:br>
                <a:r>
                  <a:rPr lang="en-US" dirty="0"/>
                  <a:t>And, more importantly: </a:t>
                </a:r>
                <a:r>
                  <a:rPr lang="en-US" b="1" dirty="0"/>
                  <a:t>How many such trees exist for a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𝐧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vertices?</a:t>
                </a:r>
                <a:endParaRPr lang="en-US" dirty="0"/>
              </a:p>
              <a:p>
                <a:pPr marL="0" indent="0">
                  <a:buNone/>
                </a:pPr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6" name="Content Placeholder 5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863445"/>
                <a:ext cx="11936995" cy="3645056"/>
              </a:xfrm>
              <a:blipFill rotWithShape="0">
                <a:blip r:embed="rId2"/>
                <a:stretch>
                  <a:fillRect l="-970" t="-3010" r="-10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Oval 49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7457446" y="4510258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7468362" y="5814640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6046151" y="4515021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6043065" y="5898960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50" idx="4"/>
            <a:endCxn id="52" idx="0"/>
          </p:cNvCxnSpPr>
          <p:nvPr/>
        </p:nvCxnSpPr>
        <p:spPr>
          <a:xfrm flipH="1">
            <a:off x="6190151" y="4582258"/>
            <a:ext cx="1267295" cy="4763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51" idx="3"/>
            <a:endCxn id="52" idx="7"/>
          </p:cNvCxnSpPr>
          <p:nvPr/>
        </p:nvCxnSpPr>
        <p:spPr>
          <a:xfrm flipH="1" flipV="1">
            <a:off x="6169063" y="4637933"/>
            <a:ext cx="1320387" cy="1197795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52" idx="6"/>
            <a:endCxn id="53" idx="2"/>
          </p:cNvCxnSpPr>
          <p:nvPr/>
        </p:nvCxnSpPr>
        <p:spPr>
          <a:xfrm flipH="1">
            <a:off x="6115065" y="4659021"/>
            <a:ext cx="3086" cy="1239939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9" name="TextBox 58"/>
          <p:cNvSpPr txBox="1"/>
          <p:nvPr/>
        </p:nvSpPr>
        <p:spPr>
          <a:xfrm>
            <a:off x="5790288" y="4216048"/>
            <a:ext cx="360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63871" y="5958183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918988" y="5979728"/>
            <a:ext cx="3921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C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3118759" y="4510258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3130481" y="5794026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4586926" y="4510258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4586926" y="5814183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72" idx="0"/>
            <a:endCxn id="74" idx="4"/>
          </p:cNvCxnSpPr>
          <p:nvPr/>
        </p:nvCxnSpPr>
        <p:spPr>
          <a:xfrm>
            <a:off x="3262759" y="4582258"/>
            <a:ext cx="1324167" cy="0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73" idx="1"/>
            <a:endCxn id="74" idx="5"/>
          </p:cNvCxnSpPr>
          <p:nvPr/>
        </p:nvCxnSpPr>
        <p:spPr>
          <a:xfrm flipV="1">
            <a:off x="3253393" y="4633170"/>
            <a:ext cx="1354621" cy="1181944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74" idx="6"/>
            <a:endCxn id="75" idx="2"/>
          </p:cNvCxnSpPr>
          <p:nvPr/>
        </p:nvCxnSpPr>
        <p:spPr>
          <a:xfrm>
            <a:off x="4658926" y="4654258"/>
            <a:ext cx="0" cy="1159925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9" name="TextBox 78"/>
          <p:cNvSpPr txBox="1"/>
          <p:nvPr/>
        </p:nvSpPr>
        <p:spPr>
          <a:xfrm>
            <a:off x="4478579" y="5905615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027299" y="4571382"/>
            <a:ext cx="360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53315" y="4199977"/>
            <a:ext cx="3529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B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006557" y="5925047"/>
            <a:ext cx="3593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C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360046" y="4579654"/>
            <a:ext cx="3529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704303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  <p:bldP spid="60" grpId="0"/>
      <p:bldP spid="68" grpId="0"/>
      <p:bldP spid="79" grpId="0"/>
      <p:bldP spid="80" grpId="0"/>
      <p:bldP spid="81" grpId="0"/>
      <p:bldP spid="82" grpId="0"/>
      <p:bldP spid="8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19444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just">
              <a:spcBef>
                <a:spcPts val="1000"/>
              </a:spcBef>
              <a:buClr>
                <a:srgbClr val="B84742"/>
              </a:buClr>
            </a:pPr>
            <a:r>
              <a:rPr lang="en-US" dirty="0"/>
              <a:t>ON COUNTING TREES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11494000" y="1669890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11504916" y="2974272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10082705" y="1674653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10079619" y="3058592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50" idx="4"/>
            <a:endCxn id="52" idx="0"/>
          </p:cNvCxnSpPr>
          <p:nvPr/>
        </p:nvCxnSpPr>
        <p:spPr>
          <a:xfrm flipH="1">
            <a:off x="10226705" y="1741890"/>
            <a:ext cx="1267295" cy="4763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51" idx="3"/>
            <a:endCxn id="52" idx="7"/>
          </p:cNvCxnSpPr>
          <p:nvPr/>
        </p:nvCxnSpPr>
        <p:spPr>
          <a:xfrm flipH="1" flipV="1">
            <a:off x="10205617" y="1797565"/>
            <a:ext cx="1320387" cy="1197795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52" idx="6"/>
            <a:endCxn id="53" idx="2"/>
          </p:cNvCxnSpPr>
          <p:nvPr/>
        </p:nvCxnSpPr>
        <p:spPr>
          <a:xfrm flipH="1">
            <a:off x="10151619" y="1818653"/>
            <a:ext cx="3086" cy="1239939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9" name="TextBox 58"/>
          <p:cNvSpPr txBox="1"/>
          <p:nvPr/>
        </p:nvSpPr>
        <p:spPr>
          <a:xfrm>
            <a:off x="9986700" y="1197185"/>
            <a:ext cx="360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395616" y="3176866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971121" y="3177738"/>
            <a:ext cx="3921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C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7155313" y="1669890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7167035" y="2953658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8623480" y="1669890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8623480" y="2973815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72" idx="0"/>
            <a:endCxn id="74" idx="4"/>
          </p:cNvCxnSpPr>
          <p:nvPr/>
        </p:nvCxnSpPr>
        <p:spPr>
          <a:xfrm>
            <a:off x="7299313" y="1741890"/>
            <a:ext cx="1324167" cy="0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73" idx="1"/>
            <a:endCxn id="74" idx="5"/>
          </p:cNvCxnSpPr>
          <p:nvPr/>
        </p:nvCxnSpPr>
        <p:spPr>
          <a:xfrm flipV="1">
            <a:off x="7289947" y="1792802"/>
            <a:ext cx="1354621" cy="1181944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74" idx="6"/>
            <a:endCxn id="75" idx="2"/>
          </p:cNvCxnSpPr>
          <p:nvPr/>
        </p:nvCxnSpPr>
        <p:spPr>
          <a:xfrm>
            <a:off x="8695480" y="1813890"/>
            <a:ext cx="0" cy="1159925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9" name="TextBox 78"/>
          <p:cNvSpPr txBox="1"/>
          <p:nvPr/>
        </p:nvSpPr>
        <p:spPr>
          <a:xfrm>
            <a:off x="8514180" y="3173353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041509" y="1197185"/>
            <a:ext cx="360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542954" y="1208225"/>
            <a:ext cx="3529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B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060445" y="3173353"/>
            <a:ext cx="3593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C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384127" y="1202055"/>
            <a:ext cx="3529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131180" y="954726"/>
                <a:ext cx="6657421" cy="5689914"/>
              </a:xfrm>
            </p:spPr>
            <p:txBody>
              <a:bodyPr/>
              <a:lstStyle/>
              <a:p>
                <a:r>
                  <a:rPr lang="en-US" dirty="0"/>
                  <a:t>Are these two trees </a:t>
                </a:r>
                <a:r>
                  <a:rPr lang="en-US" b="1" dirty="0"/>
                  <a:t>same or different?</a:t>
                </a:r>
                <a:endParaRPr lang="en-US" dirty="0"/>
              </a:p>
              <a:p>
                <a:r>
                  <a:rPr lang="en-US" dirty="0"/>
                  <a:t>Structure looks similar… </a:t>
                </a:r>
              </a:p>
              <a:p>
                <a:r>
                  <a:rPr lang="en-US" dirty="0"/>
                  <a:t>So what should we count?</a:t>
                </a:r>
              </a:p>
              <a:p>
                <a:r>
                  <a:rPr lang="en-US" dirty="0"/>
                  <a:t>These trees are </a:t>
                </a:r>
                <a:r>
                  <a:rPr lang="en-US" b="1" dirty="0"/>
                  <a:t>isomorphic</a:t>
                </a:r>
                <a:r>
                  <a:rPr lang="en-US" dirty="0"/>
                  <a:t>. So, they are counted as </a:t>
                </a:r>
                <a:r>
                  <a:rPr lang="en-US" b="1" dirty="0"/>
                  <a:t>one (unlabeled) tree</a:t>
                </a:r>
              </a:p>
              <a:p>
                <a:r>
                  <a:rPr lang="en-US" dirty="0"/>
                  <a:t>When we assign </a:t>
                </a:r>
                <a:r>
                  <a:rPr lang="en-US" b="1" dirty="0"/>
                  <a:t>labels to vertices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Same structure and different labeling</a:t>
                </a:r>
              </a:p>
              <a:p>
                <a:r>
                  <a:rPr lang="en-US" dirty="0"/>
                  <a:t>They become different trees</a:t>
                </a:r>
              </a:p>
              <a:p>
                <a:r>
                  <a:rPr lang="en-US" b="1" dirty="0">
                    <a:solidFill>
                      <a:srgbClr val="C00000"/>
                    </a:solidFill>
                  </a:rPr>
                  <a:t>Counting depends on labeling</a:t>
                </a:r>
              </a:p>
              <a:p>
                <a:r>
                  <a:rPr lang="en-US" dirty="0">
                    <a:solidFill>
                      <a:srgbClr val="002060"/>
                    </a:solidFill>
                  </a:rPr>
                  <a:t>So, What is a labeled tree? &amp; How many labeled trees exist on</a:t>
                </a:r>
                <a14:m>
                  <m:oMath xmlns:m="http://schemas.openxmlformats.org/officeDocument/2006/math">
                    <m:r>
                      <a:rPr lang="en-US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vertices?</a:t>
                </a:r>
              </a:p>
              <a:p>
                <a:endParaRPr lang="en-US" dirty="0">
                  <a:solidFill>
                    <a:srgbClr val="C00000"/>
                  </a:solidFill>
                </a:endParaRP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954726"/>
                <a:ext cx="6657421" cy="5689914"/>
              </a:xfrm>
              <a:blipFill rotWithShape="0">
                <a:blip r:embed="rId2"/>
                <a:stretch>
                  <a:fillRect l="-1740" t="-1929" r="-18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4835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  <p:bldP spid="60" grpId="0"/>
      <p:bldP spid="68" grpId="0"/>
      <p:bldP spid="79" grpId="0"/>
      <p:bldP spid="80" grpId="0"/>
      <p:bldP spid="81" grpId="0"/>
      <p:bldP spid="82" grpId="0"/>
      <p:bldP spid="83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just">
              <a:spcBef>
                <a:spcPts val="1000"/>
              </a:spcBef>
              <a:buClr>
                <a:srgbClr val="B84742"/>
              </a:buClr>
            </a:pPr>
            <a:r>
              <a:rPr lang="en-US" dirty="0"/>
              <a:t>ON COUNTING TREES</a:t>
            </a:r>
          </a:p>
        </p:txBody>
      </p:sp>
      <p:sp>
        <p:nvSpPr>
          <p:cNvPr id="55" name="Content Placeholder 54"/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399811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A graph in which </a:t>
            </a:r>
            <a:r>
              <a:rPr lang="en-US" b="1" dirty="0"/>
              <a:t>each vertex has a unique label</a:t>
            </a:r>
            <a:r>
              <a:rPr lang="en-US" dirty="0"/>
              <a:t> (no two vertices have the same label) is called a </a:t>
            </a:r>
            <a:r>
              <a:rPr lang="en-US" dirty="0">
                <a:solidFill>
                  <a:srgbClr val="FF0000"/>
                </a:solidFill>
              </a:rPr>
              <a:t>labeled graph.</a:t>
            </a:r>
          </a:p>
          <a:p>
            <a:r>
              <a:rPr lang="en-US" dirty="0"/>
              <a:t>Difference between: </a:t>
            </a:r>
            <a:r>
              <a:rPr lang="en-US" b="1" dirty="0"/>
              <a:t>Labeled graph</a:t>
            </a:r>
            <a:r>
              <a:rPr lang="en-US" dirty="0"/>
              <a:t> &amp; </a:t>
            </a:r>
            <a:r>
              <a:rPr lang="en-US" b="1" dirty="0"/>
              <a:t>Unlabeled graph</a:t>
            </a:r>
            <a:r>
              <a:rPr lang="en-US" dirty="0"/>
              <a:t> is </a:t>
            </a:r>
            <a:r>
              <a:rPr lang="en-US" b="1" dirty="0"/>
              <a:t>very important in counting graphs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We now study a fundamental result for counting trees: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327660" y="4196507"/>
                <a:ext cx="11536680" cy="665054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>
                  <a:lnSpc>
                    <a:spcPct val="150000"/>
                  </a:lnSpc>
                  <a:spcBef>
                    <a:spcPts val="1000"/>
                  </a:spcBef>
                  <a:buClr>
                    <a:schemeClr val="accent6"/>
                  </a:buClr>
                  <a:buSzPts val="2800"/>
                </a:pPr>
                <a:r>
                  <a:rPr lang="en-US" sz="2800" b="1" dirty="0">
                    <a:solidFill>
                      <a:srgbClr val="002060"/>
                    </a:solidFill>
                    <a:latin typeface="Roboto Condensed" panose="02000000000000000000" pitchFamily="2" charset="0"/>
                  </a:rPr>
                  <a:t>Cayley’s Theorem: </a:t>
                </a:r>
                <a:r>
                  <a:rPr lang="en-US" sz="2800" dirty="0">
                    <a:solidFill>
                      <a:srgbClr val="002060"/>
                    </a:solidFill>
                    <a:latin typeface="Roboto Condensed" panose="02000000000000000000" pitchFamily="2" charset="0"/>
                  </a:rPr>
                  <a:t>The number of labeled trees with</a:t>
                </a:r>
                <a14:m>
                  <m:oMath xmlns:m="http://schemas.openxmlformats.org/officeDocument/2006/math">
                    <m:r>
                      <a:rPr lang="en-US" sz="2800" b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 b="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Roboto Condensed" panose="02000000000000000000" pitchFamily="2" charset="0"/>
                  </a:rPr>
                  <a:t> vertices</a:t>
                </a:r>
                <a14:m>
                  <m:oMath xmlns:m="http://schemas.openxmlformats.org/officeDocument/2006/math">
                    <m:r>
                      <a:rPr lang="en-US" sz="2800" b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(</m:t>
                    </m:r>
                    <m:r>
                      <m:rPr>
                        <m:sty m:val="p"/>
                      </m:rPr>
                      <a:rPr lang="en-US" sz="2800" b="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2800" b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800" b="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800" b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Roboto Condensed" panose="02000000000000000000" pitchFamily="2" charset="0"/>
                  </a:rPr>
                  <a:t> is</a:t>
                </a:r>
                <a14:m>
                  <m:oMath xmlns:m="http://schemas.openxmlformats.org/officeDocument/2006/math">
                    <m:r>
                      <a:rPr lang="en-US" sz="2800" b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 b="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2800" b="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2800" b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Roboto Condensed" panose="02000000000000000000" pitchFamily="2" charset="0"/>
                  </a:rPr>
                  <a:t>.</a:t>
                </a:r>
                <a:endParaRPr lang="en-US" sz="2800" dirty="0">
                  <a:solidFill>
                    <a:srgbClr val="002060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" y="4196507"/>
                <a:ext cx="11536680" cy="665054"/>
              </a:xfrm>
              <a:prstGeom prst="rect">
                <a:avLst/>
              </a:prstGeom>
              <a:blipFill rotWithShape="0">
                <a:blip r:embed="rId2"/>
                <a:stretch>
                  <a:fillRect l="-475" r="-370" b="-234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6354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just">
              <a:spcBef>
                <a:spcPts val="1000"/>
              </a:spcBef>
              <a:buClr>
                <a:srgbClr val="B84742"/>
              </a:buClr>
            </a:pPr>
            <a:r>
              <a:rPr lang="en-US" dirty="0"/>
              <a:t>Counting Labeled Trees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Content Placeholder 54"/>
              <p:cNvSpPr>
                <a:spLocks noGrp="1"/>
              </p:cNvSpPr>
              <p:nvPr>
                <p:ph idx="1"/>
              </p:nvPr>
            </p:nvSpPr>
            <p:spPr>
              <a:xfrm>
                <a:off x="131180" y="863444"/>
                <a:ext cx="11929641" cy="3927497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dirty="0"/>
                  <a:t>Find number of labeled trees for small values of</a:t>
                </a:r>
                <a14:m>
                  <m:oMath xmlns:m="http://schemas.openxmlformats.org/officeDocument/2006/math">
                    <m:r>
                      <a:rPr lang="en-US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=2,  3, 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4</m:t>
                    </m:r>
                  </m:oMath>
                </a14:m>
                <a:r>
                  <a:rPr lang="en-US" dirty="0"/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dirty="0">
                    <a:solidFill>
                      <a:srgbClr val="002060"/>
                    </a:solidFill>
                  </a:rPr>
                  <a:t>For</a:t>
                </a:r>
                <a14:m>
                  <m:oMath xmlns:m="http://schemas.openxmlformats.org/officeDocument/2006/math">
                    <m:r>
                      <a:rPr lang="en-US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the number of labeled trees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</m:sSup>
                    <m:r>
                      <a:rPr lang="en-US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5" name="Content Placeholder 5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863444"/>
                <a:ext cx="11929641" cy="3927497"/>
              </a:xfrm>
              <a:blipFill rotWithShape="0">
                <a:blip r:embed="rId2"/>
                <a:stretch>
                  <a:fillRect l="-10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2647235" y="3085624"/>
                <a:ext cx="6470811" cy="738664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=2⇒</m:t>
                      </m:r>
                      <m:r>
                        <m:rPr>
                          <m:nor/>
                        </m:rPr>
                        <a:rPr lang="en-US" sz="2800" dirty="0">
                          <a:solidFill>
                            <a:srgbClr val="002060"/>
                          </a:solidFill>
                        </a:rPr>
                        <m:t>number</m:t>
                      </m:r>
                      <m:r>
                        <m:rPr>
                          <m:nor/>
                        </m:rPr>
                        <a:rPr lang="en-US" sz="2800" dirty="0">
                          <a:solidFill>
                            <a:srgbClr val="00206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dirty="0">
                          <a:solidFill>
                            <a:srgbClr val="002060"/>
                          </a:solidFill>
                        </a:rPr>
                        <m:t>of</m:t>
                      </m:r>
                      <m:r>
                        <m:rPr>
                          <m:nor/>
                        </m:rPr>
                        <a:rPr lang="en-US" sz="2800" dirty="0">
                          <a:solidFill>
                            <a:srgbClr val="00206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dirty="0">
                          <a:solidFill>
                            <a:srgbClr val="002060"/>
                          </a:solidFill>
                        </a:rPr>
                        <m:t>labeled</m:t>
                      </m:r>
                      <m:r>
                        <m:rPr>
                          <m:nor/>
                        </m:rPr>
                        <a:rPr lang="en-US" sz="2800" dirty="0">
                          <a:solidFill>
                            <a:srgbClr val="00206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dirty="0">
                          <a:solidFill>
                            <a:srgbClr val="002060"/>
                          </a:solidFill>
                        </a:rPr>
                        <m:t>trees</m:t>
                      </m:r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7235" y="3085624"/>
                <a:ext cx="6470811" cy="73866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6514744" y="4115309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5103449" y="4120072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6" idx="4"/>
            <a:endCxn id="7" idx="0"/>
          </p:cNvCxnSpPr>
          <p:nvPr/>
        </p:nvCxnSpPr>
        <p:spPr>
          <a:xfrm flipH="1">
            <a:off x="5247449" y="4187309"/>
            <a:ext cx="1267295" cy="4763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TextBox 9"/>
          <p:cNvSpPr txBox="1"/>
          <p:nvPr/>
        </p:nvSpPr>
        <p:spPr>
          <a:xfrm>
            <a:off x="4994149" y="4255624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0253" y="4255625"/>
            <a:ext cx="3529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002298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0" grpId="0"/>
      <p:bldP spid="1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just">
              <a:spcBef>
                <a:spcPts val="1000"/>
              </a:spcBef>
              <a:buClr>
                <a:srgbClr val="B84742"/>
              </a:buClr>
            </a:pPr>
            <a:r>
              <a:rPr lang="en-US" dirty="0"/>
              <a:t>Counting Labeled Trees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Content Placeholder 54"/>
              <p:cNvSpPr>
                <a:spLocks noGrp="1"/>
              </p:cNvSpPr>
              <p:nvPr>
                <p:ph idx="1"/>
              </p:nvPr>
            </p:nvSpPr>
            <p:spPr>
              <a:xfrm>
                <a:off x="131180" y="863444"/>
                <a:ext cx="11929641" cy="3927497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dirty="0"/>
                  <a:t>Find number of labeled trees for small values of</a:t>
                </a:r>
                <a14:m>
                  <m:oMath xmlns:m="http://schemas.openxmlformats.org/officeDocument/2006/math">
                    <m:r>
                      <a:rPr lang="en-US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=2,  3, 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4</m:t>
                    </m:r>
                  </m:oMath>
                </a14:m>
                <a:r>
                  <a:rPr lang="en-US" dirty="0"/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dirty="0"/>
                  <a:t>For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sty m:val="p"/>
                      </m:rPr>
                      <a:rPr lang="en-US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dirty="0"/>
                  <a:t> the number of labeled trees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dirty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dirty="0">
                            <a:latin typeface="Cambria Math" panose="02040503050406030204" pitchFamily="18" charset="0"/>
                          </a:rPr>
                          <m:t>3−2</m:t>
                        </m:r>
                      </m:sup>
                    </m:sSup>
                    <m:r>
                      <a:rPr lang="en-US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dirty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5" name="Content Placeholder 5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863444"/>
                <a:ext cx="11929641" cy="3927497"/>
              </a:xfrm>
              <a:blipFill rotWithShape="0">
                <a:blip r:embed="rId2"/>
                <a:stretch>
                  <a:fillRect l="-10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3659747" y="4150912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2248452" y="4155675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2245366" y="5539614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4" idx="4"/>
            <a:endCxn id="5" idx="0"/>
          </p:cNvCxnSpPr>
          <p:nvPr/>
        </p:nvCxnSpPr>
        <p:spPr>
          <a:xfrm flipH="1">
            <a:off x="2392452" y="4222912"/>
            <a:ext cx="1267295" cy="4763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H="1">
            <a:off x="2317366" y="4299675"/>
            <a:ext cx="3086" cy="1239939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TextBox 9"/>
          <p:cNvSpPr txBox="1"/>
          <p:nvPr/>
        </p:nvSpPr>
        <p:spPr>
          <a:xfrm>
            <a:off x="2121289" y="3702458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21289" y="5620382"/>
            <a:ext cx="3921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5256" y="3702457"/>
            <a:ext cx="3529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B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6731190" y="4146149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5319895" y="4150912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5316809" y="5534851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13" idx="4"/>
            <a:endCxn id="14" idx="0"/>
          </p:cNvCxnSpPr>
          <p:nvPr/>
        </p:nvCxnSpPr>
        <p:spPr>
          <a:xfrm flipH="1">
            <a:off x="5463895" y="4218149"/>
            <a:ext cx="1267295" cy="4763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13" idx="5"/>
            <a:endCxn id="15" idx="1"/>
          </p:cNvCxnSpPr>
          <p:nvPr/>
        </p:nvCxnSpPr>
        <p:spPr>
          <a:xfrm flipH="1">
            <a:off x="5439721" y="4269061"/>
            <a:ext cx="1312557" cy="1286878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8" name="TextBox 17"/>
          <p:cNvSpPr txBox="1"/>
          <p:nvPr/>
        </p:nvSpPr>
        <p:spPr>
          <a:xfrm>
            <a:off x="5192732" y="3697695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92732" y="5615619"/>
            <a:ext cx="3921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6699" y="3697694"/>
            <a:ext cx="3529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B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9812251" y="4153293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8400956" y="4158056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8397870" y="5541995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21" idx="5"/>
            <a:endCxn id="23" idx="1"/>
          </p:cNvCxnSpPr>
          <p:nvPr/>
        </p:nvCxnSpPr>
        <p:spPr>
          <a:xfrm flipH="1">
            <a:off x="8520782" y="4276205"/>
            <a:ext cx="1312557" cy="1286878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22" idx="6"/>
            <a:endCxn id="23" idx="2"/>
          </p:cNvCxnSpPr>
          <p:nvPr/>
        </p:nvCxnSpPr>
        <p:spPr>
          <a:xfrm flipH="1">
            <a:off x="8469870" y="4302056"/>
            <a:ext cx="3086" cy="1239939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6" name="TextBox 25"/>
          <p:cNvSpPr txBox="1"/>
          <p:nvPr/>
        </p:nvSpPr>
        <p:spPr>
          <a:xfrm>
            <a:off x="8273793" y="3704839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3793" y="5622763"/>
            <a:ext cx="3921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07760" y="3704838"/>
            <a:ext cx="3529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2860595" y="2679356"/>
                <a:ext cx="6470811" cy="738664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=3⇒</m:t>
                      </m:r>
                      <m:r>
                        <m:rPr>
                          <m:nor/>
                        </m:rPr>
                        <a:rPr lang="en-US" sz="2800" dirty="0">
                          <a:solidFill>
                            <a:srgbClr val="002060"/>
                          </a:solidFill>
                        </a:rPr>
                        <m:t>number</m:t>
                      </m:r>
                      <m:r>
                        <m:rPr>
                          <m:nor/>
                        </m:rPr>
                        <a:rPr lang="en-US" sz="2800" dirty="0">
                          <a:solidFill>
                            <a:srgbClr val="00206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dirty="0">
                          <a:solidFill>
                            <a:srgbClr val="002060"/>
                          </a:solidFill>
                        </a:rPr>
                        <m:t>of</m:t>
                      </m:r>
                      <m:r>
                        <m:rPr>
                          <m:nor/>
                        </m:rPr>
                        <a:rPr lang="en-US" sz="2800" dirty="0">
                          <a:solidFill>
                            <a:srgbClr val="00206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dirty="0">
                          <a:solidFill>
                            <a:srgbClr val="002060"/>
                          </a:solidFill>
                        </a:rPr>
                        <m:t>labeled</m:t>
                      </m:r>
                      <m:r>
                        <m:rPr>
                          <m:nor/>
                        </m:rPr>
                        <a:rPr lang="en-US" sz="2800" dirty="0">
                          <a:solidFill>
                            <a:srgbClr val="00206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dirty="0">
                          <a:solidFill>
                            <a:srgbClr val="002060"/>
                          </a:solidFill>
                        </a:rPr>
                        <m:t>trees</m:t>
                      </m:r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0595" y="2679356"/>
                <a:ext cx="6470811" cy="73866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026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0" grpId="0"/>
      <p:bldP spid="11" grpId="0"/>
      <p:bldP spid="12" grpId="0"/>
      <p:bldP spid="13" grpId="0" animBg="1"/>
      <p:bldP spid="14" grpId="0" animBg="1"/>
      <p:bldP spid="15" grpId="0" animBg="1"/>
      <p:bldP spid="18" grpId="0"/>
      <p:bldP spid="19" grpId="0"/>
      <p:bldP spid="20" grpId="0"/>
      <p:bldP spid="21" grpId="0" animBg="1"/>
      <p:bldP spid="22" grpId="0" animBg="1"/>
      <p:bldP spid="23" grpId="0" animBg="1"/>
      <p:bldP spid="26" grpId="0"/>
      <p:bldP spid="27" grpId="0"/>
      <p:bldP spid="28" grpId="0"/>
      <p:bldP spid="29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just">
              <a:spcBef>
                <a:spcPts val="1000"/>
              </a:spcBef>
              <a:buClr>
                <a:srgbClr val="B84742"/>
              </a:buClr>
            </a:pPr>
            <a:r>
              <a:rPr lang="en-US" dirty="0"/>
              <a:t>Counting Labeled Trees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Content Placeholder 54"/>
              <p:cNvSpPr>
                <a:spLocks noGrp="1"/>
              </p:cNvSpPr>
              <p:nvPr>
                <p:ph idx="1"/>
              </p:nvPr>
            </p:nvSpPr>
            <p:spPr>
              <a:xfrm>
                <a:off x="131180" y="863444"/>
                <a:ext cx="11929641" cy="3927497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dirty="0"/>
                  <a:t>Find number of labeled trees for small values of</a:t>
                </a:r>
                <a14:m>
                  <m:oMath xmlns:m="http://schemas.openxmlformats.org/officeDocument/2006/math">
                    <m:r>
                      <a:rPr lang="en-US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=2,  3, 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4</m:t>
                    </m:r>
                  </m:oMath>
                </a14:m>
                <a:r>
                  <a:rPr lang="en-US" dirty="0"/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dirty="0"/>
                  <a:t>For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sty m:val="p"/>
                      </m:rPr>
                      <a:rPr lang="en-US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 dirty="0"/>
                  <a:t> the number of labeled trees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dirty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US" dirty="0">
                            <a:latin typeface="Cambria Math" panose="02040503050406030204" pitchFamily="18" charset="0"/>
                          </a:rPr>
                          <m:t>4−2</m:t>
                        </m:r>
                      </m:sup>
                    </m:sSup>
                    <m:r>
                      <a:rPr lang="en-US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dirty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US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5" name="Content Placeholder 5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863444"/>
                <a:ext cx="11929641" cy="3927497"/>
              </a:xfrm>
              <a:blipFill rotWithShape="0">
                <a:blip r:embed="rId2"/>
                <a:stretch>
                  <a:fillRect l="-10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8638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Title 1">
                <a:extLst>
                  <a:ext uri="{FF2B5EF4-FFF2-40B4-BE49-F238E27FC236}">
                    <a16:creationId xmlns:a16="http://schemas.microsoft.com/office/drawing/2014/main" id="{D5CD07E8-CBAA-45BA-85CF-1233D4AA86C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0"/>
                <a:ext cx="12192000" cy="711200"/>
              </a:xfrm>
              <a:prstGeom prst="rect">
                <a:avLst/>
              </a:prstGeom>
              <a:solidFill>
                <a:srgbClr val="C0C0C0">
                  <a:alpha val="50000"/>
                </a:srgbClr>
              </a:solidFill>
              <a:ln>
                <a:noFill/>
              </a:ln>
            </p:spPr>
            <p:txBody>
              <a:bodyPr lIns="216000" tIns="108000" rIns="216000" bIns="108000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lang="en-US" sz="3400" b="1" kern="120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effectLst/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spcBef>
                    <a:spcPts val="1000"/>
                  </a:spcBef>
                  <a:buClr>
                    <a:srgbClr val="B8474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3600"/>
                        <m:t>Counting</m:t>
                      </m:r>
                      <m:r>
                        <m:rPr>
                          <m:nor/>
                        </m:rPr>
                        <a:rPr lang="en-US" sz="3600"/>
                        <m:t> </m:t>
                      </m:r>
                      <m:r>
                        <m:rPr>
                          <m:nor/>
                        </m:rPr>
                        <a:rPr lang="en-US" sz="3600"/>
                        <m:t>Labeled</m:t>
                      </m:r>
                      <m:r>
                        <m:rPr>
                          <m:nor/>
                        </m:rPr>
                        <a:rPr lang="en-US" sz="3600"/>
                        <m:t> </m:t>
                      </m:r>
                      <m:r>
                        <m:rPr>
                          <m:nor/>
                        </m:rPr>
                        <a:rPr lang="en-US" sz="3600"/>
                        <m:t>Trees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" name="Title 1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D5CD07E8-CBAA-45BA-85CF-1233D4AA86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71120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8" name="Oval 137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4015506" y="1956365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2604211" y="1961128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140" name="Oval 139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2601125" y="3345067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138" idx="4"/>
            <a:endCxn id="139" idx="0"/>
          </p:cNvCxnSpPr>
          <p:nvPr/>
        </p:nvCxnSpPr>
        <p:spPr>
          <a:xfrm flipH="1">
            <a:off x="2748211" y="2028365"/>
            <a:ext cx="1267295" cy="4763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162" idx="4"/>
            <a:endCxn id="140" idx="0"/>
          </p:cNvCxnSpPr>
          <p:nvPr/>
        </p:nvCxnSpPr>
        <p:spPr>
          <a:xfrm flipH="1" flipV="1">
            <a:off x="2745125" y="3417067"/>
            <a:ext cx="1268736" cy="8447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3" name="TextBox 142"/>
          <p:cNvSpPr txBox="1"/>
          <p:nvPr/>
        </p:nvSpPr>
        <p:spPr>
          <a:xfrm>
            <a:off x="2477048" y="1507911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A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2492235" y="3467979"/>
            <a:ext cx="3921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C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911015" y="1507910"/>
            <a:ext cx="3529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B</a:t>
            </a:r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5906946" y="1984597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147" name="Oval 146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4495651" y="1989360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4492565" y="3373299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146" idx="4"/>
            <a:endCxn id="147" idx="0"/>
          </p:cNvCxnSpPr>
          <p:nvPr/>
        </p:nvCxnSpPr>
        <p:spPr>
          <a:xfrm flipH="1">
            <a:off x="4639651" y="2056597"/>
            <a:ext cx="1267295" cy="4763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146" idx="5"/>
            <a:endCxn id="148" idx="1"/>
          </p:cNvCxnSpPr>
          <p:nvPr/>
        </p:nvCxnSpPr>
        <p:spPr>
          <a:xfrm flipH="1">
            <a:off x="4615477" y="2107509"/>
            <a:ext cx="1312557" cy="1286878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1" name="TextBox 150"/>
          <p:cNvSpPr txBox="1"/>
          <p:nvPr/>
        </p:nvSpPr>
        <p:spPr>
          <a:xfrm>
            <a:off x="4368488" y="1536143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A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382497" y="3493830"/>
            <a:ext cx="3921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C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802455" y="1536142"/>
            <a:ext cx="3529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B</a:t>
            </a:r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9692560" y="1984597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8281265" y="1989360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8278179" y="3373299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154" idx="5"/>
            <a:endCxn id="156" idx="1"/>
          </p:cNvCxnSpPr>
          <p:nvPr/>
        </p:nvCxnSpPr>
        <p:spPr>
          <a:xfrm flipH="1">
            <a:off x="8401091" y="2107509"/>
            <a:ext cx="1312557" cy="1286878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155" idx="6"/>
            <a:endCxn id="156" idx="2"/>
          </p:cNvCxnSpPr>
          <p:nvPr/>
        </p:nvCxnSpPr>
        <p:spPr>
          <a:xfrm flipH="1">
            <a:off x="8350179" y="2133360"/>
            <a:ext cx="3086" cy="1239939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9" name="TextBox 158"/>
          <p:cNvSpPr txBox="1"/>
          <p:nvPr/>
        </p:nvSpPr>
        <p:spPr>
          <a:xfrm>
            <a:off x="8154102" y="1536143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A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154102" y="3454067"/>
            <a:ext cx="3921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C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9588069" y="1536142"/>
            <a:ext cx="3529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B</a:t>
            </a:r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4013861" y="3353514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3959794" y="3479874"/>
            <a:ext cx="360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D</a:t>
            </a:r>
          </a:p>
        </p:txBody>
      </p:sp>
      <p:sp>
        <p:nvSpPr>
          <p:cNvPr id="164" name="Oval 163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5897011" y="3379365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165" name="TextBox 164"/>
          <p:cNvSpPr txBox="1"/>
          <p:nvPr/>
        </p:nvSpPr>
        <p:spPr>
          <a:xfrm>
            <a:off x="5797377" y="3483560"/>
            <a:ext cx="360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D</a:t>
            </a:r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9709961" y="3375007"/>
            <a:ext cx="144000" cy="1373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9602940" y="3448417"/>
            <a:ext cx="344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D</a:t>
            </a:r>
          </a:p>
        </p:txBody>
      </p: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162" idx="3"/>
            <a:endCxn id="139" idx="7"/>
          </p:cNvCxnSpPr>
          <p:nvPr/>
        </p:nvCxnSpPr>
        <p:spPr>
          <a:xfrm flipH="1" flipV="1">
            <a:off x="2727123" y="2084040"/>
            <a:ext cx="1307826" cy="1290562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148" idx="0"/>
            <a:endCxn id="164" idx="4"/>
          </p:cNvCxnSpPr>
          <p:nvPr/>
        </p:nvCxnSpPr>
        <p:spPr>
          <a:xfrm>
            <a:off x="4636565" y="3445299"/>
            <a:ext cx="1260446" cy="6066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166" idx="2"/>
            <a:endCxn id="154" idx="6"/>
          </p:cNvCxnSpPr>
          <p:nvPr/>
        </p:nvCxnSpPr>
        <p:spPr>
          <a:xfrm flipH="1" flipV="1">
            <a:off x="9764560" y="2128597"/>
            <a:ext cx="17401" cy="1243086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1" name="Oval 170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7801120" y="1984597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172" name="Oval 171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6389825" y="1989360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173" name="Oval 172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6386739" y="3373299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171" idx="6"/>
            <a:endCxn id="178" idx="2"/>
          </p:cNvCxnSpPr>
          <p:nvPr/>
        </p:nvCxnSpPr>
        <p:spPr>
          <a:xfrm>
            <a:off x="7873120" y="2128597"/>
            <a:ext cx="11184" cy="1245467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5" name="TextBox 174"/>
          <p:cNvSpPr txBox="1"/>
          <p:nvPr/>
        </p:nvSpPr>
        <p:spPr>
          <a:xfrm>
            <a:off x="6262662" y="1536143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A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6262662" y="3454067"/>
            <a:ext cx="3921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C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7696629" y="1536142"/>
            <a:ext cx="3529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B</a:t>
            </a:r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7812304" y="3377388"/>
            <a:ext cx="144000" cy="1373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179" name="TextBox 178"/>
          <p:cNvSpPr txBox="1"/>
          <p:nvPr/>
        </p:nvSpPr>
        <p:spPr>
          <a:xfrm>
            <a:off x="7705283" y="3450798"/>
            <a:ext cx="344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D</a:t>
            </a:r>
          </a:p>
        </p:txBody>
      </p: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172" idx="6"/>
            <a:endCxn id="173" idx="2"/>
          </p:cNvCxnSpPr>
          <p:nvPr/>
        </p:nvCxnSpPr>
        <p:spPr>
          <a:xfrm flipH="1">
            <a:off x="6458739" y="2133360"/>
            <a:ext cx="3086" cy="1239939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178" idx="3"/>
            <a:endCxn id="172" idx="7"/>
          </p:cNvCxnSpPr>
          <p:nvPr/>
        </p:nvCxnSpPr>
        <p:spPr>
          <a:xfrm flipH="1" flipV="1">
            <a:off x="6512737" y="2112272"/>
            <a:ext cx="1323007" cy="1282880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82" name="Oval 181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3638539" y="4481526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2227244" y="4486289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2224158" y="5870228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182" idx="4"/>
            <a:endCxn id="183" idx="0"/>
          </p:cNvCxnSpPr>
          <p:nvPr/>
        </p:nvCxnSpPr>
        <p:spPr>
          <a:xfrm flipH="1">
            <a:off x="2371244" y="4553526"/>
            <a:ext cx="1267295" cy="4763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183" idx="6"/>
            <a:endCxn id="184" idx="2"/>
          </p:cNvCxnSpPr>
          <p:nvPr/>
        </p:nvCxnSpPr>
        <p:spPr>
          <a:xfrm flipH="1">
            <a:off x="2296158" y="4630289"/>
            <a:ext cx="3086" cy="1239939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87" name="TextBox 186"/>
          <p:cNvSpPr txBox="1"/>
          <p:nvPr/>
        </p:nvSpPr>
        <p:spPr>
          <a:xfrm>
            <a:off x="2100081" y="4033072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A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2100081" y="5950996"/>
            <a:ext cx="3921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C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3534048" y="4033071"/>
            <a:ext cx="3529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B</a:t>
            </a:r>
          </a:p>
        </p:txBody>
      </p:sp>
      <p:sp>
        <p:nvSpPr>
          <p:cNvPr id="190" name="Oval 189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5529979" y="4483907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191" name="Oval 190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4118684" y="4488670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4115598" y="5872609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190" idx="4"/>
            <a:endCxn id="191" idx="0"/>
          </p:cNvCxnSpPr>
          <p:nvPr/>
        </p:nvCxnSpPr>
        <p:spPr>
          <a:xfrm flipH="1">
            <a:off x="4262684" y="4555907"/>
            <a:ext cx="1267295" cy="4763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190" idx="5"/>
            <a:endCxn id="192" idx="1"/>
          </p:cNvCxnSpPr>
          <p:nvPr/>
        </p:nvCxnSpPr>
        <p:spPr>
          <a:xfrm flipH="1">
            <a:off x="4238510" y="4606819"/>
            <a:ext cx="1312557" cy="1286878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95" name="TextBox 194"/>
          <p:cNvSpPr txBox="1"/>
          <p:nvPr/>
        </p:nvSpPr>
        <p:spPr>
          <a:xfrm>
            <a:off x="3991521" y="4035453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A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3991521" y="5953377"/>
            <a:ext cx="3921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C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5425488" y="4035452"/>
            <a:ext cx="3529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B</a:t>
            </a:r>
          </a:p>
        </p:txBody>
      </p:sp>
      <p:sp>
        <p:nvSpPr>
          <p:cNvPr id="198" name="Oval 197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9610297" y="4430614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8199002" y="4435377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00" name="Oval 199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8195916" y="5819316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198" idx="5"/>
            <a:endCxn id="200" idx="1"/>
          </p:cNvCxnSpPr>
          <p:nvPr/>
        </p:nvCxnSpPr>
        <p:spPr>
          <a:xfrm flipH="1">
            <a:off x="8318828" y="4553526"/>
            <a:ext cx="1312557" cy="1286878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199" idx="6"/>
            <a:endCxn id="200" idx="2"/>
          </p:cNvCxnSpPr>
          <p:nvPr/>
        </p:nvCxnSpPr>
        <p:spPr>
          <a:xfrm flipH="1">
            <a:off x="8267916" y="4579377"/>
            <a:ext cx="3086" cy="1239939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3" name="TextBox 202"/>
          <p:cNvSpPr txBox="1"/>
          <p:nvPr/>
        </p:nvSpPr>
        <p:spPr>
          <a:xfrm>
            <a:off x="8071839" y="3982160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A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8071839" y="5900084"/>
            <a:ext cx="3921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C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9505806" y="3982159"/>
            <a:ext cx="3529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B</a:t>
            </a:r>
          </a:p>
        </p:txBody>
      </p:sp>
      <p:sp>
        <p:nvSpPr>
          <p:cNvPr id="206" name="Oval 205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3636894" y="5878675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07" name="TextBox 206"/>
          <p:cNvSpPr txBox="1"/>
          <p:nvPr/>
        </p:nvSpPr>
        <p:spPr>
          <a:xfrm>
            <a:off x="3532403" y="5950996"/>
            <a:ext cx="360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D</a:t>
            </a:r>
          </a:p>
        </p:txBody>
      </p:sp>
      <p:sp>
        <p:nvSpPr>
          <p:cNvPr id="208" name="Oval 207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5520044" y="5878675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09" name="TextBox 208"/>
          <p:cNvSpPr txBox="1"/>
          <p:nvPr/>
        </p:nvSpPr>
        <p:spPr>
          <a:xfrm>
            <a:off x="5415553" y="5950996"/>
            <a:ext cx="360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D</a:t>
            </a:r>
          </a:p>
        </p:txBody>
      </p:sp>
      <p:sp>
        <p:nvSpPr>
          <p:cNvPr id="210" name="Oval 209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9627698" y="5821024"/>
            <a:ext cx="144000" cy="1373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11" name="TextBox 210"/>
          <p:cNvSpPr txBox="1"/>
          <p:nvPr/>
        </p:nvSpPr>
        <p:spPr>
          <a:xfrm>
            <a:off x="9520677" y="5894434"/>
            <a:ext cx="344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D</a:t>
            </a:r>
          </a:p>
        </p:txBody>
      </p: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206" idx="3"/>
            <a:endCxn id="183" idx="7"/>
          </p:cNvCxnSpPr>
          <p:nvPr/>
        </p:nvCxnSpPr>
        <p:spPr>
          <a:xfrm flipH="1" flipV="1">
            <a:off x="2350156" y="4609201"/>
            <a:ext cx="1307826" cy="1290562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190" idx="6"/>
            <a:endCxn id="208" idx="2"/>
          </p:cNvCxnSpPr>
          <p:nvPr/>
        </p:nvCxnSpPr>
        <p:spPr>
          <a:xfrm flipH="1">
            <a:off x="5592044" y="4627907"/>
            <a:ext cx="9935" cy="1250768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210" idx="4"/>
            <a:endCxn id="200" idx="0"/>
          </p:cNvCxnSpPr>
          <p:nvPr/>
        </p:nvCxnSpPr>
        <p:spPr>
          <a:xfrm flipH="1">
            <a:off x="8339916" y="5889700"/>
            <a:ext cx="1291107" cy="1616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15" name="Oval 214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7538358" y="4481526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16" name="Oval 215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6127063" y="4486289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17" name="Oval 216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6123977" y="5870228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215" idx="6"/>
            <a:endCxn id="222" idx="2"/>
          </p:cNvCxnSpPr>
          <p:nvPr/>
        </p:nvCxnSpPr>
        <p:spPr>
          <a:xfrm>
            <a:off x="7610358" y="4625526"/>
            <a:ext cx="11184" cy="1245467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19" name="TextBox 218"/>
          <p:cNvSpPr txBox="1"/>
          <p:nvPr/>
        </p:nvSpPr>
        <p:spPr>
          <a:xfrm>
            <a:off x="5999900" y="4033072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A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5999900" y="5950996"/>
            <a:ext cx="3921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C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7433867" y="4033071"/>
            <a:ext cx="3529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B</a:t>
            </a:r>
          </a:p>
        </p:txBody>
      </p:sp>
      <p:sp>
        <p:nvSpPr>
          <p:cNvPr id="222" name="Oval 221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7549542" y="5874317"/>
            <a:ext cx="144000" cy="1373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23" name="TextBox 222"/>
          <p:cNvSpPr txBox="1"/>
          <p:nvPr/>
        </p:nvSpPr>
        <p:spPr>
          <a:xfrm>
            <a:off x="7442521" y="5947727"/>
            <a:ext cx="344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D</a:t>
            </a:r>
          </a:p>
        </p:txBody>
      </p: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222" idx="4"/>
            <a:endCxn id="217" idx="0"/>
          </p:cNvCxnSpPr>
          <p:nvPr/>
        </p:nvCxnSpPr>
        <p:spPr>
          <a:xfrm flipH="1" flipV="1">
            <a:off x="6267977" y="5942228"/>
            <a:ext cx="1284890" cy="765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222" idx="3"/>
            <a:endCxn id="216" idx="7"/>
          </p:cNvCxnSpPr>
          <p:nvPr/>
        </p:nvCxnSpPr>
        <p:spPr>
          <a:xfrm flipH="1" flipV="1">
            <a:off x="6249975" y="4609201"/>
            <a:ext cx="1323007" cy="1282880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Rectangle 225"/>
              <p:cNvSpPr/>
              <p:nvPr/>
            </p:nvSpPr>
            <p:spPr>
              <a:xfrm>
                <a:off x="2860595" y="824630"/>
                <a:ext cx="6470811" cy="738664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=4⇒</m:t>
                      </m:r>
                      <m:r>
                        <m:rPr>
                          <m:nor/>
                        </m:rPr>
                        <a:rPr lang="en-US" sz="2800" dirty="0">
                          <a:solidFill>
                            <a:srgbClr val="002060"/>
                          </a:solidFill>
                        </a:rPr>
                        <m:t>number</m:t>
                      </m:r>
                      <m:r>
                        <m:rPr>
                          <m:nor/>
                        </m:rPr>
                        <a:rPr lang="en-US" sz="2800" dirty="0">
                          <a:solidFill>
                            <a:srgbClr val="00206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dirty="0">
                          <a:solidFill>
                            <a:srgbClr val="002060"/>
                          </a:solidFill>
                        </a:rPr>
                        <m:t>of</m:t>
                      </m:r>
                      <m:r>
                        <m:rPr>
                          <m:nor/>
                        </m:rPr>
                        <a:rPr lang="en-US" sz="2800" dirty="0">
                          <a:solidFill>
                            <a:srgbClr val="00206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dirty="0">
                          <a:solidFill>
                            <a:srgbClr val="002060"/>
                          </a:solidFill>
                        </a:rPr>
                        <m:t>labeled</m:t>
                      </m:r>
                      <m:r>
                        <m:rPr>
                          <m:nor/>
                        </m:rPr>
                        <a:rPr lang="en-US" sz="2800" dirty="0">
                          <a:solidFill>
                            <a:srgbClr val="00206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dirty="0">
                          <a:solidFill>
                            <a:srgbClr val="002060"/>
                          </a:solidFill>
                        </a:rPr>
                        <m:t>trees</m:t>
                      </m:r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16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26" name="Rectangle 2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0595" y="824630"/>
                <a:ext cx="6470811" cy="73866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841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" grpId="0" animBg="1"/>
      <p:bldP spid="139" grpId="0" animBg="1"/>
      <p:bldP spid="140" grpId="0" animBg="1"/>
      <p:bldP spid="143" grpId="0"/>
      <p:bldP spid="144" grpId="0"/>
      <p:bldP spid="145" grpId="0"/>
      <p:bldP spid="146" grpId="0" animBg="1"/>
      <p:bldP spid="147" grpId="0" animBg="1"/>
      <p:bldP spid="148" grpId="0" animBg="1"/>
      <p:bldP spid="151" grpId="0"/>
      <p:bldP spid="152" grpId="0"/>
      <p:bldP spid="153" grpId="0"/>
      <p:bldP spid="154" grpId="0" animBg="1"/>
      <p:bldP spid="155" grpId="0" animBg="1"/>
      <p:bldP spid="156" grpId="0" animBg="1"/>
      <p:bldP spid="159" grpId="0"/>
      <p:bldP spid="160" grpId="0"/>
      <p:bldP spid="161" grpId="0"/>
      <p:bldP spid="162" grpId="0" animBg="1"/>
      <p:bldP spid="163" grpId="0"/>
      <p:bldP spid="164" grpId="0" animBg="1"/>
      <p:bldP spid="165" grpId="0"/>
      <p:bldP spid="166" grpId="0" animBg="1"/>
      <p:bldP spid="167" grpId="0"/>
      <p:bldP spid="171" grpId="0" animBg="1"/>
      <p:bldP spid="172" grpId="0" animBg="1"/>
      <p:bldP spid="173" grpId="0" animBg="1"/>
      <p:bldP spid="175" grpId="0"/>
      <p:bldP spid="176" grpId="0"/>
      <p:bldP spid="177" grpId="0"/>
      <p:bldP spid="178" grpId="0" animBg="1"/>
      <p:bldP spid="179" grpId="0"/>
      <p:bldP spid="182" grpId="0" animBg="1"/>
      <p:bldP spid="183" grpId="0" animBg="1"/>
      <p:bldP spid="184" grpId="0" animBg="1"/>
      <p:bldP spid="187" grpId="0"/>
      <p:bldP spid="188" grpId="0"/>
      <p:bldP spid="189" grpId="0"/>
      <p:bldP spid="190" grpId="0" animBg="1"/>
      <p:bldP spid="191" grpId="0" animBg="1"/>
      <p:bldP spid="192" grpId="0" animBg="1"/>
      <p:bldP spid="195" grpId="0"/>
      <p:bldP spid="196" grpId="0"/>
      <p:bldP spid="197" grpId="0"/>
      <p:bldP spid="198" grpId="0" animBg="1"/>
      <p:bldP spid="199" grpId="0" animBg="1"/>
      <p:bldP spid="200" grpId="0" animBg="1"/>
      <p:bldP spid="203" grpId="0"/>
      <p:bldP spid="204" grpId="0"/>
      <p:bldP spid="205" grpId="0"/>
      <p:bldP spid="206" grpId="0" animBg="1"/>
      <p:bldP spid="207" grpId="0"/>
      <p:bldP spid="208" grpId="0" animBg="1"/>
      <p:bldP spid="209" grpId="0"/>
      <p:bldP spid="210" grpId="0" animBg="1"/>
      <p:bldP spid="211" grpId="0"/>
      <p:bldP spid="215" grpId="0" animBg="1"/>
      <p:bldP spid="216" grpId="0" animBg="1"/>
      <p:bldP spid="217" grpId="0" animBg="1"/>
      <p:bldP spid="219" grpId="0"/>
      <p:bldP spid="220" grpId="0"/>
      <p:bldP spid="221" grpId="0"/>
      <p:bldP spid="222" grpId="0" animBg="1"/>
      <p:bldP spid="223" grpId="0"/>
      <p:bldP spid="226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Title 1">
                <a:extLst>
                  <a:ext uri="{FF2B5EF4-FFF2-40B4-BE49-F238E27FC236}">
                    <a16:creationId xmlns:a16="http://schemas.microsoft.com/office/drawing/2014/main" id="{D5CD07E8-CBAA-45BA-85CF-1233D4AA86C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0"/>
                <a:ext cx="12192000" cy="711200"/>
              </a:xfrm>
              <a:prstGeom prst="rect">
                <a:avLst/>
              </a:prstGeom>
              <a:solidFill>
                <a:srgbClr val="C0C0C0">
                  <a:alpha val="50000"/>
                </a:srgbClr>
              </a:solidFill>
              <a:ln>
                <a:noFill/>
              </a:ln>
            </p:spPr>
            <p:txBody>
              <a:bodyPr lIns="216000" tIns="108000" rIns="216000" bIns="108000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lang="en-US" sz="3400" b="1" kern="120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effectLst/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spcBef>
                    <a:spcPts val="1000"/>
                  </a:spcBef>
                  <a:buClr>
                    <a:srgbClr val="B8474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3600"/>
                        <m:t>Counting</m:t>
                      </m:r>
                      <m:r>
                        <m:rPr>
                          <m:nor/>
                        </m:rPr>
                        <a:rPr lang="en-US" sz="3600"/>
                        <m:t> </m:t>
                      </m:r>
                      <m:r>
                        <m:rPr>
                          <m:nor/>
                        </m:rPr>
                        <a:rPr lang="en-US" sz="3600"/>
                        <m:t>Labeled</m:t>
                      </m:r>
                      <m:r>
                        <m:rPr>
                          <m:nor/>
                        </m:rPr>
                        <a:rPr lang="en-US" sz="3600"/>
                        <m:t> </m:t>
                      </m:r>
                      <m:r>
                        <m:rPr>
                          <m:nor/>
                        </m:rPr>
                        <a:rPr lang="en-US" sz="3600"/>
                        <m:t>Trees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" name="Title 1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D5CD07E8-CBAA-45BA-85CF-1233D4AA86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71120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4" name="Oval 313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4093637" y="1982858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315" name="Oval 314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2682342" y="1987621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316" name="Oval 315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2679256" y="3371560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317" name="Straight Connector 316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314" idx="4"/>
            <a:endCxn id="315" idx="0"/>
          </p:cNvCxnSpPr>
          <p:nvPr/>
        </p:nvCxnSpPr>
        <p:spPr>
          <a:xfrm flipH="1">
            <a:off x="2826342" y="2054858"/>
            <a:ext cx="1267295" cy="4763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18" name="Straight Connector 317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338" idx="4"/>
            <a:endCxn id="316" idx="0"/>
          </p:cNvCxnSpPr>
          <p:nvPr/>
        </p:nvCxnSpPr>
        <p:spPr>
          <a:xfrm flipH="1" flipV="1">
            <a:off x="2823256" y="3443560"/>
            <a:ext cx="1268736" cy="8447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19" name="TextBox 318"/>
          <p:cNvSpPr txBox="1"/>
          <p:nvPr/>
        </p:nvSpPr>
        <p:spPr>
          <a:xfrm>
            <a:off x="2555179" y="1534404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A</a:t>
            </a:r>
          </a:p>
        </p:txBody>
      </p:sp>
      <p:sp>
        <p:nvSpPr>
          <p:cNvPr id="320" name="TextBox 319"/>
          <p:cNvSpPr txBox="1"/>
          <p:nvPr/>
        </p:nvSpPr>
        <p:spPr>
          <a:xfrm>
            <a:off x="2570366" y="3494472"/>
            <a:ext cx="3921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C</a:t>
            </a:r>
          </a:p>
        </p:txBody>
      </p:sp>
      <p:sp>
        <p:nvSpPr>
          <p:cNvPr id="321" name="TextBox 320"/>
          <p:cNvSpPr txBox="1"/>
          <p:nvPr/>
        </p:nvSpPr>
        <p:spPr>
          <a:xfrm>
            <a:off x="3989146" y="1534403"/>
            <a:ext cx="3529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B</a:t>
            </a:r>
          </a:p>
        </p:txBody>
      </p:sp>
      <p:sp>
        <p:nvSpPr>
          <p:cNvPr id="322" name="Oval 321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5985077" y="2011090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323" name="Oval 322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4573782" y="2015853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324" name="Oval 323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4570696" y="3399792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322" idx="4"/>
            <a:endCxn id="323" idx="0"/>
          </p:cNvCxnSpPr>
          <p:nvPr/>
        </p:nvCxnSpPr>
        <p:spPr>
          <a:xfrm flipH="1">
            <a:off x="4717782" y="2083090"/>
            <a:ext cx="1267295" cy="4763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26" name="Straight Connector 325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322" idx="6"/>
            <a:endCxn id="340" idx="2"/>
          </p:cNvCxnSpPr>
          <p:nvPr/>
        </p:nvCxnSpPr>
        <p:spPr>
          <a:xfrm flipH="1">
            <a:off x="6047142" y="2155090"/>
            <a:ext cx="9935" cy="1250768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27" name="TextBox 326"/>
          <p:cNvSpPr txBox="1"/>
          <p:nvPr/>
        </p:nvSpPr>
        <p:spPr>
          <a:xfrm>
            <a:off x="4446619" y="1562636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A</a:t>
            </a:r>
          </a:p>
        </p:txBody>
      </p:sp>
      <p:sp>
        <p:nvSpPr>
          <p:cNvPr id="328" name="TextBox 327"/>
          <p:cNvSpPr txBox="1"/>
          <p:nvPr/>
        </p:nvSpPr>
        <p:spPr>
          <a:xfrm>
            <a:off x="4460628" y="3520323"/>
            <a:ext cx="3921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C</a:t>
            </a:r>
          </a:p>
        </p:txBody>
      </p:sp>
      <p:sp>
        <p:nvSpPr>
          <p:cNvPr id="329" name="TextBox 328"/>
          <p:cNvSpPr txBox="1"/>
          <p:nvPr/>
        </p:nvSpPr>
        <p:spPr>
          <a:xfrm>
            <a:off x="5880586" y="1562635"/>
            <a:ext cx="3529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B</a:t>
            </a:r>
          </a:p>
        </p:txBody>
      </p:sp>
      <p:sp>
        <p:nvSpPr>
          <p:cNvPr id="330" name="Oval 329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9770691" y="2011090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331" name="Oval 330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8359396" y="2015853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332" name="Oval 331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8356310" y="3399792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333" name="Straight Connector 332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330" idx="4"/>
            <a:endCxn id="331" idx="0"/>
          </p:cNvCxnSpPr>
          <p:nvPr/>
        </p:nvCxnSpPr>
        <p:spPr>
          <a:xfrm flipH="1">
            <a:off x="8503396" y="2083090"/>
            <a:ext cx="1267295" cy="4763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34" name="Straight Connector 333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331" idx="6"/>
            <a:endCxn id="332" idx="2"/>
          </p:cNvCxnSpPr>
          <p:nvPr/>
        </p:nvCxnSpPr>
        <p:spPr>
          <a:xfrm flipH="1">
            <a:off x="8428310" y="2159853"/>
            <a:ext cx="3086" cy="1239939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5" name="TextBox 334"/>
          <p:cNvSpPr txBox="1"/>
          <p:nvPr/>
        </p:nvSpPr>
        <p:spPr>
          <a:xfrm>
            <a:off x="8232233" y="1562636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A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8232233" y="3480560"/>
            <a:ext cx="3921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C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9666200" y="1562635"/>
            <a:ext cx="3529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B</a:t>
            </a:r>
          </a:p>
        </p:txBody>
      </p:sp>
      <p:sp>
        <p:nvSpPr>
          <p:cNvPr id="338" name="Oval 337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4091992" y="3380007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339" name="TextBox 338"/>
          <p:cNvSpPr txBox="1"/>
          <p:nvPr/>
        </p:nvSpPr>
        <p:spPr>
          <a:xfrm>
            <a:off x="4037925" y="3506367"/>
            <a:ext cx="360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D</a:t>
            </a:r>
          </a:p>
        </p:txBody>
      </p:sp>
      <p:sp>
        <p:nvSpPr>
          <p:cNvPr id="340" name="Oval 339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5975142" y="3405858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341" name="TextBox 340"/>
          <p:cNvSpPr txBox="1"/>
          <p:nvPr/>
        </p:nvSpPr>
        <p:spPr>
          <a:xfrm>
            <a:off x="5875508" y="3510053"/>
            <a:ext cx="360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D</a:t>
            </a:r>
          </a:p>
        </p:txBody>
      </p:sp>
      <p:sp>
        <p:nvSpPr>
          <p:cNvPr id="342" name="Oval 341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9788092" y="3401500"/>
            <a:ext cx="144000" cy="1373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343" name="TextBox 342"/>
          <p:cNvSpPr txBox="1"/>
          <p:nvPr/>
        </p:nvSpPr>
        <p:spPr>
          <a:xfrm>
            <a:off x="9681071" y="3474910"/>
            <a:ext cx="344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D</a:t>
            </a:r>
          </a:p>
        </p:txBody>
      </p:sp>
      <p:cxnSp>
        <p:nvCxnSpPr>
          <p:cNvPr id="344" name="Straight Connector 343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316" idx="2"/>
            <a:endCxn id="315" idx="6"/>
          </p:cNvCxnSpPr>
          <p:nvPr/>
        </p:nvCxnSpPr>
        <p:spPr>
          <a:xfrm flipV="1">
            <a:off x="2751256" y="2131621"/>
            <a:ext cx="3086" cy="1239939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5" name="Straight Connector 344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324" idx="0"/>
            <a:endCxn id="340" idx="4"/>
          </p:cNvCxnSpPr>
          <p:nvPr/>
        </p:nvCxnSpPr>
        <p:spPr>
          <a:xfrm>
            <a:off x="4714696" y="3471792"/>
            <a:ext cx="1260446" cy="6066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6" name="Straight Connector 345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342" idx="2"/>
            <a:endCxn id="330" idx="6"/>
          </p:cNvCxnSpPr>
          <p:nvPr/>
        </p:nvCxnSpPr>
        <p:spPr>
          <a:xfrm flipH="1" flipV="1">
            <a:off x="9842691" y="2155090"/>
            <a:ext cx="17401" cy="1243086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47" name="Oval 346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7879251" y="2011090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348" name="Oval 347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6467956" y="2015853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349" name="Oval 348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6464870" y="3399792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350" name="Straight Connector 349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347" idx="6"/>
            <a:endCxn id="354" idx="2"/>
          </p:cNvCxnSpPr>
          <p:nvPr/>
        </p:nvCxnSpPr>
        <p:spPr>
          <a:xfrm>
            <a:off x="7951251" y="2155090"/>
            <a:ext cx="11184" cy="1245467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51" name="TextBox 350"/>
          <p:cNvSpPr txBox="1"/>
          <p:nvPr/>
        </p:nvSpPr>
        <p:spPr>
          <a:xfrm>
            <a:off x="6340793" y="1562636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A</a:t>
            </a:r>
          </a:p>
        </p:txBody>
      </p:sp>
      <p:sp>
        <p:nvSpPr>
          <p:cNvPr id="352" name="TextBox 351"/>
          <p:cNvSpPr txBox="1"/>
          <p:nvPr/>
        </p:nvSpPr>
        <p:spPr>
          <a:xfrm>
            <a:off x="6340793" y="3480560"/>
            <a:ext cx="3921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C</a:t>
            </a:r>
          </a:p>
        </p:txBody>
      </p:sp>
      <p:sp>
        <p:nvSpPr>
          <p:cNvPr id="353" name="TextBox 352"/>
          <p:cNvSpPr txBox="1"/>
          <p:nvPr/>
        </p:nvSpPr>
        <p:spPr>
          <a:xfrm>
            <a:off x="7774760" y="1562635"/>
            <a:ext cx="3529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B</a:t>
            </a:r>
          </a:p>
        </p:txBody>
      </p:sp>
      <p:sp>
        <p:nvSpPr>
          <p:cNvPr id="354" name="Oval 353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7890435" y="3403881"/>
            <a:ext cx="144000" cy="1373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355" name="TextBox 354"/>
          <p:cNvSpPr txBox="1"/>
          <p:nvPr/>
        </p:nvSpPr>
        <p:spPr>
          <a:xfrm>
            <a:off x="7783414" y="3477291"/>
            <a:ext cx="344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D</a:t>
            </a:r>
          </a:p>
        </p:txBody>
      </p:sp>
      <p:cxnSp>
        <p:nvCxnSpPr>
          <p:cNvPr id="356" name="Straight Connector 355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348" idx="6"/>
            <a:endCxn id="349" idx="2"/>
          </p:cNvCxnSpPr>
          <p:nvPr/>
        </p:nvCxnSpPr>
        <p:spPr>
          <a:xfrm flipH="1">
            <a:off x="6536870" y="2159853"/>
            <a:ext cx="3086" cy="1239939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57" name="Straight Connector 356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354" idx="4"/>
            <a:endCxn id="349" idx="0"/>
          </p:cNvCxnSpPr>
          <p:nvPr/>
        </p:nvCxnSpPr>
        <p:spPr>
          <a:xfrm flipH="1" flipV="1">
            <a:off x="6608870" y="3471792"/>
            <a:ext cx="1284890" cy="765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58" name="Oval 357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3716670" y="4508019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359" name="Oval 358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2305375" y="4512782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360" name="Oval 359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2302289" y="5896721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361" name="Straight Connector 360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358" idx="4"/>
            <a:endCxn id="359" idx="0"/>
          </p:cNvCxnSpPr>
          <p:nvPr/>
        </p:nvCxnSpPr>
        <p:spPr>
          <a:xfrm flipH="1">
            <a:off x="2449375" y="4580019"/>
            <a:ext cx="1267295" cy="4763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62" name="Straight Connector 361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358" idx="5"/>
            <a:endCxn id="360" idx="1"/>
          </p:cNvCxnSpPr>
          <p:nvPr/>
        </p:nvCxnSpPr>
        <p:spPr>
          <a:xfrm flipH="1">
            <a:off x="2425201" y="4630931"/>
            <a:ext cx="1312557" cy="1286878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63" name="TextBox 362"/>
          <p:cNvSpPr txBox="1"/>
          <p:nvPr/>
        </p:nvSpPr>
        <p:spPr>
          <a:xfrm>
            <a:off x="2178212" y="4059565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A</a:t>
            </a:r>
          </a:p>
        </p:txBody>
      </p:sp>
      <p:sp>
        <p:nvSpPr>
          <p:cNvPr id="364" name="TextBox 363"/>
          <p:cNvSpPr txBox="1"/>
          <p:nvPr/>
        </p:nvSpPr>
        <p:spPr>
          <a:xfrm>
            <a:off x="2178212" y="5977489"/>
            <a:ext cx="3921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C</a:t>
            </a:r>
          </a:p>
        </p:txBody>
      </p:sp>
      <p:sp>
        <p:nvSpPr>
          <p:cNvPr id="365" name="TextBox 364"/>
          <p:cNvSpPr txBox="1"/>
          <p:nvPr/>
        </p:nvSpPr>
        <p:spPr>
          <a:xfrm>
            <a:off x="3612179" y="4059564"/>
            <a:ext cx="3529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B</a:t>
            </a:r>
          </a:p>
        </p:txBody>
      </p:sp>
      <p:sp>
        <p:nvSpPr>
          <p:cNvPr id="366" name="Oval 365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5608110" y="4510400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367" name="Oval 366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4196815" y="4515163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368" name="Oval 367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4193729" y="5899102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369" name="Straight Connector 368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384" idx="4"/>
            <a:endCxn id="368" idx="0"/>
          </p:cNvCxnSpPr>
          <p:nvPr/>
        </p:nvCxnSpPr>
        <p:spPr>
          <a:xfrm flipH="1" flipV="1">
            <a:off x="4337729" y="5971102"/>
            <a:ext cx="1260446" cy="6066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70" name="Straight Connector 369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366" idx="5"/>
            <a:endCxn id="368" idx="1"/>
          </p:cNvCxnSpPr>
          <p:nvPr/>
        </p:nvCxnSpPr>
        <p:spPr>
          <a:xfrm flipH="1">
            <a:off x="4316641" y="4633312"/>
            <a:ext cx="1312557" cy="1286878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71" name="TextBox 370"/>
          <p:cNvSpPr txBox="1"/>
          <p:nvPr/>
        </p:nvSpPr>
        <p:spPr>
          <a:xfrm>
            <a:off x="4069652" y="4061946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A</a:t>
            </a:r>
          </a:p>
        </p:txBody>
      </p:sp>
      <p:sp>
        <p:nvSpPr>
          <p:cNvPr id="372" name="TextBox 371"/>
          <p:cNvSpPr txBox="1"/>
          <p:nvPr/>
        </p:nvSpPr>
        <p:spPr>
          <a:xfrm>
            <a:off x="4069652" y="5979870"/>
            <a:ext cx="3921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C</a:t>
            </a:r>
          </a:p>
        </p:txBody>
      </p:sp>
      <p:sp>
        <p:nvSpPr>
          <p:cNvPr id="373" name="TextBox 372"/>
          <p:cNvSpPr txBox="1"/>
          <p:nvPr/>
        </p:nvSpPr>
        <p:spPr>
          <a:xfrm>
            <a:off x="5503619" y="4061945"/>
            <a:ext cx="3529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B</a:t>
            </a:r>
          </a:p>
        </p:txBody>
      </p:sp>
      <p:sp>
        <p:nvSpPr>
          <p:cNvPr id="374" name="Oval 373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9688428" y="4457107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375" name="Oval 374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8277133" y="4461870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376" name="Oval 375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8274047" y="5845809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377" name="Straight Connector 376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374" idx="5"/>
            <a:endCxn id="376" idx="1"/>
          </p:cNvCxnSpPr>
          <p:nvPr/>
        </p:nvCxnSpPr>
        <p:spPr>
          <a:xfrm flipH="1">
            <a:off x="8396959" y="4580019"/>
            <a:ext cx="1312557" cy="1286878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78" name="Straight Connector 377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375" idx="6"/>
            <a:endCxn id="376" idx="2"/>
          </p:cNvCxnSpPr>
          <p:nvPr/>
        </p:nvCxnSpPr>
        <p:spPr>
          <a:xfrm flipH="1">
            <a:off x="8346047" y="4605870"/>
            <a:ext cx="3086" cy="1239939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79" name="TextBox 378"/>
          <p:cNvSpPr txBox="1"/>
          <p:nvPr/>
        </p:nvSpPr>
        <p:spPr>
          <a:xfrm>
            <a:off x="8149970" y="4008653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A</a:t>
            </a:r>
          </a:p>
        </p:txBody>
      </p:sp>
      <p:sp>
        <p:nvSpPr>
          <p:cNvPr id="380" name="TextBox 379"/>
          <p:cNvSpPr txBox="1"/>
          <p:nvPr/>
        </p:nvSpPr>
        <p:spPr>
          <a:xfrm>
            <a:off x="8149970" y="5926577"/>
            <a:ext cx="3921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C</a:t>
            </a:r>
          </a:p>
        </p:txBody>
      </p:sp>
      <p:sp>
        <p:nvSpPr>
          <p:cNvPr id="381" name="TextBox 380"/>
          <p:cNvSpPr txBox="1"/>
          <p:nvPr/>
        </p:nvSpPr>
        <p:spPr>
          <a:xfrm>
            <a:off x="9583937" y="4008652"/>
            <a:ext cx="3529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B</a:t>
            </a:r>
          </a:p>
        </p:txBody>
      </p:sp>
      <p:sp>
        <p:nvSpPr>
          <p:cNvPr id="382" name="Oval 381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3715025" y="5905168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383" name="TextBox 382"/>
          <p:cNvSpPr txBox="1"/>
          <p:nvPr/>
        </p:nvSpPr>
        <p:spPr>
          <a:xfrm>
            <a:off x="3610534" y="5977489"/>
            <a:ext cx="360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D</a:t>
            </a:r>
          </a:p>
        </p:txBody>
      </p:sp>
      <p:sp>
        <p:nvSpPr>
          <p:cNvPr id="384" name="Oval 383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5598175" y="5905168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385" name="TextBox 384"/>
          <p:cNvSpPr txBox="1"/>
          <p:nvPr/>
        </p:nvSpPr>
        <p:spPr>
          <a:xfrm>
            <a:off x="5493684" y="5977489"/>
            <a:ext cx="360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D</a:t>
            </a:r>
          </a:p>
        </p:txBody>
      </p:sp>
      <p:sp>
        <p:nvSpPr>
          <p:cNvPr id="386" name="Oval 385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9705829" y="5847517"/>
            <a:ext cx="144000" cy="1373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387" name="TextBox 386"/>
          <p:cNvSpPr txBox="1"/>
          <p:nvPr/>
        </p:nvSpPr>
        <p:spPr>
          <a:xfrm>
            <a:off x="9598808" y="5920927"/>
            <a:ext cx="344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D</a:t>
            </a:r>
          </a:p>
        </p:txBody>
      </p:sp>
      <p:cxnSp>
        <p:nvCxnSpPr>
          <p:cNvPr id="388" name="Straight Connector 387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382" idx="3"/>
            <a:endCxn id="359" idx="7"/>
          </p:cNvCxnSpPr>
          <p:nvPr/>
        </p:nvCxnSpPr>
        <p:spPr>
          <a:xfrm flipH="1" flipV="1">
            <a:off x="2428287" y="4635694"/>
            <a:ext cx="1307826" cy="1290562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89" name="Straight Connector 388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367" idx="7"/>
            <a:endCxn id="384" idx="3"/>
          </p:cNvCxnSpPr>
          <p:nvPr/>
        </p:nvCxnSpPr>
        <p:spPr>
          <a:xfrm>
            <a:off x="4319727" y="4638075"/>
            <a:ext cx="1299536" cy="1288181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0" name="Straight Connector 389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386" idx="3"/>
            <a:endCxn id="375" idx="7"/>
          </p:cNvCxnSpPr>
          <p:nvPr/>
        </p:nvCxnSpPr>
        <p:spPr>
          <a:xfrm flipH="1" flipV="1">
            <a:off x="8400045" y="4584782"/>
            <a:ext cx="1329224" cy="1280499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91" name="Oval 390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7616489" y="4508019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392" name="Oval 391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6205194" y="4512782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393" name="Oval 392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6202108" y="5896721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394" name="Straight Connector 393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391" idx="6"/>
            <a:endCxn id="398" idx="2"/>
          </p:cNvCxnSpPr>
          <p:nvPr/>
        </p:nvCxnSpPr>
        <p:spPr>
          <a:xfrm>
            <a:off x="7688489" y="4652019"/>
            <a:ext cx="11184" cy="1245467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95" name="TextBox 394"/>
          <p:cNvSpPr txBox="1"/>
          <p:nvPr/>
        </p:nvSpPr>
        <p:spPr>
          <a:xfrm>
            <a:off x="6078031" y="4059565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A</a:t>
            </a:r>
          </a:p>
        </p:txBody>
      </p:sp>
      <p:sp>
        <p:nvSpPr>
          <p:cNvPr id="396" name="TextBox 395"/>
          <p:cNvSpPr txBox="1"/>
          <p:nvPr/>
        </p:nvSpPr>
        <p:spPr>
          <a:xfrm>
            <a:off x="6078031" y="5977489"/>
            <a:ext cx="3921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C</a:t>
            </a:r>
          </a:p>
        </p:txBody>
      </p:sp>
      <p:sp>
        <p:nvSpPr>
          <p:cNvPr id="397" name="TextBox 396"/>
          <p:cNvSpPr txBox="1"/>
          <p:nvPr/>
        </p:nvSpPr>
        <p:spPr>
          <a:xfrm>
            <a:off x="7511998" y="4059564"/>
            <a:ext cx="3529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B</a:t>
            </a:r>
          </a:p>
        </p:txBody>
      </p:sp>
      <p:sp>
        <p:nvSpPr>
          <p:cNvPr id="398" name="Oval 397">
            <a:extLst>
              <a:ext uri="{FF2B5EF4-FFF2-40B4-BE49-F238E27FC236}">
                <a16:creationId xmlns:a16="http://schemas.microsoft.com/office/drawing/2014/main" id="{A4197692-1A04-EA71-457D-175797FDA5CE}"/>
              </a:ext>
            </a:extLst>
          </p:cNvPr>
          <p:cNvSpPr/>
          <p:nvPr/>
        </p:nvSpPr>
        <p:spPr>
          <a:xfrm rot="5400000">
            <a:off x="7627673" y="5900810"/>
            <a:ext cx="144000" cy="1373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399" name="TextBox 398"/>
          <p:cNvSpPr txBox="1"/>
          <p:nvPr/>
        </p:nvSpPr>
        <p:spPr>
          <a:xfrm>
            <a:off x="7520652" y="5974220"/>
            <a:ext cx="344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US" sz="2400" dirty="0"/>
              <a:t>D</a:t>
            </a:r>
          </a:p>
        </p:txBody>
      </p:sp>
      <p:cxnSp>
        <p:nvCxnSpPr>
          <p:cNvPr id="400" name="Straight Connector 399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391" idx="5"/>
            <a:endCxn id="393" idx="1"/>
          </p:cNvCxnSpPr>
          <p:nvPr/>
        </p:nvCxnSpPr>
        <p:spPr>
          <a:xfrm flipH="1">
            <a:off x="6325020" y="4630931"/>
            <a:ext cx="1312557" cy="1286878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01" name="Straight Connector 400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398" idx="3"/>
            <a:endCxn id="392" idx="7"/>
          </p:cNvCxnSpPr>
          <p:nvPr/>
        </p:nvCxnSpPr>
        <p:spPr>
          <a:xfrm flipH="1" flipV="1">
            <a:off x="6328106" y="4635694"/>
            <a:ext cx="1323007" cy="1282880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2" name="Rectangle 401"/>
              <p:cNvSpPr/>
              <p:nvPr/>
            </p:nvSpPr>
            <p:spPr>
              <a:xfrm>
                <a:off x="2860595" y="889025"/>
                <a:ext cx="6470811" cy="738664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=4⇒</m:t>
                      </m:r>
                      <m:r>
                        <m:rPr>
                          <m:nor/>
                        </m:rPr>
                        <a:rPr lang="en-US" sz="2800" dirty="0">
                          <a:solidFill>
                            <a:srgbClr val="002060"/>
                          </a:solidFill>
                        </a:rPr>
                        <m:t>number</m:t>
                      </m:r>
                      <m:r>
                        <m:rPr>
                          <m:nor/>
                        </m:rPr>
                        <a:rPr lang="en-US" sz="2800" dirty="0">
                          <a:solidFill>
                            <a:srgbClr val="00206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dirty="0">
                          <a:solidFill>
                            <a:srgbClr val="002060"/>
                          </a:solidFill>
                        </a:rPr>
                        <m:t>of</m:t>
                      </m:r>
                      <m:r>
                        <m:rPr>
                          <m:nor/>
                        </m:rPr>
                        <a:rPr lang="en-US" sz="2800" dirty="0">
                          <a:solidFill>
                            <a:srgbClr val="00206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dirty="0">
                          <a:solidFill>
                            <a:srgbClr val="002060"/>
                          </a:solidFill>
                        </a:rPr>
                        <m:t>labeled</m:t>
                      </m:r>
                      <m:r>
                        <m:rPr>
                          <m:nor/>
                        </m:rPr>
                        <a:rPr lang="en-US" sz="2800" dirty="0">
                          <a:solidFill>
                            <a:srgbClr val="00206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dirty="0">
                          <a:solidFill>
                            <a:srgbClr val="002060"/>
                          </a:solidFill>
                        </a:rPr>
                        <m:t>trees</m:t>
                      </m:r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16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02" name="Rectangle 40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0595" y="889025"/>
                <a:ext cx="6470811" cy="73866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4220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4" grpId="0" animBg="1"/>
      <p:bldP spid="315" grpId="0" animBg="1"/>
      <p:bldP spid="316" grpId="0" animBg="1"/>
      <p:bldP spid="319" grpId="0"/>
      <p:bldP spid="320" grpId="0"/>
      <p:bldP spid="321" grpId="0"/>
      <p:bldP spid="322" grpId="0" animBg="1"/>
      <p:bldP spid="323" grpId="0" animBg="1"/>
      <p:bldP spid="324" grpId="0" animBg="1"/>
      <p:bldP spid="327" grpId="0"/>
      <p:bldP spid="328" grpId="0"/>
      <p:bldP spid="329" grpId="0"/>
      <p:bldP spid="330" grpId="0" animBg="1"/>
      <p:bldP spid="331" grpId="0" animBg="1"/>
      <p:bldP spid="332" grpId="0" animBg="1"/>
      <p:bldP spid="335" grpId="0"/>
      <p:bldP spid="336" grpId="0"/>
      <p:bldP spid="337" grpId="0"/>
      <p:bldP spid="338" grpId="0" animBg="1"/>
      <p:bldP spid="339" grpId="0"/>
      <p:bldP spid="340" grpId="0" animBg="1"/>
      <p:bldP spid="341" grpId="0"/>
      <p:bldP spid="342" grpId="0" animBg="1"/>
      <p:bldP spid="343" grpId="0"/>
      <p:bldP spid="347" grpId="0" animBg="1"/>
      <p:bldP spid="348" grpId="0" animBg="1"/>
      <p:bldP spid="349" grpId="0" animBg="1"/>
      <p:bldP spid="351" grpId="0"/>
      <p:bldP spid="352" grpId="0"/>
      <p:bldP spid="353" grpId="0"/>
      <p:bldP spid="354" grpId="0" animBg="1"/>
      <p:bldP spid="355" grpId="0"/>
      <p:bldP spid="358" grpId="0" animBg="1"/>
      <p:bldP spid="359" grpId="0" animBg="1"/>
      <p:bldP spid="360" grpId="0" animBg="1"/>
      <p:bldP spid="363" grpId="0"/>
      <p:bldP spid="364" grpId="0"/>
      <p:bldP spid="365" grpId="0"/>
      <p:bldP spid="366" grpId="0" animBg="1"/>
      <p:bldP spid="367" grpId="0" animBg="1"/>
      <p:bldP spid="368" grpId="0" animBg="1"/>
      <p:bldP spid="371" grpId="0"/>
      <p:bldP spid="372" grpId="0"/>
      <p:bldP spid="373" grpId="0"/>
      <p:bldP spid="374" grpId="0" animBg="1"/>
      <p:bldP spid="375" grpId="0" animBg="1"/>
      <p:bldP spid="376" grpId="0" animBg="1"/>
      <p:bldP spid="379" grpId="0"/>
      <p:bldP spid="380" grpId="0"/>
      <p:bldP spid="381" grpId="0"/>
      <p:bldP spid="382" grpId="0" animBg="1"/>
      <p:bldP spid="383" grpId="0"/>
      <p:bldP spid="384" grpId="0" animBg="1"/>
      <p:bldP spid="385" grpId="0"/>
      <p:bldP spid="386" grpId="0" animBg="1"/>
      <p:bldP spid="387" grpId="0"/>
      <p:bldP spid="391" grpId="0" animBg="1"/>
      <p:bldP spid="392" grpId="0" animBg="1"/>
      <p:bldP spid="393" grpId="0" animBg="1"/>
      <p:bldP spid="395" grpId="0"/>
      <p:bldP spid="396" grpId="0"/>
      <p:bldP spid="397" grpId="0"/>
      <p:bldP spid="398" grpId="0" animBg="1"/>
      <p:bldP spid="399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Title 1">
                <a:extLst>
                  <a:ext uri="{FF2B5EF4-FFF2-40B4-BE49-F238E27FC236}">
                    <a16:creationId xmlns:a16="http://schemas.microsoft.com/office/drawing/2014/main" id="{D5CD07E8-CBAA-45BA-85CF-1233D4AA86C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0"/>
                <a:ext cx="12192000" cy="711200"/>
              </a:xfrm>
              <a:prstGeom prst="rect">
                <a:avLst/>
              </a:prstGeom>
              <a:solidFill>
                <a:srgbClr val="C0C0C0">
                  <a:alpha val="50000"/>
                </a:srgbClr>
              </a:solidFill>
              <a:ln>
                <a:noFill/>
              </a:ln>
            </p:spPr>
            <p:txBody>
              <a:bodyPr lIns="216000" tIns="108000" rIns="216000" bIns="108000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lang="en-US" sz="3400" b="1" kern="120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effectLst/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spcBef>
                    <a:spcPts val="1000"/>
                  </a:spcBef>
                  <a:buClr>
                    <a:srgbClr val="B8474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3600"/>
                        <m:t>Counting</m:t>
                      </m:r>
                      <m:r>
                        <m:rPr>
                          <m:nor/>
                        </m:rPr>
                        <a:rPr lang="en-US" sz="3600"/>
                        <m:t> </m:t>
                      </m:r>
                      <m:r>
                        <m:rPr>
                          <m:nor/>
                        </m:rPr>
                        <a:rPr lang="en-US" sz="3600"/>
                        <m:t>Labeled</m:t>
                      </m:r>
                      <m:r>
                        <m:rPr>
                          <m:nor/>
                        </m:rPr>
                        <a:rPr lang="en-US" sz="3600"/>
                        <m:t> </m:t>
                      </m:r>
                      <m:r>
                        <m:rPr>
                          <m:nor/>
                        </m:rPr>
                        <a:rPr lang="en-US" sz="3600"/>
                        <m:t>Trees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" name="Title 1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D5CD07E8-CBAA-45BA-85CF-1233D4AA86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71120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702" y="2073310"/>
            <a:ext cx="5336109" cy="337697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477" y="2073310"/>
            <a:ext cx="5408637" cy="341878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4" name="Rectangle 183"/>
              <p:cNvSpPr/>
              <p:nvPr/>
            </p:nvSpPr>
            <p:spPr>
              <a:xfrm>
                <a:off x="2860595" y="889025"/>
                <a:ext cx="6470811" cy="738664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=4⇒</m:t>
                      </m:r>
                      <m:r>
                        <m:rPr>
                          <m:nor/>
                        </m:rPr>
                        <a:rPr lang="en-US" sz="2800" dirty="0">
                          <a:solidFill>
                            <a:srgbClr val="002060"/>
                          </a:solidFill>
                        </a:rPr>
                        <m:t>number</m:t>
                      </m:r>
                      <m:r>
                        <m:rPr>
                          <m:nor/>
                        </m:rPr>
                        <a:rPr lang="en-US" sz="2800" dirty="0">
                          <a:solidFill>
                            <a:srgbClr val="00206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dirty="0">
                          <a:solidFill>
                            <a:srgbClr val="002060"/>
                          </a:solidFill>
                        </a:rPr>
                        <m:t>of</m:t>
                      </m:r>
                      <m:r>
                        <m:rPr>
                          <m:nor/>
                        </m:rPr>
                        <a:rPr lang="en-US" sz="2800" dirty="0">
                          <a:solidFill>
                            <a:srgbClr val="00206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dirty="0">
                          <a:solidFill>
                            <a:srgbClr val="002060"/>
                          </a:solidFill>
                        </a:rPr>
                        <m:t>labeled</m:t>
                      </m:r>
                      <m:r>
                        <m:rPr>
                          <m:nor/>
                        </m:rPr>
                        <a:rPr lang="en-US" sz="2800" dirty="0">
                          <a:solidFill>
                            <a:srgbClr val="00206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dirty="0">
                          <a:solidFill>
                            <a:srgbClr val="002060"/>
                          </a:solidFill>
                        </a:rPr>
                        <m:t>trees</m:t>
                      </m:r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16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84" name="Rectangle 18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0595" y="889025"/>
                <a:ext cx="6470811" cy="738664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0985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Method-2</a:t>
            </a:r>
          </a:p>
        </p:txBody>
      </p:sp>
    </p:spTree>
    <p:extLst>
      <p:ext uri="{BB962C8B-B14F-4D97-AF65-F5344CB8AC3E}">
        <p14:creationId xmlns:p14="http://schemas.microsoft.com/office/powerpoint/2010/main" val="234019612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/>
              <p:cNvSpPr txBox="1">
                <a:spLocks/>
              </p:cNvSpPr>
              <p:nvPr/>
            </p:nvSpPr>
            <p:spPr>
              <a:xfrm>
                <a:off x="131176" y="867840"/>
                <a:ext cx="11910570" cy="926308"/>
              </a:xfrm>
              <a:prstGeom prst="rect">
                <a:avLst/>
              </a:prstGeom>
              <a:gradFill>
                <a:gsLst>
                  <a:gs pos="10000">
                    <a:srgbClr val="273238"/>
                  </a:gs>
                  <a:gs pos="100000">
                    <a:srgbClr val="607D8B"/>
                  </a:gs>
                </a:gsLst>
                <a:lin ang="108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lvl="0"/>
              </a:lstStyle>
              <a:p>
                <a:pPr algn="just"/>
                <a:r>
                  <a:rPr lang="en-US" sz="2800" dirty="0">
                    <a:solidFill>
                      <a:schemeClr val="bg1"/>
                    </a:solidFill>
                  </a:rPr>
                  <a:t>What is the maximum number of pendant vertices in a tree with</a:t>
                </a:r>
                <a14:m>
                  <m:oMath xmlns:m="http://schemas.openxmlformats.org/officeDocument/2006/math">
                    <m:r>
                      <a:rPr lang="en-US" sz="280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280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&gt;2</m:t>
                    </m:r>
                  </m:oMath>
                </a14:m>
                <a:r>
                  <a:rPr lang="en-US" sz="2800" dirty="0">
                    <a:solidFill>
                      <a:schemeClr val="bg1"/>
                    </a:solidFill>
                  </a:rPr>
                  <a:t> vertices? justify</a:t>
                </a:r>
                <a14:m>
                  <m:oMath xmlns:m="http://schemas.openxmlformats.org/officeDocument/2006/math">
                    <m:r>
                      <a:rPr lang="en-IN" sz="28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6" y="867840"/>
                <a:ext cx="11910570" cy="926308"/>
              </a:xfrm>
              <a:prstGeom prst="rect">
                <a:avLst/>
              </a:prstGeom>
              <a:blipFill rotWithShape="0">
                <a:blip r:embed="rId2"/>
                <a:stretch>
                  <a:fillRect l="-1075" t="-6579" r="-1075" b="-2039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Method 2 ⇝ Example 1</a:t>
            </a:r>
            <a:endParaRPr lang="en-US" dirty="0"/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635C8299-099D-4E74-A7B7-29B2E1FD450E}"/>
              </a:ext>
            </a:extLst>
          </p:cNvPr>
          <p:cNvSpPr txBox="1">
            <a:spLocks/>
          </p:cNvSpPr>
          <p:nvPr/>
        </p:nvSpPr>
        <p:spPr>
          <a:xfrm>
            <a:off x="131176" y="1840299"/>
            <a:ext cx="1407338" cy="523220"/>
          </a:xfrm>
          <a:prstGeom prst="rect">
            <a:avLst/>
          </a:pr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lvl="0"/>
          </a:lstStyle>
          <a:p>
            <a:r>
              <a:rPr lang="en-IN" sz="2800" dirty="0">
                <a:solidFill>
                  <a:schemeClr val="bg1"/>
                </a:solidFill>
              </a:rPr>
              <a:t>Solution </a:t>
            </a:r>
            <a:endParaRPr lang="en-US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31180" y="2529840"/>
                <a:ext cx="11929641" cy="3924169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  <a:buClr>
                    <a:srgbClr val="B84742"/>
                  </a:buClr>
                </a:pPr>
                <a:r>
                  <a:rPr lang="en-US" dirty="0"/>
                  <a:t>The maximum number of pendant vertices occurs in a star tree</a:t>
                </a:r>
              </a:p>
              <a:p>
                <a:pPr>
                  <a:lnSpc>
                    <a:spcPct val="150000"/>
                  </a:lnSpc>
                  <a:buClr>
                    <a:srgbClr val="B84742"/>
                  </a:buClr>
                </a:pPr>
                <a:r>
                  <a:rPr lang="en-US" dirty="0"/>
                  <a:t>Reason : In a star tree</a:t>
                </a:r>
              </a:p>
              <a:p>
                <a:pPr lvl="1">
                  <a:lnSpc>
                    <a:spcPct val="150000"/>
                  </a:lnSpc>
                  <a:buClr>
                    <a:srgbClr val="B84742"/>
                  </a:buClr>
                </a:pPr>
                <a:r>
                  <a:rPr lang="en-US" dirty="0"/>
                  <a:t>One central vertex has degree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>
                  <a:lnSpc>
                    <a:spcPct val="150000"/>
                  </a:lnSpc>
                  <a:buClr>
                    <a:srgbClr val="B84742"/>
                  </a:buClr>
                </a:pPr>
                <a:r>
                  <a:rPr lang="en-US" dirty="0"/>
                  <a:t>All remaining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vertices are leaves</a:t>
                </a:r>
                <a:endParaRPr lang="en-IN" b="1" dirty="0"/>
              </a:p>
              <a:p>
                <a:r>
                  <a:rPr lang="en-US" dirty="0"/>
                  <a:t>So, the maximum number of pendant vertices in a tree with</a:t>
                </a:r>
                <a14:m>
                  <m:oMath xmlns:m="http://schemas.openxmlformats.org/officeDocument/2006/math">
                    <m:r>
                      <a:rPr lang="en-US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&gt;2</m:t>
                    </m:r>
                  </m:oMath>
                </a14:m>
                <a:r>
                  <a:rPr lang="en-US" dirty="0"/>
                  <a:t> vertices is </a:t>
                </a:r>
                <a:r>
                  <a:rPr lang="en-US" dirty="0">
                    <a:latin typeface="Cambria Math" panose="02040503050406030204" pitchFamily="18" charset="0"/>
                  </a:rPr>
                  <a:t>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2529840"/>
                <a:ext cx="11929641" cy="3924169"/>
              </a:xfrm>
              <a:blipFill rotWithShape="0">
                <a:blip r:embed="rId3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4881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2"/>
          <p:cNvSpPr txBox="1">
            <a:spLocks/>
          </p:cNvSpPr>
          <p:nvPr/>
        </p:nvSpPr>
        <p:spPr>
          <a:xfrm>
            <a:off x="131176" y="867840"/>
            <a:ext cx="11929645" cy="926308"/>
          </a:xfrm>
          <a:prstGeom prst="rect">
            <a:avLst/>
          </a:pr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lvl="0"/>
          </a:lstStyle>
          <a:p>
            <a:r>
              <a:rPr lang="en-US" sz="2800" dirty="0">
                <a:solidFill>
                  <a:schemeClr val="bg1"/>
                </a:solidFill>
              </a:rPr>
              <a:t>For following tree find the distance between two vertices, Eccentricity, Radius, Diameter, Center.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Method 2 ⇝ Example 2</a:t>
            </a:r>
            <a:endParaRPr lang="en-US" dirty="0"/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635C8299-099D-4E74-A7B7-29B2E1FD450E}"/>
              </a:ext>
            </a:extLst>
          </p:cNvPr>
          <p:cNvSpPr txBox="1">
            <a:spLocks/>
          </p:cNvSpPr>
          <p:nvPr/>
        </p:nvSpPr>
        <p:spPr>
          <a:xfrm>
            <a:off x="131176" y="1840299"/>
            <a:ext cx="1407338" cy="523220"/>
          </a:xfrm>
          <a:prstGeom prst="rect">
            <a:avLst/>
          </a:pr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lvl="0"/>
          </a:lstStyle>
          <a:p>
            <a:r>
              <a:rPr lang="en-IN" sz="2800" dirty="0">
                <a:solidFill>
                  <a:schemeClr val="bg1"/>
                </a:solidFill>
              </a:rPr>
              <a:t>Solution </a:t>
            </a:r>
            <a:endParaRPr lang="en-US" sz="2800" dirty="0">
              <a:solidFill>
                <a:schemeClr val="bg1"/>
              </a:solidFill>
            </a:endParaRP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61C1F4A-0F54-D84C-6D00-A1EB9F135299}"/>
              </a:ext>
            </a:extLst>
          </p:cNvPr>
          <p:cNvCxnSpPr>
            <a:cxnSpLocks/>
            <a:stCxn id="59" idx="3"/>
            <a:endCxn id="74" idx="7"/>
          </p:cNvCxnSpPr>
          <p:nvPr/>
        </p:nvCxnSpPr>
        <p:spPr>
          <a:xfrm flipH="1" flipV="1">
            <a:off x="10192784" y="4095580"/>
            <a:ext cx="618256" cy="618256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59" idx="2"/>
            <a:endCxn id="60" idx="6"/>
          </p:cNvCxnSpPr>
          <p:nvPr/>
        </p:nvCxnSpPr>
        <p:spPr>
          <a:xfrm flipV="1">
            <a:off x="10861952" y="4116684"/>
            <a:ext cx="0" cy="576064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9" name="Oval 58">
            <a:extLst>
              <a:ext uri="{FF2B5EF4-FFF2-40B4-BE49-F238E27FC236}">
                <a16:creationId xmlns:a16="http://schemas.microsoft.com/office/drawing/2014/main" id="{6C0843A1-C99E-E42B-5017-D5F14DE578E1}"/>
              </a:ext>
            </a:extLst>
          </p:cNvPr>
          <p:cNvSpPr/>
          <p:nvPr/>
        </p:nvSpPr>
        <p:spPr>
          <a:xfrm rot="5400000">
            <a:off x="10789952" y="4692748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10789952" y="3972684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57B11955-9C17-2938-6935-FD4C0AF03497}"/>
              </a:ext>
            </a:extLst>
          </p:cNvPr>
          <p:cNvSpPr/>
          <p:nvPr/>
        </p:nvSpPr>
        <p:spPr>
          <a:xfrm rot="5400000">
            <a:off x="10072461" y="4683294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66EA08EA-10E8-07B3-809B-572189B302D2}"/>
              </a:ext>
            </a:extLst>
          </p:cNvPr>
          <p:cNvCxnSpPr>
            <a:cxnSpLocks/>
            <a:stCxn id="59" idx="4"/>
            <a:endCxn id="61" idx="0"/>
          </p:cNvCxnSpPr>
          <p:nvPr/>
        </p:nvCxnSpPr>
        <p:spPr>
          <a:xfrm flipH="1" flipV="1">
            <a:off x="10216461" y="4755294"/>
            <a:ext cx="573491" cy="9454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761C1F4A-0F54-D84C-6D00-A1EB9F135299}"/>
              </a:ext>
            </a:extLst>
          </p:cNvPr>
          <p:cNvCxnSpPr>
            <a:cxnSpLocks/>
            <a:stCxn id="65" idx="3"/>
            <a:endCxn id="59" idx="7"/>
          </p:cNvCxnSpPr>
          <p:nvPr/>
        </p:nvCxnSpPr>
        <p:spPr>
          <a:xfrm flipH="1" flipV="1">
            <a:off x="10912864" y="4815660"/>
            <a:ext cx="656518" cy="641106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66" idx="4"/>
            <a:endCxn id="60" idx="0"/>
          </p:cNvCxnSpPr>
          <p:nvPr/>
        </p:nvCxnSpPr>
        <p:spPr>
          <a:xfrm flipH="1">
            <a:off x="10933952" y="4044668"/>
            <a:ext cx="576080" cy="16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5" name="Oval 64">
            <a:extLst>
              <a:ext uri="{FF2B5EF4-FFF2-40B4-BE49-F238E27FC236}">
                <a16:creationId xmlns:a16="http://schemas.microsoft.com/office/drawing/2014/main" id="{6C0843A1-C99E-E42B-5017-D5F14DE578E1}"/>
              </a:ext>
            </a:extLst>
          </p:cNvPr>
          <p:cNvSpPr/>
          <p:nvPr/>
        </p:nvSpPr>
        <p:spPr>
          <a:xfrm rot="5400000">
            <a:off x="11548294" y="5435678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11510032" y="3972668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61" idx="6"/>
            <a:endCxn id="68" idx="2"/>
          </p:cNvCxnSpPr>
          <p:nvPr/>
        </p:nvCxnSpPr>
        <p:spPr>
          <a:xfrm flipH="1">
            <a:off x="10141872" y="4827294"/>
            <a:ext cx="2589" cy="585534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8" name="Oval 67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10069872" y="5412828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9962288" y="5495522"/>
            <a:ext cx="3561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a</a:t>
            </a:r>
            <a:endParaRPr lang="en-US" b="1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9790606" y="4468233"/>
            <a:ext cx="3497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c</a:t>
            </a:r>
            <a:endParaRPr lang="en-US" b="1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1442200" y="5495522"/>
            <a:ext cx="3561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e</a:t>
            </a:r>
            <a:endParaRPr lang="en-US" b="1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10493139" y="3639044"/>
            <a:ext cx="3626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d</a:t>
            </a:r>
            <a:endParaRPr lang="en-US" b="1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1580881" y="3691886"/>
            <a:ext cx="3626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b</a:t>
            </a:r>
            <a:endParaRPr lang="en-US" b="1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6C0843A1-C99E-E42B-5017-D5F14DE578E1}"/>
              </a:ext>
            </a:extLst>
          </p:cNvPr>
          <p:cNvSpPr/>
          <p:nvPr/>
        </p:nvSpPr>
        <p:spPr>
          <a:xfrm rot="5400000">
            <a:off x="10069872" y="3972668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10673314" y="4762235"/>
            <a:ext cx="3016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f</a:t>
            </a:r>
            <a:endParaRPr lang="en-US" b="1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9790606" y="3646430"/>
            <a:ext cx="3658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g</a:t>
            </a:r>
            <a:endParaRPr lang="en-US" b="1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663549"/>
              </p:ext>
            </p:extLst>
          </p:nvPr>
        </p:nvGraphicFramePr>
        <p:xfrm>
          <a:off x="124952" y="2438353"/>
          <a:ext cx="9720000" cy="5657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:a16="http://schemas.microsoft.com/office/drawing/2014/main" val="2573274369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4051045428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1541333607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535765769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3481627474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676072984"/>
                    </a:ext>
                  </a:extLst>
                </a:gridCol>
              </a:tblGrid>
              <a:tr h="565714">
                <a:tc>
                  <a:txBody>
                    <a:bodyPr/>
                    <a:lstStyle/>
                    <a:p>
                      <a:endParaRPr lang="en-IN" sz="24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9683138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24951" y="3085108"/>
          <a:ext cx="8100000" cy="5657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:a16="http://schemas.microsoft.com/office/drawing/2014/main" val="197265483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409799903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1726805427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345026362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1541232864"/>
                    </a:ext>
                  </a:extLst>
                </a:gridCol>
              </a:tblGrid>
              <a:tr h="565714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3524588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3775417"/>
              </p:ext>
            </p:extLst>
          </p:nvPr>
        </p:nvGraphicFramePr>
        <p:xfrm>
          <a:off x="124951" y="3729313"/>
          <a:ext cx="6480000" cy="5657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:a16="http://schemas.microsoft.com/office/drawing/2014/main" val="2784671440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72636576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1244138235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367059181"/>
                    </a:ext>
                  </a:extLst>
                </a:gridCol>
              </a:tblGrid>
              <a:tr h="565714">
                <a:tc>
                  <a:txBody>
                    <a:bodyPr/>
                    <a:lstStyle/>
                    <a:p>
                      <a:endParaRPr lang="en-IN" sz="24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618106"/>
                  </a:ext>
                </a:extLst>
              </a:tr>
            </a:tbl>
          </a:graphicData>
        </a:graphic>
      </p:graphicFrame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124951" y="4376173"/>
          <a:ext cx="4860000" cy="5657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:a16="http://schemas.microsoft.com/office/drawing/2014/main" val="197265483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409799903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1726805427"/>
                    </a:ext>
                  </a:extLst>
                </a:gridCol>
              </a:tblGrid>
              <a:tr h="565714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3524588"/>
                  </a:ext>
                </a:extLst>
              </a:tr>
            </a:tbl>
          </a:graphicData>
        </a:graphic>
      </p:graphicFrame>
      <p:graphicFrame>
        <p:nvGraphicFramePr>
          <p:cNvPr id="53" name="Table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8349511"/>
              </p:ext>
            </p:extLst>
          </p:nvPr>
        </p:nvGraphicFramePr>
        <p:xfrm>
          <a:off x="121446" y="5023033"/>
          <a:ext cx="3240000" cy="5657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:a16="http://schemas.microsoft.com/office/drawing/2014/main" val="2784671440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72636576"/>
                    </a:ext>
                  </a:extLst>
                </a:gridCol>
              </a:tblGrid>
              <a:tr h="565714">
                <a:tc>
                  <a:txBody>
                    <a:bodyPr/>
                    <a:lstStyle/>
                    <a:p>
                      <a:endParaRPr lang="en-IN" sz="24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618106"/>
                  </a:ext>
                </a:extLst>
              </a:tr>
            </a:tbl>
          </a:graphicData>
        </a:graphic>
      </p:graphicFrame>
      <p:graphicFrame>
        <p:nvGraphicFramePr>
          <p:cNvPr id="54" name="Table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399947"/>
              </p:ext>
            </p:extLst>
          </p:nvPr>
        </p:nvGraphicFramePr>
        <p:xfrm>
          <a:off x="3377065" y="5023033"/>
          <a:ext cx="1620000" cy="5657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:a16="http://schemas.microsoft.com/office/drawing/2014/main" val="197265483"/>
                    </a:ext>
                  </a:extLst>
                </a:gridCol>
              </a:tblGrid>
              <a:tr h="565714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352458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67425" y="2511580"/>
                <a:ext cx="93610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d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425" y="2511580"/>
                <a:ext cx="936107" cy="461665"/>
              </a:xfrm>
              <a:prstGeom prst="rect">
                <a:avLst/>
              </a:prstGeom>
              <a:blipFill rotWithShape="0">
                <a:blip r:embed="rId2"/>
                <a:stretch>
                  <a:fillRect l="-19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167425" y="3117407"/>
                <a:ext cx="93610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425" y="3117407"/>
                <a:ext cx="936107" cy="461665"/>
              </a:xfrm>
              <a:prstGeom prst="rect">
                <a:avLst/>
              </a:prstGeom>
              <a:blipFill rotWithShape="0">
                <a:blip r:embed="rId3"/>
                <a:stretch>
                  <a:fillRect l="-19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4984285" y="3117407"/>
                <a:ext cx="91656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4285" y="3117407"/>
                <a:ext cx="916563" cy="461665"/>
              </a:xfrm>
              <a:prstGeom prst="rect">
                <a:avLst/>
              </a:prstGeom>
              <a:blipFill rotWithShape="0">
                <a:blip r:embed="rId4"/>
                <a:stretch>
                  <a:fillRect l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6599309" y="3133969"/>
                <a:ext cx="89369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9309" y="3133969"/>
                <a:ext cx="893692" cy="461665"/>
              </a:xfrm>
              <a:prstGeom prst="rect">
                <a:avLst/>
              </a:prstGeom>
              <a:blipFill rotWithShape="0">
                <a:blip r:embed="rId5"/>
                <a:stretch>
                  <a:fillRect l="-2055" r="-4110" b="-11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1779513" y="2511110"/>
                <a:ext cx="91354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9513" y="2511110"/>
                <a:ext cx="913544" cy="461665"/>
              </a:xfrm>
              <a:prstGeom prst="rect">
                <a:avLst/>
              </a:prstGeom>
              <a:blipFill rotWithShape="0">
                <a:blip r:embed="rId6"/>
                <a:stretch>
                  <a:fillRect l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3357048" y="2511110"/>
                <a:ext cx="96626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7048" y="2511110"/>
                <a:ext cx="966266" cy="461665"/>
              </a:xfrm>
              <a:prstGeom prst="rect">
                <a:avLst/>
              </a:prstGeom>
              <a:blipFill rotWithShape="0">
                <a:blip r:embed="rId7"/>
                <a:stretch>
                  <a:fillRect l="-18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4934581" y="2511110"/>
                <a:ext cx="96626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4581" y="2511110"/>
                <a:ext cx="966267" cy="461665"/>
              </a:xfrm>
              <a:prstGeom prst="rect">
                <a:avLst/>
              </a:prstGeom>
              <a:blipFill rotWithShape="0">
                <a:blip r:embed="rId8"/>
                <a:stretch>
                  <a:fillRect l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6599308" y="2511110"/>
                <a:ext cx="89369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9308" y="2511110"/>
                <a:ext cx="893692" cy="461665"/>
              </a:xfrm>
              <a:prstGeom prst="rect">
                <a:avLst/>
              </a:prstGeom>
              <a:blipFill rotWithShape="0">
                <a:blip r:embed="rId9"/>
                <a:stretch>
                  <a:fillRect l="-20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8176842" y="2498782"/>
                <a:ext cx="9417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6842" y="2498782"/>
                <a:ext cx="941758" cy="461665"/>
              </a:xfrm>
              <a:prstGeom prst="rect">
                <a:avLst/>
              </a:prstGeom>
              <a:blipFill rotWithShape="0">
                <a:blip r:embed="rId10"/>
                <a:stretch>
                  <a:fillRect l="-1935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3391518" y="3117407"/>
                <a:ext cx="93179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1518" y="3117407"/>
                <a:ext cx="931796" cy="461665"/>
              </a:xfrm>
              <a:prstGeom prst="rect">
                <a:avLst/>
              </a:prstGeom>
              <a:blipFill rotWithShape="0">
                <a:blip r:embed="rId11"/>
                <a:stretch>
                  <a:fillRect l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1730144" y="3117407"/>
                <a:ext cx="96291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0144" y="3117407"/>
                <a:ext cx="962913" cy="461665"/>
              </a:xfrm>
              <a:prstGeom prst="rect">
                <a:avLst/>
              </a:prstGeom>
              <a:blipFill rotWithShape="0">
                <a:blip r:embed="rId12"/>
                <a:stretch>
                  <a:fillRect l="-18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167426" y="3753441"/>
                <a:ext cx="93610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426" y="3753441"/>
                <a:ext cx="936106" cy="461665"/>
              </a:xfrm>
              <a:prstGeom prst="rect">
                <a:avLst/>
              </a:prstGeom>
              <a:blipFill rotWithShape="0">
                <a:blip r:embed="rId13"/>
                <a:stretch>
                  <a:fillRect l="-19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3391518" y="3753441"/>
                <a:ext cx="93179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1518" y="3753441"/>
                <a:ext cx="931796" cy="461665"/>
              </a:xfrm>
              <a:prstGeom prst="rect">
                <a:avLst/>
              </a:prstGeom>
              <a:blipFill rotWithShape="0">
                <a:blip r:embed="rId14"/>
                <a:stretch>
                  <a:fillRect l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1730144" y="3753441"/>
                <a:ext cx="89297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0144" y="3753441"/>
                <a:ext cx="892971" cy="461665"/>
              </a:xfrm>
              <a:prstGeom prst="rect">
                <a:avLst/>
              </a:prstGeom>
              <a:blipFill rotWithShape="0">
                <a:blip r:embed="rId15"/>
                <a:stretch>
                  <a:fillRect l="-20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4960683" y="3751220"/>
                <a:ext cx="94016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0683" y="3751220"/>
                <a:ext cx="940165" cy="461665"/>
              </a:xfrm>
              <a:prstGeom prst="rect">
                <a:avLst/>
              </a:prstGeom>
              <a:blipFill rotWithShape="0">
                <a:blip r:embed="rId16"/>
                <a:stretch>
                  <a:fillRect l="-1948" b="-11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150496" y="4407198"/>
                <a:ext cx="95303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496" y="4407198"/>
                <a:ext cx="953035" cy="461665"/>
              </a:xfrm>
              <a:prstGeom prst="rect">
                <a:avLst/>
              </a:prstGeom>
              <a:blipFill rotWithShape="0">
                <a:blip r:embed="rId17"/>
                <a:stretch>
                  <a:fillRect l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/>
              <p:cNvSpPr txBox="1"/>
              <p:nvPr/>
            </p:nvSpPr>
            <p:spPr>
              <a:xfrm>
                <a:off x="1723125" y="4433598"/>
                <a:ext cx="9099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77" name="Text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125" y="4433598"/>
                <a:ext cx="909900" cy="461665"/>
              </a:xfrm>
              <a:prstGeom prst="rect">
                <a:avLst/>
              </a:prstGeom>
              <a:blipFill rotWithShape="0">
                <a:blip r:embed="rId18"/>
                <a:stretch>
                  <a:fillRect l="-20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>
                <a:off x="3391518" y="4404708"/>
                <a:ext cx="93179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1518" y="4404708"/>
                <a:ext cx="931796" cy="461665"/>
              </a:xfrm>
              <a:prstGeom prst="rect">
                <a:avLst/>
              </a:prstGeom>
              <a:blipFill rotWithShape="0">
                <a:blip r:embed="rId19"/>
                <a:stretch>
                  <a:fillRect l="-1961"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/>
              <p:cNvSpPr txBox="1"/>
              <p:nvPr/>
            </p:nvSpPr>
            <p:spPr>
              <a:xfrm>
                <a:off x="1691508" y="5076150"/>
                <a:ext cx="9316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  <m: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79" name="TextBox 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508" y="5076150"/>
                <a:ext cx="931608" cy="461665"/>
              </a:xfrm>
              <a:prstGeom prst="rect">
                <a:avLst/>
              </a:prstGeom>
              <a:blipFill rotWithShape="0">
                <a:blip r:embed="rId20"/>
                <a:stretch>
                  <a:fillRect l="-1961"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>
                <a:off x="167426" y="5078640"/>
                <a:ext cx="93610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  <m: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426" y="5078640"/>
                <a:ext cx="936106" cy="461665"/>
              </a:xfrm>
              <a:prstGeom prst="rect">
                <a:avLst/>
              </a:prstGeom>
              <a:blipFill rotWithShape="0">
                <a:blip r:embed="rId21"/>
                <a:stretch>
                  <a:fillRect l="-19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3423045" y="5070190"/>
                <a:ext cx="93610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  <m: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3045" y="5070190"/>
                <a:ext cx="936106" cy="461665"/>
              </a:xfrm>
              <a:prstGeom prst="rect">
                <a:avLst/>
              </a:prstGeom>
              <a:blipFill>
                <a:blip r:embed="rId22"/>
                <a:stretch>
                  <a:fillRect l="-1961" b="-12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/>
              <p:cNvSpPr txBox="1"/>
              <p:nvPr/>
            </p:nvSpPr>
            <p:spPr>
              <a:xfrm>
                <a:off x="1109096" y="2506122"/>
                <a:ext cx="6210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3" name="TextBox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9096" y="2506122"/>
                <a:ext cx="621048" cy="461665"/>
              </a:xfrm>
              <a:prstGeom prst="rect">
                <a:avLst/>
              </a:prstGeom>
              <a:blipFill>
                <a:blip r:embed="rId23"/>
                <a:stretch>
                  <a:fillRect r="-88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/>
              <p:cNvSpPr txBox="1"/>
              <p:nvPr/>
            </p:nvSpPr>
            <p:spPr>
              <a:xfrm>
                <a:off x="2625773" y="2513677"/>
                <a:ext cx="6210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5" name="TextBox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5773" y="2513677"/>
                <a:ext cx="621048" cy="461665"/>
              </a:xfrm>
              <a:prstGeom prst="rect">
                <a:avLst/>
              </a:prstGeom>
              <a:blipFill rotWithShape="0">
                <a:blip r:embed="rId24"/>
                <a:stretch>
                  <a:fillRect r="-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/>
              <p:cNvSpPr txBox="1"/>
              <p:nvPr/>
            </p:nvSpPr>
            <p:spPr>
              <a:xfrm>
                <a:off x="4329663" y="2512839"/>
                <a:ext cx="6210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6" name="TextBox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9663" y="2512839"/>
                <a:ext cx="621048" cy="461665"/>
              </a:xfrm>
              <a:prstGeom prst="rect">
                <a:avLst/>
              </a:prstGeom>
              <a:blipFill>
                <a:blip r:embed="rId25"/>
                <a:stretch>
                  <a:fillRect r="-98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/>
              <p:cNvSpPr txBox="1"/>
              <p:nvPr/>
            </p:nvSpPr>
            <p:spPr>
              <a:xfrm>
                <a:off x="5816013" y="2511853"/>
                <a:ext cx="6210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7" name="TextBox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6013" y="2511853"/>
                <a:ext cx="621048" cy="461665"/>
              </a:xfrm>
              <a:prstGeom prst="rect">
                <a:avLst/>
              </a:prstGeom>
              <a:blipFill rotWithShape="0">
                <a:blip r:embed="rId26"/>
                <a:stretch>
                  <a:fillRect r="-9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/>
              <p:cNvSpPr txBox="1"/>
              <p:nvPr/>
            </p:nvSpPr>
            <p:spPr>
              <a:xfrm>
                <a:off x="7548452" y="2505284"/>
                <a:ext cx="6210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8" name="TextBox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8452" y="2505284"/>
                <a:ext cx="621048" cy="461665"/>
              </a:xfrm>
              <a:prstGeom prst="rect">
                <a:avLst/>
              </a:prstGeom>
              <a:blipFill>
                <a:blip r:embed="rId27"/>
                <a:stretch>
                  <a:fillRect r="-98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/>
              <p:cNvSpPr txBox="1"/>
              <p:nvPr/>
            </p:nvSpPr>
            <p:spPr>
              <a:xfrm>
                <a:off x="9069618" y="2511110"/>
                <a:ext cx="6210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9618" y="2511110"/>
                <a:ext cx="621048" cy="461665"/>
              </a:xfrm>
              <a:prstGeom prst="rect">
                <a:avLst/>
              </a:prstGeom>
              <a:blipFill rotWithShape="0">
                <a:blip r:embed="rId28"/>
                <a:stretch>
                  <a:fillRect r="-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/>
              <p:cNvSpPr txBox="1"/>
              <p:nvPr/>
            </p:nvSpPr>
            <p:spPr>
              <a:xfrm>
                <a:off x="1109096" y="3146110"/>
                <a:ext cx="6210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0" name="TextBox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9096" y="3146110"/>
                <a:ext cx="621048" cy="461665"/>
              </a:xfrm>
              <a:prstGeom prst="rect">
                <a:avLst/>
              </a:prstGeom>
              <a:blipFill>
                <a:blip r:embed="rId29"/>
                <a:stretch>
                  <a:fillRect r="-88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2625773" y="3148677"/>
                <a:ext cx="6210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5773" y="3148677"/>
                <a:ext cx="621048" cy="461665"/>
              </a:xfrm>
              <a:prstGeom prst="rect">
                <a:avLst/>
              </a:prstGeom>
              <a:blipFill rotWithShape="0">
                <a:blip r:embed="rId30"/>
                <a:stretch>
                  <a:fillRect r="-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/>
              <p:cNvSpPr txBox="1"/>
              <p:nvPr/>
            </p:nvSpPr>
            <p:spPr>
              <a:xfrm>
                <a:off x="4320155" y="3146110"/>
                <a:ext cx="6210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2" name="TextBox 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0155" y="3146110"/>
                <a:ext cx="621048" cy="461665"/>
              </a:xfrm>
              <a:prstGeom prst="rect">
                <a:avLst/>
              </a:prstGeom>
              <a:blipFill>
                <a:blip r:embed="rId31"/>
                <a:stretch>
                  <a:fillRect r="-88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/>
              <p:cNvSpPr txBox="1"/>
              <p:nvPr/>
            </p:nvSpPr>
            <p:spPr>
              <a:xfrm>
                <a:off x="5816013" y="3146853"/>
                <a:ext cx="6210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3" name="TextBox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6013" y="3146853"/>
                <a:ext cx="621048" cy="461665"/>
              </a:xfrm>
              <a:prstGeom prst="rect">
                <a:avLst/>
              </a:prstGeom>
              <a:blipFill rotWithShape="0">
                <a:blip r:embed="rId32"/>
                <a:stretch>
                  <a:fillRect r="-9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/>
              <p:cNvSpPr txBox="1"/>
              <p:nvPr/>
            </p:nvSpPr>
            <p:spPr>
              <a:xfrm>
                <a:off x="7548452" y="3146110"/>
                <a:ext cx="6210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4" name="TextBox 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8452" y="3146110"/>
                <a:ext cx="621048" cy="461665"/>
              </a:xfrm>
              <a:prstGeom prst="rect">
                <a:avLst/>
              </a:prstGeom>
              <a:blipFill>
                <a:blip r:embed="rId33"/>
                <a:stretch>
                  <a:fillRect r="-98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/>
              <p:cNvSpPr txBox="1"/>
              <p:nvPr/>
            </p:nvSpPr>
            <p:spPr>
              <a:xfrm>
                <a:off x="1068152" y="3789674"/>
                <a:ext cx="6210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2" name="TextBox 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152" y="3789674"/>
                <a:ext cx="621048" cy="461665"/>
              </a:xfrm>
              <a:prstGeom prst="rect">
                <a:avLst/>
              </a:prstGeom>
              <a:blipFill>
                <a:blip r:embed="rId34"/>
                <a:stretch>
                  <a:fillRect r="-98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/>
              <p:cNvSpPr txBox="1"/>
              <p:nvPr/>
            </p:nvSpPr>
            <p:spPr>
              <a:xfrm>
                <a:off x="2625773" y="3780180"/>
                <a:ext cx="6210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4" name="TextBox 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5773" y="3780180"/>
                <a:ext cx="621048" cy="461665"/>
              </a:xfrm>
              <a:prstGeom prst="rect">
                <a:avLst/>
              </a:prstGeom>
              <a:blipFill rotWithShape="0">
                <a:blip r:embed="rId35"/>
                <a:stretch>
                  <a:fillRect r="-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/>
              <p:cNvSpPr txBox="1"/>
              <p:nvPr/>
            </p:nvSpPr>
            <p:spPr>
              <a:xfrm>
                <a:off x="4320155" y="3777569"/>
                <a:ext cx="6210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5" name="TextBox 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0155" y="3777569"/>
                <a:ext cx="621048" cy="461665"/>
              </a:xfrm>
              <a:prstGeom prst="rect">
                <a:avLst/>
              </a:prstGeom>
              <a:blipFill>
                <a:blip r:embed="rId36"/>
                <a:stretch>
                  <a:fillRect r="-88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/>
              <p:cNvSpPr txBox="1"/>
              <p:nvPr/>
            </p:nvSpPr>
            <p:spPr>
              <a:xfrm>
                <a:off x="5816013" y="3778356"/>
                <a:ext cx="6210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6" name="TextBox 9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6013" y="3778356"/>
                <a:ext cx="621048" cy="461665"/>
              </a:xfrm>
              <a:prstGeom prst="rect">
                <a:avLst/>
              </a:prstGeom>
              <a:blipFill rotWithShape="0">
                <a:blip r:embed="rId37"/>
                <a:stretch>
                  <a:fillRect r="-9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/>
              <p:cNvSpPr txBox="1"/>
              <p:nvPr/>
            </p:nvSpPr>
            <p:spPr>
              <a:xfrm>
                <a:off x="1068152" y="4409303"/>
                <a:ext cx="6210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8" name="TextBox 9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152" y="4409303"/>
                <a:ext cx="621048" cy="461665"/>
              </a:xfrm>
              <a:prstGeom prst="rect">
                <a:avLst/>
              </a:prstGeom>
              <a:blipFill>
                <a:blip r:embed="rId38"/>
                <a:stretch>
                  <a:fillRect r="-98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/>
              <p:cNvSpPr txBox="1"/>
              <p:nvPr/>
            </p:nvSpPr>
            <p:spPr>
              <a:xfrm>
                <a:off x="2632401" y="4436165"/>
                <a:ext cx="6210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9" name="TextBox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2401" y="4436165"/>
                <a:ext cx="621048" cy="461665"/>
              </a:xfrm>
              <a:prstGeom prst="rect">
                <a:avLst/>
              </a:prstGeom>
              <a:blipFill rotWithShape="0">
                <a:blip r:embed="rId39"/>
                <a:stretch>
                  <a:fillRect r="-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/>
              <p:cNvSpPr txBox="1"/>
              <p:nvPr/>
            </p:nvSpPr>
            <p:spPr>
              <a:xfrm>
                <a:off x="4323314" y="4433598"/>
                <a:ext cx="6210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0" name="TextBox 9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3314" y="4433598"/>
                <a:ext cx="621048" cy="461665"/>
              </a:xfrm>
              <a:prstGeom prst="rect">
                <a:avLst/>
              </a:prstGeom>
              <a:blipFill>
                <a:blip r:embed="rId40"/>
                <a:stretch>
                  <a:fillRect r="-98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/>
              <p:cNvSpPr txBox="1"/>
              <p:nvPr/>
            </p:nvSpPr>
            <p:spPr>
              <a:xfrm>
                <a:off x="1044346" y="5073397"/>
                <a:ext cx="6210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1" name="TextBox 1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346" y="5073397"/>
                <a:ext cx="621048" cy="461665"/>
              </a:xfrm>
              <a:prstGeom prst="rect">
                <a:avLst/>
              </a:prstGeom>
              <a:blipFill>
                <a:blip r:embed="rId41"/>
                <a:stretch>
                  <a:fillRect r="-98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/>
              <p:cNvSpPr txBox="1"/>
              <p:nvPr/>
            </p:nvSpPr>
            <p:spPr>
              <a:xfrm>
                <a:off x="2625773" y="5080048"/>
                <a:ext cx="6210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2" name="TextBox 1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5773" y="5080048"/>
                <a:ext cx="621048" cy="461665"/>
              </a:xfrm>
              <a:prstGeom prst="rect">
                <a:avLst/>
              </a:prstGeom>
              <a:blipFill>
                <a:blip r:embed="rId42"/>
                <a:stretch>
                  <a:fillRect r="-88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/>
              <p:cNvSpPr txBox="1"/>
              <p:nvPr/>
            </p:nvSpPr>
            <p:spPr>
              <a:xfrm>
                <a:off x="4299965" y="5077271"/>
                <a:ext cx="6210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3" name="TextBox 1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9965" y="5077271"/>
                <a:ext cx="621048" cy="461665"/>
              </a:xfrm>
              <a:prstGeom prst="rect">
                <a:avLst/>
              </a:prstGeom>
              <a:blipFill>
                <a:blip r:embed="rId43"/>
                <a:stretch>
                  <a:fillRect r="-98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27570BB-7479-E40E-1AD3-0A962E003B8C}"/>
              </a:ext>
            </a:extLst>
          </p:cNvPr>
          <p:cNvCxnSpPr>
            <a:cxnSpLocks/>
          </p:cNvCxnSpPr>
          <p:nvPr/>
        </p:nvCxnSpPr>
        <p:spPr>
          <a:xfrm flipH="1">
            <a:off x="10085491" y="4836748"/>
            <a:ext cx="2589" cy="585534"/>
          </a:xfrm>
          <a:prstGeom prst="line">
            <a:avLst/>
          </a:prstGeom>
          <a:solidFill>
            <a:schemeClr val="bg1"/>
          </a:solidFill>
          <a:ln w="38100">
            <a:solidFill>
              <a:srgbClr val="FFC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9D2F007-FEB8-E103-BD1B-F8BA29ACB1F9}"/>
              </a:ext>
            </a:extLst>
          </p:cNvPr>
          <p:cNvCxnSpPr>
            <a:cxnSpLocks/>
          </p:cNvCxnSpPr>
          <p:nvPr/>
        </p:nvCxnSpPr>
        <p:spPr>
          <a:xfrm flipH="1">
            <a:off x="10119559" y="4854433"/>
            <a:ext cx="667810" cy="0"/>
          </a:xfrm>
          <a:prstGeom prst="line">
            <a:avLst/>
          </a:prstGeom>
          <a:solidFill>
            <a:schemeClr val="bg1"/>
          </a:solidFill>
          <a:ln w="38100">
            <a:solidFill>
              <a:srgbClr val="FFC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E0EFFAA-4B8C-5672-9710-2150D67B5EC8}"/>
              </a:ext>
            </a:extLst>
          </p:cNvPr>
          <p:cNvCxnSpPr>
            <a:cxnSpLocks/>
          </p:cNvCxnSpPr>
          <p:nvPr/>
        </p:nvCxnSpPr>
        <p:spPr>
          <a:xfrm>
            <a:off x="10769668" y="4111267"/>
            <a:ext cx="804" cy="702000"/>
          </a:xfrm>
          <a:prstGeom prst="line">
            <a:avLst/>
          </a:prstGeom>
          <a:solidFill>
            <a:schemeClr val="bg1"/>
          </a:solidFill>
          <a:ln w="38100">
            <a:solidFill>
              <a:srgbClr val="FFC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94BE2CB-81E2-488F-7186-3CABE7BA9673}"/>
              </a:ext>
            </a:extLst>
          </p:cNvPr>
          <p:cNvCxnSpPr>
            <a:cxnSpLocks/>
          </p:cNvCxnSpPr>
          <p:nvPr/>
        </p:nvCxnSpPr>
        <p:spPr>
          <a:xfrm flipH="1">
            <a:off x="10783602" y="4130323"/>
            <a:ext cx="756000" cy="0"/>
          </a:xfrm>
          <a:prstGeom prst="line">
            <a:avLst/>
          </a:prstGeom>
          <a:solidFill>
            <a:schemeClr val="bg1"/>
          </a:solidFill>
          <a:ln w="38100">
            <a:solidFill>
              <a:srgbClr val="FFC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133493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3" grpId="0"/>
      <p:bldP spid="34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56" grpId="0"/>
      <p:bldP spid="77" grpId="0"/>
      <p:bldP spid="78" grpId="0"/>
      <p:bldP spid="79" grpId="0"/>
      <p:bldP spid="80" grpId="0"/>
      <p:bldP spid="81" grpId="0"/>
      <p:bldP spid="83" grpId="0"/>
      <p:bldP spid="85" grpId="0"/>
      <p:bldP spid="86" grpId="0"/>
      <p:bldP spid="87" grpId="0"/>
      <p:bldP spid="88" grpId="0"/>
      <p:bldP spid="89" grpId="0"/>
      <p:bldP spid="90" grpId="0"/>
      <p:bldP spid="91" grpId="0"/>
      <p:bldP spid="92" grpId="0"/>
      <p:bldP spid="93" grpId="0"/>
      <p:bldP spid="94" grpId="0"/>
      <p:bldP spid="82" grpId="0"/>
      <p:bldP spid="84" grpId="0"/>
      <p:bldP spid="95" grpId="0"/>
      <p:bldP spid="96" grpId="0"/>
      <p:bldP spid="98" grpId="0"/>
      <p:bldP spid="99" grpId="0"/>
      <p:bldP spid="100" grpId="0"/>
      <p:bldP spid="101" grpId="0"/>
      <p:bldP spid="102" grpId="0"/>
      <p:bldP spid="103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2B89E-B2F2-6ADB-91BD-87AECFEAC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C2DCD2BF-FE68-BBCD-EADD-AF53EF45FB4B}"/>
              </a:ext>
            </a:extLst>
          </p:cNvPr>
          <p:cNvSpPr txBox="1">
            <a:spLocks/>
          </p:cNvSpPr>
          <p:nvPr/>
        </p:nvSpPr>
        <p:spPr>
          <a:xfrm>
            <a:off x="131176" y="867840"/>
            <a:ext cx="11929645" cy="926308"/>
          </a:xfrm>
          <a:prstGeom prst="rect">
            <a:avLst/>
          </a:pr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lvl="0"/>
          </a:lstStyle>
          <a:p>
            <a:r>
              <a:rPr lang="en-US" sz="2800" dirty="0">
                <a:solidFill>
                  <a:schemeClr val="bg1"/>
                </a:solidFill>
              </a:rPr>
              <a:t>For following tree find the distance between two vertices, Eccentricity, Radius, Diameter, Center.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FB42197-183A-F74E-BF2C-AC3F22B5656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Method 2 ⇝ Example 3</a:t>
            </a:r>
            <a:endParaRPr lang="en-US" dirty="0"/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20EE1169-2875-CB9D-D45C-FB434D98BC7D}"/>
              </a:ext>
            </a:extLst>
          </p:cNvPr>
          <p:cNvSpPr txBox="1">
            <a:spLocks/>
          </p:cNvSpPr>
          <p:nvPr/>
        </p:nvSpPr>
        <p:spPr>
          <a:xfrm>
            <a:off x="131176" y="1840299"/>
            <a:ext cx="1407338" cy="523220"/>
          </a:xfrm>
          <a:prstGeom prst="rect">
            <a:avLst/>
          </a:pr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lvl="0"/>
          </a:lstStyle>
          <a:p>
            <a:r>
              <a:rPr lang="en-IN" sz="2800" dirty="0">
                <a:solidFill>
                  <a:schemeClr val="bg1"/>
                </a:solidFill>
              </a:rPr>
              <a:t>Solution </a:t>
            </a:r>
            <a:endParaRPr lang="en-US" sz="2800" dirty="0">
              <a:solidFill>
                <a:schemeClr val="bg1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FCA188E-FEF6-8325-3412-B05CE96CAAA2}"/>
              </a:ext>
            </a:extLst>
          </p:cNvPr>
          <p:cNvGraphicFramePr>
            <a:graphicFrameLocks noGrp="1"/>
          </p:cNvGraphicFramePr>
          <p:nvPr/>
        </p:nvGraphicFramePr>
        <p:xfrm>
          <a:off x="124952" y="2438353"/>
          <a:ext cx="9720000" cy="5657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:a16="http://schemas.microsoft.com/office/drawing/2014/main" val="2573274369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4051045428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1541333607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535765769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3481627474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676072984"/>
                    </a:ext>
                  </a:extLst>
                </a:gridCol>
              </a:tblGrid>
              <a:tr h="565714">
                <a:tc>
                  <a:txBody>
                    <a:bodyPr/>
                    <a:lstStyle/>
                    <a:p>
                      <a:endParaRPr lang="en-IN" sz="24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9683138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126BF0A-D280-D3AE-9E45-40E36C7EB982}"/>
              </a:ext>
            </a:extLst>
          </p:cNvPr>
          <p:cNvGraphicFramePr>
            <a:graphicFrameLocks noGrp="1"/>
          </p:cNvGraphicFramePr>
          <p:nvPr/>
        </p:nvGraphicFramePr>
        <p:xfrm>
          <a:off x="124951" y="3085108"/>
          <a:ext cx="8100000" cy="5657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:a16="http://schemas.microsoft.com/office/drawing/2014/main" val="197265483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409799903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1726805427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345026362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1541232864"/>
                    </a:ext>
                  </a:extLst>
                </a:gridCol>
              </a:tblGrid>
              <a:tr h="565714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3524588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0EDEE939-97ED-BE61-467C-5E9827A967F8}"/>
              </a:ext>
            </a:extLst>
          </p:cNvPr>
          <p:cNvGraphicFramePr>
            <a:graphicFrameLocks noGrp="1"/>
          </p:cNvGraphicFramePr>
          <p:nvPr/>
        </p:nvGraphicFramePr>
        <p:xfrm>
          <a:off x="124951" y="3729313"/>
          <a:ext cx="6480000" cy="5657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:a16="http://schemas.microsoft.com/office/drawing/2014/main" val="2784671440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72636576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1244138235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367059181"/>
                    </a:ext>
                  </a:extLst>
                </a:gridCol>
              </a:tblGrid>
              <a:tr h="565714">
                <a:tc>
                  <a:txBody>
                    <a:bodyPr/>
                    <a:lstStyle/>
                    <a:p>
                      <a:endParaRPr lang="en-IN" sz="24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618106"/>
                  </a:ext>
                </a:extLst>
              </a:tr>
            </a:tbl>
          </a:graphicData>
        </a:graphic>
      </p:graphicFrame>
      <p:graphicFrame>
        <p:nvGraphicFramePr>
          <p:cNvPr id="52" name="Table 51">
            <a:extLst>
              <a:ext uri="{FF2B5EF4-FFF2-40B4-BE49-F238E27FC236}">
                <a16:creationId xmlns:a16="http://schemas.microsoft.com/office/drawing/2014/main" id="{2E8EDB38-409D-B568-2DB1-5F21C4054292}"/>
              </a:ext>
            </a:extLst>
          </p:cNvPr>
          <p:cNvGraphicFramePr>
            <a:graphicFrameLocks noGrp="1"/>
          </p:cNvGraphicFramePr>
          <p:nvPr/>
        </p:nvGraphicFramePr>
        <p:xfrm>
          <a:off x="124951" y="4376173"/>
          <a:ext cx="4860000" cy="5657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:a16="http://schemas.microsoft.com/office/drawing/2014/main" val="197265483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409799903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1726805427"/>
                    </a:ext>
                  </a:extLst>
                </a:gridCol>
              </a:tblGrid>
              <a:tr h="565714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3524588"/>
                  </a:ext>
                </a:extLst>
              </a:tr>
            </a:tbl>
          </a:graphicData>
        </a:graphic>
      </p:graphicFrame>
      <p:graphicFrame>
        <p:nvGraphicFramePr>
          <p:cNvPr id="53" name="Table 52">
            <a:extLst>
              <a:ext uri="{FF2B5EF4-FFF2-40B4-BE49-F238E27FC236}">
                <a16:creationId xmlns:a16="http://schemas.microsoft.com/office/drawing/2014/main" id="{91633EFF-1E04-EB9E-C667-7299D46361C8}"/>
              </a:ext>
            </a:extLst>
          </p:cNvPr>
          <p:cNvGraphicFramePr>
            <a:graphicFrameLocks noGrp="1"/>
          </p:cNvGraphicFramePr>
          <p:nvPr/>
        </p:nvGraphicFramePr>
        <p:xfrm>
          <a:off x="121446" y="5023033"/>
          <a:ext cx="3240000" cy="5657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:a16="http://schemas.microsoft.com/office/drawing/2014/main" val="2784671440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72636576"/>
                    </a:ext>
                  </a:extLst>
                </a:gridCol>
              </a:tblGrid>
              <a:tr h="565714">
                <a:tc>
                  <a:txBody>
                    <a:bodyPr/>
                    <a:lstStyle/>
                    <a:p>
                      <a:endParaRPr lang="en-IN" sz="24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618106"/>
                  </a:ext>
                </a:extLst>
              </a:tr>
            </a:tbl>
          </a:graphicData>
        </a:graphic>
      </p:graphicFrame>
      <p:graphicFrame>
        <p:nvGraphicFramePr>
          <p:cNvPr id="54" name="Table 53">
            <a:extLst>
              <a:ext uri="{FF2B5EF4-FFF2-40B4-BE49-F238E27FC236}">
                <a16:creationId xmlns:a16="http://schemas.microsoft.com/office/drawing/2014/main" id="{549EDF3C-A133-8235-E0A3-95D427D2CEB9}"/>
              </a:ext>
            </a:extLst>
          </p:cNvPr>
          <p:cNvGraphicFramePr>
            <a:graphicFrameLocks noGrp="1"/>
          </p:cNvGraphicFramePr>
          <p:nvPr/>
        </p:nvGraphicFramePr>
        <p:xfrm>
          <a:off x="3377065" y="5023033"/>
          <a:ext cx="1620000" cy="5657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:a16="http://schemas.microsoft.com/office/drawing/2014/main" val="197265483"/>
                    </a:ext>
                  </a:extLst>
                </a:gridCol>
              </a:tblGrid>
              <a:tr h="565714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352458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091F0DE-1904-2AE5-48D3-CA14D04FB109}"/>
                  </a:ext>
                </a:extLst>
              </p:cNvPr>
              <p:cNvSpPr txBox="1"/>
              <p:nvPr/>
            </p:nvSpPr>
            <p:spPr>
              <a:xfrm>
                <a:off x="167425" y="2511580"/>
                <a:ext cx="93610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d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425" y="2511580"/>
                <a:ext cx="936107" cy="461665"/>
              </a:xfrm>
              <a:prstGeom prst="rect">
                <a:avLst/>
              </a:prstGeom>
              <a:blipFill rotWithShape="0">
                <a:blip r:embed="rId2"/>
                <a:stretch>
                  <a:fillRect l="-19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F712EC2-F2F0-97B7-9426-22AB98EA9650}"/>
                  </a:ext>
                </a:extLst>
              </p:cNvPr>
              <p:cNvSpPr txBox="1"/>
              <p:nvPr/>
            </p:nvSpPr>
            <p:spPr>
              <a:xfrm>
                <a:off x="167425" y="3117407"/>
                <a:ext cx="93610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425" y="3117407"/>
                <a:ext cx="936107" cy="461665"/>
              </a:xfrm>
              <a:prstGeom prst="rect">
                <a:avLst/>
              </a:prstGeom>
              <a:blipFill rotWithShape="0">
                <a:blip r:embed="rId3"/>
                <a:stretch>
                  <a:fillRect l="-19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4A3BD94-3CDD-6854-5CE1-4273CBD0FC1C}"/>
                  </a:ext>
                </a:extLst>
              </p:cNvPr>
              <p:cNvSpPr txBox="1"/>
              <p:nvPr/>
            </p:nvSpPr>
            <p:spPr>
              <a:xfrm>
                <a:off x="4984285" y="3117407"/>
                <a:ext cx="91656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4285" y="3117407"/>
                <a:ext cx="916563" cy="461665"/>
              </a:xfrm>
              <a:prstGeom prst="rect">
                <a:avLst/>
              </a:prstGeom>
              <a:blipFill rotWithShape="0">
                <a:blip r:embed="rId4"/>
                <a:stretch>
                  <a:fillRect l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9095235-983F-5049-FA18-956D400987C8}"/>
                  </a:ext>
                </a:extLst>
              </p:cNvPr>
              <p:cNvSpPr txBox="1"/>
              <p:nvPr/>
            </p:nvSpPr>
            <p:spPr>
              <a:xfrm>
                <a:off x="6599309" y="3133969"/>
                <a:ext cx="89369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9309" y="3133969"/>
                <a:ext cx="893692" cy="461665"/>
              </a:xfrm>
              <a:prstGeom prst="rect">
                <a:avLst/>
              </a:prstGeom>
              <a:blipFill rotWithShape="0">
                <a:blip r:embed="rId5"/>
                <a:stretch>
                  <a:fillRect l="-2055" r="-4110" b="-11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8AF9DAB-CF97-1CA5-051A-09EB606FCB4C}"/>
                  </a:ext>
                </a:extLst>
              </p:cNvPr>
              <p:cNvSpPr txBox="1"/>
              <p:nvPr/>
            </p:nvSpPr>
            <p:spPr>
              <a:xfrm>
                <a:off x="1779513" y="2511110"/>
                <a:ext cx="91354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9513" y="2511110"/>
                <a:ext cx="913544" cy="461665"/>
              </a:xfrm>
              <a:prstGeom prst="rect">
                <a:avLst/>
              </a:prstGeom>
              <a:blipFill rotWithShape="0">
                <a:blip r:embed="rId6"/>
                <a:stretch>
                  <a:fillRect l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17F9491-BACB-7DC9-5676-0E39771691F2}"/>
                  </a:ext>
                </a:extLst>
              </p:cNvPr>
              <p:cNvSpPr txBox="1"/>
              <p:nvPr/>
            </p:nvSpPr>
            <p:spPr>
              <a:xfrm>
                <a:off x="3357048" y="2511110"/>
                <a:ext cx="96626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7048" y="2511110"/>
                <a:ext cx="966266" cy="461665"/>
              </a:xfrm>
              <a:prstGeom prst="rect">
                <a:avLst/>
              </a:prstGeom>
              <a:blipFill rotWithShape="0">
                <a:blip r:embed="rId7"/>
                <a:stretch>
                  <a:fillRect l="-18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BA54B6A-0812-B73B-AB98-2DA095A0A73C}"/>
                  </a:ext>
                </a:extLst>
              </p:cNvPr>
              <p:cNvSpPr txBox="1"/>
              <p:nvPr/>
            </p:nvSpPr>
            <p:spPr>
              <a:xfrm>
                <a:off x="4934581" y="2511110"/>
                <a:ext cx="96626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4581" y="2511110"/>
                <a:ext cx="966267" cy="461665"/>
              </a:xfrm>
              <a:prstGeom prst="rect">
                <a:avLst/>
              </a:prstGeom>
              <a:blipFill rotWithShape="0">
                <a:blip r:embed="rId8"/>
                <a:stretch>
                  <a:fillRect l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7498289-4D4A-0638-B4FF-72C29AC5AB6A}"/>
                  </a:ext>
                </a:extLst>
              </p:cNvPr>
              <p:cNvSpPr txBox="1"/>
              <p:nvPr/>
            </p:nvSpPr>
            <p:spPr>
              <a:xfrm>
                <a:off x="6599308" y="2511110"/>
                <a:ext cx="89369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9308" y="2511110"/>
                <a:ext cx="893692" cy="461665"/>
              </a:xfrm>
              <a:prstGeom prst="rect">
                <a:avLst/>
              </a:prstGeom>
              <a:blipFill rotWithShape="0">
                <a:blip r:embed="rId9"/>
                <a:stretch>
                  <a:fillRect l="-20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1E1B100-052A-10CD-C462-7D8B8945B704}"/>
                  </a:ext>
                </a:extLst>
              </p:cNvPr>
              <p:cNvSpPr txBox="1"/>
              <p:nvPr/>
            </p:nvSpPr>
            <p:spPr>
              <a:xfrm>
                <a:off x="8176842" y="2498782"/>
                <a:ext cx="9417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6842" y="2498782"/>
                <a:ext cx="941758" cy="461665"/>
              </a:xfrm>
              <a:prstGeom prst="rect">
                <a:avLst/>
              </a:prstGeom>
              <a:blipFill rotWithShape="0">
                <a:blip r:embed="rId10"/>
                <a:stretch>
                  <a:fillRect l="-1935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5B9D366-989B-E85E-4F4A-4F9CF21875D3}"/>
                  </a:ext>
                </a:extLst>
              </p:cNvPr>
              <p:cNvSpPr txBox="1"/>
              <p:nvPr/>
            </p:nvSpPr>
            <p:spPr>
              <a:xfrm>
                <a:off x="3391518" y="3117407"/>
                <a:ext cx="93179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1518" y="3117407"/>
                <a:ext cx="931796" cy="461665"/>
              </a:xfrm>
              <a:prstGeom prst="rect">
                <a:avLst/>
              </a:prstGeom>
              <a:blipFill rotWithShape="0">
                <a:blip r:embed="rId11"/>
                <a:stretch>
                  <a:fillRect l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2DD0DBAC-3499-6558-1A51-DC1276E1D6D7}"/>
                  </a:ext>
                </a:extLst>
              </p:cNvPr>
              <p:cNvSpPr txBox="1"/>
              <p:nvPr/>
            </p:nvSpPr>
            <p:spPr>
              <a:xfrm>
                <a:off x="1730144" y="3117407"/>
                <a:ext cx="96291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0144" y="3117407"/>
                <a:ext cx="962913" cy="461665"/>
              </a:xfrm>
              <a:prstGeom prst="rect">
                <a:avLst/>
              </a:prstGeom>
              <a:blipFill rotWithShape="0">
                <a:blip r:embed="rId12"/>
                <a:stretch>
                  <a:fillRect l="-18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B5161D2-B0E3-43A9-3E03-260DB649F7C9}"/>
                  </a:ext>
                </a:extLst>
              </p:cNvPr>
              <p:cNvSpPr txBox="1"/>
              <p:nvPr/>
            </p:nvSpPr>
            <p:spPr>
              <a:xfrm>
                <a:off x="167426" y="3753441"/>
                <a:ext cx="93610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426" y="3753441"/>
                <a:ext cx="936106" cy="461665"/>
              </a:xfrm>
              <a:prstGeom prst="rect">
                <a:avLst/>
              </a:prstGeom>
              <a:blipFill rotWithShape="0">
                <a:blip r:embed="rId13"/>
                <a:stretch>
                  <a:fillRect l="-19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1EBC3FA7-FE38-39C2-9E90-32AC48B0D2CC}"/>
                  </a:ext>
                </a:extLst>
              </p:cNvPr>
              <p:cNvSpPr txBox="1"/>
              <p:nvPr/>
            </p:nvSpPr>
            <p:spPr>
              <a:xfrm>
                <a:off x="3391518" y="3753441"/>
                <a:ext cx="93179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1518" y="3753441"/>
                <a:ext cx="931796" cy="461665"/>
              </a:xfrm>
              <a:prstGeom prst="rect">
                <a:avLst/>
              </a:prstGeom>
              <a:blipFill rotWithShape="0">
                <a:blip r:embed="rId14"/>
                <a:stretch>
                  <a:fillRect l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5C95BD1-A0CF-0468-9EC8-471C85A7900C}"/>
                  </a:ext>
                </a:extLst>
              </p:cNvPr>
              <p:cNvSpPr txBox="1"/>
              <p:nvPr/>
            </p:nvSpPr>
            <p:spPr>
              <a:xfrm>
                <a:off x="1730144" y="3753441"/>
                <a:ext cx="89297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0144" y="3753441"/>
                <a:ext cx="892971" cy="461665"/>
              </a:xfrm>
              <a:prstGeom prst="rect">
                <a:avLst/>
              </a:prstGeom>
              <a:blipFill rotWithShape="0">
                <a:blip r:embed="rId15"/>
                <a:stretch>
                  <a:fillRect l="-20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07BE2E6-F31A-D2BE-0EA1-D99FF514844C}"/>
                  </a:ext>
                </a:extLst>
              </p:cNvPr>
              <p:cNvSpPr txBox="1"/>
              <p:nvPr/>
            </p:nvSpPr>
            <p:spPr>
              <a:xfrm>
                <a:off x="4960683" y="3751220"/>
                <a:ext cx="94016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0683" y="3751220"/>
                <a:ext cx="940165" cy="461665"/>
              </a:xfrm>
              <a:prstGeom prst="rect">
                <a:avLst/>
              </a:prstGeom>
              <a:blipFill rotWithShape="0">
                <a:blip r:embed="rId16"/>
                <a:stretch>
                  <a:fillRect l="-1948" b="-11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D2D484A-B96A-AE0B-7DA5-0CABD654AA89}"/>
                  </a:ext>
                </a:extLst>
              </p:cNvPr>
              <p:cNvSpPr txBox="1"/>
              <p:nvPr/>
            </p:nvSpPr>
            <p:spPr>
              <a:xfrm>
                <a:off x="150496" y="4407198"/>
                <a:ext cx="95303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496" y="4407198"/>
                <a:ext cx="953035" cy="461665"/>
              </a:xfrm>
              <a:prstGeom prst="rect">
                <a:avLst/>
              </a:prstGeom>
              <a:blipFill rotWithShape="0">
                <a:blip r:embed="rId17"/>
                <a:stretch>
                  <a:fillRect l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DC7177F0-0B95-D23C-CF0B-6A801131F0E3}"/>
                  </a:ext>
                </a:extLst>
              </p:cNvPr>
              <p:cNvSpPr txBox="1"/>
              <p:nvPr/>
            </p:nvSpPr>
            <p:spPr>
              <a:xfrm>
                <a:off x="1723125" y="4433598"/>
                <a:ext cx="9099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77" name="Text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125" y="4433598"/>
                <a:ext cx="909900" cy="461665"/>
              </a:xfrm>
              <a:prstGeom prst="rect">
                <a:avLst/>
              </a:prstGeom>
              <a:blipFill rotWithShape="0">
                <a:blip r:embed="rId18"/>
                <a:stretch>
                  <a:fillRect l="-20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E588549E-B23F-5F2B-3A01-F61B0AED430F}"/>
                  </a:ext>
                </a:extLst>
              </p:cNvPr>
              <p:cNvSpPr txBox="1"/>
              <p:nvPr/>
            </p:nvSpPr>
            <p:spPr>
              <a:xfrm>
                <a:off x="3391518" y="4404708"/>
                <a:ext cx="93179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1518" y="4404708"/>
                <a:ext cx="931796" cy="461665"/>
              </a:xfrm>
              <a:prstGeom prst="rect">
                <a:avLst/>
              </a:prstGeom>
              <a:blipFill rotWithShape="0">
                <a:blip r:embed="rId19"/>
                <a:stretch>
                  <a:fillRect l="-1961"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031167DB-4A17-BBCF-8F7A-A0253320E942}"/>
                  </a:ext>
                </a:extLst>
              </p:cNvPr>
              <p:cNvSpPr txBox="1"/>
              <p:nvPr/>
            </p:nvSpPr>
            <p:spPr>
              <a:xfrm>
                <a:off x="1691508" y="5076150"/>
                <a:ext cx="9316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  <m: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79" name="TextBox 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508" y="5076150"/>
                <a:ext cx="931608" cy="461665"/>
              </a:xfrm>
              <a:prstGeom prst="rect">
                <a:avLst/>
              </a:prstGeom>
              <a:blipFill rotWithShape="0">
                <a:blip r:embed="rId20"/>
                <a:stretch>
                  <a:fillRect l="-1961"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43A72276-8081-D1B0-B9AD-0A34539FC63F}"/>
                  </a:ext>
                </a:extLst>
              </p:cNvPr>
              <p:cNvSpPr txBox="1"/>
              <p:nvPr/>
            </p:nvSpPr>
            <p:spPr>
              <a:xfrm>
                <a:off x="167426" y="5078640"/>
                <a:ext cx="93610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  <m: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426" y="5078640"/>
                <a:ext cx="936106" cy="461665"/>
              </a:xfrm>
              <a:prstGeom prst="rect">
                <a:avLst/>
              </a:prstGeom>
              <a:blipFill rotWithShape="0">
                <a:blip r:embed="rId21"/>
                <a:stretch>
                  <a:fillRect l="-19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828D7959-A269-FE12-9E90-56A77E7CB9F3}"/>
                  </a:ext>
                </a:extLst>
              </p:cNvPr>
              <p:cNvSpPr txBox="1"/>
              <p:nvPr/>
            </p:nvSpPr>
            <p:spPr>
              <a:xfrm>
                <a:off x="3423045" y="5070190"/>
                <a:ext cx="93610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  <m: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828D7959-A269-FE12-9E90-56A77E7CB9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3045" y="5070190"/>
                <a:ext cx="936106" cy="461665"/>
              </a:xfrm>
              <a:prstGeom prst="rect">
                <a:avLst/>
              </a:prstGeom>
              <a:blipFill>
                <a:blip r:embed="rId22"/>
                <a:stretch>
                  <a:fillRect l="-1961" b="-12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F27DF48C-67C1-509A-D4ED-8C4A803EA4FA}"/>
                  </a:ext>
                </a:extLst>
              </p:cNvPr>
              <p:cNvSpPr txBox="1"/>
              <p:nvPr/>
            </p:nvSpPr>
            <p:spPr>
              <a:xfrm>
                <a:off x="1109096" y="2506122"/>
                <a:ext cx="6210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F27DF48C-67C1-509A-D4ED-8C4A803EA4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9096" y="2506122"/>
                <a:ext cx="621048" cy="461665"/>
              </a:xfrm>
              <a:prstGeom prst="rect">
                <a:avLst/>
              </a:prstGeom>
              <a:blipFill>
                <a:blip r:embed="rId23"/>
                <a:stretch>
                  <a:fillRect r="-88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4F4AF25F-04C1-0686-A578-E5FB1A5B665F}"/>
                  </a:ext>
                </a:extLst>
              </p:cNvPr>
              <p:cNvSpPr txBox="1"/>
              <p:nvPr/>
            </p:nvSpPr>
            <p:spPr>
              <a:xfrm>
                <a:off x="2625773" y="2513677"/>
                <a:ext cx="6210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5" name="TextBox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5773" y="2513677"/>
                <a:ext cx="621048" cy="461665"/>
              </a:xfrm>
              <a:prstGeom prst="rect">
                <a:avLst/>
              </a:prstGeom>
              <a:blipFill rotWithShape="0">
                <a:blip r:embed="rId24"/>
                <a:stretch>
                  <a:fillRect r="-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59061180-D3B2-B4D0-A4CC-4C4DFC55D676}"/>
                  </a:ext>
                </a:extLst>
              </p:cNvPr>
              <p:cNvSpPr txBox="1"/>
              <p:nvPr/>
            </p:nvSpPr>
            <p:spPr>
              <a:xfrm>
                <a:off x="4329663" y="2512839"/>
                <a:ext cx="6210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59061180-D3B2-B4D0-A4CC-4C4DFC55D6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9663" y="2512839"/>
                <a:ext cx="621048" cy="461665"/>
              </a:xfrm>
              <a:prstGeom prst="rect">
                <a:avLst/>
              </a:prstGeom>
              <a:blipFill>
                <a:blip r:embed="rId25"/>
                <a:stretch>
                  <a:fillRect r="-98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22FA38B8-3CB1-19CC-921F-1609DD514D2F}"/>
                  </a:ext>
                </a:extLst>
              </p:cNvPr>
              <p:cNvSpPr txBox="1"/>
              <p:nvPr/>
            </p:nvSpPr>
            <p:spPr>
              <a:xfrm>
                <a:off x="5816013" y="2511853"/>
                <a:ext cx="6210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7" name="TextBox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6013" y="2511853"/>
                <a:ext cx="621048" cy="461665"/>
              </a:xfrm>
              <a:prstGeom prst="rect">
                <a:avLst/>
              </a:prstGeom>
              <a:blipFill rotWithShape="0">
                <a:blip r:embed="rId26"/>
                <a:stretch>
                  <a:fillRect r="-9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58A08220-8B49-6860-0566-3938DF35AD46}"/>
                  </a:ext>
                </a:extLst>
              </p:cNvPr>
              <p:cNvSpPr txBox="1"/>
              <p:nvPr/>
            </p:nvSpPr>
            <p:spPr>
              <a:xfrm>
                <a:off x="7548452" y="2505284"/>
                <a:ext cx="6210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58A08220-8B49-6860-0566-3938DF35AD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8452" y="2505284"/>
                <a:ext cx="621048" cy="461665"/>
              </a:xfrm>
              <a:prstGeom prst="rect">
                <a:avLst/>
              </a:prstGeom>
              <a:blipFill>
                <a:blip r:embed="rId27"/>
                <a:stretch>
                  <a:fillRect r="-98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5AF00D52-A251-69DE-DD6B-1C8425A0F65A}"/>
                  </a:ext>
                </a:extLst>
              </p:cNvPr>
              <p:cNvSpPr txBox="1"/>
              <p:nvPr/>
            </p:nvSpPr>
            <p:spPr>
              <a:xfrm>
                <a:off x="9069618" y="2511110"/>
                <a:ext cx="6210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9618" y="2511110"/>
                <a:ext cx="621048" cy="461665"/>
              </a:xfrm>
              <a:prstGeom prst="rect">
                <a:avLst/>
              </a:prstGeom>
              <a:blipFill rotWithShape="0">
                <a:blip r:embed="rId28"/>
                <a:stretch>
                  <a:fillRect r="-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8CBB8CA0-BD16-C36A-904C-E372778C858A}"/>
                  </a:ext>
                </a:extLst>
              </p:cNvPr>
              <p:cNvSpPr txBox="1"/>
              <p:nvPr/>
            </p:nvSpPr>
            <p:spPr>
              <a:xfrm>
                <a:off x="1109096" y="3146110"/>
                <a:ext cx="6210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8CBB8CA0-BD16-C36A-904C-E372778C85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9096" y="3146110"/>
                <a:ext cx="621048" cy="461665"/>
              </a:xfrm>
              <a:prstGeom prst="rect">
                <a:avLst/>
              </a:prstGeom>
              <a:blipFill>
                <a:blip r:embed="rId29"/>
                <a:stretch>
                  <a:fillRect r="-88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69389693-E840-0B56-0C09-900AF52303B5}"/>
                  </a:ext>
                </a:extLst>
              </p:cNvPr>
              <p:cNvSpPr txBox="1"/>
              <p:nvPr/>
            </p:nvSpPr>
            <p:spPr>
              <a:xfrm>
                <a:off x="2625773" y="3148677"/>
                <a:ext cx="6210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69389693-E840-0B56-0C09-900AF52303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5773" y="3148677"/>
                <a:ext cx="621048" cy="461665"/>
              </a:xfrm>
              <a:prstGeom prst="rect">
                <a:avLst/>
              </a:prstGeom>
              <a:blipFill>
                <a:blip r:embed="rId30"/>
                <a:stretch>
                  <a:fillRect r="-88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18B5E2FF-16CB-FAC2-4D0F-BF0B002F69D5}"/>
                  </a:ext>
                </a:extLst>
              </p:cNvPr>
              <p:cNvSpPr txBox="1"/>
              <p:nvPr/>
            </p:nvSpPr>
            <p:spPr>
              <a:xfrm>
                <a:off x="4320155" y="3146110"/>
                <a:ext cx="6210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18B5E2FF-16CB-FAC2-4D0F-BF0B002F69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0155" y="3146110"/>
                <a:ext cx="621048" cy="461665"/>
              </a:xfrm>
              <a:prstGeom prst="rect">
                <a:avLst/>
              </a:prstGeom>
              <a:blipFill>
                <a:blip r:embed="rId31"/>
                <a:stretch>
                  <a:fillRect r="-88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9628D214-7E92-2018-86E8-9C66B0F13F88}"/>
                  </a:ext>
                </a:extLst>
              </p:cNvPr>
              <p:cNvSpPr txBox="1"/>
              <p:nvPr/>
            </p:nvSpPr>
            <p:spPr>
              <a:xfrm>
                <a:off x="5816013" y="3146853"/>
                <a:ext cx="6210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9628D214-7E92-2018-86E8-9C66B0F13F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6013" y="3146853"/>
                <a:ext cx="621048" cy="461665"/>
              </a:xfrm>
              <a:prstGeom prst="rect">
                <a:avLst/>
              </a:prstGeom>
              <a:blipFill>
                <a:blip r:embed="rId32"/>
                <a:stretch>
                  <a:fillRect r="-98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8F740326-F9D8-BA76-23C2-3BFD2B711F1C}"/>
                  </a:ext>
                </a:extLst>
              </p:cNvPr>
              <p:cNvSpPr txBox="1"/>
              <p:nvPr/>
            </p:nvSpPr>
            <p:spPr>
              <a:xfrm>
                <a:off x="7548452" y="3146110"/>
                <a:ext cx="6210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8F740326-F9D8-BA76-23C2-3BFD2B711F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8452" y="3146110"/>
                <a:ext cx="621048" cy="461665"/>
              </a:xfrm>
              <a:prstGeom prst="rect">
                <a:avLst/>
              </a:prstGeom>
              <a:blipFill>
                <a:blip r:embed="rId33"/>
                <a:stretch>
                  <a:fillRect r="-98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658949BE-2615-2CE2-9488-A41F81D1B976}"/>
                  </a:ext>
                </a:extLst>
              </p:cNvPr>
              <p:cNvSpPr txBox="1"/>
              <p:nvPr/>
            </p:nvSpPr>
            <p:spPr>
              <a:xfrm>
                <a:off x="1068152" y="3789674"/>
                <a:ext cx="6210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658949BE-2615-2CE2-9488-A41F81D1B9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152" y="3789674"/>
                <a:ext cx="621048" cy="461665"/>
              </a:xfrm>
              <a:prstGeom prst="rect">
                <a:avLst/>
              </a:prstGeom>
              <a:blipFill>
                <a:blip r:embed="rId34"/>
                <a:stretch>
                  <a:fillRect r="-98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4333B3C3-DA1E-7A21-A159-26BD8889C88A}"/>
                  </a:ext>
                </a:extLst>
              </p:cNvPr>
              <p:cNvSpPr txBox="1"/>
              <p:nvPr/>
            </p:nvSpPr>
            <p:spPr>
              <a:xfrm>
                <a:off x="2625773" y="3780180"/>
                <a:ext cx="6210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4" name="TextBox 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5773" y="3780180"/>
                <a:ext cx="621048" cy="461665"/>
              </a:xfrm>
              <a:prstGeom prst="rect">
                <a:avLst/>
              </a:prstGeom>
              <a:blipFill rotWithShape="0">
                <a:blip r:embed="rId35"/>
                <a:stretch>
                  <a:fillRect r="-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B28B41B7-E197-4120-E625-42FD663130BC}"/>
                  </a:ext>
                </a:extLst>
              </p:cNvPr>
              <p:cNvSpPr txBox="1"/>
              <p:nvPr/>
            </p:nvSpPr>
            <p:spPr>
              <a:xfrm>
                <a:off x="4320155" y="3777569"/>
                <a:ext cx="6210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B28B41B7-E197-4120-E625-42FD663130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0155" y="3777569"/>
                <a:ext cx="621048" cy="461665"/>
              </a:xfrm>
              <a:prstGeom prst="rect">
                <a:avLst/>
              </a:prstGeom>
              <a:blipFill>
                <a:blip r:embed="rId36"/>
                <a:stretch>
                  <a:fillRect r="-88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744C41AB-0960-7F96-2349-3E50E2D47173}"/>
                  </a:ext>
                </a:extLst>
              </p:cNvPr>
              <p:cNvSpPr txBox="1"/>
              <p:nvPr/>
            </p:nvSpPr>
            <p:spPr>
              <a:xfrm>
                <a:off x="5816013" y="3778356"/>
                <a:ext cx="6210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6" name="TextBox 9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6013" y="3778356"/>
                <a:ext cx="621048" cy="461665"/>
              </a:xfrm>
              <a:prstGeom prst="rect">
                <a:avLst/>
              </a:prstGeom>
              <a:blipFill rotWithShape="0">
                <a:blip r:embed="rId37"/>
                <a:stretch>
                  <a:fillRect r="-9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74E23042-89AA-D707-45B7-BE1B2C3D58CC}"/>
                  </a:ext>
                </a:extLst>
              </p:cNvPr>
              <p:cNvSpPr txBox="1"/>
              <p:nvPr/>
            </p:nvSpPr>
            <p:spPr>
              <a:xfrm>
                <a:off x="1068152" y="4409303"/>
                <a:ext cx="6210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74E23042-89AA-D707-45B7-BE1B2C3D58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152" y="4409303"/>
                <a:ext cx="621048" cy="461665"/>
              </a:xfrm>
              <a:prstGeom prst="rect">
                <a:avLst/>
              </a:prstGeom>
              <a:blipFill>
                <a:blip r:embed="rId38"/>
                <a:stretch>
                  <a:fillRect r="-98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3ECFE023-AB27-EBA0-CED7-A861E6D7CA03}"/>
                  </a:ext>
                </a:extLst>
              </p:cNvPr>
              <p:cNvSpPr txBox="1"/>
              <p:nvPr/>
            </p:nvSpPr>
            <p:spPr>
              <a:xfrm>
                <a:off x="2632401" y="4436165"/>
                <a:ext cx="6210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9" name="TextBox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2401" y="4436165"/>
                <a:ext cx="621048" cy="461665"/>
              </a:xfrm>
              <a:prstGeom prst="rect">
                <a:avLst/>
              </a:prstGeom>
              <a:blipFill rotWithShape="0">
                <a:blip r:embed="rId39"/>
                <a:stretch>
                  <a:fillRect r="-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64353FB4-3DB5-EDE9-F37D-77FF3B8F9C84}"/>
                  </a:ext>
                </a:extLst>
              </p:cNvPr>
              <p:cNvSpPr txBox="1"/>
              <p:nvPr/>
            </p:nvSpPr>
            <p:spPr>
              <a:xfrm>
                <a:off x="4323314" y="4433598"/>
                <a:ext cx="6210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64353FB4-3DB5-EDE9-F37D-77FF3B8F9C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3314" y="4433598"/>
                <a:ext cx="621048" cy="461665"/>
              </a:xfrm>
              <a:prstGeom prst="rect">
                <a:avLst/>
              </a:prstGeom>
              <a:blipFill>
                <a:blip r:embed="rId40"/>
                <a:stretch>
                  <a:fillRect r="-98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7EF0DEF1-5506-4945-0E3B-08A228F07AE0}"/>
                  </a:ext>
                </a:extLst>
              </p:cNvPr>
              <p:cNvSpPr txBox="1"/>
              <p:nvPr/>
            </p:nvSpPr>
            <p:spPr>
              <a:xfrm>
                <a:off x="1044346" y="5073397"/>
                <a:ext cx="6210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7EF0DEF1-5506-4945-0E3B-08A228F07A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346" y="5073397"/>
                <a:ext cx="621048" cy="461665"/>
              </a:xfrm>
              <a:prstGeom prst="rect">
                <a:avLst/>
              </a:prstGeom>
              <a:blipFill>
                <a:blip r:embed="rId41"/>
                <a:stretch>
                  <a:fillRect r="-98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B05A911C-1A21-A806-C8B5-F32EF3FE1B0F}"/>
                  </a:ext>
                </a:extLst>
              </p:cNvPr>
              <p:cNvSpPr txBox="1"/>
              <p:nvPr/>
            </p:nvSpPr>
            <p:spPr>
              <a:xfrm>
                <a:off x="2625773" y="5080048"/>
                <a:ext cx="6210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B05A911C-1A21-A806-C8B5-F32EF3FE1B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5773" y="5080048"/>
                <a:ext cx="621048" cy="461665"/>
              </a:xfrm>
              <a:prstGeom prst="rect">
                <a:avLst/>
              </a:prstGeom>
              <a:blipFill>
                <a:blip r:embed="rId42"/>
                <a:stretch>
                  <a:fillRect r="-88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57D39447-80B2-1EEB-C624-06302A493931}"/>
                  </a:ext>
                </a:extLst>
              </p:cNvPr>
              <p:cNvSpPr txBox="1"/>
              <p:nvPr/>
            </p:nvSpPr>
            <p:spPr>
              <a:xfrm>
                <a:off x="4299965" y="5077271"/>
                <a:ext cx="6210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57D39447-80B2-1EEB-C624-06302A4939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9965" y="5077271"/>
                <a:ext cx="621048" cy="461665"/>
              </a:xfrm>
              <a:prstGeom prst="rect">
                <a:avLst/>
              </a:prstGeom>
              <a:blipFill>
                <a:blip r:embed="rId43"/>
                <a:stretch>
                  <a:fillRect r="-98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D36C9E2D-C963-5B98-B7CA-141894FC2D9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21446" y="5672870"/>
              <a:ext cx="9539999" cy="56571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62857">
                      <a:extLst>
                        <a:ext uri="{9D8B030D-6E8A-4147-A177-3AD203B41FA5}">
                          <a16:colId xmlns:a16="http://schemas.microsoft.com/office/drawing/2014/main" val="2573274369"/>
                        </a:ext>
                      </a:extLst>
                    </a:gridCol>
                    <a:gridCol w="1362857">
                      <a:extLst>
                        <a:ext uri="{9D8B030D-6E8A-4147-A177-3AD203B41FA5}">
                          <a16:colId xmlns:a16="http://schemas.microsoft.com/office/drawing/2014/main" val="4051045428"/>
                        </a:ext>
                      </a:extLst>
                    </a:gridCol>
                    <a:gridCol w="1362857">
                      <a:extLst>
                        <a:ext uri="{9D8B030D-6E8A-4147-A177-3AD203B41FA5}">
                          <a16:colId xmlns:a16="http://schemas.microsoft.com/office/drawing/2014/main" val="1541333607"/>
                        </a:ext>
                      </a:extLst>
                    </a:gridCol>
                    <a:gridCol w="1362857">
                      <a:extLst>
                        <a:ext uri="{9D8B030D-6E8A-4147-A177-3AD203B41FA5}">
                          <a16:colId xmlns:a16="http://schemas.microsoft.com/office/drawing/2014/main" val="535765769"/>
                        </a:ext>
                      </a:extLst>
                    </a:gridCol>
                    <a:gridCol w="1362857">
                      <a:extLst>
                        <a:ext uri="{9D8B030D-6E8A-4147-A177-3AD203B41FA5}">
                          <a16:colId xmlns:a16="http://schemas.microsoft.com/office/drawing/2014/main" val="3481627474"/>
                        </a:ext>
                      </a:extLst>
                    </a:gridCol>
                    <a:gridCol w="1362857">
                      <a:extLst>
                        <a:ext uri="{9D8B030D-6E8A-4147-A177-3AD203B41FA5}">
                          <a16:colId xmlns:a16="http://schemas.microsoft.com/office/drawing/2014/main" val="676072984"/>
                        </a:ext>
                      </a:extLst>
                    </a:gridCol>
                    <a:gridCol w="1362857">
                      <a:extLst>
                        <a:ext uri="{9D8B030D-6E8A-4147-A177-3AD203B41FA5}">
                          <a16:colId xmlns:a16="http://schemas.microsoft.com/office/drawing/2014/main" val="2065311432"/>
                        </a:ext>
                      </a:extLst>
                    </a:gridCol>
                  </a:tblGrid>
                  <a:tr h="565714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IN" sz="2400" kern="120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𝐞</m:t>
                                </m:r>
                                <m:d>
                                  <m:dPr>
                                    <m:ctrlPr>
                                      <a:rPr lang="en-IN" sz="2400" i="1" kern="120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sz="2400" kern="120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𝐚</m:t>
                                    </m:r>
                                  </m:e>
                                </m:d>
                                <m:r>
                                  <a:rPr lang="en-IN" sz="2400" b="1" i="0" kern="120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IN" sz="2400" kern="12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kumimoji="0" lang="en-IN" sz="24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206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𝐞</m:t>
                                </m:r>
                                <m:d>
                                  <m:dPr>
                                    <m:ctrlPr>
                                      <a:rPr kumimoji="0" lang="en-IN" sz="24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206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IN" sz="2400" b="1" i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206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𝐛</m:t>
                                    </m:r>
                                  </m:e>
                                </m:d>
                                <m:r>
                                  <a:rPr kumimoji="0" lang="en-IN" sz="24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206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 anchor="ctr"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kumimoji="0" lang="en-IN" sz="24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206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𝐞</m:t>
                                </m:r>
                                <m:d>
                                  <m:dPr>
                                    <m:ctrlPr>
                                      <a:rPr kumimoji="0" lang="en-IN" sz="24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206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IN" sz="2400" b="1" i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206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𝐜</m:t>
                                    </m:r>
                                  </m:e>
                                </m:d>
                                <m:r>
                                  <a:rPr kumimoji="0" lang="en-IN" sz="24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206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 anchor="ctr"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kumimoji="0" lang="en-IN" sz="24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206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𝐞</m:t>
                                </m:r>
                                <m:d>
                                  <m:dPr>
                                    <m:ctrlPr>
                                      <a:rPr kumimoji="0" lang="en-IN" sz="24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206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IN" sz="2400" b="1" i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206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𝐝</m:t>
                                    </m:r>
                                  </m:e>
                                </m:d>
                                <m:r>
                                  <a:rPr kumimoji="0" lang="en-IN" sz="24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206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 anchor="ctr"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kumimoji="0" lang="en-IN" sz="24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206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𝐞</m:t>
                                </m:r>
                                <m:d>
                                  <m:dPr>
                                    <m:ctrlPr>
                                      <a:rPr kumimoji="0" lang="en-IN" sz="24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206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IN" sz="2400" b="1" i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206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𝐞</m:t>
                                    </m:r>
                                  </m:e>
                                </m:d>
                                <m:r>
                                  <a:rPr kumimoji="0" lang="en-IN" sz="24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206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 anchor="ctr"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kumimoji="0" lang="en-IN" sz="24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206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𝐞</m:t>
                                </m:r>
                                <m:d>
                                  <m:dPr>
                                    <m:ctrlPr>
                                      <a:rPr kumimoji="0" lang="en-IN" sz="24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206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IN" sz="2400" b="1" i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206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𝐟</m:t>
                                    </m:r>
                                  </m:e>
                                </m:d>
                                <m:r>
                                  <a:rPr kumimoji="0" lang="en-IN" sz="24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206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 anchor="ctr"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kumimoji="0" lang="en-IN" sz="24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206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𝐞</m:t>
                                </m:r>
                                <m:d>
                                  <m:dPr>
                                    <m:ctrlPr>
                                      <a:rPr kumimoji="0" lang="en-IN" sz="24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206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IN" sz="2400" b="1" i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206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𝐠</m:t>
                                    </m:r>
                                  </m:e>
                                </m:d>
                                <m:r>
                                  <a:rPr kumimoji="0" lang="en-IN" sz="24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206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kumimoji="0" lang="en-IN" sz="2400" b="1" i="0" u="none" strike="noStrike" kern="1200" cap="none" spc="0" normalizeH="0" baseline="0" dirty="0">
                            <a:ln>
                              <a:noFill/>
                            </a:ln>
                            <a:solidFill>
                              <a:srgbClr val="00206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96831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D36C9E2D-C963-5B98-B7CA-141894FC2D9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21446" y="5672870"/>
              <a:ext cx="9539999" cy="56571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62857">
                      <a:extLst>
                        <a:ext uri="{9D8B030D-6E8A-4147-A177-3AD203B41FA5}">
                          <a16:colId xmlns:a16="http://schemas.microsoft.com/office/drawing/2014/main" val="2573274369"/>
                        </a:ext>
                      </a:extLst>
                    </a:gridCol>
                    <a:gridCol w="1362857">
                      <a:extLst>
                        <a:ext uri="{9D8B030D-6E8A-4147-A177-3AD203B41FA5}">
                          <a16:colId xmlns:a16="http://schemas.microsoft.com/office/drawing/2014/main" val="4051045428"/>
                        </a:ext>
                      </a:extLst>
                    </a:gridCol>
                    <a:gridCol w="1362857">
                      <a:extLst>
                        <a:ext uri="{9D8B030D-6E8A-4147-A177-3AD203B41FA5}">
                          <a16:colId xmlns:a16="http://schemas.microsoft.com/office/drawing/2014/main" val="1541333607"/>
                        </a:ext>
                      </a:extLst>
                    </a:gridCol>
                    <a:gridCol w="1362857">
                      <a:extLst>
                        <a:ext uri="{9D8B030D-6E8A-4147-A177-3AD203B41FA5}">
                          <a16:colId xmlns:a16="http://schemas.microsoft.com/office/drawing/2014/main" val="535765769"/>
                        </a:ext>
                      </a:extLst>
                    </a:gridCol>
                    <a:gridCol w="1362857">
                      <a:extLst>
                        <a:ext uri="{9D8B030D-6E8A-4147-A177-3AD203B41FA5}">
                          <a16:colId xmlns:a16="http://schemas.microsoft.com/office/drawing/2014/main" val="3481627474"/>
                        </a:ext>
                      </a:extLst>
                    </a:gridCol>
                    <a:gridCol w="1362857">
                      <a:extLst>
                        <a:ext uri="{9D8B030D-6E8A-4147-A177-3AD203B41FA5}">
                          <a16:colId xmlns:a16="http://schemas.microsoft.com/office/drawing/2014/main" val="676072984"/>
                        </a:ext>
                      </a:extLst>
                    </a:gridCol>
                    <a:gridCol w="1362857">
                      <a:extLst>
                        <a:ext uri="{9D8B030D-6E8A-4147-A177-3AD203B41FA5}">
                          <a16:colId xmlns:a16="http://schemas.microsoft.com/office/drawing/2014/main" val="2065311432"/>
                        </a:ext>
                      </a:extLst>
                    </a:gridCol>
                  </a:tblGrid>
                  <a:tr h="56571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4"/>
                          <a:stretch>
                            <a:fillRect l="-446" t="-1064" r="-601339" b="-42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4"/>
                          <a:stretch>
                            <a:fillRect l="-100897" t="-1064" r="-504036" b="-42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4"/>
                          <a:stretch>
                            <a:fillRect l="-200000" t="-1064" r="-401786" b="-42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4"/>
                          <a:stretch>
                            <a:fillRect l="-300000" t="-1064" r="-301786" b="-42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4"/>
                          <a:stretch>
                            <a:fillRect l="-400000" t="-1064" r="-201786" b="-42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4"/>
                          <a:stretch>
                            <a:fillRect l="-502242" t="-1064" r="-102691" b="-42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4"/>
                          <a:stretch>
                            <a:fillRect l="-599554" t="-1064" r="-2232" b="-42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968313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682F567-DA57-0F2F-A530-4280AC947A7F}"/>
              </a:ext>
            </a:extLst>
          </p:cNvPr>
          <p:cNvSpPr/>
          <p:nvPr/>
        </p:nvSpPr>
        <p:spPr>
          <a:xfrm>
            <a:off x="121446" y="2423142"/>
            <a:ext cx="9723506" cy="565714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866F54-F3E4-D65E-4766-2F1A4C6E9A52}"/>
              </a:ext>
            </a:extLst>
          </p:cNvPr>
          <p:cNvSpPr/>
          <p:nvPr/>
        </p:nvSpPr>
        <p:spPr>
          <a:xfrm>
            <a:off x="1167193" y="2497755"/>
            <a:ext cx="570224" cy="423247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1496318-9302-CC88-D17A-F7C6E9C75AFA}"/>
                  </a:ext>
                </a:extLst>
              </p:cNvPr>
              <p:cNvSpPr txBox="1"/>
              <p:nvPr/>
            </p:nvSpPr>
            <p:spPr>
              <a:xfrm>
                <a:off x="1110889" y="5724894"/>
                <a:ext cx="34934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IN" sz="2400" b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1496318-9302-CC88-D17A-F7C6E9C75A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889" y="5724894"/>
                <a:ext cx="349349" cy="461665"/>
              </a:xfrm>
              <a:prstGeom prst="rect">
                <a:avLst/>
              </a:prstGeom>
              <a:blipFill>
                <a:blip r:embed="rId45"/>
                <a:stretch>
                  <a:fillRect l="-3448" r="-862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ounded Rectangle 4">
            <a:extLst>
              <a:ext uri="{FF2B5EF4-FFF2-40B4-BE49-F238E27FC236}">
                <a16:creationId xmlns:a16="http://schemas.microsoft.com/office/drawing/2014/main" id="{B679C3CF-7BB0-6410-5E93-595EDEB07919}"/>
              </a:ext>
            </a:extLst>
          </p:cNvPr>
          <p:cNvSpPr/>
          <p:nvPr/>
        </p:nvSpPr>
        <p:spPr>
          <a:xfrm>
            <a:off x="122179" y="3064117"/>
            <a:ext cx="8100000" cy="565714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4">
            <a:extLst>
              <a:ext uri="{FF2B5EF4-FFF2-40B4-BE49-F238E27FC236}">
                <a16:creationId xmlns:a16="http://schemas.microsoft.com/office/drawing/2014/main" id="{4B94BC4B-859F-6601-B21D-FE6F7143CA5F}"/>
              </a:ext>
            </a:extLst>
          </p:cNvPr>
          <p:cNvSpPr/>
          <p:nvPr/>
        </p:nvSpPr>
        <p:spPr>
          <a:xfrm>
            <a:off x="122975" y="2422925"/>
            <a:ext cx="1705825" cy="565714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5F540E4-0CDB-4D4A-3833-024A991B1068}"/>
                  </a:ext>
                </a:extLst>
              </p:cNvPr>
              <p:cNvSpPr txBox="1"/>
              <p:nvPr/>
            </p:nvSpPr>
            <p:spPr>
              <a:xfrm>
                <a:off x="2482562" y="5724893"/>
                <a:ext cx="34934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IN" sz="2400" b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5F540E4-0CDB-4D4A-3833-024A991B10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2562" y="5724893"/>
                <a:ext cx="349349" cy="461665"/>
              </a:xfrm>
              <a:prstGeom prst="rect">
                <a:avLst/>
              </a:prstGeom>
              <a:blipFill>
                <a:blip r:embed="rId46"/>
                <a:stretch>
                  <a:fillRect l="-3448" r="-862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>
            <a:extLst>
              <a:ext uri="{FF2B5EF4-FFF2-40B4-BE49-F238E27FC236}">
                <a16:creationId xmlns:a16="http://schemas.microsoft.com/office/drawing/2014/main" id="{1BE1FB42-A43F-A3F7-63B3-9A90E69A3222}"/>
              </a:ext>
            </a:extLst>
          </p:cNvPr>
          <p:cNvSpPr/>
          <p:nvPr/>
        </p:nvSpPr>
        <p:spPr>
          <a:xfrm>
            <a:off x="1140755" y="3134701"/>
            <a:ext cx="570224" cy="423247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E805A8A-88A7-D0C1-E9B1-A57DB6693808}"/>
                  </a:ext>
                </a:extLst>
              </p:cNvPr>
              <p:cNvSpPr txBox="1"/>
              <p:nvPr/>
            </p:nvSpPr>
            <p:spPr>
              <a:xfrm>
                <a:off x="3821354" y="5724892"/>
                <a:ext cx="34934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4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IN" sz="2400" b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E805A8A-88A7-D0C1-E9B1-A57DB66938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1354" y="5724892"/>
                <a:ext cx="349349" cy="461665"/>
              </a:xfrm>
              <a:prstGeom prst="rect">
                <a:avLst/>
              </a:prstGeom>
              <a:blipFill>
                <a:blip r:embed="rId47"/>
                <a:stretch>
                  <a:fillRect l="-5263" r="-877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C4EBFC-1803-02A3-3729-3E3BF333244A}"/>
                  </a:ext>
                </a:extLst>
              </p:cNvPr>
              <p:cNvSpPr txBox="1"/>
              <p:nvPr/>
            </p:nvSpPr>
            <p:spPr>
              <a:xfrm>
                <a:off x="5211492" y="5724892"/>
                <a:ext cx="34934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4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IN" sz="2400" b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C4EBFC-1803-02A3-3729-3E3BF33324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1492" y="5724892"/>
                <a:ext cx="349349" cy="461665"/>
              </a:xfrm>
              <a:prstGeom prst="rect">
                <a:avLst/>
              </a:prstGeom>
              <a:blipFill>
                <a:blip r:embed="rId48"/>
                <a:stretch>
                  <a:fillRect l="-5263" r="-877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03ADF40-EF44-9415-651E-E461EEB851D3}"/>
                  </a:ext>
                </a:extLst>
              </p:cNvPr>
              <p:cNvSpPr txBox="1"/>
              <p:nvPr/>
            </p:nvSpPr>
            <p:spPr>
              <a:xfrm>
                <a:off x="6531819" y="5724892"/>
                <a:ext cx="34934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4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IN" sz="2400" b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03ADF40-EF44-9415-651E-E461EEB851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819" y="5724892"/>
                <a:ext cx="349349" cy="461665"/>
              </a:xfrm>
              <a:prstGeom prst="rect">
                <a:avLst/>
              </a:prstGeom>
              <a:blipFill>
                <a:blip r:embed="rId49"/>
                <a:stretch>
                  <a:fillRect l="-3448" r="-862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4AA6D6E-FFB2-0421-1C54-8F603ABEC8FF}"/>
                  </a:ext>
                </a:extLst>
              </p:cNvPr>
              <p:cNvSpPr txBox="1"/>
              <p:nvPr/>
            </p:nvSpPr>
            <p:spPr>
              <a:xfrm>
                <a:off x="7872830" y="5724891"/>
                <a:ext cx="34934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4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IN" sz="2400" b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4AA6D6E-FFB2-0421-1C54-8F603ABEC8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2830" y="5724891"/>
                <a:ext cx="349349" cy="461665"/>
              </a:xfrm>
              <a:prstGeom prst="rect">
                <a:avLst/>
              </a:prstGeom>
              <a:blipFill>
                <a:blip r:embed="rId50"/>
                <a:stretch>
                  <a:fillRect l="-3448" r="-862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033AE84-590A-CED7-7670-E72A3DFF213F}"/>
                  </a:ext>
                </a:extLst>
              </p:cNvPr>
              <p:cNvSpPr txBox="1"/>
              <p:nvPr/>
            </p:nvSpPr>
            <p:spPr>
              <a:xfrm>
                <a:off x="9249659" y="5724890"/>
                <a:ext cx="34934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4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IN" sz="2400" b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033AE84-590A-CED7-7670-E72A3DFF21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9659" y="5724890"/>
                <a:ext cx="349349" cy="461665"/>
              </a:xfrm>
              <a:prstGeom prst="rect">
                <a:avLst/>
              </a:prstGeom>
              <a:blipFill>
                <a:blip r:embed="rId51"/>
                <a:stretch>
                  <a:fillRect l="-3448" r="-862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>
            <a:extLst>
              <a:ext uri="{FF2B5EF4-FFF2-40B4-BE49-F238E27FC236}">
                <a16:creationId xmlns:a16="http://schemas.microsoft.com/office/drawing/2014/main" id="{D0D0CF01-84A9-85DC-3B93-DD996ED8545C}"/>
              </a:ext>
            </a:extLst>
          </p:cNvPr>
          <p:cNvSpPr/>
          <p:nvPr/>
        </p:nvSpPr>
        <p:spPr>
          <a:xfrm>
            <a:off x="4365887" y="2498503"/>
            <a:ext cx="570224" cy="423247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4BC6D01-AD7A-1A62-FD8A-C87BC37664F0}"/>
              </a:ext>
            </a:extLst>
          </p:cNvPr>
          <p:cNvSpPr/>
          <p:nvPr/>
        </p:nvSpPr>
        <p:spPr>
          <a:xfrm>
            <a:off x="5874179" y="2504435"/>
            <a:ext cx="570224" cy="423247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8310A40-D505-6A83-1B79-FA1315E8E389}"/>
              </a:ext>
            </a:extLst>
          </p:cNvPr>
          <p:cNvSpPr/>
          <p:nvPr/>
        </p:nvSpPr>
        <p:spPr>
          <a:xfrm>
            <a:off x="7597697" y="2511110"/>
            <a:ext cx="570224" cy="423247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FCE8EF4-63F7-EF56-4CFA-ED8260133626}"/>
              </a:ext>
            </a:extLst>
          </p:cNvPr>
          <p:cNvSpPr/>
          <p:nvPr/>
        </p:nvSpPr>
        <p:spPr>
          <a:xfrm>
            <a:off x="9125942" y="2504120"/>
            <a:ext cx="570224" cy="423247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2181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8" grpId="0" animBg="1"/>
      <p:bldP spid="8" grpId="1" animBg="1"/>
      <p:bldP spid="8" grpId="2" animBg="1"/>
      <p:bldP spid="8" grpId="3" animBg="1"/>
      <p:bldP spid="10" grpId="0"/>
      <p:bldP spid="13" grpId="0" animBg="1"/>
      <p:bldP spid="13" grpId="1" animBg="1"/>
      <p:bldP spid="16" grpId="0" animBg="1"/>
      <p:bldP spid="16" grpId="1" animBg="1"/>
      <p:bldP spid="17" grpId="0"/>
      <p:bldP spid="21" grpId="0" animBg="1"/>
      <p:bldP spid="21" grpId="1" animBg="1"/>
      <p:bldP spid="23" grpId="0"/>
      <p:bldP spid="24" grpId="0"/>
      <p:bldP spid="25" grpId="0"/>
      <p:bldP spid="26" grpId="0"/>
      <p:bldP spid="27" grpId="0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D0D21-09E6-E2F3-C1F2-347F243BF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E80C70AE-7BEE-7CD7-ABDD-56436EE9CC23}"/>
              </a:ext>
            </a:extLst>
          </p:cNvPr>
          <p:cNvSpPr txBox="1">
            <a:spLocks/>
          </p:cNvSpPr>
          <p:nvPr/>
        </p:nvSpPr>
        <p:spPr>
          <a:xfrm>
            <a:off x="131176" y="867840"/>
            <a:ext cx="11929645" cy="926308"/>
          </a:xfrm>
          <a:prstGeom prst="rect">
            <a:avLst/>
          </a:pr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lvl="0"/>
          </a:lstStyle>
          <a:p>
            <a:r>
              <a:rPr lang="en-US" sz="2800" dirty="0">
                <a:solidFill>
                  <a:schemeClr val="bg1"/>
                </a:solidFill>
              </a:rPr>
              <a:t>For following tree find the distance between two vertices, Eccentricity, Radius, Diameter, Center.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4CDC82A-E07F-AE64-D1DC-DF0F62DD351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Method 2 ⇝ Example 3 (Conti.)</a:t>
            </a:r>
            <a:endParaRPr lang="en-US" dirty="0"/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7F6ED91B-D1A9-B9D3-F657-018E45C5FE30}"/>
              </a:ext>
            </a:extLst>
          </p:cNvPr>
          <p:cNvSpPr txBox="1">
            <a:spLocks/>
          </p:cNvSpPr>
          <p:nvPr/>
        </p:nvSpPr>
        <p:spPr>
          <a:xfrm>
            <a:off x="131176" y="1840299"/>
            <a:ext cx="1407338" cy="523220"/>
          </a:xfrm>
          <a:prstGeom prst="rect">
            <a:avLst/>
          </a:pr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lvl="0"/>
          </a:lstStyle>
          <a:p>
            <a:r>
              <a:rPr lang="en-IN" sz="2800" dirty="0">
                <a:solidFill>
                  <a:schemeClr val="bg1"/>
                </a:solidFill>
              </a:rPr>
              <a:t>Solution </a:t>
            </a:r>
            <a:endParaRPr lang="en-US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8" name="Table 47">
                <a:extLst>
                  <a:ext uri="{FF2B5EF4-FFF2-40B4-BE49-F238E27FC236}">
                    <a16:creationId xmlns:a16="http://schemas.microsoft.com/office/drawing/2014/main" id="{C0941608-0457-C9EC-68BC-BED60F09FF3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0356698"/>
                  </p:ext>
                </p:extLst>
              </p:nvPr>
            </p:nvGraphicFramePr>
            <p:xfrm>
              <a:off x="121445" y="2409670"/>
              <a:ext cx="9576000" cy="56571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68000">
                      <a:extLst>
                        <a:ext uri="{9D8B030D-6E8A-4147-A177-3AD203B41FA5}">
                          <a16:colId xmlns:a16="http://schemas.microsoft.com/office/drawing/2014/main" val="2573274369"/>
                        </a:ext>
                      </a:extLst>
                    </a:gridCol>
                    <a:gridCol w="1368000">
                      <a:extLst>
                        <a:ext uri="{9D8B030D-6E8A-4147-A177-3AD203B41FA5}">
                          <a16:colId xmlns:a16="http://schemas.microsoft.com/office/drawing/2014/main" val="4051045428"/>
                        </a:ext>
                      </a:extLst>
                    </a:gridCol>
                    <a:gridCol w="1368000">
                      <a:extLst>
                        <a:ext uri="{9D8B030D-6E8A-4147-A177-3AD203B41FA5}">
                          <a16:colId xmlns:a16="http://schemas.microsoft.com/office/drawing/2014/main" val="1541333607"/>
                        </a:ext>
                      </a:extLst>
                    </a:gridCol>
                    <a:gridCol w="1368000">
                      <a:extLst>
                        <a:ext uri="{9D8B030D-6E8A-4147-A177-3AD203B41FA5}">
                          <a16:colId xmlns:a16="http://schemas.microsoft.com/office/drawing/2014/main" val="535765769"/>
                        </a:ext>
                      </a:extLst>
                    </a:gridCol>
                    <a:gridCol w="1368000">
                      <a:extLst>
                        <a:ext uri="{9D8B030D-6E8A-4147-A177-3AD203B41FA5}">
                          <a16:colId xmlns:a16="http://schemas.microsoft.com/office/drawing/2014/main" val="3481627474"/>
                        </a:ext>
                      </a:extLst>
                    </a:gridCol>
                    <a:gridCol w="1368000">
                      <a:extLst>
                        <a:ext uri="{9D8B030D-6E8A-4147-A177-3AD203B41FA5}">
                          <a16:colId xmlns:a16="http://schemas.microsoft.com/office/drawing/2014/main" val="676072984"/>
                        </a:ext>
                      </a:extLst>
                    </a:gridCol>
                    <a:gridCol w="1368000">
                      <a:extLst>
                        <a:ext uri="{9D8B030D-6E8A-4147-A177-3AD203B41FA5}">
                          <a16:colId xmlns:a16="http://schemas.microsoft.com/office/drawing/2014/main" val="2065311432"/>
                        </a:ext>
                      </a:extLst>
                    </a:gridCol>
                  </a:tblGrid>
                  <a:tr h="565714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IN" sz="2400" kern="120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𝐞</m:t>
                                </m:r>
                                <m:d>
                                  <m:dPr>
                                    <m:ctrlPr>
                                      <a:rPr lang="en-IN" sz="2400" i="1" kern="120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sz="2400" kern="120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𝐚</m:t>
                                    </m:r>
                                  </m:e>
                                </m:d>
                                <m:r>
                                  <a:rPr lang="en-IN" sz="2400" b="1" i="0" kern="120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r>
                                  <a:rPr lang="en-IN" sz="2400" b="1" i="0" kern="120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𝟒</m:t>
                                </m:r>
                              </m:oMath>
                            </m:oMathPara>
                          </a14:m>
                          <a:endParaRPr lang="en-IN" sz="2400" kern="12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kumimoji="0" lang="en-IN" sz="24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206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𝐞</m:t>
                                </m:r>
                                <m:d>
                                  <m:dPr>
                                    <m:ctrlPr>
                                      <a:rPr kumimoji="0" lang="en-IN" sz="24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206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IN" sz="2400" b="1" i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206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𝐛</m:t>
                                    </m:r>
                                  </m:e>
                                </m:d>
                                <m:r>
                                  <a:rPr kumimoji="0" lang="en-IN" sz="24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206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r>
                                  <a:rPr kumimoji="0" lang="en-IN" sz="24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206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𝟒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 anchor="ctr"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kumimoji="0" lang="en-IN" sz="24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206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𝐞</m:t>
                                </m:r>
                                <m:d>
                                  <m:dPr>
                                    <m:ctrlPr>
                                      <a:rPr kumimoji="0" lang="en-IN" sz="24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206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IN" sz="2400" b="1" i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206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𝐜</m:t>
                                    </m:r>
                                  </m:e>
                                </m:d>
                                <m:r>
                                  <a:rPr kumimoji="0" lang="en-IN" sz="24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206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r>
                                  <a:rPr kumimoji="0" lang="en-IN" sz="24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206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 anchor="ctr"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kumimoji="0" lang="en-IN" sz="24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206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𝐞</m:t>
                                </m:r>
                                <m:d>
                                  <m:dPr>
                                    <m:ctrlPr>
                                      <a:rPr kumimoji="0" lang="en-IN" sz="24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206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IN" sz="2400" b="1" i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206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𝐝</m:t>
                                    </m:r>
                                  </m:e>
                                </m:d>
                                <m:r>
                                  <a:rPr kumimoji="0" lang="en-IN" sz="24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206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r>
                                  <a:rPr kumimoji="0" lang="en-IN" sz="24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206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 anchor="ctr"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kumimoji="0" lang="en-IN" sz="24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206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𝐞</m:t>
                                </m:r>
                                <m:d>
                                  <m:dPr>
                                    <m:ctrlPr>
                                      <a:rPr kumimoji="0" lang="en-IN" sz="24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206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IN" sz="2400" b="1" i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206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𝐞</m:t>
                                    </m:r>
                                  </m:e>
                                </m:d>
                                <m:r>
                                  <a:rPr kumimoji="0" lang="en-IN" sz="24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206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r>
                                  <a:rPr kumimoji="0" lang="en-IN" sz="24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206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 anchor="ctr"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kumimoji="0" lang="en-IN" sz="24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206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𝐞</m:t>
                                </m:r>
                                <m:d>
                                  <m:dPr>
                                    <m:ctrlPr>
                                      <a:rPr kumimoji="0" lang="en-IN" sz="24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206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IN" sz="2400" b="1" i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206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𝐟</m:t>
                                    </m:r>
                                  </m:e>
                                </m:d>
                                <m:r>
                                  <a:rPr kumimoji="0" lang="en-IN" sz="24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206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r>
                                  <a:rPr kumimoji="0" lang="en-IN" sz="24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206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 anchor="ctr"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kumimoji="0" lang="en-IN" sz="24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206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𝐞</m:t>
                                </m:r>
                                <m:d>
                                  <m:dPr>
                                    <m:ctrlPr>
                                      <a:rPr kumimoji="0" lang="en-IN" sz="24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206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IN" sz="2400" b="1" i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206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𝐠</m:t>
                                    </m:r>
                                  </m:e>
                                </m:d>
                                <m:r>
                                  <a:rPr kumimoji="0" lang="en-IN" sz="24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206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r>
                                  <a:rPr kumimoji="0" lang="en-IN" sz="24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206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kumimoji="0" lang="en-IN" sz="2400" b="1" i="0" u="none" strike="noStrike" kern="1200" cap="none" spc="0" normalizeH="0" baseline="0" dirty="0">
                            <a:ln>
                              <a:noFill/>
                            </a:ln>
                            <a:solidFill>
                              <a:srgbClr val="00206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96831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8" name="Table 47">
                <a:extLst>
                  <a:ext uri="{FF2B5EF4-FFF2-40B4-BE49-F238E27FC236}">
                    <a16:creationId xmlns:a16="http://schemas.microsoft.com/office/drawing/2014/main" id="{C0941608-0457-C9EC-68BC-BED60F09FF3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0356698"/>
                  </p:ext>
                </p:extLst>
              </p:nvPr>
            </p:nvGraphicFramePr>
            <p:xfrm>
              <a:off x="121445" y="2409670"/>
              <a:ext cx="9576000" cy="56571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68000">
                      <a:extLst>
                        <a:ext uri="{9D8B030D-6E8A-4147-A177-3AD203B41FA5}">
                          <a16:colId xmlns:a16="http://schemas.microsoft.com/office/drawing/2014/main" val="2573274369"/>
                        </a:ext>
                      </a:extLst>
                    </a:gridCol>
                    <a:gridCol w="1368000">
                      <a:extLst>
                        <a:ext uri="{9D8B030D-6E8A-4147-A177-3AD203B41FA5}">
                          <a16:colId xmlns:a16="http://schemas.microsoft.com/office/drawing/2014/main" val="4051045428"/>
                        </a:ext>
                      </a:extLst>
                    </a:gridCol>
                    <a:gridCol w="1368000">
                      <a:extLst>
                        <a:ext uri="{9D8B030D-6E8A-4147-A177-3AD203B41FA5}">
                          <a16:colId xmlns:a16="http://schemas.microsoft.com/office/drawing/2014/main" val="1541333607"/>
                        </a:ext>
                      </a:extLst>
                    </a:gridCol>
                    <a:gridCol w="1368000">
                      <a:extLst>
                        <a:ext uri="{9D8B030D-6E8A-4147-A177-3AD203B41FA5}">
                          <a16:colId xmlns:a16="http://schemas.microsoft.com/office/drawing/2014/main" val="535765769"/>
                        </a:ext>
                      </a:extLst>
                    </a:gridCol>
                    <a:gridCol w="1368000">
                      <a:extLst>
                        <a:ext uri="{9D8B030D-6E8A-4147-A177-3AD203B41FA5}">
                          <a16:colId xmlns:a16="http://schemas.microsoft.com/office/drawing/2014/main" val="3481627474"/>
                        </a:ext>
                      </a:extLst>
                    </a:gridCol>
                    <a:gridCol w="1368000">
                      <a:extLst>
                        <a:ext uri="{9D8B030D-6E8A-4147-A177-3AD203B41FA5}">
                          <a16:colId xmlns:a16="http://schemas.microsoft.com/office/drawing/2014/main" val="676072984"/>
                        </a:ext>
                      </a:extLst>
                    </a:gridCol>
                    <a:gridCol w="1368000">
                      <a:extLst>
                        <a:ext uri="{9D8B030D-6E8A-4147-A177-3AD203B41FA5}">
                          <a16:colId xmlns:a16="http://schemas.microsoft.com/office/drawing/2014/main" val="2065311432"/>
                        </a:ext>
                      </a:extLst>
                    </a:gridCol>
                  </a:tblGrid>
                  <a:tr h="56571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44" t="-1064" r="-600444" b="-42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893" t="-1064" r="-503125" b="-42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000" t="-1064" r="-400889" b="-42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339" t="-1064" r="-302679" b="-42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9556" t="-1064" r="-201333" b="-42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1786" t="-1064" r="-102232" b="-42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99111" t="-1064" r="-1778" b="-42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968313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7" name="Rectangle 96">
            <a:extLst>
              <a:ext uri="{FF2B5EF4-FFF2-40B4-BE49-F238E27FC236}">
                <a16:creationId xmlns:a16="http://schemas.microsoft.com/office/drawing/2014/main" id="{621F0A4B-3A5E-B220-72D5-E8AF7D45402E}"/>
              </a:ext>
            </a:extLst>
          </p:cNvPr>
          <p:cNvSpPr/>
          <p:nvPr/>
        </p:nvSpPr>
        <p:spPr>
          <a:xfrm>
            <a:off x="6988437" y="2433639"/>
            <a:ext cx="1314188" cy="506412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Content Placeholder 54">
                <a:extLst>
                  <a:ext uri="{FF2B5EF4-FFF2-40B4-BE49-F238E27FC236}">
                    <a16:creationId xmlns:a16="http://schemas.microsoft.com/office/drawing/2014/main" id="{59463CCC-1A29-9F9B-77DD-0C1956C05C0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1445" y="3882617"/>
                <a:ext cx="6355555" cy="73538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65113" lvl="1" indent="-265113">
                  <a:lnSpc>
                    <a:spcPct val="150000"/>
                  </a:lnSpc>
                  <a:spcBef>
                    <a:spcPts val="1000"/>
                  </a:spcBef>
                  <a:buClr>
                    <a:srgbClr val="B84742"/>
                  </a:buClr>
                  <a:buFont typeface="Wingdings 3" panose="05040102010807070707" pitchFamily="18" charset="2"/>
                  <a:buChar char=""/>
                </a:pPr>
                <a:r>
                  <a:rPr lang="en-US" dirty="0"/>
                  <a:t>Radius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</m:d>
                  </m:oMath>
                </a14:m>
                <a:r>
                  <a:rPr lang="en-US" dirty="0"/>
                  <a:t> of tree is eccentricity of center. </a:t>
                </a:r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4" name="Content Placeholder 54">
                <a:extLst>
                  <a:ext uri="{FF2B5EF4-FFF2-40B4-BE49-F238E27FC236}">
                    <a16:creationId xmlns:a16="http://schemas.microsoft.com/office/drawing/2014/main" id="{59463CCC-1A29-9F9B-77DD-0C1956C05C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445" y="3882617"/>
                <a:ext cx="6355555" cy="735381"/>
              </a:xfrm>
              <a:prstGeom prst="rect">
                <a:avLst/>
              </a:prstGeom>
              <a:blipFill>
                <a:blip r:embed="rId3"/>
                <a:stretch>
                  <a:fillRect l="-1822" r="-959" b="-132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Content Placeholder 54">
                <a:extLst>
                  <a:ext uri="{FF2B5EF4-FFF2-40B4-BE49-F238E27FC236}">
                    <a16:creationId xmlns:a16="http://schemas.microsoft.com/office/drawing/2014/main" id="{88E5F364-E743-2300-BB06-39D4B5B7F03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1445" y="4673854"/>
                <a:ext cx="7270758" cy="62928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65113" lvl="1" indent="-265113">
                  <a:lnSpc>
                    <a:spcPct val="150000"/>
                  </a:lnSpc>
                  <a:spcBef>
                    <a:spcPts val="1000"/>
                  </a:spcBef>
                  <a:buClr>
                    <a:srgbClr val="B84742"/>
                  </a:buClr>
                  <a:buFont typeface="Wingdings 3" panose="05040102010807070707" pitchFamily="18" charset="2"/>
                  <a:buChar char=""/>
                </a:pPr>
                <a:r>
                  <a:rPr lang="en-US" dirty="0"/>
                  <a:t>Diameter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</m:d>
                  </m:oMath>
                </a14:m>
                <a:r>
                  <a:rPr lang="en-US" dirty="0"/>
                  <a:t> of tree is maximum of eccentricity.</a:t>
                </a:r>
                <a:endParaRPr lang="en-US" b="1" dirty="0"/>
              </a:p>
            </p:txBody>
          </p:sp>
        </mc:Choice>
        <mc:Fallback xmlns="">
          <p:sp>
            <p:nvSpPr>
              <p:cNvPr id="105" name="Content Placeholder 54">
                <a:extLst>
                  <a:ext uri="{FF2B5EF4-FFF2-40B4-BE49-F238E27FC236}">
                    <a16:creationId xmlns:a16="http://schemas.microsoft.com/office/drawing/2014/main" id="{88E5F364-E743-2300-BB06-39D4B5B7F0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445" y="4673854"/>
                <a:ext cx="7270758" cy="629287"/>
              </a:xfrm>
              <a:prstGeom prst="rect">
                <a:avLst/>
              </a:prstGeom>
              <a:blipFill>
                <a:blip r:embed="rId4"/>
                <a:stretch>
                  <a:fillRect l="-1593" r="-587" b="-3301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Content Placeholder 54">
                <a:extLst>
                  <a:ext uri="{FF2B5EF4-FFF2-40B4-BE49-F238E27FC236}">
                    <a16:creationId xmlns:a16="http://schemas.microsoft.com/office/drawing/2014/main" id="{ECABC07D-AF38-7E47-D9AD-71178DDB595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894320" y="3249534"/>
                <a:ext cx="2434220" cy="73538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 indent="0">
                  <a:lnSpc>
                    <a:spcPct val="150000"/>
                  </a:lnSpc>
                  <a:spcBef>
                    <a:spcPts val="1000"/>
                  </a:spcBef>
                  <a:buClr>
                    <a:srgbClr val="B84742"/>
                  </a:buClr>
                  <a:buNone/>
                </a:pPr>
                <a:r>
                  <a:rPr lang="en-US" dirty="0"/>
                  <a:t>So, </a:t>
                </a:r>
                <a14:m>
                  <m:oMath xmlns:m="http://schemas.openxmlformats.org/officeDocument/2006/math">
                    <m:r>
                      <a:rPr lang="en-US" b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𝐟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center</a:t>
                </a:r>
                <a:r>
                  <a:rPr lang="en-US" b="1" dirty="0"/>
                  <a:t>.</a:t>
                </a:r>
              </a:p>
            </p:txBody>
          </p:sp>
        </mc:Choice>
        <mc:Fallback xmlns="">
          <p:sp>
            <p:nvSpPr>
              <p:cNvPr id="106" name="Content Placeholder 54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ECABC07D-AF38-7E47-D9AD-71178DDB59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4320" y="3249534"/>
                <a:ext cx="2434220" cy="735380"/>
              </a:xfrm>
              <a:prstGeom prst="rect">
                <a:avLst/>
              </a:prstGeom>
              <a:blipFill rotWithShape="0">
                <a:blip r:embed="rId5"/>
                <a:stretch>
                  <a:fillRect l="-5013" b="-132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Content Placeholder 54">
                <a:extLst>
                  <a:ext uri="{FF2B5EF4-FFF2-40B4-BE49-F238E27FC236}">
                    <a16:creationId xmlns:a16="http://schemas.microsoft.com/office/drawing/2014/main" id="{B6932145-DD12-C1F4-DF98-C8C302C4CB3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05552" y="3882616"/>
                <a:ext cx="2806698" cy="73538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 indent="0">
                  <a:lnSpc>
                    <a:spcPct val="150000"/>
                  </a:lnSpc>
                  <a:spcBef>
                    <a:spcPts val="1000"/>
                  </a:spcBef>
                  <a:buClr>
                    <a:srgbClr val="B84742"/>
                  </a:buClr>
                  <a:buNone/>
                </a:pPr>
                <a:r>
                  <a:rPr lang="en-US" dirty="0"/>
                  <a:t>So, </a:t>
                </a:r>
                <a14:m>
                  <m:oMath xmlns:m="http://schemas.openxmlformats.org/officeDocument/2006/math">
                    <m:r>
                      <a:rPr lang="en-IN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𝐞</m:t>
                    </m:r>
                    <m:d>
                      <m:dPr>
                        <m:ctrlP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</m:d>
                    <m:r>
                      <a:rPr lang="en-IN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𝐫</m:t>
                    </m:r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107" name="Content Placeholder 54">
                <a:extLst>
                  <a:ext uri="{FF2B5EF4-FFF2-40B4-BE49-F238E27FC236}">
                    <a16:creationId xmlns:a16="http://schemas.microsoft.com/office/drawing/2014/main" id="{B6932145-DD12-C1F4-DF98-C8C302C4CB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5552" y="3882616"/>
                <a:ext cx="2806698" cy="735381"/>
              </a:xfrm>
              <a:prstGeom prst="rect">
                <a:avLst/>
              </a:prstGeom>
              <a:blipFill>
                <a:blip r:embed="rId6"/>
                <a:stretch>
                  <a:fillRect l="-4338" r="-2169" b="-132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Content Placeholder 54">
                <a:extLst>
                  <a:ext uri="{FF2B5EF4-FFF2-40B4-BE49-F238E27FC236}">
                    <a16:creationId xmlns:a16="http://schemas.microsoft.com/office/drawing/2014/main" id="{9EB8A9D1-FA78-30C5-6CAC-781C038E15C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93759" y="4673853"/>
                <a:ext cx="2903142" cy="73538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 indent="0">
                  <a:lnSpc>
                    <a:spcPct val="150000"/>
                  </a:lnSpc>
                  <a:spcBef>
                    <a:spcPts val="1000"/>
                  </a:spcBef>
                  <a:buClr>
                    <a:srgbClr val="B84742"/>
                  </a:buClr>
                  <a:buNone/>
                </a:pPr>
                <a:r>
                  <a:rPr lang="en-US" dirty="0"/>
                  <a:t>So, </a:t>
                </a:r>
                <a14:m>
                  <m:oMath xmlns:m="http://schemas.openxmlformats.org/officeDocument/2006/math">
                    <m:r>
                      <a:rPr lang="en-IN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𝐞</m:t>
                    </m:r>
                    <m:d>
                      <m:dPr>
                        <m:ctrlP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</m:d>
                    <m:r>
                      <a:rPr lang="en-IN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𝐃</m:t>
                    </m:r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108" name="Content Placeholder 54">
                <a:extLst>
                  <a:ext uri="{FF2B5EF4-FFF2-40B4-BE49-F238E27FC236}">
                    <a16:creationId xmlns:a16="http://schemas.microsoft.com/office/drawing/2014/main" id="{9EB8A9D1-FA78-30C5-6CAC-781C038E1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3759" y="4673853"/>
                <a:ext cx="2903142" cy="735381"/>
              </a:xfrm>
              <a:prstGeom prst="rect">
                <a:avLst/>
              </a:prstGeom>
              <a:blipFill>
                <a:blip r:embed="rId7"/>
                <a:stretch>
                  <a:fillRect l="-4202" r="-3571" b="-141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9" name="Rectangle 108">
            <a:extLst>
              <a:ext uri="{FF2B5EF4-FFF2-40B4-BE49-F238E27FC236}">
                <a16:creationId xmlns:a16="http://schemas.microsoft.com/office/drawing/2014/main" id="{FB1A2DC5-3452-8E16-D43E-337674AF7025}"/>
              </a:ext>
            </a:extLst>
          </p:cNvPr>
          <p:cNvSpPr/>
          <p:nvPr/>
        </p:nvSpPr>
        <p:spPr>
          <a:xfrm>
            <a:off x="147587" y="2433639"/>
            <a:ext cx="1314188" cy="506412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Content Placeholder 54">
            <a:extLst>
              <a:ext uri="{FF2B5EF4-FFF2-40B4-BE49-F238E27FC236}">
                <a16:creationId xmlns:a16="http://schemas.microsoft.com/office/drawing/2014/main" id="{59463CCC-1A29-9F9B-77DD-0C1956C05C0D}"/>
              </a:ext>
            </a:extLst>
          </p:cNvPr>
          <p:cNvSpPr txBox="1">
            <a:spLocks/>
          </p:cNvSpPr>
          <p:nvPr/>
        </p:nvSpPr>
        <p:spPr>
          <a:xfrm>
            <a:off x="135416" y="3241421"/>
            <a:ext cx="7957024" cy="7353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Clr>
                <a:srgbClr val="B84742"/>
              </a:buClr>
            </a:pPr>
            <a:r>
              <a:rPr lang="en-US" dirty="0"/>
              <a:t>A vertex with </a:t>
            </a:r>
            <a:r>
              <a:rPr lang="en-US" b="1" dirty="0"/>
              <a:t>minimum eccentricity</a:t>
            </a:r>
            <a:r>
              <a:rPr lang="en-US" dirty="0"/>
              <a:t> is a center of G.</a:t>
            </a:r>
          </a:p>
        </p:txBody>
      </p:sp>
    </p:spTree>
    <p:extLst>
      <p:ext uri="{BB962C8B-B14F-4D97-AF65-F5344CB8AC3E}">
        <p14:creationId xmlns:p14="http://schemas.microsoft.com/office/powerpoint/2010/main" val="3975498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97" grpId="1" animBg="1"/>
      <p:bldP spid="104" grpId="0" build="p"/>
      <p:bldP spid="105" grpId="0" build="p"/>
      <p:bldP spid="106" grpId="0" build="p"/>
      <p:bldP spid="107" grpId="0" build="p"/>
      <p:bldP spid="108" grpId="0" build="p"/>
      <p:bldP spid="109" grpId="0" animBg="1"/>
      <p:bldP spid="109" grpId="1" animBg="1"/>
      <p:bldP spid="14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2"/>
          <p:cNvSpPr txBox="1">
            <a:spLocks/>
          </p:cNvSpPr>
          <p:nvPr/>
        </p:nvSpPr>
        <p:spPr>
          <a:xfrm>
            <a:off x="131176" y="867839"/>
            <a:ext cx="11929645" cy="991999"/>
          </a:xfrm>
          <a:prstGeom prst="rect">
            <a:avLst/>
          </a:pr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lvl="0"/>
          </a:lstStyle>
          <a:p>
            <a:r>
              <a:rPr lang="en-US" sz="2800" dirty="0">
                <a:solidFill>
                  <a:schemeClr val="bg1"/>
                </a:solidFill>
              </a:rPr>
              <a:t>Give a counterexample to show that radius is not necessarily half of the diameter in a tree.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35C8299-099D-4E74-A7B7-29B2E1FD450E}"/>
              </a:ext>
            </a:extLst>
          </p:cNvPr>
          <p:cNvSpPr txBox="1">
            <a:spLocks/>
          </p:cNvSpPr>
          <p:nvPr/>
        </p:nvSpPr>
        <p:spPr>
          <a:xfrm>
            <a:off x="131176" y="1997075"/>
            <a:ext cx="1407338" cy="523220"/>
          </a:xfrm>
          <a:prstGeom prst="rect">
            <a:avLst/>
          </a:pr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lvl="0"/>
          </a:lstStyle>
          <a:p>
            <a:r>
              <a:rPr lang="en-IN" sz="2800" dirty="0">
                <a:solidFill>
                  <a:schemeClr val="bg1"/>
                </a:solidFill>
              </a:rPr>
              <a:t>Solution 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Method 2 ⇝ Example 4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49"/>
              <p:cNvSpPr/>
              <p:nvPr/>
            </p:nvSpPr>
            <p:spPr>
              <a:xfrm>
                <a:off x="131176" y="2657532"/>
                <a:ext cx="11929645" cy="13388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65113" lvl="1" indent="-265113" algn="just">
                  <a:spcBef>
                    <a:spcPts val="1000"/>
                  </a:spcBef>
                  <a:buClr>
                    <a:srgbClr val="B84742"/>
                  </a:buClr>
                  <a:buFont typeface="Wingdings 3" panose="05040102010807070707" pitchFamily="18" charset="2"/>
                  <a:buChar char=""/>
                </a:pPr>
                <a:r>
                  <a:rPr lang="en-US" sz="2800" dirty="0">
                    <a:solidFill>
                      <a:srgbClr val="002060"/>
                    </a:solidFill>
                  </a:rPr>
                  <a:t>Let’s consider a tree where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  <a:p>
                <a:pPr marL="0" lvl="1" algn="ctr">
                  <a:spcBef>
                    <a:spcPts val="1000"/>
                  </a:spcBef>
                  <a:buClr>
                    <a:srgbClr val="B84742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𝐫𝐚𝐝𝐢𝐮𝐬</m:t>
                      </m:r>
                      <m:r>
                        <a:rPr lang="en-US" sz="2800" b="1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≠</m:t>
                      </m:r>
                      <m:f>
                        <m:fPr>
                          <m:ctrlPr>
                            <a:rPr lang="en-US" sz="2800" b="1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𝐝𝐢𝐚𝐦𝐞𝐭𝐞𝐫</m:t>
                          </m:r>
                        </m:num>
                        <m:den>
                          <m:r>
                            <a:rPr lang="en-US" sz="2800" b="1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0" name="Rectangle 4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6" y="2657532"/>
                <a:ext cx="11929645" cy="1338828"/>
              </a:xfrm>
              <a:prstGeom prst="rect">
                <a:avLst/>
              </a:prstGeom>
              <a:blipFill rotWithShape="0">
                <a:blip r:embed="rId2"/>
                <a:stretch>
                  <a:fillRect l="-971" t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7649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35C8299-099D-4E74-A7B7-29B2E1FD450E}"/>
              </a:ext>
            </a:extLst>
          </p:cNvPr>
          <p:cNvSpPr txBox="1">
            <a:spLocks/>
          </p:cNvSpPr>
          <p:nvPr/>
        </p:nvSpPr>
        <p:spPr>
          <a:xfrm>
            <a:off x="131176" y="876935"/>
            <a:ext cx="1407338" cy="523220"/>
          </a:xfrm>
          <a:prstGeom prst="rect">
            <a:avLst/>
          </a:pr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lvl="0"/>
          </a:lstStyle>
          <a:p>
            <a:r>
              <a:rPr lang="en-IN" sz="2800" dirty="0">
                <a:solidFill>
                  <a:schemeClr val="bg1"/>
                </a:solidFill>
              </a:rPr>
              <a:t>Solution 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Method 2 ⇝ Example 4(Cont.)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3101" y="1749484"/>
            <a:ext cx="2560542" cy="4346825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4363117"/>
              </p:ext>
            </p:extLst>
          </p:nvPr>
        </p:nvGraphicFramePr>
        <p:xfrm>
          <a:off x="267204" y="1956542"/>
          <a:ext cx="9720000" cy="5657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:a16="http://schemas.microsoft.com/office/drawing/2014/main" val="2573274369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4051045428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1541333607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535765769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3481627474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676072984"/>
                    </a:ext>
                  </a:extLst>
                </a:gridCol>
              </a:tblGrid>
              <a:tr h="565714">
                <a:tc>
                  <a:txBody>
                    <a:bodyPr/>
                    <a:lstStyle/>
                    <a:p>
                      <a:endParaRPr lang="en-IN" sz="24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9683138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4402549"/>
              </p:ext>
            </p:extLst>
          </p:nvPr>
        </p:nvGraphicFramePr>
        <p:xfrm>
          <a:off x="267203" y="2603297"/>
          <a:ext cx="8100000" cy="5657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:a16="http://schemas.microsoft.com/office/drawing/2014/main" val="197265483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409799903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1726805427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345026362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1541232864"/>
                    </a:ext>
                  </a:extLst>
                </a:gridCol>
              </a:tblGrid>
              <a:tr h="565714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3524588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42202"/>
              </p:ext>
            </p:extLst>
          </p:nvPr>
        </p:nvGraphicFramePr>
        <p:xfrm>
          <a:off x="267203" y="3247502"/>
          <a:ext cx="6480000" cy="5657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:a16="http://schemas.microsoft.com/office/drawing/2014/main" val="2784671440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72636576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1244138235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367059181"/>
                    </a:ext>
                  </a:extLst>
                </a:gridCol>
              </a:tblGrid>
              <a:tr h="565714">
                <a:tc>
                  <a:txBody>
                    <a:bodyPr/>
                    <a:lstStyle/>
                    <a:p>
                      <a:endParaRPr lang="en-IN" sz="24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618106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0262579"/>
              </p:ext>
            </p:extLst>
          </p:nvPr>
        </p:nvGraphicFramePr>
        <p:xfrm>
          <a:off x="267203" y="3894362"/>
          <a:ext cx="4860000" cy="5657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:a16="http://schemas.microsoft.com/office/drawing/2014/main" val="197265483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409799903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1726805427"/>
                    </a:ext>
                  </a:extLst>
                </a:gridCol>
              </a:tblGrid>
              <a:tr h="565714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3524588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3700387"/>
              </p:ext>
            </p:extLst>
          </p:nvPr>
        </p:nvGraphicFramePr>
        <p:xfrm>
          <a:off x="263698" y="4541222"/>
          <a:ext cx="3240000" cy="5657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:a16="http://schemas.microsoft.com/office/drawing/2014/main" val="2784671440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72636576"/>
                    </a:ext>
                  </a:extLst>
                </a:gridCol>
              </a:tblGrid>
              <a:tr h="565714">
                <a:tc>
                  <a:txBody>
                    <a:bodyPr/>
                    <a:lstStyle/>
                    <a:p>
                      <a:endParaRPr lang="en-IN" sz="24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618106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0465993"/>
              </p:ext>
            </p:extLst>
          </p:nvPr>
        </p:nvGraphicFramePr>
        <p:xfrm>
          <a:off x="263698" y="5185427"/>
          <a:ext cx="1620000" cy="5657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:a16="http://schemas.microsoft.com/office/drawing/2014/main" val="197265483"/>
                    </a:ext>
                  </a:extLst>
                </a:gridCol>
              </a:tblGrid>
              <a:tr h="565714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352458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09677" y="2029769"/>
                <a:ext cx="93610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d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677" y="2029769"/>
                <a:ext cx="936107" cy="461665"/>
              </a:xfrm>
              <a:prstGeom prst="rect">
                <a:avLst/>
              </a:prstGeom>
              <a:blipFill rotWithShape="0">
                <a:blip r:embed="rId3"/>
                <a:stretch>
                  <a:fillRect l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09677" y="2635596"/>
                <a:ext cx="93610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677" y="2635596"/>
                <a:ext cx="936107" cy="461665"/>
              </a:xfrm>
              <a:prstGeom prst="rect">
                <a:avLst/>
              </a:prstGeom>
              <a:blipFill rotWithShape="0">
                <a:blip r:embed="rId4"/>
                <a:stretch>
                  <a:fillRect l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5126537" y="2635596"/>
                <a:ext cx="91656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6537" y="2635596"/>
                <a:ext cx="916563" cy="461665"/>
              </a:xfrm>
              <a:prstGeom prst="rect">
                <a:avLst/>
              </a:prstGeom>
              <a:blipFill rotWithShape="0">
                <a:blip r:embed="rId5"/>
                <a:stretch>
                  <a:fillRect l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6741561" y="2652158"/>
                <a:ext cx="89369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1561" y="2652158"/>
                <a:ext cx="893692" cy="461665"/>
              </a:xfrm>
              <a:prstGeom prst="rect">
                <a:avLst/>
              </a:prstGeom>
              <a:blipFill rotWithShape="0">
                <a:blip r:embed="rId6"/>
                <a:stretch>
                  <a:fillRect l="-2041" r="-3401" b="-11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1921765" y="2029299"/>
                <a:ext cx="91354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1765" y="2029299"/>
                <a:ext cx="913544" cy="461665"/>
              </a:xfrm>
              <a:prstGeom prst="rect">
                <a:avLst/>
              </a:prstGeom>
              <a:blipFill rotWithShape="0">
                <a:blip r:embed="rId7"/>
                <a:stretch>
                  <a:fillRect l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3499300" y="2029299"/>
                <a:ext cx="96626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9300" y="2029299"/>
                <a:ext cx="966266" cy="461665"/>
              </a:xfrm>
              <a:prstGeom prst="rect">
                <a:avLst/>
              </a:prstGeom>
              <a:blipFill rotWithShape="0">
                <a:blip r:embed="rId8"/>
                <a:stretch>
                  <a:fillRect l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5076833" y="2029299"/>
                <a:ext cx="96626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6833" y="2029299"/>
                <a:ext cx="966267" cy="461665"/>
              </a:xfrm>
              <a:prstGeom prst="rect">
                <a:avLst/>
              </a:prstGeom>
              <a:blipFill rotWithShape="0">
                <a:blip r:embed="rId9"/>
                <a:stretch>
                  <a:fillRect l="-18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6741560" y="2029299"/>
                <a:ext cx="89369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1560" y="2029299"/>
                <a:ext cx="893692" cy="461665"/>
              </a:xfrm>
              <a:prstGeom prst="rect">
                <a:avLst/>
              </a:prstGeom>
              <a:blipFill rotWithShape="0">
                <a:blip r:embed="rId10"/>
                <a:stretch>
                  <a:fillRect l="-20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8319094" y="2016971"/>
                <a:ext cx="9417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9094" y="2016971"/>
                <a:ext cx="941758" cy="461665"/>
              </a:xfrm>
              <a:prstGeom prst="rect">
                <a:avLst/>
              </a:prstGeom>
              <a:blipFill rotWithShape="0">
                <a:blip r:embed="rId11"/>
                <a:stretch>
                  <a:fillRect l="-1948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3533770" y="2635596"/>
                <a:ext cx="93179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3770" y="2635596"/>
                <a:ext cx="931796" cy="461665"/>
              </a:xfrm>
              <a:prstGeom prst="rect">
                <a:avLst/>
              </a:prstGeom>
              <a:blipFill rotWithShape="0">
                <a:blip r:embed="rId12"/>
                <a:stretch>
                  <a:fillRect l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1872396" y="2635596"/>
                <a:ext cx="96291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2396" y="2635596"/>
                <a:ext cx="962913" cy="461665"/>
              </a:xfrm>
              <a:prstGeom prst="rect">
                <a:avLst/>
              </a:prstGeom>
              <a:blipFill rotWithShape="0">
                <a:blip r:embed="rId13"/>
                <a:stretch>
                  <a:fillRect l="-18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309678" y="3271630"/>
                <a:ext cx="93610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678" y="3271630"/>
                <a:ext cx="936106" cy="461665"/>
              </a:xfrm>
              <a:prstGeom prst="rect">
                <a:avLst/>
              </a:prstGeom>
              <a:blipFill rotWithShape="0">
                <a:blip r:embed="rId14"/>
                <a:stretch>
                  <a:fillRect l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3533770" y="3271630"/>
                <a:ext cx="93179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3770" y="3271630"/>
                <a:ext cx="931796" cy="461665"/>
              </a:xfrm>
              <a:prstGeom prst="rect">
                <a:avLst/>
              </a:prstGeom>
              <a:blipFill rotWithShape="0">
                <a:blip r:embed="rId15"/>
                <a:stretch>
                  <a:fillRect l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1872396" y="3271630"/>
                <a:ext cx="89297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2396" y="3271630"/>
                <a:ext cx="892971" cy="461665"/>
              </a:xfrm>
              <a:prstGeom prst="rect">
                <a:avLst/>
              </a:prstGeom>
              <a:blipFill rotWithShape="0">
                <a:blip r:embed="rId16"/>
                <a:stretch>
                  <a:fillRect l="-20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5102935" y="3269409"/>
                <a:ext cx="94016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2935" y="3269409"/>
                <a:ext cx="940165" cy="461665"/>
              </a:xfrm>
              <a:prstGeom prst="rect">
                <a:avLst/>
              </a:prstGeom>
              <a:blipFill rotWithShape="0">
                <a:blip r:embed="rId17"/>
                <a:stretch>
                  <a:fillRect l="-1948" b="-11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292748" y="3925387"/>
                <a:ext cx="95303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748" y="3925387"/>
                <a:ext cx="953035" cy="461665"/>
              </a:xfrm>
              <a:prstGeom prst="rect">
                <a:avLst/>
              </a:prstGeom>
              <a:blipFill rotWithShape="0">
                <a:blip r:embed="rId18"/>
                <a:stretch>
                  <a:fillRect l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1865377" y="3951787"/>
                <a:ext cx="9099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5377" y="3951787"/>
                <a:ext cx="909900" cy="461665"/>
              </a:xfrm>
              <a:prstGeom prst="rect">
                <a:avLst/>
              </a:prstGeom>
              <a:blipFill rotWithShape="0">
                <a:blip r:embed="rId19"/>
                <a:stretch>
                  <a:fillRect l="-20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3533770" y="3922897"/>
                <a:ext cx="93179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3770" y="3922897"/>
                <a:ext cx="931796" cy="461665"/>
              </a:xfrm>
              <a:prstGeom prst="rect">
                <a:avLst/>
              </a:prstGeom>
              <a:blipFill rotWithShape="0">
                <a:blip r:embed="rId20"/>
                <a:stretch>
                  <a:fillRect l="-1961"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1833760" y="4594339"/>
                <a:ext cx="9316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  <m: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3760" y="4594339"/>
                <a:ext cx="931608" cy="461665"/>
              </a:xfrm>
              <a:prstGeom prst="rect">
                <a:avLst/>
              </a:prstGeom>
              <a:blipFill rotWithShape="0">
                <a:blip r:embed="rId21"/>
                <a:stretch>
                  <a:fillRect l="-1961"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309678" y="4596829"/>
                <a:ext cx="93610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  <m: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678" y="4596829"/>
                <a:ext cx="936106" cy="461665"/>
              </a:xfrm>
              <a:prstGeom prst="rect">
                <a:avLst/>
              </a:prstGeom>
              <a:blipFill rotWithShape="0">
                <a:blip r:embed="rId22"/>
                <a:stretch>
                  <a:fillRect l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309678" y="5232584"/>
                <a:ext cx="93610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  <m: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678" y="5232584"/>
                <a:ext cx="936106" cy="461665"/>
              </a:xfrm>
              <a:prstGeom prst="rect">
                <a:avLst/>
              </a:prstGeom>
              <a:blipFill rotWithShape="0">
                <a:blip r:embed="rId23"/>
                <a:stretch>
                  <a:fillRect l="-1961" b="-11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1212712" y="2029299"/>
                <a:ext cx="6210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2712" y="2029299"/>
                <a:ext cx="621048" cy="461665"/>
              </a:xfrm>
              <a:prstGeom prst="rect">
                <a:avLst/>
              </a:prstGeom>
              <a:blipFill rotWithShape="0">
                <a:blip r:embed="rId24"/>
                <a:stretch>
                  <a:fillRect r="-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2768025" y="2031866"/>
                <a:ext cx="6210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8025" y="2031866"/>
                <a:ext cx="621048" cy="461665"/>
              </a:xfrm>
              <a:prstGeom prst="rect">
                <a:avLst/>
              </a:prstGeom>
              <a:blipFill rotWithShape="0">
                <a:blip r:embed="rId25"/>
                <a:stretch>
                  <a:fillRect r="-9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4367759" y="2029299"/>
                <a:ext cx="6210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7759" y="2029299"/>
                <a:ext cx="621048" cy="461665"/>
              </a:xfrm>
              <a:prstGeom prst="rect">
                <a:avLst/>
              </a:prstGeom>
              <a:blipFill rotWithShape="0">
                <a:blip r:embed="rId26"/>
                <a:stretch>
                  <a:fillRect r="-9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5958265" y="2030042"/>
                <a:ext cx="6210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8265" y="2030042"/>
                <a:ext cx="621048" cy="461665"/>
              </a:xfrm>
              <a:prstGeom prst="rect">
                <a:avLst/>
              </a:prstGeom>
              <a:blipFill rotWithShape="0">
                <a:blip r:embed="rId27"/>
                <a:stretch>
                  <a:fillRect r="-9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7582767" y="2029299"/>
                <a:ext cx="6210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2767" y="2029299"/>
                <a:ext cx="621048" cy="461665"/>
              </a:xfrm>
              <a:prstGeom prst="rect">
                <a:avLst/>
              </a:prstGeom>
              <a:blipFill rotWithShape="0">
                <a:blip r:embed="rId28"/>
                <a:stretch>
                  <a:fillRect r="-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9211870" y="2029299"/>
                <a:ext cx="6210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1870" y="2029299"/>
                <a:ext cx="621048" cy="461665"/>
              </a:xfrm>
              <a:prstGeom prst="rect">
                <a:avLst/>
              </a:prstGeom>
              <a:blipFill rotWithShape="0">
                <a:blip r:embed="rId29"/>
                <a:stretch>
                  <a:fillRect r="-107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1212712" y="2664299"/>
                <a:ext cx="6210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2712" y="2664299"/>
                <a:ext cx="621048" cy="461665"/>
              </a:xfrm>
              <a:prstGeom prst="rect">
                <a:avLst/>
              </a:prstGeom>
              <a:blipFill rotWithShape="0">
                <a:blip r:embed="rId30"/>
                <a:stretch>
                  <a:fillRect r="-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2768025" y="2666866"/>
                <a:ext cx="6210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8025" y="2666866"/>
                <a:ext cx="621048" cy="461665"/>
              </a:xfrm>
              <a:prstGeom prst="rect">
                <a:avLst/>
              </a:prstGeom>
              <a:blipFill rotWithShape="0">
                <a:blip r:embed="rId31"/>
                <a:stretch>
                  <a:fillRect r="-9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4367759" y="2664299"/>
                <a:ext cx="6210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7759" y="2664299"/>
                <a:ext cx="621048" cy="461665"/>
              </a:xfrm>
              <a:prstGeom prst="rect">
                <a:avLst/>
              </a:prstGeom>
              <a:blipFill rotWithShape="0">
                <a:blip r:embed="rId32"/>
                <a:stretch>
                  <a:fillRect r="-9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5958265" y="2665042"/>
                <a:ext cx="6210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8265" y="2665042"/>
                <a:ext cx="621048" cy="461665"/>
              </a:xfrm>
              <a:prstGeom prst="rect">
                <a:avLst/>
              </a:prstGeom>
              <a:blipFill rotWithShape="0">
                <a:blip r:embed="rId33"/>
                <a:stretch>
                  <a:fillRect r="-9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7582767" y="2664299"/>
                <a:ext cx="6210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2767" y="2664299"/>
                <a:ext cx="621048" cy="461665"/>
              </a:xfrm>
              <a:prstGeom prst="rect">
                <a:avLst/>
              </a:prstGeom>
              <a:blipFill rotWithShape="0">
                <a:blip r:embed="rId34"/>
                <a:stretch>
                  <a:fillRect r="-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1212712" y="3295802"/>
                <a:ext cx="6210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2712" y="3295802"/>
                <a:ext cx="621048" cy="461665"/>
              </a:xfrm>
              <a:prstGeom prst="rect">
                <a:avLst/>
              </a:prstGeom>
              <a:blipFill rotWithShape="0">
                <a:blip r:embed="rId35"/>
                <a:stretch>
                  <a:fillRect r="-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2768025" y="3298369"/>
                <a:ext cx="6210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8025" y="3298369"/>
                <a:ext cx="621048" cy="461665"/>
              </a:xfrm>
              <a:prstGeom prst="rect">
                <a:avLst/>
              </a:prstGeom>
              <a:blipFill rotWithShape="0">
                <a:blip r:embed="rId36"/>
                <a:stretch>
                  <a:fillRect r="-9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4367759" y="3295802"/>
                <a:ext cx="6210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7759" y="3295802"/>
                <a:ext cx="621048" cy="461665"/>
              </a:xfrm>
              <a:prstGeom prst="rect">
                <a:avLst/>
              </a:prstGeom>
              <a:blipFill rotWithShape="0">
                <a:blip r:embed="rId37"/>
                <a:stretch>
                  <a:fillRect r="-9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5958265" y="3296545"/>
                <a:ext cx="6210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8265" y="3296545"/>
                <a:ext cx="621048" cy="461665"/>
              </a:xfrm>
              <a:prstGeom prst="rect">
                <a:avLst/>
              </a:prstGeom>
              <a:blipFill rotWithShape="0">
                <a:blip r:embed="rId38"/>
                <a:stretch>
                  <a:fillRect r="-9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1219340" y="3951787"/>
                <a:ext cx="6210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340" y="3951787"/>
                <a:ext cx="621048" cy="461665"/>
              </a:xfrm>
              <a:prstGeom prst="rect">
                <a:avLst/>
              </a:prstGeom>
              <a:blipFill rotWithShape="0">
                <a:blip r:embed="rId39"/>
                <a:stretch>
                  <a:fillRect r="-9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/>
              <p:cNvSpPr txBox="1"/>
              <p:nvPr/>
            </p:nvSpPr>
            <p:spPr>
              <a:xfrm>
                <a:off x="2774653" y="3954354"/>
                <a:ext cx="6210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4653" y="3954354"/>
                <a:ext cx="621048" cy="461665"/>
              </a:xfrm>
              <a:prstGeom prst="rect">
                <a:avLst/>
              </a:prstGeom>
              <a:blipFill rotWithShape="0">
                <a:blip r:embed="rId40"/>
                <a:stretch>
                  <a:fillRect r="-9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4374387" y="3951787"/>
                <a:ext cx="6210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4387" y="3951787"/>
                <a:ext cx="621048" cy="461665"/>
              </a:xfrm>
              <a:prstGeom prst="rect">
                <a:avLst/>
              </a:prstGeom>
              <a:blipFill rotWithShape="0">
                <a:blip r:embed="rId41"/>
                <a:stretch>
                  <a:fillRect r="-99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1221736" y="4634480"/>
                <a:ext cx="6210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1736" y="4634480"/>
                <a:ext cx="621048" cy="461665"/>
              </a:xfrm>
              <a:prstGeom prst="rect">
                <a:avLst/>
              </a:prstGeom>
              <a:blipFill rotWithShape="0">
                <a:blip r:embed="rId42"/>
                <a:stretch>
                  <a:fillRect r="-9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2777049" y="4637047"/>
                <a:ext cx="6210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7049" y="4637047"/>
                <a:ext cx="621048" cy="461665"/>
              </a:xfrm>
              <a:prstGeom prst="rect">
                <a:avLst/>
              </a:prstGeom>
              <a:blipFill rotWithShape="0">
                <a:blip r:embed="rId43"/>
                <a:stretch>
                  <a:fillRect r="-99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1212712" y="5276987"/>
                <a:ext cx="6210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2712" y="5276987"/>
                <a:ext cx="621048" cy="461665"/>
              </a:xfrm>
              <a:prstGeom prst="rect">
                <a:avLst/>
              </a:prstGeom>
              <a:blipFill rotWithShape="0">
                <a:blip r:embed="rId35"/>
                <a:stretch>
                  <a:fillRect r="-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61451" y="1384880"/>
            <a:ext cx="22381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Here, we have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709B848F-3B7F-960C-258A-5B663509F7F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73728992"/>
                  </p:ext>
                </p:extLst>
              </p:nvPr>
            </p:nvGraphicFramePr>
            <p:xfrm>
              <a:off x="263698" y="5851103"/>
              <a:ext cx="9539999" cy="56571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62857">
                      <a:extLst>
                        <a:ext uri="{9D8B030D-6E8A-4147-A177-3AD203B41FA5}">
                          <a16:colId xmlns:a16="http://schemas.microsoft.com/office/drawing/2014/main" val="2573274369"/>
                        </a:ext>
                      </a:extLst>
                    </a:gridCol>
                    <a:gridCol w="1362857">
                      <a:extLst>
                        <a:ext uri="{9D8B030D-6E8A-4147-A177-3AD203B41FA5}">
                          <a16:colId xmlns:a16="http://schemas.microsoft.com/office/drawing/2014/main" val="4051045428"/>
                        </a:ext>
                      </a:extLst>
                    </a:gridCol>
                    <a:gridCol w="1362857">
                      <a:extLst>
                        <a:ext uri="{9D8B030D-6E8A-4147-A177-3AD203B41FA5}">
                          <a16:colId xmlns:a16="http://schemas.microsoft.com/office/drawing/2014/main" val="1541333607"/>
                        </a:ext>
                      </a:extLst>
                    </a:gridCol>
                    <a:gridCol w="1362857">
                      <a:extLst>
                        <a:ext uri="{9D8B030D-6E8A-4147-A177-3AD203B41FA5}">
                          <a16:colId xmlns:a16="http://schemas.microsoft.com/office/drawing/2014/main" val="535765769"/>
                        </a:ext>
                      </a:extLst>
                    </a:gridCol>
                    <a:gridCol w="1362857">
                      <a:extLst>
                        <a:ext uri="{9D8B030D-6E8A-4147-A177-3AD203B41FA5}">
                          <a16:colId xmlns:a16="http://schemas.microsoft.com/office/drawing/2014/main" val="3481627474"/>
                        </a:ext>
                      </a:extLst>
                    </a:gridCol>
                    <a:gridCol w="1362857">
                      <a:extLst>
                        <a:ext uri="{9D8B030D-6E8A-4147-A177-3AD203B41FA5}">
                          <a16:colId xmlns:a16="http://schemas.microsoft.com/office/drawing/2014/main" val="676072984"/>
                        </a:ext>
                      </a:extLst>
                    </a:gridCol>
                    <a:gridCol w="1362857">
                      <a:extLst>
                        <a:ext uri="{9D8B030D-6E8A-4147-A177-3AD203B41FA5}">
                          <a16:colId xmlns:a16="http://schemas.microsoft.com/office/drawing/2014/main" val="2065311432"/>
                        </a:ext>
                      </a:extLst>
                    </a:gridCol>
                  </a:tblGrid>
                  <a:tr h="565714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IN" sz="2400" kern="120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𝐞</m:t>
                                </m:r>
                                <m:d>
                                  <m:dPr>
                                    <m:ctrlPr>
                                      <a:rPr lang="en-IN" sz="2400" i="1" kern="120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sz="2400" kern="120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𝐚</m:t>
                                    </m:r>
                                  </m:e>
                                </m:d>
                                <m:r>
                                  <a:rPr lang="en-IN" sz="2400" b="1" i="0" kern="120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IN" sz="2400" kern="12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kumimoji="0" lang="en-IN" sz="24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206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𝐞</m:t>
                                </m:r>
                                <m:d>
                                  <m:dPr>
                                    <m:ctrlPr>
                                      <a:rPr kumimoji="0" lang="en-IN" sz="24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206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IN" sz="2400" b="1" i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206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𝐛</m:t>
                                    </m:r>
                                  </m:e>
                                </m:d>
                                <m:r>
                                  <a:rPr kumimoji="0" lang="en-IN" sz="24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206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 anchor="ctr"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kumimoji="0" lang="en-IN" sz="24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206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𝐞</m:t>
                                </m:r>
                                <m:d>
                                  <m:dPr>
                                    <m:ctrlPr>
                                      <a:rPr kumimoji="0" lang="en-IN" sz="24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206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IN" sz="2400" b="1" i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206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𝐜</m:t>
                                    </m:r>
                                  </m:e>
                                </m:d>
                                <m:r>
                                  <a:rPr kumimoji="0" lang="en-IN" sz="24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206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 anchor="ctr"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kumimoji="0" lang="en-IN" sz="24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206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𝐞</m:t>
                                </m:r>
                                <m:d>
                                  <m:dPr>
                                    <m:ctrlPr>
                                      <a:rPr kumimoji="0" lang="en-IN" sz="24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206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IN" sz="2400" b="1" i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206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𝐝</m:t>
                                    </m:r>
                                  </m:e>
                                </m:d>
                                <m:r>
                                  <a:rPr kumimoji="0" lang="en-IN" sz="24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206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 anchor="ctr"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kumimoji="0" lang="en-IN" sz="24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206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𝐞</m:t>
                                </m:r>
                                <m:d>
                                  <m:dPr>
                                    <m:ctrlPr>
                                      <a:rPr kumimoji="0" lang="en-IN" sz="24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206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IN" sz="2400" b="1" i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206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𝐞</m:t>
                                    </m:r>
                                  </m:e>
                                </m:d>
                                <m:r>
                                  <a:rPr kumimoji="0" lang="en-IN" sz="24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206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 anchor="ctr"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kumimoji="0" lang="en-IN" sz="24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206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𝐞</m:t>
                                </m:r>
                                <m:d>
                                  <m:dPr>
                                    <m:ctrlPr>
                                      <a:rPr kumimoji="0" lang="en-IN" sz="24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206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IN" sz="2400" b="1" i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206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𝐟</m:t>
                                    </m:r>
                                  </m:e>
                                </m:d>
                                <m:r>
                                  <a:rPr kumimoji="0" lang="en-IN" sz="24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206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 anchor="ctr"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kumimoji="0" lang="en-IN" sz="24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206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𝐞</m:t>
                                </m:r>
                                <m:d>
                                  <m:dPr>
                                    <m:ctrlPr>
                                      <a:rPr kumimoji="0" lang="en-IN" sz="24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206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IN" sz="2400" b="1" i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206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𝐠</m:t>
                                    </m:r>
                                  </m:e>
                                </m:d>
                                <m:r>
                                  <a:rPr kumimoji="0" lang="en-IN" sz="24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206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kumimoji="0" lang="en-IN" sz="2400" b="1" i="0" u="none" strike="noStrike" kern="1200" cap="none" spc="0" normalizeH="0" baseline="0" dirty="0">
                            <a:ln>
                              <a:noFill/>
                            </a:ln>
                            <a:solidFill>
                              <a:srgbClr val="00206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96831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709B848F-3B7F-960C-258A-5B663509F7F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73728992"/>
                  </p:ext>
                </p:extLst>
              </p:nvPr>
            </p:nvGraphicFramePr>
            <p:xfrm>
              <a:off x="263698" y="5851103"/>
              <a:ext cx="9539999" cy="56571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62857">
                      <a:extLst>
                        <a:ext uri="{9D8B030D-6E8A-4147-A177-3AD203B41FA5}">
                          <a16:colId xmlns:a16="http://schemas.microsoft.com/office/drawing/2014/main" val="2573274369"/>
                        </a:ext>
                      </a:extLst>
                    </a:gridCol>
                    <a:gridCol w="1362857">
                      <a:extLst>
                        <a:ext uri="{9D8B030D-6E8A-4147-A177-3AD203B41FA5}">
                          <a16:colId xmlns:a16="http://schemas.microsoft.com/office/drawing/2014/main" val="4051045428"/>
                        </a:ext>
                      </a:extLst>
                    </a:gridCol>
                    <a:gridCol w="1362857">
                      <a:extLst>
                        <a:ext uri="{9D8B030D-6E8A-4147-A177-3AD203B41FA5}">
                          <a16:colId xmlns:a16="http://schemas.microsoft.com/office/drawing/2014/main" val="1541333607"/>
                        </a:ext>
                      </a:extLst>
                    </a:gridCol>
                    <a:gridCol w="1362857">
                      <a:extLst>
                        <a:ext uri="{9D8B030D-6E8A-4147-A177-3AD203B41FA5}">
                          <a16:colId xmlns:a16="http://schemas.microsoft.com/office/drawing/2014/main" val="535765769"/>
                        </a:ext>
                      </a:extLst>
                    </a:gridCol>
                    <a:gridCol w="1362857">
                      <a:extLst>
                        <a:ext uri="{9D8B030D-6E8A-4147-A177-3AD203B41FA5}">
                          <a16:colId xmlns:a16="http://schemas.microsoft.com/office/drawing/2014/main" val="3481627474"/>
                        </a:ext>
                      </a:extLst>
                    </a:gridCol>
                    <a:gridCol w="1362857">
                      <a:extLst>
                        <a:ext uri="{9D8B030D-6E8A-4147-A177-3AD203B41FA5}">
                          <a16:colId xmlns:a16="http://schemas.microsoft.com/office/drawing/2014/main" val="676072984"/>
                        </a:ext>
                      </a:extLst>
                    </a:gridCol>
                    <a:gridCol w="1362857">
                      <a:extLst>
                        <a:ext uri="{9D8B030D-6E8A-4147-A177-3AD203B41FA5}">
                          <a16:colId xmlns:a16="http://schemas.microsoft.com/office/drawing/2014/main" val="2065311432"/>
                        </a:ext>
                      </a:extLst>
                    </a:gridCol>
                  </a:tblGrid>
                  <a:tr h="56571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4"/>
                          <a:stretch>
                            <a:fillRect l="-446" t="-1064" r="-600893" b="-42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4"/>
                          <a:stretch>
                            <a:fillRect l="-100897" t="-1064" r="-503587" b="-42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4"/>
                          <a:stretch>
                            <a:fillRect l="-200000" t="-1064" r="-401339" b="-42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4"/>
                          <a:stretch>
                            <a:fillRect l="-300000" t="-1064" r="-301339" b="-42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4"/>
                          <a:stretch>
                            <a:fillRect l="-400000" t="-1064" r="-201339" b="-42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4"/>
                          <a:stretch>
                            <a:fillRect l="-502242" t="-1064" r="-102242" b="-42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4"/>
                          <a:stretch>
                            <a:fillRect l="-599554" t="-1064" r="-1786" b="-42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968313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C54B935D-4CFC-E9D7-1956-7BF12F430D78}"/>
              </a:ext>
            </a:extLst>
          </p:cNvPr>
          <p:cNvSpPr/>
          <p:nvPr/>
        </p:nvSpPr>
        <p:spPr>
          <a:xfrm>
            <a:off x="8374461" y="1974849"/>
            <a:ext cx="1572614" cy="503787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15C5FCF-F20A-1F23-ACE0-83FC48C86681}"/>
                  </a:ext>
                </a:extLst>
              </p:cNvPr>
              <p:cNvSpPr txBox="1"/>
              <p:nvPr/>
            </p:nvSpPr>
            <p:spPr>
              <a:xfrm>
                <a:off x="1212712" y="5902023"/>
                <a:ext cx="361402" cy="4643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15C5FCF-F20A-1F23-ACE0-83FC48C866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2712" y="5902023"/>
                <a:ext cx="361402" cy="464394"/>
              </a:xfrm>
              <a:prstGeom prst="rect">
                <a:avLst/>
              </a:prstGeom>
              <a:blipFill>
                <a:blip r:embed="rId45"/>
                <a:stretch>
                  <a:fillRect l="-6780" r="-33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Rectangle 56">
            <a:extLst>
              <a:ext uri="{FF2B5EF4-FFF2-40B4-BE49-F238E27FC236}">
                <a16:creationId xmlns:a16="http://schemas.microsoft.com/office/drawing/2014/main" id="{C54B935D-4CFC-E9D7-1956-7BF12F430D78}"/>
              </a:ext>
            </a:extLst>
          </p:cNvPr>
          <p:cNvSpPr/>
          <p:nvPr/>
        </p:nvSpPr>
        <p:spPr>
          <a:xfrm>
            <a:off x="6749180" y="2608408"/>
            <a:ext cx="1572614" cy="503787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2570955" y="5904752"/>
                <a:ext cx="26435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0955" y="5904752"/>
                <a:ext cx="264354" cy="461665"/>
              </a:xfrm>
              <a:prstGeom prst="rect">
                <a:avLst/>
              </a:prstGeom>
              <a:blipFill rotWithShape="0">
                <a:blip r:embed="rId46"/>
                <a:stretch>
                  <a:fillRect l="-6977" r="-395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Rectangle 58">
            <a:extLst>
              <a:ext uri="{FF2B5EF4-FFF2-40B4-BE49-F238E27FC236}">
                <a16:creationId xmlns:a16="http://schemas.microsoft.com/office/drawing/2014/main" id="{C54B935D-4CFC-E9D7-1956-7BF12F430D78}"/>
              </a:ext>
            </a:extLst>
          </p:cNvPr>
          <p:cNvSpPr/>
          <p:nvPr/>
        </p:nvSpPr>
        <p:spPr>
          <a:xfrm>
            <a:off x="5107855" y="3241150"/>
            <a:ext cx="1572614" cy="503787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3892340" y="5902023"/>
                <a:ext cx="26556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2340" y="5902023"/>
                <a:ext cx="265562" cy="461665"/>
              </a:xfrm>
              <a:prstGeom prst="rect">
                <a:avLst/>
              </a:prstGeom>
              <a:blipFill rotWithShape="0">
                <a:blip r:embed="rId47"/>
                <a:stretch>
                  <a:fillRect l="-6977" r="-395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Rectangle 60">
            <a:extLst>
              <a:ext uri="{FF2B5EF4-FFF2-40B4-BE49-F238E27FC236}">
                <a16:creationId xmlns:a16="http://schemas.microsoft.com/office/drawing/2014/main" id="{C54B935D-4CFC-E9D7-1956-7BF12F430D78}"/>
              </a:ext>
            </a:extLst>
          </p:cNvPr>
          <p:cNvSpPr/>
          <p:nvPr/>
        </p:nvSpPr>
        <p:spPr>
          <a:xfrm>
            <a:off x="3516819" y="3913843"/>
            <a:ext cx="1572614" cy="503787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5302017" y="5902022"/>
                <a:ext cx="26435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2017" y="5902022"/>
                <a:ext cx="264354" cy="461665"/>
              </a:xfrm>
              <a:prstGeom prst="rect">
                <a:avLst/>
              </a:prstGeom>
              <a:blipFill rotWithShape="0">
                <a:blip r:embed="rId48"/>
                <a:stretch>
                  <a:fillRect l="-6977" r="-395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Rectangle 62">
            <a:extLst>
              <a:ext uri="{FF2B5EF4-FFF2-40B4-BE49-F238E27FC236}">
                <a16:creationId xmlns:a16="http://schemas.microsoft.com/office/drawing/2014/main" id="{C54B935D-4CFC-E9D7-1956-7BF12F430D78}"/>
              </a:ext>
            </a:extLst>
          </p:cNvPr>
          <p:cNvSpPr/>
          <p:nvPr/>
        </p:nvSpPr>
        <p:spPr>
          <a:xfrm>
            <a:off x="5121121" y="2008237"/>
            <a:ext cx="1572614" cy="503787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6637807" y="5902022"/>
                <a:ext cx="26556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7807" y="5902022"/>
                <a:ext cx="265562" cy="461665"/>
              </a:xfrm>
              <a:prstGeom prst="rect">
                <a:avLst/>
              </a:prstGeom>
              <a:blipFill rotWithShape="0">
                <a:blip r:embed="rId49"/>
                <a:stretch>
                  <a:fillRect l="-6977" r="-395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Rectangle 64">
            <a:extLst>
              <a:ext uri="{FF2B5EF4-FFF2-40B4-BE49-F238E27FC236}">
                <a16:creationId xmlns:a16="http://schemas.microsoft.com/office/drawing/2014/main" id="{C54B935D-4CFC-E9D7-1956-7BF12F430D78}"/>
              </a:ext>
            </a:extLst>
          </p:cNvPr>
          <p:cNvSpPr/>
          <p:nvPr/>
        </p:nvSpPr>
        <p:spPr>
          <a:xfrm>
            <a:off x="6744732" y="1991210"/>
            <a:ext cx="1572614" cy="503787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7977447" y="5902022"/>
                <a:ext cx="26435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7447" y="5902022"/>
                <a:ext cx="264354" cy="461665"/>
              </a:xfrm>
              <a:prstGeom prst="rect">
                <a:avLst/>
              </a:prstGeom>
              <a:blipFill rotWithShape="0">
                <a:blip r:embed="rId50"/>
                <a:stretch>
                  <a:fillRect l="-6977" r="-395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Rectangle 66">
            <a:extLst>
              <a:ext uri="{FF2B5EF4-FFF2-40B4-BE49-F238E27FC236}">
                <a16:creationId xmlns:a16="http://schemas.microsoft.com/office/drawing/2014/main" id="{C54B935D-4CFC-E9D7-1956-7BF12F430D78}"/>
              </a:ext>
            </a:extLst>
          </p:cNvPr>
          <p:cNvSpPr/>
          <p:nvPr/>
        </p:nvSpPr>
        <p:spPr>
          <a:xfrm>
            <a:off x="8380780" y="1968845"/>
            <a:ext cx="1572614" cy="503787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615C5FCF-F20A-1F23-ACE0-83FC48C86681}"/>
                  </a:ext>
                </a:extLst>
              </p:cNvPr>
              <p:cNvSpPr txBox="1"/>
              <p:nvPr/>
            </p:nvSpPr>
            <p:spPr>
              <a:xfrm>
                <a:off x="9363333" y="5897575"/>
                <a:ext cx="361402" cy="4643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15C5FCF-F20A-1F23-ACE0-83FC48C866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3333" y="5897575"/>
                <a:ext cx="361402" cy="464394"/>
              </a:xfrm>
              <a:prstGeom prst="rect">
                <a:avLst/>
              </a:prstGeom>
              <a:blipFill rotWithShape="0">
                <a:blip r:embed="rId51"/>
                <a:stretch>
                  <a:fillRect l="-6780" r="-3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2747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" grpId="0" animBg="1"/>
      <p:bldP spid="5" grpId="1" animBg="1"/>
      <p:bldP spid="8" grpId="0"/>
      <p:bldP spid="57" grpId="0" animBg="1"/>
      <p:bldP spid="57" grpId="1" animBg="1"/>
      <p:bldP spid="58" grpId="0"/>
      <p:bldP spid="59" grpId="0" animBg="1"/>
      <p:bldP spid="59" grpId="1" animBg="1"/>
      <p:bldP spid="60" grpId="0"/>
      <p:bldP spid="61" grpId="0" animBg="1"/>
      <p:bldP spid="61" grpId="1" animBg="1"/>
      <p:bldP spid="62" grpId="0"/>
      <p:bldP spid="63" grpId="0" animBg="1"/>
      <p:bldP spid="63" grpId="1" animBg="1"/>
      <p:bldP spid="64" grpId="0"/>
      <p:bldP spid="65" grpId="0" animBg="1"/>
      <p:bldP spid="65" grpId="1" animBg="1"/>
      <p:bldP spid="66" grpId="0"/>
      <p:bldP spid="67" grpId="0" animBg="1"/>
      <p:bldP spid="67" grpId="1" animBg="1"/>
      <p:bldP spid="68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D0D21-09E6-E2F3-C1F2-347F243BF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F4CDC82A-E07F-AE64-D1DC-DF0F62DD351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Method 2 ⇝ Example 3</a:t>
            </a:r>
            <a:endParaRPr lang="en-US" dirty="0"/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7F6ED91B-D1A9-B9D3-F657-018E45C5FE30}"/>
              </a:ext>
            </a:extLst>
          </p:cNvPr>
          <p:cNvSpPr txBox="1">
            <a:spLocks/>
          </p:cNvSpPr>
          <p:nvPr/>
        </p:nvSpPr>
        <p:spPr>
          <a:xfrm>
            <a:off x="159311" y="827425"/>
            <a:ext cx="1407338" cy="523220"/>
          </a:xfrm>
          <a:prstGeom prst="rect">
            <a:avLst/>
          </a:pr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lvl="0"/>
          </a:lstStyle>
          <a:p>
            <a:r>
              <a:rPr lang="en-IN" sz="2800" dirty="0">
                <a:solidFill>
                  <a:schemeClr val="bg1"/>
                </a:solidFill>
              </a:rPr>
              <a:t>Solution </a:t>
            </a:r>
            <a:endParaRPr lang="en-US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Content Placeholder 54">
                <a:extLst>
                  <a:ext uri="{FF2B5EF4-FFF2-40B4-BE49-F238E27FC236}">
                    <a16:creationId xmlns:a16="http://schemas.microsoft.com/office/drawing/2014/main" id="{59463CCC-1A29-9F9B-77DD-0C1956C05C0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9580" y="2869743"/>
                <a:ext cx="6355555" cy="73538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65113" lvl="1" indent="-265113">
                  <a:lnSpc>
                    <a:spcPct val="150000"/>
                  </a:lnSpc>
                  <a:spcBef>
                    <a:spcPts val="1000"/>
                  </a:spcBef>
                  <a:buClr>
                    <a:srgbClr val="B84742"/>
                  </a:buClr>
                  <a:buFont typeface="Wingdings 3" panose="05040102010807070707" pitchFamily="18" charset="2"/>
                  <a:buChar char=""/>
                </a:pPr>
                <a:r>
                  <a:rPr lang="en-US" dirty="0"/>
                  <a:t>Radius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</m:d>
                  </m:oMath>
                </a14:m>
                <a:r>
                  <a:rPr lang="en-US" dirty="0"/>
                  <a:t> of tree is eccentricity of center. </a:t>
                </a:r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4" name="Content Placeholder 5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59463CCC-1A29-9F9B-77DD-0C1956C05C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580" y="2869743"/>
                <a:ext cx="6355555" cy="735381"/>
              </a:xfrm>
              <a:prstGeom prst="rect">
                <a:avLst/>
              </a:prstGeom>
              <a:blipFill rotWithShape="0">
                <a:blip r:embed="rId2"/>
                <a:stretch>
                  <a:fillRect l="-1823" r="-1056" b="-1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Content Placeholder 54">
                <a:extLst>
                  <a:ext uri="{FF2B5EF4-FFF2-40B4-BE49-F238E27FC236}">
                    <a16:creationId xmlns:a16="http://schemas.microsoft.com/office/drawing/2014/main" id="{88E5F364-E743-2300-BB06-39D4B5B7F03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9580" y="3660980"/>
                <a:ext cx="7270758" cy="62928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65113" lvl="1" indent="-265113">
                  <a:lnSpc>
                    <a:spcPct val="150000"/>
                  </a:lnSpc>
                  <a:spcBef>
                    <a:spcPts val="1000"/>
                  </a:spcBef>
                  <a:buClr>
                    <a:srgbClr val="B84742"/>
                  </a:buClr>
                  <a:buFont typeface="Wingdings 3" panose="05040102010807070707" pitchFamily="18" charset="2"/>
                  <a:buChar char=""/>
                </a:pPr>
                <a:r>
                  <a:rPr lang="en-US" dirty="0"/>
                  <a:t>Diameter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</m:d>
                  </m:oMath>
                </a14:m>
                <a:r>
                  <a:rPr lang="en-US" dirty="0"/>
                  <a:t> of tree is maximum of eccentricity.</a:t>
                </a:r>
                <a:endParaRPr lang="en-US" b="1" dirty="0"/>
              </a:p>
            </p:txBody>
          </p:sp>
        </mc:Choice>
        <mc:Fallback xmlns="">
          <p:sp>
            <p:nvSpPr>
              <p:cNvPr id="105" name="Content Placeholder 5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88E5F364-E743-2300-BB06-39D4B5B7F0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580" y="3660980"/>
                <a:ext cx="7270758" cy="629287"/>
              </a:xfrm>
              <a:prstGeom prst="rect">
                <a:avLst/>
              </a:prstGeom>
              <a:blipFill rotWithShape="0">
                <a:blip r:embed="rId3"/>
                <a:stretch>
                  <a:fillRect l="-1594" r="-671" b="-330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Content Placeholder 54">
            <a:extLst>
              <a:ext uri="{FF2B5EF4-FFF2-40B4-BE49-F238E27FC236}">
                <a16:creationId xmlns:a16="http://schemas.microsoft.com/office/drawing/2014/main" id="{ECABC07D-AF38-7E47-D9AD-71178DDB595F}"/>
              </a:ext>
            </a:extLst>
          </p:cNvPr>
          <p:cNvSpPr txBox="1">
            <a:spLocks/>
          </p:cNvSpPr>
          <p:nvPr/>
        </p:nvSpPr>
        <p:spPr>
          <a:xfrm>
            <a:off x="7594371" y="2134363"/>
            <a:ext cx="4103249" cy="7353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50000"/>
              </a:lnSpc>
              <a:spcBef>
                <a:spcPts val="1000"/>
              </a:spcBef>
              <a:buClr>
                <a:srgbClr val="B84742"/>
              </a:buClr>
              <a:buNone/>
            </a:pPr>
            <a:r>
              <a:rPr lang="en-US" dirty="0"/>
              <a:t>So, 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and </a:t>
            </a:r>
            <a:r>
              <a:rPr lang="en-US" b="1" dirty="0">
                <a:solidFill>
                  <a:srgbClr val="FF0000"/>
                </a:solidFill>
              </a:rPr>
              <a:t>e</a:t>
            </a:r>
            <a:r>
              <a:rPr lang="en-US" dirty="0"/>
              <a:t> are center</a:t>
            </a:r>
            <a:r>
              <a:rPr lang="en-US" b="1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Content Placeholder 54">
                <a:extLst>
                  <a:ext uri="{FF2B5EF4-FFF2-40B4-BE49-F238E27FC236}">
                    <a16:creationId xmlns:a16="http://schemas.microsoft.com/office/drawing/2014/main" id="{B6932145-DD12-C1F4-DF98-C8C302C4CB3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33686" y="2869742"/>
                <a:ext cx="4318905" cy="73538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 indent="0">
                  <a:lnSpc>
                    <a:spcPct val="150000"/>
                  </a:lnSpc>
                  <a:spcBef>
                    <a:spcPts val="1000"/>
                  </a:spcBef>
                  <a:buClr>
                    <a:srgbClr val="B84742"/>
                  </a:buClr>
                  <a:buNone/>
                </a:pPr>
                <a:r>
                  <a:rPr lang="en-US" dirty="0"/>
                  <a:t>So, </a:t>
                </a:r>
                <a14:m>
                  <m:oMath xmlns:m="http://schemas.openxmlformats.org/officeDocument/2006/math">
                    <m:r>
                      <a:rPr lang="en-IN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𝐞</m:t>
                    </m:r>
                    <m:d>
                      <m:dPr>
                        <m:ctrlP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𝐜</m:t>
                        </m:r>
                      </m:e>
                    </m:d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𝐞</m:t>
                    </m:r>
                    <m:d>
                      <m:d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𝐞</m:t>
                        </m:r>
                      </m:e>
                    </m:d>
                    <m:r>
                      <a:rPr lang="en-IN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𝐫</m:t>
                    </m:r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107" name="Content Placeholder 5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B6932145-DD12-C1F4-DF98-C8C302C4CB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3686" y="2869742"/>
                <a:ext cx="4318905" cy="735381"/>
              </a:xfrm>
              <a:prstGeom prst="rect">
                <a:avLst/>
              </a:prstGeom>
              <a:blipFill rotWithShape="0">
                <a:blip r:embed="rId4"/>
                <a:stretch>
                  <a:fillRect l="-2966" b="-1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Content Placeholder 54">
                <a:extLst>
                  <a:ext uri="{FF2B5EF4-FFF2-40B4-BE49-F238E27FC236}">
                    <a16:creationId xmlns:a16="http://schemas.microsoft.com/office/drawing/2014/main" id="{9EB8A9D1-FA78-30C5-6CAC-781C038E15C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21893" y="3660979"/>
                <a:ext cx="4098355" cy="73538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 indent="0">
                  <a:lnSpc>
                    <a:spcPct val="150000"/>
                  </a:lnSpc>
                  <a:spcBef>
                    <a:spcPts val="1000"/>
                  </a:spcBef>
                  <a:buClr>
                    <a:srgbClr val="B84742"/>
                  </a:buClr>
                  <a:buNone/>
                </a:pPr>
                <a:r>
                  <a:rPr lang="en-US" dirty="0"/>
                  <a:t>So, </a:t>
                </a:r>
                <a14:m>
                  <m:oMath xmlns:m="http://schemas.openxmlformats.org/officeDocument/2006/math">
                    <m:r>
                      <a:rPr lang="en-IN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𝐞</m:t>
                    </m:r>
                    <m:d>
                      <m:dPr>
                        <m:ctrlP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</m:d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𝐞</m:t>
                    </m:r>
                    <m:d>
                      <m:d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𝐠</m:t>
                        </m:r>
                      </m:e>
                    </m:d>
                    <m:r>
                      <a:rPr lang="en-IN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𝐃</m:t>
                    </m:r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108" name="Content Placeholder 5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9EB8A9D1-FA78-30C5-6CAC-781C038E1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1893" y="3660979"/>
                <a:ext cx="4098355" cy="735381"/>
              </a:xfrm>
              <a:prstGeom prst="rect">
                <a:avLst/>
              </a:prstGeom>
              <a:blipFill rotWithShape="0">
                <a:blip r:embed="rId5"/>
                <a:stretch>
                  <a:fillRect l="-3125" r="-1042" b="-1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709B848F-3B7F-960C-258A-5B663509F7F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62443263"/>
                  </p:ext>
                </p:extLst>
              </p:nvPr>
            </p:nvGraphicFramePr>
            <p:xfrm>
              <a:off x="201515" y="1456400"/>
              <a:ext cx="9539999" cy="56571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62857">
                      <a:extLst>
                        <a:ext uri="{9D8B030D-6E8A-4147-A177-3AD203B41FA5}">
                          <a16:colId xmlns:a16="http://schemas.microsoft.com/office/drawing/2014/main" val="2573274369"/>
                        </a:ext>
                      </a:extLst>
                    </a:gridCol>
                    <a:gridCol w="1362857">
                      <a:extLst>
                        <a:ext uri="{9D8B030D-6E8A-4147-A177-3AD203B41FA5}">
                          <a16:colId xmlns:a16="http://schemas.microsoft.com/office/drawing/2014/main" val="4051045428"/>
                        </a:ext>
                      </a:extLst>
                    </a:gridCol>
                    <a:gridCol w="1362857">
                      <a:extLst>
                        <a:ext uri="{9D8B030D-6E8A-4147-A177-3AD203B41FA5}">
                          <a16:colId xmlns:a16="http://schemas.microsoft.com/office/drawing/2014/main" val="1541333607"/>
                        </a:ext>
                      </a:extLst>
                    </a:gridCol>
                    <a:gridCol w="1362857">
                      <a:extLst>
                        <a:ext uri="{9D8B030D-6E8A-4147-A177-3AD203B41FA5}">
                          <a16:colId xmlns:a16="http://schemas.microsoft.com/office/drawing/2014/main" val="535765769"/>
                        </a:ext>
                      </a:extLst>
                    </a:gridCol>
                    <a:gridCol w="1362857">
                      <a:extLst>
                        <a:ext uri="{9D8B030D-6E8A-4147-A177-3AD203B41FA5}">
                          <a16:colId xmlns:a16="http://schemas.microsoft.com/office/drawing/2014/main" val="3481627474"/>
                        </a:ext>
                      </a:extLst>
                    </a:gridCol>
                    <a:gridCol w="1362857">
                      <a:extLst>
                        <a:ext uri="{9D8B030D-6E8A-4147-A177-3AD203B41FA5}">
                          <a16:colId xmlns:a16="http://schemas.microsoft.com/office/drawing/2014/main" val="676072984"/>
                        </a:ext>
                      </a:extLst>
                    </a:gridCol>
                    <a:gridCol w="1362857">
                      <a:extLst>
                        <a:ext uri="{9D8B030D-6E8A-4147-A177-3AD203B41FA5}">
                          <a16:colId xmlns:a16="http://schemas.microsoft.com/office/drawing/2014/main" val="2065311432"/>
                        </a:ext>
                      </a:extLst>
                    </a:gridCol>
                  </a:tblGrid>
                  <a:tr h="565714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IN" sz="2400" kern="120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𝐞</m:t>
                                </m:r>
                                <m:d>
                                  <m:dPr>
                                    <m:ctrlPr>
                                      <a:rPr lang="en-IN" sz="2400" i="1" kern="120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sz="2400" kern="120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𝐚</m:t>
                                    </m:r>
                                  </m:e>
                                </m:d>
                                <m:r>
                                  <a:rPr lang="en-IN" sz="2400" b="1" i="0" kern="120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IN" sz="2400" kern="12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kumimoji="0" lang="en-IN" sz="24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206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𝐞</m:t>
                                </m:r>
                                <m:d>
                                  <m:dPr>
                                    <m:ctrlPr>
                                      <a:rPr kumimoji="0" lang="en-IN" sz="24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206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IN" sz="2400" b="1" i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206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𝐛</m:t>
                                    </m:r>
                                  </m:e>
                                </m:d>
                                <m:r>
                                  <a:rPr kumimoji="0" lang="en-IN" sz="24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206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 anchor="ctr"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kumimoji="0" lang="en-IN" sz="24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206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𝐞</m:t>
                                </m:r>
                                <m:d>
                                  <m:dPr>
                                    <m:ctrlPr>
                                      <a:rPr kumimoji="0" lang="en-IN" sz="24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206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IN" sz="2400" b="1" i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206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𝐜</m:t>
                                    </m:r>
                                  </m:e>
                                </m:d>
                                <m:r>
                                  <a:rPr kumimoji="0" lang="en-IN" sz="24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206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 anchor="ctr"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kumimoji="0" lang="en-IN" sz="24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206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𝐞</m:t>
                                </m:r>
                                <m:d>
                                  <m:dPr>
                                    <m:ctrlPr>
                                      <a:rPr kumimoji="0" lang="en-IN" sz="24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206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IN" sz="2400" b="1" i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206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𝐝</m:t>
                                    </m:r>
                                  </m:e>
                                </m:d>
                                <m:r>
                                  <a:rPr kumimoji="0" lang="en-IN" sz="24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206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 anchor="ctr"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kumimoji="0" lang="en-IN" sz="24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206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𝐞</m:t>
                                </m:r>
                                <m:d>
                                  <m:dPr>
                                    <m:ctrlPr>
                                      <a:rPr kumimoji="0" lang="en-IN" sz="24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206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IN" sz="2400" b="1" i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206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𝐞</m:t>
                                    </m:r>
                                  </m:e>
                                </m:d>
                                <m:r>
                                  <a:rPr kumimoji="0" lang="en-IN" sz="24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206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 anchor="ctr"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kumimoji="0" lang="en-IN" sz="24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206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𝐞</m:t>
                                </m:r>
                                <m:d>
                                  <m:dPr>
                                    <m:ctrlPr>
                                      <a:rPr kumimoji="0" lang="en-IN" sz="24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206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IN" sz="2400" b="1" i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206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𝐟</m:t>
                                    </m:r>
                                  </m:e>
                                </m:d>
                                <m:r>
                                  <a:rPr kumimoji="0" lang="en-IN" sz="24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206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 anchor="ctr"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kumimoji="0" lang="en-IN" sz="24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206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𝐞</m:t>
                                </m:r>
                                <m:d>
                                  <m:dPr>
                                    <m:ctrlPr>
                                      <a:rPr kumimoji="0" lang="en-IN" sz="24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206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IN" sz="2400" b="1" i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206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𝐠</m:t>
                                    </m:r>
                                  </m:e>
                                </m:d>
                                <m:r>
                                  <a:rPr kumimoji="0" lang="en-IN" sz="24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206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kumimoji="0" lang="en-IN" sz="2400" b="1" i="0" u="none" strike="noStrike" kern="1200" cap="none" spc="0" normalizeH="0" baseline="0" dirty="0">
                            <a:ln>
                              <a:noFill/>
                            </a:ln>
                            <a:solidFill>
                              <a:srgbClr val="00206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96831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709B848F-3B7F-960C-258A-5B663509F7F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62443263"/>
                  </p:ext>
                </p:extLst>
              </p:nvPr>
            </p:nvGraphicFramePr>
            <p:xfrm>
              <a:off x="201515" y="1456400"/>
              <a:ext cx="9539999" cy="56571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62857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573274369"/>
                        </a:ext>
                      </a:extLst>
                    </a:gridCol>
                    <a:gridCol w="1362857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4051045428"/>
                        </a:ext>
                      </a:extLst>
                    </a:gridCol>
                    <a:gridCol w="1362857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1541333607"/>
                        </a:ext>
                      </a:extLst>
                    </a:gridCol>
                    <a:gridCol w="1362857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535765769"/>
                        </a:ext>
                      </a:extLst>
                    </a:gridCol>
                    <a:gridCol w="1362857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3481627474"/>
                        </a:ext>
                      </a:extLst>
                    </a:gridCol>
                    <a:gridCol w="1362857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676072984"/>
                        </a:ext>
                      </a:extLst>
                    </a:gridCol>
                    <a:gridCol w="1362857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065311432"/>
                        </a:ext>
                      </a:extLst>
                    </a:gridCol>
                  </a:tblGrid>
                  <a:tr h="56571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6"/>
                          <a:stretch>
                            <a:fillRect l="-446" t="-1064" r="-600893" b="-42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6"/>
                          <a:stretch>
                            <a:fillRect l="-100897" t="-1064" r="-503587" b="-42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6"/>
                          <a:stretch>
                            <a:fillRect l="-200000" t="-1064" r="-401339" b="-42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6"/>
                          <a:stretch>
                            <a:fillRect l="-300000" t="-1064" r="-301339" b="-42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6"/>
                          <a:stretch>
                            <a:fillRect l="-400000" t="-1064" r="-201339" b="-42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6"/>
                          <a:stretch>
                            <a:fillRect l="-502242" t="-1064" r="-102242" b="-42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6"/>
                          <a:stretch>
                            <a:fillRect l="-599554" t="-1064" r="-1786" b="-42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421968313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15C5FCF-F20A-1F23-ACE0-83FC48C86681}"/>
                  </a:ext>
                </a:extLst>
              </p:cNvPr>
              <p:cNvSpPr txBox="1"/>
              <p:nvPr/>
            </p:nvSpPr>
            <p:spPr>
              <a:xfrm>
                <a:off x="1150529" y="1507320"/>
                <a:ext cx="361402" cy="4643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15C5FCF-F20A-1F23-ACE0-83FC48C866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0529" y="1507320"/>
                <a:ext cx="361402" cy="464394"/>
              </a:xfrm>
              <a:prstGeom prst="rect">
                <a:avLst/>
              </a:prstGeom>
              <a:blipFill rotWithShape="0">
                <a:blip r:embed="rId7"/>
                <a:stretch>
                  <a:fillRect l="-6780" r="-3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508772" y="1510049"/>
                <a:ext cx="26435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8772" y="1510049"/>
                <a:ext cx="264354" cy="461665"/>
              </a:xfrm>
              <a:prstGeom prst="rect">
                <a:avLst/>
              </a:prstGeom>
              <a:blipFill rotWithShape="0">
                <a:blip r:embed="rId8"/>
                <a:stretch>
                  <a:fillRect l="-6977" r="-395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830157" y="1507320"/>
                <a:ext cx="26556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0157" y="1507320"/>
                <a:ext cx="265562" cy="461665"/>
              </a:xfrm>
              <a:prstGeom prst="rect">
                <a:avLst/>
              </a:prstGeom>
              <a:blipFill rotWithShape="0">
                <a:blip r:embed="rId9"/>
                <a:stretch>
                  <a:fillRect l="-4545" r="-38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5239834" y="1507319"/>
                <a:ext cx="26435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9834" y="1507319"/>
                <a:ext cx="264354" cy="461665"/>
              </a:xfrm>
              <a:prstGeom prst="rect">
                <a:avLst/>
              </a:prstGeom>
              <a:blipFill rotWithShape="0">
                <a:blip r:embed="rId10"/>
                <a:stretch>
                  <a:fillRect l="-6977" r="-395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6575624" y="1507319"/>
                <a:ext cx="26556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5624" y="1507319"/>
                <a:ext cx="265562" cy="461665"/>
              </a:xfrm>
              <a:prstGeom prst="rect">
                <a:avLst/>
              </a:prstGeom>
              <a:blipFill rotWithShape="0">
                <a:blip r:embed="rId11"/>
                <a:stretch>
                  <a:fillRect l="-6977" r="-395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7915264" y="1507319"/>
                <a:ext cx="26435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5264" y="1507319"/>
                <a:ext cx="264354" cy="461665"/>
              </a:xfrm>
              <a:prstGeom prst="rect">
                <a:avLst/>
              </a:prstGeom>
              <a:blipFill rotWithShape="0">
                <a:blip r:embed="rId12"/>
                <a:stretch>
                  <a:fillRect l="-4545" r="-38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15C5FCF-F20A-1F23-ACE0-83FC48C86681}"/>
                  </a:ext>
                </a:extLst>
              </p:cNvPr>
              <p:cNvSpPr txBox="1"/>
              <p:nvPr/>
            </p:nvSpPr>
            <p:spPr>
              <a:xfrm>
                <a:off x="9301150" y="1502872"/>
                <a:ext cx="361402" cy="4643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IN" sz="24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15C5FCF-F20A-1F23-ACE0-83FC48C866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1150" y="1502872"/>
                <a:ext cx="361402" cy="464394"/>
              </a:xfrm>
              <a:prstGeom prst="rect">
                <a:avLst/>
              </a:prstGeom>
              <a:blipFill rotWithShape="0">
                <a:blip r:embed="rId13"/>
                <a:stretch>
                  <a:fillRect l="-6780" r="-3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C54B935D-4CFC-E9D7-1956-7BF12F430D78}"/>
              </a:ext>
            </a:extLst>
          </p:cNvPr>
          <p:cNvSpPr/>
          <p:nvPr/>
        </p:nvSpPr>
        <p:spPr>
          <a:xfrm>
            <a:off x="2933491" y="1483175"/>
            <a:ext cx="1232265" cy="503787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54B935D-4CFC-E9D7-1956-7BF12F430D78}"/>
              </a:ext>
            </a:extLst>
          </p:cNvPr>
          <p:cNvSpPr/>
          <p:nvPr/>
        </p:nvSpPr>
        <p:spPr>
          <a:xfrm>
            <a:off x="5627638" y="1463479"/>
            <a:ext cx="1336987" cy="503787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54B935D-4CFC-E9D7-1956-7BF12F430D78}"/>
              </a:ext>
            </a:extLst>
          </p:cNvPr>
          <p:cNvSpPr/>
          <p:nvPr/>
        </p:nvSpPr>
        <p:spPr>
          <a:xfrm>
            <a:off x="8365726" y="1510049"/>
            <a:ext cx="1336987" cy="503787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54B935D-4CFC-E9D7-1956-7BF12F430D78}"/>
              </a:ext>
            </a:extLst>
          </p:cNvPr>
          <p:cNvSpPr/>
          <p:nvPr/>
        </p:nvSpPr>
        <p:spPr>
          <a:xfrm>
            <a:off x="174944" y="1483175"/>
            <a:ext cx="1336987" cy="503787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ontent Placeholder 54">
                <a:extLst>
                  <a:ext uri="{FF2B5EF4-FFF2-40B4-BE49-F238E27FC236}">
                    <a16:creationId xmlns:a16="http://schemas.microsoft.com/office/drawing/2014/main" id="{88E5F364-E743-2300-BB06-39D4B5B7F03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986970" y="4629112"/>
                <a:ext cx="2218059" cy="137544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 indent="0">
                  <a:lnSpc>
                    <a:spcPct val="150000"/>
                  </a:lnSpc>
                  <a:spcBef>
                    <a:spcPts val="1000"/>
                  </a:spcBef>
                  <a:buClr>
                    <a:srgbClr val="B84742"/>
                  </a:buClr>
                  <a:buNone/>
                </a:pPr>
                <a:r>
                  <a:rPr lang="en-US" b="1" dirty="0"/>
                  <a:t>Hence ,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𝐫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0" dirty="0" err="1" smtClean="0">
                            <a:latin typeface="Cambria Math" panose="02040503050406030204" pitchFamily="18" charset="0"/>
                          </a:rPr>
                          <m:t>𝐃</m:t>
                        </m:r>
                      </m:num>
                      <m:den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7" name="Content Placeholder 54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88E5F364-E743-2300-BB06-39D4B5B7F0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6970" y="4629112"/>
                <a:ext cx="2218059" cy="1375448"/>
              </a:xfrm>
              <a:prstGeom prst="rect">
                <a:avLst/>
              </a:prstGeom>
              <a:blipFill rotWithShape="0">
                <a:blip r:embed="rId14"/>
                <a:stretch>
                  <a:fillRect l="-54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106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 build="p"/>
      <p:bldP spid="105" grpId="0" build="p"/>
      <p:bldP spid="106" grpId="0" build="p"/>
      <p:bldP spid="107" grpId="0" build="p"/>
      <p:bldP spid="108" grpId="0" build="p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uFill>
                  <a:solidFill>
                    <a:schemeClr val="bg1"/>
                  </a:solidFill>
                </a:uFill>
              </a:rPr>
              <a:t>Method – 3</a:t>
            </a:r>
            <a:br>
              <a:rPr lang="en-US" dirty="0"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en-US" dirty="0"/>
              <a:t>Introduction to Spanning Trees and Properties</a:t>
            </a:r>
          </a:p>
        </p:txBody>
      </p:sp>
    </p:spTree>
    <p:extLst>
      <p:ext uri="{BB962C8B-B14F-4D97-AF65-F5344CB8AC3E}">
        <p14:creationId xmlns:p14="http://schemas.microsoft.com/office/powerpoint/2010/main" val="107196416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Spanning Trees 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09" y="729966"/>
            <a:ext cx="11935185" cy="46987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just">
              <a:lnSpc>
                <a:spcPct val="150000"/>
              </a:lnSpc>
              <a:spcBef>
                <a:spcPts val="1000"/>
              </a:spcBef>
              <a:buClr>
                <a:srgbClr val="B84742"/>
              </a:buClr>
              <a:buFont typeface="Wingdings 3" panose="05040102010807070707" pitchFamily="18" charset="2"/>
              <a:buChar char=""/>
            </a:pPr>
            <a:r>
              <a:rPr lang="en-US" sz="2800" dirty="0">
                <a:solidFill>
                  <a:srgbClr val="002060"/>
                </a:solidFill>
              </a:rPr>
              <a:t>We have learned about trees and their properties as separate graphs .</a:t>
            </a:r>
          </a:p>
          <a:p>
            <a:pPr marL="265113" indent="-265113" algn="just">
              <a:lnSpc>
                <a:spcPct val="150000"/>
              </a:lnSpc>
              <a:spcBef>
                <a:spcPts val="1000"/>
              </a:spcBef>
              <a:buClr>
                <a:srgbClr val="B84742"/>
              </a:buClr>
              <a:buFont typeface="Wingdings 3" panose="05040102010807070707" pitchFamily="18" charset="2"/>
              <a:buChar char=""/>
            </a:pPr>
            <a:r>
              <a:rPr lang="en-US" sz="2800" dirty="0">
                <a:solidFill>
                  <a:srgbClr val="002060"/>
                </a:solidFill>
              </a:rPr>
              <a:t>Now, we will look at trees that are part of a bigger graph (as subgraphs).</a:t>
            </a:r>
          </a:p>
          <a:p>
            <a:pPr marL="265113" indent="-265113" algn="just">
              <a:lnSpc>
                <a:spcPct val="150000"/>
              </a:lnSpc>
              <a:spcBef>
                <a:spcPts val="1000"/>
              </a:spcBef>
              <a:buClr>
                <a:srgbClr val="B84742"/>
              </a:buClr>
              <a:buFont typeface="Wingdings 3" panose="05040102010807070707" pitchFamily="18" charset="2"/>
              <a:buChar char=""/>
            </a:pPr>
            <a:r>
              <a:rPr lang="en-US" sz="2800" dirty="0">
                <a:solidFill>
                  <a:srgbClr val="002060"/>
                </a:solidFill>
              </a:rPr>
              <a:t>A graph can have many subgraphs, and some of them will be trees.</a:t>
            </a:r>
          </a:p>
          <a:p>
            <a:pPr marL="265113" indent="-265113" algn="just">
              <a:lnSpc>
                <a:spcPct val="150000"/>
              </a:lnSpc>
              <a:spcBef>
                <a:spcPts val="1000"/>
              </a:spcBef>
              <a:buClr>
                <a:srgbClr val="B84742"/>
              </a:buClr>
              <a:buFont typeface="Wingdings 3" panose="05040102010807070707" pitchFamily="18" charset="2"/>
              <a:buChar char=""/>
            </a:pPr>
            <a:r>
              <a:rPr lang="en-US" sz="2800" dirty="0">
                <a:solidFill>
                  <a:srgbClr val="002060"/>
                </a:solidFill>
              </a:rPr>
              <a:t>Among these trees, we are mainly interested in special ones called spanning trees.</a:t>
            </a:r>
          </a:p>
          <a:p>
            <a:pPr marL="265113" indent="-265113" algn="just">
              <a:spcBef>
                <a:spcPts val="1000"/>
              </a:spcBef>
              <a:buClr>
                <a:srgbClr val="B84742"/>
              </a:buClr>
              <a:buFont typeface="Wingdings 3" panose="05040102010807070707" pitchFamily="18" charset="2"/>
              <a:buChar char=""/>
            </a:pPr>
            <a:r>
              <a:rPr lang="en-IN" sz="2800" b="1" dirty="0">
                <a:solidFill>
                  <a:srgbClr val="002060"/>
                </a:solidFill>
              </a:rPr>
              <a:t>Definition:</a:t>
            </a:r>
            <a:r>
              <a:rPr lang="en-IN" sz="2800" b="1" dirty="0"/>
              <a:t> </a:t>
            </a:r>
            <a:r>
              <a:rPr lang="en-US" sz="2800" dirty="0">
                <a:solidFill>
                  <a:srgbClr val="002060"/>
                </a:solidFill>
              </a:rPr>
              <a:t>A tree T is said to be a </a:t>
            </a:r>
            <a:r>
              <a:rPr lang="en-US" sz="2800" dirty="0">
                <a:solidFill>
                  <a:srgbClr val="C00000"/>
                </a:solidFill>
              </a:rPr>
              <a:t>spanning tree </a:t>
            </a:r>
            <a:r>
              <a:rPr lang="en-US" sz="2800" dirty="0">
                <a:solidFill>
                  <a:srgbClr val="002060"/>
                </a:solidFill>
              </a:rPr>
              <a:t>of a connected graph G if </a:t>
            </a:r>
            <a:r>
              <a:rPr lang="en-US" sz="2800" b="1" dirty="0">
                <a:solidFill>
                  <a:srgbClr val="002060"/>
                </a:solidFill>
              </a:rPr>
              <a:t>T is a 		subgraphs of G </a:t>
            </a:r>
            <a:r>
              <a:rPr lang="en-US" sz="2800" dirty="0">
                <a:solidFill>
                  <a:srgbClr val="002060"/>
                </a:solidFill>
              </a:rPr>
              <a:t>and </a:t>
            </a:r>
            <a:r>
              <a:rPr lang="en-US" sz="2800" b="1" dirty="0">
                <a:solidFill>
                  <a:srgbClr val="002060"/>
                </a:solidFill>
              </a:rPr>
              <a:t>T contains all vertices of G</a:t>
            </a:r>
            <a:r>
              <a:rPr lang="en-US" sz="2800" dirty="0">
                <a:solidFill>
                  <a:srgbClr val="002060"/>
                </a:solidFill>
              </a:rPr>
              <a:t>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962876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Spanning Trees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872" y="2197932"/>
            <a:ext cx="2760955" cy="2935791"/>
          </a:xfrm>
          <a:prstGeom prst="rect">
            <a:avLst/>
          </a:prstGeom>
        </p:spPr>
      </p:pic>
      <p:sp>
        <p:nvSpPr>
          <p:cNvPr id="206" name="Rectangle 205"/>
          <p:cNvSpPr/>
          <p:nvPr/>
        </p:nvSpPr>
        <p:spPr>
          <a:xfrm>
            <a:off x="7549582" y="5588664"/>
            <a:ext cx="2323245" cy="52322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just">
              <a:spcBef>
                <a:spcPts val="1000"/>
              </a:spcBef>
              <a:buClr>
                <a:srgbClr val="B84742"/>
              </a:buClr>
            </a:pPr>
            <a:r>
              <a:rPr lang="en-US" sz="2800" dirty="0">
                <a:solidFill>
                  <a:srgbClr val="002060"/>
                </a:solidFill>
              </a:rPr>
              <a:t>Spanning tree</a:t>
            </a:r>
          </a:p>
        </p:txBody>
      </p:sp>
      <p:pic>
        <p:nvPicPr>
          <p:cNvPr id="230" name="Picture 2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0972" y="2212000"/>
            <a:ext cx="3108486" cy="3085629"/>
          </a:xfrm>
          <a:prstGeom prst="rect">
            <a:avLst/>
          </a:prstGeom>
        </p:spPr>
      </p:pic>
      <p:pic>
        <p:nvPicPr>
          <p:cNvPr id="231" name="Picture 2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1211" y="5582356"/>
            <a:ext cx="638175" cy="742950"/>
          </a:xfrm>
          <a:prstGeom prst="rect">
            <a:avLst/>
          </a:prstGeom>
          <a:ln>
            <a:solidFill>
              <a:srgbClr val="FF0000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/>
              <p:cNvSpPr>
                <a:spLocks noGrp="1"/>
              </p:cNvSpPr>
              <p:nvPr>
                <p:ph idx="1"/>
              </p:nvPr>
            </p:nvSpPr>
            <p:spPr>
              <a:xfrm>
                <a:off x="131180" y="863444"/>
                <a:ext cx="11929641" cy="1091965"/>
              </a:xfrm>
            </p:spPr>
            <p:txBody>
              <a:bodyPr/>
              <a:lstStyle/>
              <a:p>
                <a:r>
                  <a:rPr lang="en-IN" dirty="0"/>
                  <a:t>Definition</a:t>
                </a:r>
                <a:r>
                  <a:rPr lang="en-IN" b="1" dirty="0"/>
                  <a:t>: </a:t>
                </a:r>
                <a:r>
                  <a:rPr lang="en-US" dirty="0"/>
                  <a:t>A tree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dirty="0"/>
                  <a:t> is said to be a </a:t>
                </a:r>
                <a:r>
                  <a:rPr lang="en-US" dirty="0">
                    <a:solidFill>
                      <a:srgbClr val="C00000"/>
                    </a:solidFill>
                  </a:rPr>
                  <a:t>spanning tree </a:t>
                </a:r>
                <a:r>
                  <a:rPr lang="en-US" dirty="0"/>
                  <a:t>of a connected graph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G</m:t>
                    </m:r>
                  </m:oMath>
                </a14:m>
                <a:r>
                  <a:rPr lang="en-US" dirty="0"/>
                  <a:t> if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dirty="0">
                        <a:latin typeface="Cambria Math" panose="02040503050406030204" pitchFamily="18" charset="0"/>
                      </a:rPr>
                      <m:t>𝐓</m:t>
                    </m:r>
                  </m:oMath>
                </a14:m>
                <a:r>
                  <a:rPr lang="en-US" b="1" dirty="0"/>
                  <a:t> is a subgraphs of</a:t>
                </a:r>
                <a14:m>
                  <m:oMath xmlns:m="http://schemas.openxmlformats.org/officeDocument/2006/math">
                    <m:r>
                      <a:rPr lang="en-US" b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dirty="0">
                        <a:latin typeface="Cambria Math" panose="02040503050406030204" pitchFamily="18" charset="0"/>
                      </a:rPr>
                      <m:t>𝐆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and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dirty="0">
                        <a:latin typeface="Cambria Math" panose="02040503050406030204" pitchFamily="18" charset="0"/>
                      </a:rPr>
                      <m:t>𝐓</m:t>
                    </m:r>
                  </m:oMath>
                </a14:m>
                <a:r>
                  <a:rPr lang="en-US" b="1" dirty="0"/>
                  <a:t> contains all vertices of</a:t>
                </a:r>
                <a14:m>
                  <m:oMath xmlns:m="http://schemas.openxmlformats.org/officeDocument/2006/math">
                    <m:r>
                      <a:rPr lang="en-US" b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𝐆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Content Placeholder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863444"/>
                <a:ext cx="11929641" cy="1091965"/>
              </a:xfrm>
              <a:blipFill rotWithShape="0">
                <a:blip r:embed="rId5"/>
                <a:stretch>
                  <a:fillRect l="-971" t="-10056" r="-10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276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Spanning tree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131180" y="863445"/>
            <a:ext cx="11727885" cy="518566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Remarks:</a:t>
            </a:r>
          </a:p>
          <a:p>
            <a:pPr>
              <a:lnSpc>
                <a:spcPct val="150000"/>
              </a:lnSpc>
            </a:pPr>
            <a:r>
              <a:rPr lang="en-US" dirty="0"/>
              <a:t>Spanning trees are the largest trees among all trees in G.</a:t>
            </a:r>
          </a:p>
          <a:p>
            <a:pPr>
              <a:lnSpc>
                <a:spcPct val="150000"/>
              </a:lnSpc>
            </a:pPr>
            <a:r>
              <a:rPr lang="en-US" dirty="0"/>
              <a:t>Spanning tree is defined only for a connected graph. </a:t>
            </a:r>
          </a:p>
          <a:p>
            <a:pPr>
              <a:lnSpc>
                <a:spcPct val="150000"/>
              </a:lnSpc>
            </a:pPr>
            <a:r>
              <a:rPr lang="en-US" dirty="0"/>
              <a:t>A connected graph G can have at least one spanning tree.</a:t>
            </a:r>
          </a:p>
          <a:p>
            <a:pPr>
              <a:lnSpc>
                <a:spcPct val="150000"/>
              </a:lnSpc>
            </a:pPr>
            <a:r>
              <a:rPr lang="en-US" dirty="0"/>
              <a:t>All possible spanning trees of graph G, have the same number of edges and vertices.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6563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Method: Cycle Removal (Edge Deletion Method)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09" y="729966"/>
            <a:ext cx="1193518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just">
              <a:spcBef>
                <a:spcPts val="1000"/>
              </a:spcBef>
              <a:buClr>
                <a:srgbClr val="B84742"/>
              </a:buClr>
              <a:buFont typeface="Wingdings 3" panose="05040102010807070707" pitchFamily="18" charset="2"/>
              <a:buChar char=""/>
            </a:pP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28407" y="729966"/>
            <a:ext cx="11935185" cy="4955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1000"/>
              </a:spcBef>
              <a:buClr>
                <a:srgbClr val="B84742"/>
              </a:buClr>
            </a:pPr>
            <a:r>
              <a:rPr lang="en-US" sz="2800" b="1" dirty="0">
                <a:solidFill>
                  <a:srgbClr val="002060"/>
                </a:solidFill>
              </a:rPr>
              <a:t>Steps :</a:t>
            </a:r>
          </a:p>
          <a:p>
            <a:pPr marL="265113" indent="-265113" algn="just">
              <a:spcBef>
                <a:spcPts val="1000"/>
              </a:spcBef>
              <a:buClr>
                <a:srgbClr val="B84742"/>
              </a:buClr>
              <a:buFont typeface="Wingdings 3" panose="05040102010807070707" pitchFamily="18" charset="2"/>
              <a:buChar char=""/>
            </a:pPr>
            <a:r>
              <a:rPr lang="en-US" sz="2800" b="1" dirty="0">
                <a:solidFill>
                  <a:srgbClr val="002060"/>
                </a:solidFill>
              </a:rPr>
              <a:t>Check for circuits (loops)</a:t>
            </a:r>
          </a:p>
          <a:p>
            <a:pPr marL="514350" indent="-514350" algn="just">
              <a:lnSpc>
                <a:spcPct val="150000"/>
              </a:lnSpc>
              <a:spcBef>
                <a:spcPts val="1000"/>
              </a:spcBef>
              <a:buClr>
                <a:srgbClr val="B84742"/>
              </a:buClr>
              <a:buFont typeface="+mj-lt"/>
              <a:buAutoNum type="arabicPeriod"/>
            </a:pPr>
            <a:r>
              <a:rPr lang="en-US" sz="2800" dirty="0">
                <a:solidFill>
                  <a:srgbClr val="002060"/>
                </a:solidFill>
              </a:rPr>
              <a:t>If the graph G has </a:t>
            </a:r>
            <a:r>
              <a:rPr lang="en-US" sz="2800" dirty="0">
                <a:solidFill>
                  <a:srgbClr val="FF0000"/>
                </a:solidFill>
              </a:rPr>
              <a:t>no circuits</a:t>
            </a:r>
            <a:r>
              <a:rPr lang="en-US" sz="2800" dirty="0">
                <a:solidFill>
                  <a:srgbClr val="002060"/>
                </a:solidFill>
              </a:rPr>
              <a:t>, it is already a spanning tree.</a:t>
            </a:r>
          </a:p>
          <a:p>
            <a:pPr marL="514350" indent="-514350" algn="just">
              <a:lnSpc>
                <a:spcPct val="150000"/>
              </a:lnSpc>
              <a:spcBef>
                <a:spcPts val="1000"/>
              </a:spcBef>
              <a:buClr>
                <a:srgbClr val="B84742"/>
              </a:buClr>
              <a:buFont typeface="+mj-lt"/>
              <a:buAutoNum type="arabicPeriod"/>
            </a:pPr>
            <a:r>
              <a:rPr lang="en-US" sz="2800" b="1" dirty="0">
                <a:solidFill>
                  <a:srgbClr val="002060"/>
                </a:solidFill>
              </a:rPr>
              <a:t>If the graph G contains </a:t>
            </a:r>
            <a:r>
              <a:rPr lang="en-US" sz="2800" b="1" dirty="0">
                <a:solidFill>
                  <a:srgbClr val="FF0000"/>
                </a:solidFill>
              </a:rPr>
              <a:t>circuit</a:t>
            </a:r>
            <a:r>
              <a:rPr lang="en-US" sz="2800" b="1" dirty="0">
                <a:solidFill>
                  <a:srgbClr val="002060"/>
                </a:solidFill>
              </a:rPr>
              <a:t>, select any one edge from circuit and remove it.</a:t>
            </a:r>
          </a:p>
          <a:p>
            <a:pPr marL="514350" indent="-514350" algn="just">
              <a:lnSpc>
                <a:spcPct val="150000"/>
              </a:lnSpc>
              <a:spcBef>
                <a:spcPts val="1000"/>
              </a:spcBef>
              <a:buClr>
                <a:srgbClr val="B84742"/>
              </a:buClr>
              <a:buFont typeface="+mj-lt"/>
              <a:buAutoNum type="arabicPeriod"/>
            </a:pPr>
            <a:r>
              <a:rPr lang="en-US" sz="2800" dirty="0">
                <a:solidFill>
                  <a:srgbClr val="002060"/>
                </a:solidFill>
              </a:rPr>
              <a:t>Repeat the process</a:t>
            </a:r>
          </a:p>
          <a:p>
            <a:pPr marL="514350" indent="-514350" algn="just">
              <a:lnSpc>
                <a:spcPct val="150000"/>
              </a:lnSpc>
              <a:spcBef>
                <a:spcPts val="1000"/>
              </a:spcBef>
              <a:buClr>
                <a:srgbClr val="B84742"/>
              </a:buClr>
              <a:buFont typeface="+mj-lt"/>
              <a:buAutoNum type="arabicPeriod"/>
            </a:pPr>
            <a:r>
              <a:rPr lang="en-US" sz="2800" dirty="0">
                <a:solidFill>
                  <a:srgbClr val="002060"/>
                </a:solidFill>
              </a:rPr>
              <a:t>Stop when no circuits remain</a:t>
            </a:r>
          </a:p>
          <a:p>
            <a:pPr marL="514350" indent="-514350" algn="just">
              <a:lnSpc>
                <a:spcPct val="150000"/>
              </a:lnSpc>
              <a:spcBef>
                <a:spcPts val="1000"/>
              </a:spcBef>
              <a:buClr>
                <a:srgbClr val="B84742"/>
              </a:buClr>
              <a:buFont typeface="+mj-lt"/>
              <a:buAutoNum type="arabicPeriod"/>
            </a:pPr>
            <a:r>
              <a:rPr lang="en-US" sz="2800" dirty="0">
                <a:solidFill>
                  <a:srgbClr val="002060"/>
                </a:solidFill>
              </a:rPr>
              <a:t>The resulting graph is connected and acyclic.</a:t>
            </a:r>
          </a:p>
        </p:txBody>
      </p:sp>
    </p:spTree>
    <p:extLst>
      <p:ext uri="{BB962C8B-B14F-4D97-AF65-F5344CB8AC3E}">
        <p14:creationId xmlns:p14="http://schemas.microsoft.com/office/powerpoint/2010/main" val="3598998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11" idx="3"/>
            <a:endCxn id="15" idx="7"/>
          </p:cNvCxnSpPr>
          <p:nvPr/>
        </p:nvCxnSpPr>
        <p:spPr>
          <a:xfrm flipH="1" flipV="1">
            <a:off x="2359531" y="1311658"/>
            <a:ext cx="361290" cy="493676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8" idx="0"/>
            <a:endCxn id="11" idx="4"/>
          </p:cNvCxnSpPr>
          <p:nvPr/>
        </p:nvCxnSpPr>
        <p:spPr>
          <a:xfrm flipV="1">
            <a:off x="2024276" y="1856246"/>
            <a:ext cx="675457" cy="144000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" name="Freeform: Shape 34">
            <a:extLst>
              <a:ext uri="{FF2B5EF4-FFF2-40B4-BE49-F238E27FC236}">
                <a16:creationId xmlns:a16="http://schemas.microsoft.com/office/drawing/2014/main" id="{5A43D9D2-4CAA-3544-4E99-2BE62F8BF717}"/>
              </a:ext>
            </a:extLst>
          </p:cNvPr>
          <p:cNvSpPr/>
          <p:nvPr/>
        </p:nvSpPr>
        <p:spPr>
          <a:xfrm rot="15608222" flipV="1">
            <a:off x="2462826" y="2315309"/>
            <a:ext cx="1302703" cy="393948"/>
          </a:xfrm>
          <a:custGeom>
            <a:avLst/>
            <a:gdLst>
              <a:gd name="connsiteX0" fmla="*/ 0 w 2961249"/>
              <a:gd name="connsiteY0" fmla="*/ 436103 h 436103"/>
              <a:gd name="connsiteX1" fmla="*/ 942535 w 2961249"/>
              <a:gd name="connsiteY1" fmla="*/ 63310 h 436103"/>
              <a:gd name="connsiteX2" fmla="*/ 1892104 w 2961249"/>
              <a:gd name="connsiteY2" fmla="*/ 35174 h 436103"/>
              <a:gd name="connsiteX3" fmla="*/ 2961249 w 2961249"/>
              <a:gd name="connsiteY3" fmla="*/ 422036 h 436103"/>
              <a:gd name="connsiteX4" fmla="*/ 2961249 w 2961249"/>
              <a:gd name="connsiteY4" fmla="*/ 422036 h 436103"/>
              <a:gd name="connsiteX5" fmla="*/ 2961249 w 2961249"/>
              <a:gd name="connsiteY5" fmla="*/ 422036 h 436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61249" h="436103">
                <a:moveTo>
                  <a:pt x="0" y="436103"/>
                </a:moveTo>
                <a:cubicBezTo>
                  <a:pt x="313592" y="283117"/>
                  <a:pt x="627184" y="130131"/>
                  <a:pt x="942535" y="63310"/>
                </a:cubicBezTo>
                <a:cubicBezTo>
                  <a:pt x="1257886" y="-3512"/>
                  <a:pt x="1555652" y="-24614"/>
                  <a:pt x="1892104" y="35174"/>
                </a:cubicBezTo>
                <a:cubicBezTo>
                  <a:pt x="2228556" y="94962"/>
                  <a:pt x="2961249" y="422036"/>
                  <a:pt x="2961249" y="422036"/>
                </a:cubicBezTo>
                <a:lnTo>
                  <a:pt x="2961249" y="422036"/>
                </a:lnTo>
                <a:lnTo>
                  <a:pt x="2961249" y="422036"/>
                </a:lnTo>
              </a:path>
            </a:pathLst>
          </a:cu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Freeform: Shape 34">
            <a:extLst>
              <a:ext uri="{FF2B5EF4-FFF2-40B4-BE49-F238E27FC236}">
                <a16:creationId xmlns:a16="http://schemas.microsoft.com/office/drawing/2014/main" id="{5A43D9D2-4CAA-3544-4E99-2BE62F8BF717}"/>
              </a:ext>
            </a:extLst>
          </p:cNvPr>
          <p:cNvSpPr/>
          <p:nvPr/>
        </p:nvSpPr>
        <p:spPr>
          <a:xfrm rot="21008222" flipV="1">
            <a:off x="1055646" y="3420515"/>
            <a:ext cx="1906824" cy="306139"/>
          </a:xfrm>
          <a:custGeom>
            <a:avLst/>
            <a:gdLst>
              <a:gd name="connsiteX0" fmla="*/ 0 w 2961249"/>
              <a:gd name="connsiteY0" fmla="*/ 436103 h 436103"/>
              <a:gd name="connsiteX1" fmla="*/ 942535 w 2961249"/>
              <a:gd name="connsiteY1" fmla="*/ 63310 h 436103"/>
              <a:gd name="connsiteX2" fmla="*/ 1892104 w 2961249"/>
              <a:gd name="connsiteY2" fmla="*/ 35174 h 436103"/>
              <a:gd name="connsiteX3" fmla="*/ 2961249 w 2961249"/>
              <a:gd name="connsiteY3" fmla="*/ 422036 h 436103"/>
              <a:gd name="connsiteX4" fmla="*/ 2961249 w 2961249"/>
              <a:gd name="connsiteY4" fmla="*/ 422036 h 436103"/>
              <a:gd name="connsiteX5" fmla="*/ 2961249 w 2961249"/>
              <a:gd name="connsiteY5" fmla="*/ 422036 h 436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61249" h="436103">
                <a:moveTo>
                  <a:pt x="0" y="436103"/>
                </a:moveTo>
                <a:cubicBezTo>
                  <a:pt x="313592" y="283117"/>
                  <a:pt x="627184" y="130131"/>
                  <a:pt x="942535" y="63310"/>
                </a:cubicBezTo>
                <a:cubicBezTo>
                  <a:pt x="1257886" y="-3512"/>
                  <a:pt x="1555652" y="-24614"/>
                  <a:pt x="1892104" y="35174"/>
                </a:cubicBezTo>
                <a:cubicBezTo>
                  <a:pt x="2228556" y="94962"/>
                  <a:pt x="2961249" y="422036"/>
                  <a:pt x="2961249" y="422036"/>
                </a:cubicBezTo>
                <a:lnTo>
                  <a:pt x="2961249" y="422036"/>
                </a:lnTo>
                <a:lnTo>
                  <a:pt x="2961249" y="422036"/>
                </a:lnTo>
              </a:path>
            </a:pathLst>
          </a:cu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18" idx="7"/>
            <a:endCxn id="14" idx="4"/>
          </p:cNvCxnSpPr>
          <p:nvPr/>
        </p:nvCxnSpPr>
        <p:spPr>
          <a:xfrm>
            <a:off x="2054100" y="2833536"/>
            <a:ext cx="855386" cy="402338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18" idx="4"/>
            <a:endCxn id="6" idx="7"/>
          </p:cNvCxnSpPr>
          <p:nvPr/>
        </p:nvCxnSpPr>
        <p:spPr>
          <a:xfrm flipH="1" flipV="1">
            <a:off x="878429" y="2391794"/>
            <a:ext cx="1052759" cy="390830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19" idx="2"/>
            <a:endCxn id="6" idx="6"/>
          </p:cNvCxnSpPr>
          <p:nvPr/>
        </p:nvCxnSpPr>
        <p:spPr>
          <a:xfrm flipH="1" flipV="1">
            <a:off x="827517" y="2412882"/>
            <a:ext cx="144000" cy="1080120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19" idx="1"/>
            <a:endCxn id="18" idx="5"/>
          </p:cNvCxnSpPr>
          <p:nvPr/>
        </p:nvCxnSpPr>
        <p:spPr>
          <a:xfrm flipV="1">
            <a:off x="1022429" y="2833536"/>
            <a:ext cx="929847" cy="680554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755517" y="2268882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8" idx="5"/>
            <a:endCxn id="6" idx="0"/>
          </p:cNvCxnSpPr>
          <p:nvPr/>
        </p:nvCxnSpPr>
        <p:spPr>
          <a:xfrm flipH="1">
            <a:off x="899517" y="2051158"/>
            <a:ext cx="1001847" cy="289724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1880276" y="1928246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15" idx="5"/>
            <a:endCxn id="8" idx="1"/>
          </p:cNvCxnSpPr>
          <p:nvPr/>
        </p:nvCxnSpPr>
        <p:spPr>
          <a:xfrm flipH="1">
            <a:off x="2003188" y="1311658"/>
            <a:ext cx="254519" cy="637676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2699733" y="1784246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14" idx="2"/>
            <a:endCxn id="11" idx="6"/>
          </p:cNvCxnSpPr>
          <p:nvPr/>
        </p:nvCxnSpPr>
        <p:spPr>
          <a:xfrm flipH="1" flipV="1">
            <a:off x="2771733" y="1928246"/>
            <a:ext cx="209753" cy="1235628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2909486" y="3163874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2236619" y="1188746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1931188" y="2710624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899517" y="3493002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18" idx="2"/>
            <a:endCxn id="8" idx="6"/>
          </p:cNvCxnSpPr>
          <p:nvPr/>
        </p:nvCxnSpPr>
        <p:spPr>
          <a:xfrm flipH="1" flipV="1">
            <a:off x="1952276" y="2072246"/>
            <a:ext cx="50912" cy="638378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14" idx="3"/>
            <a:endCxn id="8" idx="7"/>
          </p:cNvCxnSpPr>
          <p:nvPr/>
        </p:nvCxnSpPr>
        <p:spPr>
          <a:xfrm flipH="1" flipV="1">
            <a:off x="2003188" y="2051158"/>
            <a:ext cx="927386" cy="1133804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chemeClr val="tx1"/>
                </a:solidFill>
              </a:rPr>
              <a:t>Find a spanning tree of a connected graph G.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7497567" y="1226524"/>
            <a:ext cx="363100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002060"/>
                </a:solidFill>
              </a:rPr>
              <a:t>Given graph is connected, contain cycles so apply </a:t>
            </a:r>
            <a:r>
              <a:rPr lang="en-US" sz="2400" b="1" dirty="0">
                <a:solidFill>
                  <a:srgbClr val="002060"/>
                </a:solidFill>
              </a:rPr>
              <a:t>Cycle Removal method</a:t>
            </a:r>
            <a:r>
              <a:rPr lang="en-US" sz="2400" dirty="0">
                <a:solidFill>
                  <a:srgbClr val="002060"/>
                </a:solidFill>
              </a:rPr>
              <a:t> for finding spanning tree of a connected graph  </a:t>
            </a:r>
          </a:p>
        </p:txBody>
      </p:sp>
      <p:sp>
        <p:nvSpPr>
          <p:cNvPr id="2" name="Rectangle 1"/>
          <p:cNvSpPr/>
          <p:nvPr/>
        </p:nvSpPr>
        <p:spPr>
          <a:xfrm>
            <a:off x="3410105" y="3824288"/>
            <a:ext cx="7718464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  <a:buClr>
                <a:srgbClr val="B84742"/>
              </a:buClr>
            </a:pPr>
            <a:r>
              <a:rPr lang="en-US" sz="2400" b="1" dirty="0">
                <a:solidFill>
                  <a:srgbClr val="002060"/>
                </a:solidFill>
              </a:rPr>
              <a:t>If the graph G contains </a:t>
            </a:r>
            <a:r>
              <a:rPr lang="en-US" sz="2400" b="1" dirty="0">
                <a:solidFill>
                  <a:srgbClr val="FF0000"/>
                </a:solidFill>
              </a:rPr>
              <a:t>circuit</a:t>
            </a:r>
            <a:r>
              <a:rPr lang="en-US" sz="2400" b="1" dirty="0">
                <a:solidFill>
                  <a:srgbClr val="002060"/>
                </a:solidFill>
              </a:rPr>
              <a:t>, select any one edge from circuit and remove it.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68002" y="2796680"/>
            <a:ext cx="298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481559" y="2232812"/>
            <a:ext cx="298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177344" y="1493578"/>
            <a:ext cx="298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563424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1" animBg="1"/>
      <p:bldP spid="26" grpId="1" animBg="1"/>
      <p:bldP spid="94" grpId="0"/>
      <p:bldP spid="2" grpId="0" animBg="1"/>
      <p:bldP spid="69" grpId="0"/>
      <p:bldP spid="69" grpId="1"/>
      <p:bldP spid="74" grpId="0"/>
      <p:bldP spid="74" grpId="1"/>
      <p:bldP spid="82" grpId="0"/>
      <p:bldP spid="82" grpId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11" idx="3"/>
            <a:endCxn id="15" idx="7"/>
          </p:cNvCxnSpPr>
          <p:nvPr/>
        </p:nvCxnSpPr>
        <p:spPr>
          <a:xfrm flipH="1" flipV="1">
            <a:off x="2359531" y="1311658"/>
            <a:ext cx="361290" cy="493676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8" idx="0"/>
            <a:endCxn id="11" idx="4"/>
          </p:cNvCxnSpPr>
          <p:nvPr/>
        </p:nvCxnSpPr>
        <p:spPr>
          <a:xfrm flipV="1">
            <a:off x="2024276" y="1856246"/>
            <a:ext cx="675457" cy="144000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" name="Freeform: Shape 34">
            <a:extLst>
              <a:ext uri="{FF2B5EF4-FFF2-40B4-BE49-F238E27FC236}">
                <a16:creationId xmlns:a16="http://schemas.microsoft.com/office/drawing/2014/main" id="{5A43D9D2-4CAA-3544-4E99-2BE62F8BF717}"/>
              </a:ext>
            </a:extLst>
          </p:cNvPr>
          <p:cNvSpPr/>
          <p:nvPr/>
        </p:nvSpPr>
        <p:spPr>
          <a:xfrm rot="15608222" flipV="1">
            <a:off x="2462826" y="2315309"/>
            <a:ext cx="1302703" cy="393948"/>
          </a:xfrm>
          <a:custGeom>
            <a:avLst/>
            <a:gdLst>
              <a:gd name="connsiteX0" fmla="*/ 0 w 2961249"/>
              <a:gd name="connsiteY0" fmla="*/ 436103 h 436103"/>
              <a:gd name="connsiteX1" fmla="*/ 942535 w 2961249"/>
              <a:gd name="connsiteY1" fmla="*/ 63310 h 436103"/>
              <a:gd name="connsiteX2" fmla="*/ 1892104 w 2961249"/>
              <a:gd name="connsiteY2" fmla="*/ 35174 h 436103"/>
              <a:gd name="connsiteX3" fmla="*/ 2961249 w 2961249"/>
              <a:gd name="connsiteY3" fmla="*/ 422036 h 436103"/>
              <a:gd name="connsiteX4" fmla="*/ 2961249 w 2961249"/>
              <a:gd name="connsiteY4" fmla="*/ 422036 h 436103"/>
              <a:gd name="connsiteX5" fmla="*/ 2961249 w 2961249"/>
              <a:gd name="connsiteY5" fmla="*/ 422036 h 436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61249" h="436103">
                <a:moveTo>
                  <a:pt x="0" y="436103"/>
                </a:moveTo>
                <a:cubicBezTo>
                  <a:pt x="313592" y="283117"/>
                  <a:pt x="627184" y="130131"/>
                  <a:pt x="942535" y="63310"/>
                </a:cubicBezTo>
                <a:cubicBezTo>
                  <a:pt x="1257886" y="-3512"/>
                  <a:pt x="1555652" y="-24614"/>
                  <a:pt x="1892104" y="35174"/>
                </a:cubicBezTo>
                <a:cubicBezTo>
                  <a:pt x="2228556" y="94962"/>
                  <a:pt x="2961249" y="422036"/>
                  <a:pt x="2961249" y="422036"/>
                </a:cubicBezTo>
                <a:lnTo>
                  <a:pt x="2961249" y="422036"/>
                </a:lnTo>
                <a:lnTo>
                  <a:pt x="2961249" y="422036"/>
                </a:lnTo>
              </a:path>
            </a:pathLst>
          </a:cu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Freeform: Shape 34">
            <a:extLst>
              <a:ext uri="{FF2B5EF4-FFF2-40B4-BE49-F238E27FC236}">
                <a16:creationId xmlns:a16="http://schemas.microsoft.com/office/drawing/2014/main" id="{5A43D9D2-4CAA-3544-4E99-2BE62F8BF717}"/>
              </a:ext>
            </a:extLst>
          </p:cNvPr>
          <p:cNvSpPr/>
          <p:nvPr/>
        </p:nvSpPr>
        <p:spPr>
          <a:xfrm rot="21008222" flipV="1">
            <a:off x="1055646" y="3420515"/>
            <a:ext cx="1906824" cy="306139"/>
          </a:xfrm>
          <a:custGeom>
            <a:avLst/>
            <a:gdLst>
              <a:gd name="connsiteX0" fmla="*/ 0 w 2961249"/>
              <a:gd name="connsiteY0" fmla="*/ 436103 h 436103"/>
              <a:gd name="connsiteX1" fmla="*/ 942535 w 2961249"/>
              <a:gd name="connsiteY1" fmla="*/ 63310 h 436103"/>
              <a:gd name="connsiteX2" fmla="*/ 1892104 w 2961249"/>
              <a:gd name="connsiteY2" fmla="*/ 35174 h 436103"/>
              <a:gd name="connsiteX3" fmla="*/ 2961249 w 2961249"/>
              <a:gd name="connsiteY3" fmla="*/ 422036 h 436103"/>
              <a:gd name="connsiteX4" fmla="*/ 2961249 w 2961249"/>
              <a:gd name="connsiteY4" fmla="*/ 422036 h 436103"/>
              <a:gd name="connsiteX5" fmla="*/ 2961249 w 2961249"/>
              <a:gd name="connsiteY5" fmla="*/ 422036 h 436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61249" h="436103">
                <a:moveTo>
                  <a:pt x="0" y="436103"/>
                </a:moveTo>
                <a:cubicBezTo>
                  <a:pt x="313592" y="283117"/>
                  <a:pt x="627184" y="130131"/>
                  <a:pt x="942535" y="63310"/>
                </a:cubicBezTo>
                <a:cubicBezTo>
                  <a:pt x="1257886" y="-3512"/>
                  <a:pt x="1555652" y="-24614"/>
                  <a:pt x="1892104" y="35174"/>
                </a:cubicBezTo>
                <a:cubicBezTo>
                  <a:pt x="2228556" y="94962"/>
                  <a:pt x="2961249" y="422036"/>
                  <a:pt x="2961249" y="422036"/>
                </a:cubicBezTo>
                <a:lnTo>
                  <a:pt x="2961249" y="422036"/>
                </a:lnTo>
                <a:lnTo>
                  <a:pt x="2961249" y="422036"/>
                </a:lnTo>
              </a:path>
            </a:pathLst>
          </a:cu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18" idx="7"/>
            <a:endCxn id="14" idx="4"/>
          </p:cNvCxnSpPr>
          <p:nvPr/>
        </p:nvCxnSpPr>
        <p:spPr>
          <a:xfrm>
            <a:off x="2054100" y="2833536"/>
            <a:ext cx="855386" cy="402338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18" idx="4"/>
            <a:endCxn id="6" idx="7"/>
          </p:cNvCxnSpPr>
          <p:nvPr/>
        </p:nvCxnSpPr>
        <p:spPr>
          <a:xfrm flipH="1" flipV="1">
            <a:off x="878429" y="2391794"/>
            <a:ext cx="1052759" cy="390830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19" idx="2"/>
            <a:endCxn id="6" idx="6"/>
          </p:cNvCxnSpPr>
          <p:nvPr/>
        </p:nvCxnSpPr>
        <p:spPr>
          <a:xfrm flipH="1" flipV="1">
            <a:off x="827517" y="2412882"/>
            <a:ext cx="144000" cy="1080120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19" idx="1"/>
            <a:endCxn id="18" idx="5"/>
          </p:cNvCxnSpPr>
          <p:nvPr/>
        </p:nvCxnSpPr>
        <p:spPr>
          <a:xfrm flipV="1">
            <a:off x="1022429" y="2833536"/>
            <a:ext cx="929847" cy="680554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755517" y="2268882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8" idx="5"/>
            <a:endCxn id="6" idx="0"/>
          </p:cNvCxnSpPr>
          <p:nvPr/>
        </p:nvCxnSpPr>
        <p:spPr>
          <a:xfrm flipH="1">
            <a:off x="899517" y="2051158"/>
            <a:ext cx="1001847" cy="289724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1880276" y="1928246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15" idx="5"/>
            <a:endCxn id="8" idx="1"/>
          </p:cNvCxnSpPr>
          <p:nvPr/>
        </p:nvCxnSpPr>
        <p:spPr>
          <a:xfrm flipH="1">
            <a:off x="2003188" y="1311658"/>
            <a:ext cx="254519" cy="637676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2699733" y="1784246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14" idx="2"/>
            <a:endCxn id="11" idx="6"/>
          </p:cNvCxnSpPr>
          <p:nvPr/>
        </p:nvCxnSpPr>
        <p:spPr>
          <a:xfrm flipH="1" flipV="1">
            <a:off x="2771733" y="1928246"/>
            <a:ext cx="209753" cy="1235628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2909486" y="3163874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2236619" y="1188746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1931188" y="2710624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899517" y="3493002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18" idx="2"/>
            <a:endCxn id="8" idx="6"/>
          </p:cNvCxnSpPr>
          <p:nvPr/>
        </p:nvCxnSpPr>
        <p:spPr>
          <a:xfrm flipH="1" flipV="1">
            <a:off x="1952276" y="2072246"/>
            <a:ext cx="50912" cy="638378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14" idx="3"/>
            <a:endCxn id="8" idx="7"/>
          </p:cNvCxnSpPr>
          <p:nvPr/>
        </p:nvCxnSpPr>
        <p:spPr>
          <a:xfrm flipH="1" flipV="1">
            <a:off x="2003188" y="2051158"/>
            <a:ext cx="927386" cy="1133804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chemeClr val="tx1"/>
                </a:solidFill>
              </a:rPr>
              <a:t>Find a spanning tree of a connected graph G.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7497567" y="1226524"/>
            <a:ext cx="363100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002060"/>
                </a:solidFill>
              </a:rPr>
              <a:t>Given graph is connected, contain cycles so apply </a:t>
            </a:r>
            <a:r>
              <a:rPr lang="en-US" sz="2400" b="1" dirty="0">
                <a:solidFill>
                  <a:srgbClr val="002060"/>
                </a:solidFill>
              </a:rPr>
              <a:t>Cycle Removal method</a:t>
            </a:r>
            <a:r>
              <a:rPr lang="en-US" sz="2400" dirty="0">
                <a:solidFill>
                  <a:srgbClr val="002060"/>
                </a:solidFill>
              </a:rPr>
              <a:t> for finding spanning tree of a connected graph  </a:t>
            </a:r>
          </a:p>
        </p:txBody>
      </p:sp>
      <p:sp>
        <p:nvSpPr>
          <p:cNvPr id="2" name="Rectangle 1"/>
          <p:cNvSpPr/>
          <p:nvPr/>
        </p:nvSpPr>
        <p:spPr>
          <a:xfrm>
            <a:off x="3410105" y="3824288"/>
            <a:ext cx="7718464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  <a:buClr>
                <a:srgbClr val="B84742"/>
              </a:buClr>
            </a:pPr>
            <a:r>
              <a:rPr lang="en-US" sz="2400" b="1" dirty="0">
                <a:solidFill>
                  <a:srgbClr val="002060"/>
                </a:solidFill>
              </a:rPr>
              <a:t>If the graph G contains </a:t>
            </a:r>
            <a:r>
              <a:rPr lang="en-US" sz="2400" b="1" dirty="0">
                <a:solidFill>
                  <a:srgbClr val="FF0000"/>
                </a:solidFill>
              </a:rPr>
              <a:t>circuit</a:t>
            </a:r>
            <a:r>
              <a:rPr lang="en-US" sz="2400" b="1" dirty="0">
                <a:solidFill>
                  <a:srgbClr val="002060"/>
                </a:solidFill>
              </a:rPr>
              <a:t>, select any one edge from circuit and remove it.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68002" y="2796680"/>
            <a:ext cx="298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42480" y="3191566"/>
            <a:ext cx="298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41056" y="2342668"/>
            <a:ext cx="298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32675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6" grpId="0" animBg="1"/>
      <p:bldP spid="94" grpId="0"/>
      <p:bldP spid="2" grpId="0" animBg="1"/>
      <p:bldP spid="69" grpId="0"/>
      <p:bldP spid="69" grpId="1"/>
      <p:bldP spid="28" grpId="0"/>
      <p:bldP spid="28" grpId="1"/>
      <p:bldP spid="29" grpId="0"/>
      <p:bldP spid="29" grpId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Freeform: Shape 34">
            <a:extLst>
              <a:ext uri="{FF2B5EF4-FFF2-40B4-BE49-F238E27FC236}">
                <a16:creationId xmlns:a16="http://schemas.microsoft.com/office/drawing/2014/main" id="{5A43D9D2-4CAA-3544-4E99-2BE62F8BF717}"/>
              </a:ext>
            </a:extLst>
          </p:cNvPr>
          <p:cNvSpPr/>
          <p:nvPr/>
        </p:nvSpPr>
        <p:spPr>
          <a:xfrm rot="21008222" flipV="1">
            <a:off x="3131561" y="3420516"/>
            <a:ext cx="1906824" cy="306139"/>
          </a:xfrm>
          <a:custGeom>
            <a:avLst/>
            <a:gdLst>
              <a:gd name="connsiteX0" fmla="*/ 0 w 2961249"/>
              <a:gd name="connsiteY0" fmla="*/ 436103 h 436103"/>
              <a:gd name="connsiteX1" fmla="*/ 942535 w 2961249"/>
              <a:gd name="connsiteY1" fmla="*/ 63310 h 436103"/>
              <a:gd name="connsiteX2" fmla="*/ 1892104 w 2961249"/>
              <a:gd name="connsiteY2" fmla="*/ 35174 h 436103"/>
              <a:gd name="connsiteX3" fmla="*/ 2961249 w 2961249"/>
              <a:gd name="connsiteY3" fmla="*/ 422036 h 436103"/>
              <a:gd name="connsiteX4" fmla="*/ 2961249 w 2961249"/>
              <a:gd name="connsiteY4" fmla="*/ 422036 h 436103"/>
              <a:gd name="connsiteX5" fmla="*/ 2961249 w 2961249"/>
              <a:gd name="connsiteY5" fmla="*/ 422036 h 436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61249" h="436103">
                <a:moveTo>
                  <a:pt x="0" y="436103"/>
                </a:moveTo>
                <a:cubicBezTo>
                  <a:pt x="313592" y="283117"/>
                  <a:pt x="627184" y="130131"/>
                  <a:pt x="942535" y="63310"/>
                </a:cubicBezTo>
                <a:cubicBezTo>
                  <a:pt x="1257886" y="-3512"/>
                  <a:pt x="1555652" y="-24614"/>
                  <a:pt x="1892104" y="35174"/>
                </a:cubicBezTo>
                <a:cubicBezTo>
                  <a:pt x="2228556" y="94962"/>
                  <a:pt x="2961249" y="422036"/>
                  <a:pt x="2961249" y="422036"/>
                </a:cubicBezTo>
                <a:lnTo>
                  <a:pt x="2961249" y="422036"/>
                </a:lnTo>
                <a:lnTo>
                  <a:pt x="2961249" y="422036"/>
                </a:lnTo>
              </a:path>
            </a:pathLst>
          </a:cu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2831432" y="2268883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45" idx="5"/>
            <a:endCxn id="65" idx="2"/>
          </p:cNvCxnSpPr>
          <p:nvPr/>
        </p:nvCxnSpPr>
        <p:spPr>
          <a:xfrm flipH="1">
            <a:off x="4049279" y="1311659"/>
            <a:ext cx="284343" cy="606694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4775648" y="1784247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4985401" y="3163875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4312534" y="1188747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2975432" y="3493003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49" idx="2"/>
            <a:endCxn id="38" idx="6"/>
          </p:cNvCxnSpPr>
          <p:nvPr/>
        </p:nvCxnSpPr>
        <p:spPr>
          <a:xfrm flipH="1" flipV="1">
            <a:off x="2903432" y="2412883"/>
            <a:ext cx="144000" cy="1080120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44" idx="3"/>
            <a:endCxn id="65" idx="7"/>
          </p:cNvCxnSpPr>
          <p:nvPr/>
        </p:nvCxnSpPr>
        <p:spPr>
          <a:xfrm flipH="1" flipV="1">
            <a:off x="4100191" y="2041265"/>
            <a:ext cx="906298" cy="1143698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65" idx="0"/>
            <a:endCxn id="42" idx="5"/>
          </p:cNvCxnSpPr>
          <p:nvPr/>
        </p:nvCxnSpPr>
        <p:spPr>
          <a:xfrm flipV="1">
            <a:off x="4121279" y="1907159"/>
            <a:ext cx="675457" cy="83194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5" name="Oval 64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3977279" y="1918353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6816639" y="2268883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68" idx="5"/>
            <a:endCxn id="66" idx="0"/>
          </p:cNvCxnSpPr>
          <p:nvPr/>
        </p:nvCxnSpPr>
        <p:spPr>
          <a:xfrm flipH="1">
            <a:off x="6960639" y="2051159"/>
            <a:ext cx="1001847" cy="289724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8" name="Oval 67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7941398" y="1928247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8760855" y="1784247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72" idx="2"/>
            <a:endCxn id="70" idx="6"/>
          </p:cNvCxnSpPr>
          <p:nvPr/>
        </p:nvCxnSpPr>
        <p:spPr>
          <a:xfrm flipH="1" flipV="1">
            <a:off x="8832855" y="1928247"/>
            <a:ext cx="209753" cy="1235628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2" name="Oval 71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8970608" y="3163875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8297741" y="1188747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76" idx="4"/>
            <a:endCxn id="66" idx="0"/>
          </p:cNvCxnSpPr>
          <p:nvPr/>
        </p:nvCxnSpPr>
        <p:spPr>
          <a:xfrm flipH="1" flipV="1">
            <a:off x="6960639" y="2340883"/>
            <a:ext cx="1031671" cy="441742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6" name="Oval 75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7992310" y="2710625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6960639" y="3493003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77" idx="0"/>
            <a:endCxn id="76" idx="5"/>
          </p:cNvCxnSpPr>
          <p:nvPr/>
        </p:nvCxnSpPr>
        <p:spPr>
          <a:xfrm flipV="1">
            <a:off x="7104639" y="2833537"/>
            <a:ext cx="908759" cy="731466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77" idx="2"/>
            <a:endCxn id="66" idx="6"/>
          </p:cNvCxnSpPr>
          <p:nvPr/>
        </p:nvCxnSpPr>
        <p:spPr>
          <a:xfrm flipH="1" flipV="1">
            <a:off x="6888639" y="2412883"/>
            <a:ext cx="144000" cy="1080120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76" idx="2"/>
            <a:endCxn id="68" idx="6"/>
          </p:cNvCxnSpPr>
          <p:nvPr/>
        </p:nvCxnSpPr>
        <p:spPr>
          <a:xfrm flipH="1" flipV="1">
            <a:off x="8013398" y="2072247"/>
            <a:ext cx="50912" cy="638378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72" idx="3"/>
            <a:endCxn id="68" idx="7"/>
          </p:cNvCxnSpPr>
          <p:nvPr/>
        </p:nvCxnSpPr>
        <p:spPr>
          <a:xfrm flipH="1" flipV="1">
            <a:off x="8064310" y="2051159"/>
            <a:ext cx="927386" cy="1133804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76" idx="7"/>
            <a:endCxn id="72" idx="4"/>
          </p:cNvCxnSpPr>
          <p:nvPr/>
        </p:nvCxnSpPr>
        <p:spPr>
          <a:xfrm>
            <a:off x="8115222" y="2833537"/>
            <a:ext cx="855386" cy="402338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4" name="Freeform: Shape 34">
            <a:extLst>
              <a:ext uri="{FF2B5EF4-FFF2-40B4-BE49-F238E27FC236}">
                <a16:creationId xmlns:a16="http://schemas.microsoft.com/office/drawing/2014/main" id="{5A43D9D2-4CAA-3544-4E99-2BE62F8BF717}"/>
              </a:ext>
            </a:extLst>
          </p:cNvPr>
          <p:cNvSpPr/>
          <p:nvPr/>
        </p:nvSpPr>
        <p:spPr>
          <a:xfrm rot="21008222" flipV="1">
            <a:off x="7116768" y="3420516"/>
            <a:ext cx="1906824" cy="306139"/>
          </a:xfrm>
          <a:custGeom>
            <a:avLst/>
            <a:gdLst>
              <a:gd name="connsiteX0" fmla="*/ 0 w 2961249"/>
              <a:gd name="connsiteY0" fmla="*/ 436103 h 436103"/>
              <a:gd name="connsiteX1" fmla="*/ 942535 w 2961249"/>
              <a:gd name="connsiteY1" fmla="*/ 63310 h 436103"/>
              <a:gd name="connsiteX2" fmla="*/ 1892104 w 2961249"/>
              <a:gd name="connsiteY2" fmla="*/ 35174 h 436103"/>
              <a:gd name="connsiteX3" fmla="*/ 2961249 w 2961249"/>
              <a:gd name="connsiteY3" fmla="*/ 422036 h 436103"/>
              <a:gd name="connsiteX4" fmla="*/ 2961249 w 2961249"/>
              <a:gd name="connsiteY4" fmla="*/ 422036 h 436103"/>
              <a:gd name="connsiteX5" fmla="*/ 2961249 w 2961249"/>
              <a:gd name="connsiteY5" fmla="*/ 422036 h 436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61249" h="436103">
                <a:moveTo>
                  <a:pt x="0" y="436103"/>
                </a:moveTo>
                <a:cubicBezTo>
                  <a:pt x="313592" y="283117"/>
                  <a:pt x="627184" y="130131"/>
                  <a:pt x="942535" y="63310"/>
                </a:cubicBezTo>
                <a:cubicBezTo>
                  <a:pt x="1257886" y="-3512"/>
                  <a:pt x="1555652" y="-24614"/>
                  <a:pt x="1892104" y="35174"/>
                </a:cubicBezTo>
                <a:cubicBezTo>
                  <a:pt x="2228556" y="94962"/>
                  <a:pt x="2961249" y="422036"/>
                  <a:pt x="2961249" y="422036"/>
                </a:cubicBezTo>
                <a:lnTo>
                  <a:pt x="2961249" y="422036"/>
                </a:lnTo>
                <a:lnTo>
                  <a:pt x="2961249" y="422036"/>
                </a:lnTo>
              </a:path>
            </a:pathLst>
          </a:cu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5" name="Freeform: Shape 34">
            <a:extLst>
              <a:ext uri="{FF2B5EF4-FFF2-40B4-BE49-F238E27FC236}">
                <a16:creationId xmlns:a16="http://schemas.microsoft.com/office/drawing/2014/main" id="{5A43D9D2-4CAA-3544-4E99-2BE62F8BF717}"/>
              </a:ext>
            </a:extLst>
          </p:cNvPr>
          <p:cNvSpPr/>
          <p:nvPr/>
        </p:nvSpPr>
        <p:spPr>
          <a:xfrm rot="15608222" flipV="1">
            <a:off x="8523948" y="2315310"/>
            <a:ext cx="1302703" cy="393948"/>
          </a:xfrm>
          <a:custGeom>
            <a:avLst/>
            <a:gdLst>
              <a:gd name="connsiteX0" fmla="*/ 0 w 2961249"/>
              <a:gd name="connsiteY0" fmla="*/ 436103 h 436103"/>
              <a:gd name="connsiteX1" fmla="*/ 942535 w 2961249"/>
              <a:gd name="connsiteY1" fmla="*/ 63310 h 436103"/>
              <a:gd name="connsiteX2" fmla="*/ 1892104 w 2961249"/>
              <a:gd name="connsiteY2" fmla="*/ 35174 h 436103"/>
              <a:gd name="connsiteX3" fmla="*/ 2961249 w 2961249"/>
              <a:gd name="connsiteY3" fmla="*/ 422036 h 436103"/>
              <a:gd name="connsiteX4" fmla="*/ 2961249 w 2961249"/>
              <a:gd name="connsiteY4" fmla="*/ 422036 h 436103"/>
              <a:gd name="connsiteX5" fmla="*/ 2961249 w 2961249"/>
              <a:gd name="connsiteY5" fmla="*/ 422036 h 436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61249" h="436103">
                <a:moveTo>
                  <a:pt x="0" y="436103"/>
                </a:moveTo>
                <a:cubicBezTo>
                  <a:pt x="313592" y="283117"/>
                  <a:pt x="627184" y="130131"/>
                  <a:pt x="942535" y="63310"/>
                </a:cubicBezTo>
                <a:cubicBezTo>
                  <a:pt x="1257886" y="-3512"/>
                  <a:pt x="1555652" y="-24614"/>
                  <a:pt x="1892104" y="35174"/>
                </a:cubicBezTo>
                <a:cubicBezTo>
                  <a:pt x="2228556" y="94962"/>
                  <a:pt x="2961249" y="422036"/>
                  <a:pt x="2961249" y="422036"/>
                </a:cubicBezTo>
                <a:lnTo>
                  <a:pt x="2961249" y="422036"/>
                </a:lnTo>
                <a:lnTo>
                  <a:pt x="2961249" y="422036"/>
                </a:lnTo>
              </a:path>
            </a:pathLst>
          </a:cu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chemeClr val="tx1"/>
                </a:solidFill>
              </a:rPr>
              <a:t>Find a spanning tree of a connected graph G.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2120820" y="4159697"/>
            <a:ext cx="384485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002060"/>
                </a:solidFill>
              </a:rPr>
              <a:t>Given graph is connected, and contain no cycle so graph itself is a spanning tree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62971" y="4158854"/>
            <a:ext cx="384485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002060"/>
                </a:solidFill>
              </a:rPr>
              <a:t>Given graph is disconnected, so graph does not have a spanning tree</a:t>
            </a:r>
          </a:p>
        </p:txBody>
      </p:sp>
    </p:spTree>
    <p:extLst>
      <p:ext uri="{BB962C8B-B14F-4D97-AF65-F5344CB8AC3E}">
        <p14:creationId xmlns:p14="http://schemas.microsoft.com/office/powerpoint/2010/main" val="3589296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38" grpId="0" animBg="1"/>
      <p:bldP spid="42" grpId="0" animBg="1"/>
      <p:bldP spid="44" grpId="0" animBg="1"/>
      <p:bldP spid="45" grpId="0" animBg="1"/>
      <p:bldP spid="49" grpId="0" animBg="1"/>
      <p:bldP spid="65" grpId="0" animBg="1"/>
      <p:bldP spid="66" grpId="0" animBg="1"/>
      <p:bldP spid="68" grpId="0" animBg="1"/>
      <p:bldP spid="70" grpId="0" animBg="1"/>
      <p:bldP spid="72" grpId="0" animBg="1"/>
      <p:bldP spid="73" grpId="0" animBg="1"/>
      <p:bldP spid="76" grpId="0" animBg="1"/>
      <p:bldP spid="77" grpId="0" animBg="1"/>
      <p:bldP spid="84" grpId="0" animBg="1"/>
      <p:bldP spid="85" grpId="0" animBg="1"/>
      <p:bldP spid="95" grpId="0"/>
      <p:bldP spid="96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Important Term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131182" y="818866"/>
                <a:ext cx="11728722" cy="5635143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IN" b="1" dirty="0"/>
                  <a:t>Definition: </a:t>
                </a:r>
                <a:r>
                  <a:rPr lang="en-US" dirty="0"/>
                  <a:t>An </a:t>
                </a:r>
                <a:r>
                  <a:rPr lang="en-US" b="1" dirty="0"/>
                  <a:t>edge in a spanning tree</a:t>
                </a:r>
                <a:r>
                  <a:rPr lang="en-US" dirty="0"/>
                  <a:t> T is called a </a:t>
                </a:r>
                <a:r>
                  <a:rPr lang="en-US" b="1" dirty="0">
                    <a:solidFill>
                      <a:srgbClr val="FF0000"/>
                    </a:solidFill>
                  </a:rPr>
                  <a:t>branch</a:t>
                </a:r>
                <a:r>
                  <a:rPr lang="en-US" dirty="0"/>
                  <a:t>. 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b="1" dirty="0"/>
                  <a:t>Definition: </a:t>
                </a:r>
                <a:r>
                  <a:rPr lang="en-US" dirty="0"/>
                  <a:t>An </a:t>
                </a:r>
                <a:r>
                  <a:rPr lang="en-US" b="1" dirty="0"/>
                  <a:t>edge</a:t>
                </a:r>
                <a:r>
                  <a:rPr lang="en-US" dirty="0"/>
                  <a:t> of G that is </a:t>
                </a:r>
                <a:r>
                  <a:rPr lang="en-US" b="1" dirty="0"/>
                  <a:t>not in a spanning tree </a:t>
                </a:r>
                <a:r>
                  <a:rPr lang="en-US" dirty="0"/>
                  <a:t>T is called a </a:t>
                </a:r>
                <a:r>
                  <a:rPr lang="en-US" b="1" dirty="0">
                    <a:solidFill>
                      <a:srgbClr val="FF0000"/>
                    </a:solidFill>
                  </a:rPr>
                  <a:t>chord</a:t>
                </a:r>
                <a:r>
                  <a:rPr lang="en-US" b="1" dirty="0"/>
                  <a:t>.</a:t>
                </a:r>
              </a:p>
              <a:p>
                <a:pPr>
                  <a:lnSpc>
                    <a:spcPct val="150000"/>
                  </a:lnSpc>
                  <a:buClr>
                    <a:srgbClr val="B84742"/>
                  </a:buClr>
                </a:pPr>
                <a:r>
                  <a:rPr lang="en-US" dirty="0"/>
                  <a:t>A connected graph of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dirty="0">
                        <a:latin typeface="Cambria Math" panose="02040503050406030204" pitchFamily="18" charset="0"/>
                      </a:rPr>
                      <m:t>𝐧</m:t>
                    </m:r>
                  </m:oMath>
                </a14:m>
                <a:r>
                  <a:rPr lang="en-US" b="1" dirty="0"/>
                  <a:t> vertices </a:t>
                </a:r>
                <a:r>
                  <a:rPr lang="en-US" dirty="0"/>
                  <a:t>and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dirty="0">
                        <a:latin typeface="Cambria Math" panose="02040503050406030204" pitchFamily="18" charset="0"/>
                      </a:rPr>
                      <m:t>𝐞</m:t>
                    </m:r>
                    <m:r>
                      <a:rPr lang="en-US" b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/>
                  <a:t>edges</a:t>
                </a:r>
                <a:r>
                  <a:rPr lang="en-US" dirty="0"/>
                  <a:t> has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𝐧</m:t>
                    </m:r>
                    <m:r>
                      <a:rPr lang="en-US" b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n-US" b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branches</a:t>
                </a:r>
                <a:r>
                  <a:rPr lang="en-US" dirty="0"/>
                  <a:t>.</a:t>
                </a:r>
              </a:p>
              <a:p>
                <a:pPr>
                  <a:lnSpc>
                    <a:spcPct val="150000"/>
                  </a:lnSpc>
                  <a:buClr>
                    <a:srgbClr val="B84742"/>
                  </a:buClr>
                </a:pPr>
                <a:r>
                  <a:rPr lang="en-US" dirty="0"/>
                  <a:t>A connected graph of</a:t>
                </a:r>
                <a14:m>
                  <m:oMath xmlns:m="http://schemas.openxmlformats.org/officeDocument/2006/math">
                    <m:r>
                      <a:rPr lang="en-US" b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dirty="0">
                        <a:latin typeface="Cambria Math" panose="02040503050406030204" pitchFamily="18" charset="0"/>
                      </a:rPr>
                      <m:t>𝐧</m:t>
                    </m:r>
                  </m:oMath>
                </a14:m>
                <a:r>
                  <a:rPr lang="en-US" b="1" dirty="0"/>
                  <a:t> vertices </a:t>
                </a:r>
                <a:r>
                  <a:rPr lang="en-US" dirty="0"/>
                  <a:t>and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dirty="0">
                        <a:latin typeface="Cambria Math" panose="02040503050406030204" pitchFamily="18" charset="0"/>
                      </a:rPr>
                      <m:t>𝐞</m:t>
                    </m:r>
                  </m:oMath>
                </a14:m>
                <a:r>
                  <a:rPr lang="en-US" b="1" dirty="0"/>
                  <a:t> edges</a:t>
                </a:r>
                <a:r>
                  <a:rPr lang="en-US" dirty="0"/>
                  <a:t> has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𝐞</m:t>
                    </m:r>
                    <m:r>
                      <a:rPr lang="en-US" b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n-US" b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𝐧</m:t>
                    </m:r>
                    <m:r>
                      <a:rPr lang="en-US" b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b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chords</a:t>
                </a:r>
                <a:r>
                  <a:rPr lang="en-US" b="1" dirty="0"/>
                  <a:t>.</a:t>
                </a:r>
              </a:p>
              <a:p>
                <a:pPr>
                  <a:lnSpc>
                    <a:spcPct val="150000"/>
                  </a:lnSpc>
                  <a:buClr>
                    <a:srgbClr val="B84742"/>
                  </a:buClr>
                </a:pPr>
                <a:r>
                  <a:rPr lang="en-US" b="1" dirty="0">
                    <a:solidFill>
                      <a:srgbClr val="B71B1C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Rank of a </a:t>
                </a:r>
                <a:r>
                  <a:rPr lang="en-US" b="1" u="sng" dirty="0">
                    <a:solidFill>
                      <a:srgbClr val="B71B1C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connected graph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solidFill>
                          <a:srgbClr val="B71B1C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𝐆</m:t>
                    </m:r>
                    <m:r>
                      <a:rPr lang="en-US" b="1" i="0" dirty="0" smtClean="0">
                        <a:solidFill>
                          <a:srgbClr val="B71B1C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=</m:t>
                    </m:r>
                    <m:r>
                      <a:rPr lang="en-US" b="1" i="0" dirty="0" smtClean="0">
                        <a:solidFill>
                          <a:srgbClr val="B71B1C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𝐧</m:t>
                    </m:r>
                    <m:r>
                      <a:rPr lang="en-US" b="1" i="0" dirty="0" smtClean="0">
                        <a:solidFill>
                          <a:srgbClr val="B71B1C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−</m:t>
                    </m:r>
                    <m:r>
                      <a:rPr lang="en-US" b="1" i="0" dirty="0" smtClean="0">
                        <a:solidFill>
                          <a:srgbClr val="B71B1C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𝟏</m:t>
                    </m:r>
                    <m:r>
                      <a:rPr lang="en-US" b="1" i="0" dirty="0" smtClean="0">
                        <a:solidFill>
                          <a:srgbClr val="B71B1C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=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Total number of branches </a:t>
                </a:r>
              </a:p>
              <a:p>
                <a:pPr>
                  <a:lnSpc>
                    <a:spcPct val="150000"/>
                  </a:lnSpc>
                  <a:buClr>
                    <a:srgbClr val="B84742"/>
                  </a:buClr>
                </a:pPr>
                <a:r>
                  <a:rPr lang="en-US" b="1" dirty="0">
                    <a:solidFill>
                      <a:srgbClr val="B71B1C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Nullity of a </a:t>
                </a:r>
                <a:r>
                  <a:rPr lang="en-US" b="1" u="sng" dirty="0">
                    <a:solidFill>
                      <a:srgbClr val="B71B1C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connected graph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solidFill>
                          <a:srgbClr val="B71B1C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 </m:t>
                    </m:r>
                    <m:r>
                      <a:rPr lang="en-US" b="1" i="0" dirty="0" smtClean="0">
                        <a:solidFill>
                          <a:srgbClr val="B71B1C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𝐆</m:t>
                    </m:r>
                    <m:r>
                      <a:rPr lang="en-US" b="1" i="0" dirty="0" smtClean="0">
                        <a:solidFill>
                          <a:srgbClr val="B71B1C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=</m:t>
                    </m:r>
                    <m:r>
                      <a:rPr lang="en-US" b="1" i="0" dirty="0" smtClean="0">
                        <a:solidFill>
                          <a:srgbClr val="B71B1C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𝐞</m:t>
                    </m:r>
                    <m:r>
                      <a:rPr lang="en-US" b="1" i="0" dirty="0" smtClean="0">
                        <a:solidFill>
                          <a:srgbClr val="B71B1C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−</m:t>
                    </m:r>
                    <m:r>
                      <a:rPr lang="en-US" b="1" i="0" dirty="0" smtClean="0">
                        <a:solidFill>
                          <a:srgbClr val="B71B1C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𝐧</m:t>
                    </m:r>
                    <m:r>
                      <a:rPr lang="en-US" b="1" i="0" dirty="0" smtClean="0">
                        <a:solidFill>
                          <a:srgbClr val="B71B1C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+</m:t>
                    </m:r>
                    <m:r>
                      <a:rPr lang="en-US" b="1" i="0" dirty="0" smtClean="0">
                        <a:solidFill>
                          <a:srgbClr val="B71B1C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𝟏</m:t>
                    </m:r>
                    <m:r>
                      <a:rPr lang="en-US" b="1" i="0" dirty="0" smtClean="0">
                        <a:solidFill>
                          <a:srgbClr val="B71B1C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=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Total number of chords</a:t>
                </a:r>
              </a:p>
              <a:p>
                <a:pPr>
                  <a:lnSpc>
                    <a:spcPct val="150000"/>
                  </a:lnSpc>
                  <a:buClr>
                    <a:srgbClr val="B84742"/>
                  </a:buClr>
                </a:pPr>
                <a:r>
                  <a:rPr lang="en-US" dirty="0">
                    <a:solidFill>
                      <a:srgbClr val="FF0000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Rank + Nullity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 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=</m:t>
                    </m:r>
                    <m:r>
                      <a:rPr lang="en-US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𝐞</m:t>
                    </m:r>
                    <m:r>
                      <a:rPr lang="en-US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=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Total number of edges</a:t>
                </a:r>
              </a:p>
              <a:p>
                <a:endParaRPr lang="en-US" b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2" y="818866"/>
                <a:ext cx="11728722" cy="5635143"/>
              </a:xfrm>
              <a:blipFill rotWithShape="0">
                <a:blip r:embed="rId2"/>
                <a:stretch>
                  <a:fillRect l="-9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2535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Example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384" y="2654033"/>
            <a:ext cx="3353091" cy="320677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226152" y="925999"/>
                <a:ext cx="5519556" cy="151323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lvl="1" algn="ctr">
                  <a:spcBef>
                    <a:spcPts val="1000"/>
                  </a:spcBef>
                  <a:buClr>
                    <a:srgbClr val="B84742"/>
                  </a:buClr>
                </a:pPr>
                <a:r>
                  <a:rPr lang="en-US" sz="2800" dirty="0">
                    <a:solidFill>
                      <a:srgbClr val="002060"/>
                    </a:solidFill>
                  </a:rPr>
                  <a:t>Consider Graph of order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=7 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and size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=13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with its Spanning Tree </a:t>
                </a:r>
              </a:p>
              <a:p>
                <a:pPr marL="0" lvl="1" algn="ctr">
                  <a:spcBef>
                    <a:spcPts val="1000"/>
                  </a:spcBef>
                  <a:buClr>
                    <a:srgbClr val="B84742"/>
                  </a:buClr>
                </a:pPr>
                <a:r>
                  <a:rPr lang="en-US" sz="2800" dirty="0">
                    <a:solidFill>
                      <a:srgbClr val="002060"/>
                    </a:solidFill>
                  </a:rPr>
                  <a:t>(Highlighted in Green)</a:t>
                </a: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152" y="925999"/>
                <a:ext cx="5519556" cy="1513235"/>
              </a:xfrm>
              <a:prstGeom prst="rect">
                <a:avLst/>
              </a:prstGeom>
              <a:blipFill rotWithShape="0">
                <a:blip r:embed="rId3"/>
                <a:stretch>
                  <a:fillRect t="-4435" b="-10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6250526" y="1410870"/>
                <a:ext cx="327371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b="1" dirty="0">
                    <a:solidFill>
                      <a:srgbClr val="002060"/>
                    </a:solidFill>
                    <a:latin typeface="Roboto Condensed" panose="02000000000000000000" pitchFamily="2" charset="0"/>
                  </a:rPr>
                  <a:t>Branch:</a:t>
                </a:r>
                <a14:m>
                  <m:oMath xmlns:m="http://schemas.openxmlformats.org/officeDocument/2006/math">
                    <m:r>
                      <a:rPr lang="en-US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b="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sz="2800" b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800" b="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sz="2800" b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 b="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800" b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 b="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sz="2800" b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 b="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j</m:t>
                        </m:r>
                        <m:r>
                          <a:rPr lang="en-US" sz="2800" b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 b="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l</m:t>
                        </m:r>
                      </m:e>
                    </m:d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0526" y="1410870"/>
                <a:ext cx="3273717" cy="523220"/>
              </a:xfrm>
              <a:prstGeom prst="rect">
                <a:avLst/>
              </a:prstGeom>
              <a:blipFill rotWithShape="0">
                <a:blip r:embed="rId4"/>
                <a:stretch>
                  <a:fillRect l="-3724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6250526" y="2194726"/>
                <a:ext cx="369902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spcBef>
                    <a:spcPts val="1000"/>
                  </a:spcBef>
                </a:pPr>
                <a:r>
                  <a:rPr lang="en-US" sz="2800" b="1" dirty="0">
                    <a:solidFill>
                      <a:srgbClr val="002060"/>
                    </a:solidFill>
                    <a:latin typeface="Roboto Condensed" panose="02000000000000000000" pitchFamily="2" charset="0"/>
                  </a:rPr>
                  <a:t>Chord:</a:t>
                </a:r>
                <a14:m>
                  <m:oMath xmlns:m="http://schemas.openxmlformats.org/officeDocument/2006/math">
                    <m:r>
                      <a:rPr lang="en-US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b="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sz="2800" b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800" b="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sz="2800" b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800" b="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  <m:r>
                          <a:rPr lang="en-US" sz="2800" b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800" b="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  <m:r>
                          <a:rPr lang="en-US" sz="2800" b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800" b="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  <m:r>
                          <a:rPr lang="en-US" sz="2800" b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800" b="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en-US" sz="2800" b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800" b="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Roboto Condensed" panose="02000000000000000000" pitchFamily="2" charset="0"/>
                  </a:rPr>
                  <a:t> </a:t>
                </a:r>
                <a:endParaRPr lang="en-US" sz="2800" dirty="0">
                  <a:effectLst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0526" y="2194726"/>
                <a:ext cx="3699025" cy="523220"/>
              </a:xfrm>
              <a:prstGeom prst="rect">
                <a:avLst/>
              </a:prstGeom>
              <a:blipFill rotWithShape="0">
                <a:blip r:embed="rId5"/>
                <a:stretch>
                  <a:fillRect l="-2801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6250526" y="2978582"/>
                <a:ext cx="360624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b="1" dirty="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Rank of </a:t>
                </a:r>
                <a14:m>
                  <m:oMath xmlns:m="http://schemas.openxmlformats.org/officeDocument/2006/math">
                    <m:r>
                      <a:rPr lang="en-US" sz="2800" b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𝐆</m:t>
                    </m:r>
                    <m:r>
                      <a:rPr lang="en-US" sz="2800" b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=</m:t>
                    </m:r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7</m:t>
                    </m:r>
                    <m:r>
                      <a:rPr lang="en-US" sz="2800" b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−</m:t>
                    </m:r>
                    <m:r>
                      <a:rPr lang="en-US" sz="2800" b="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1</m:t>
                    </m:r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=6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0526" y="2978582"/>
                <a:ext cx="3606244" cy="523220"/>
              </a:xfrm>
              <a:prstGeom prst="rect">
                <a:avLst/>
              </a:prstGeom>
              <a:blipFill rotWithShape="0">
                <a:blip r:embed="rId6"/>
                <a:stretch>
                  <a:fillRect l="-3378" t="-12941" b="-3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6250526" y="3762438"/>
                <a:ext cx="467788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b="1" dirty="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Nullity of</a:t>
                </a:r>
                <a14:m>
                  <m:oMath xmlns:m="http://schemas.openxmlformats.org/officeDocument/2006/math">
                    <m:r>
                      <a:rPr lang="en-US" sz="2800" b="1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 </m:t>
                    </m:r>
                    <m:r>
                      <a:rPr lang="en-US" sz="2800" b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𝐆</m:t>
                    </m:r>
                    <m:r>
                      <a:rPr lang="en-US" sz="2800" b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=</m:t>
                    </m:r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13</m:t>
                    </m:r>
                    <m:r>
                      <a:rPr lang="en-US" sz="2800" b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−</m:t>
                    </m:r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7</m:t>
                    </m:r>
                    <m:r>
                      <a:rPr lang="en-US" sz="2800" b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+</m:t>
                    </m:r>
                    <m:r>
                      <a:rPr lang="en-US" sz="2800" b="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1</m:t>
                    </m:r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=7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0526" y="3762438"/>
                <a:ext cx="4677884" cy="523220"/>
              </a:xfrm>
              <a:prstGeom prst="rect">
                <a:avLst/>
              </a:prstGeom>
              <a:blipFill rotWithShape="0">
                <a:blip r:embed="rId7"/>
                <a:stretch>
                  <a:fillRect l="-2604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6250526" y="4546294"/>
                <a:ext cx="503811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b="1" dirty="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Rank + Nullity</a:t>
                </a:r>
                <a14:m>
                  <m:oMath xmlns:m="http://schemas.openxmlformats.org/officeDocument/2006/math">
                    <m:r>
                      <a:rPr lang="en-US" sz="2800" b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 </m:t>
                    </m:r>
                    <m:r>
                      <a:rPr lang="en-US" sz="2800" b="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=</m:t>
                    </m:r>
                    <m:r>
                      <a:rPr lang="en-US" sz="2800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6+7=13=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e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0526" y="4546294"/>
                <a:ext cx="5038110" cy="523220"/>
              </a:xfrm>
              <a:prstGeom prst="rect">
                <a:avLst/>
              </a:prstGeom>
              <a:blipFill rotWithShape="0">
                <a:blip r:embed="rId8"/>
                <a:stretch>
                  <a:fillRect l="-2418" t="-1279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8419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10" grpId="0"/>
      <p:bldP spid="12" grpId="0"/>
      <p:bldP spid="13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Method-3</a:t>
            </a:r>
          </a:p>
        </p:txBody>
      </p:sp>
    </p:spTree>
    <p:extLst>
      <p:ext uri="{BB962C8B-B14F-4D97-AF65-F5344CB8AC3E}">
        <p14:creationId xmlns:p14="http://schemas.microsoft.com/office/powerpoint/2010/main" val="90948360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2"/>
          <p:cNvSpPr txBox="1">
            <a:spLocks/>
          </p:cNvSpPr>
          <p:nvPr/>
        </p:nvSpPr>
        <p:spPr>
          <a:xfrm>
            <a:off x="131176" y="867839"/>
            <a:ext cx="11929645" cy="544937"/>
          </a:xfrm>
          <a:prstGeom prst="rect">
            <a:avLst/>
          </a:pr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lvl="0"/>
          </a:lstStyle>
          <a:p>
            <a:r>
              <a:rPr lang="en-US" sz="2800" dirty="0">
                <a:solidFill>
                  <a:schemeClr val="bg1"/>
                </a:solidFill>
              </a:rPr>
              <a:t>Find a spanning tree from the following graph.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35C8299-099D-4E74-A7B7-29B2E1FD450E}"/>
              </a:ext>
            </a:extLst>
          </p:cNvPr>
          <p:cNvSpPr txBox="1">
            <a:spLocks/>
          </p:cNvSpPr>
          <p:nvPr/>
        </p:nvSpPr>
        <p:spPr>
          <a:xfrm>
            <a:off x="0" y="4011271"/>
            <a:ext cx="1407338" cy="523220"/>
          </a:xfrm>
          <a:prstGeom prst="rect">
            <a:avLst/>
          </a:pr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lvl="0"/>
          </a:lstStyle>
          <a:p>
            <a:r>
              <a:rPr lang="en-IN" sz="2800" dirty="0">
                <a:solidFill>
                  <a:schemeClr val="bg1"/>
                </a:solidFill>
              </a:rPr>
              <a:t>Solution 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Method 3 ⇝ Example 1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971865" y="3488051"/>
                <a:ext cx="65319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i="0" dirty="0" smtClean="0"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  <m:sub>
                          <m:r>
                            <a:rPr lang="en-US" sz="2800" b="0" i="0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1865" y="3488051"/>
                <a:ext cx="653192" cy="52322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230004" y="4649591"/>
                <a:ext cx="7876765" cy="108234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1000"/>
                  </a:spcBef>
                  <a:buClr>
                    <a:srgbClr val="B84742"/>
                  </a:buClr>
                </a:pPr>
                <a:r>
                  <a:rPr lang="en-US" sz="2800" b="1" dirty="0">
                    <a:solidFill>
                      <a:srgbClr val="002060"/>
                    </a:solidFill>
                  </a:rPr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  <m:sub>
                        <m:r>
                          <a:rPr lang="en-US" sz="28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</a:p>
              <a:p>
                <a:pPr marL="265113" indent="-265113" algn="just">
                  <a:spcBef>
                    <a:spcPts val="1000"/>
                  </a:spcBef>
                  <a:buClr>
                    <a:srgbClr val="B84742"/>
                  </a:buClr>
                  <a:buFont typeface="Wingdings 3" panose="05040102010807070707" pitchFamily="18" charset="2"/>
                  <a:buChar char=""/>
                </a:pPr>
                <a:r>
                  <a:rPr lang="en-US" sz="2800" dirty="0">
                    <a:solidFill>
                      <a:srgbClr val="002060"/>
                    </a:solidFill>
                  </a:rPr>
                  <a:t>It has no circuits. 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itself is a spanning tree.</a:t>
                </a: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004" y="4649591"/>
                <a:ext cx="7876765" cy="1082348"/>
              </a:xfrm>
              <a:prstGeom prst="rect">
                <a:avLst/>
              </a:prstGeom>
              <a:blipFill rotWithShape="0">
                <a:blip r:embed="rId3"/>
                <a:stretch>
                  <a:fillRect l="-1625" t="-6215" b="-152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3739617" y="3488051"/>
                <a:ext cx="57823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i="0" dirty="0" smtClean="0"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  <m:sub>
                          <m:r>
                            <a:rPr lang="en-US" sz="2400" i="0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9617" y="3488051"/>
                <a:ext cx="578235" cy="461665"/>
              </a:xfrm>
              <a:prstGeom prst="rect">
                <a:avLst/>
              </a:prstGeom>
              <a:blipFill rotWithShape="0">
                <a:blip r:embed="rId4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7916081" y="3488051"/>
                <a:ext cx="65319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i="0" dirty="0" smtClean="0"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  <m:sub>
                          <m:r>
                            <a:rPr lang="en-US" sz="2800" b="0" i="0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6081" y="3488051"/>
                <a:ext cx="653191" cy="52322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70660" y="1705828"/>
            <a:ext cx="5774331" cy="2017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100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2"/>
          <p:cNvSpPr txBox="1">
            <a:spLocks/>
          </p:cNvSpPr>
          <p:nvPr/>
        </p:nvSpPr>
        <p:spPr>
          <a:xfrm>
            <a:off x="131176" y="867839"/>
            <a:ext cx="11929645" cy="544937"/>
          </a:xfrm>
          <a:prstGeom prst="rect">
            <a:avLst/>
          </a:pr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lvl="0"/>
          </a:lstStyle>
          <a:p>
            <a:r>
              <a:rPr lang="en-US" sz="2800" dirty="0">
                <a:solidFill>
                  <a:schemeClr val="bg1"/>
                </a:solidFill>
              </a:rPr>
              <a:t>Find a spanning tree from the following graph.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35C8299-099D-4E74-A7B7-29B2E1FD450E}"/>
              </a:ext>
            </a:extLst>
          </p:cNvPr>
          <p:cNvSpPr txBox="1">
            <a:spLocks/>
          </p:cNvSpPr>
          <p:nvPr/>
        </p:nvSpPr>
        <p:spPr>
          <a:xfrm>
            <a:off x="0" y="4011271"/>
            <a:ext cx="1407338" cy="523220"/>
          </a:xfrm>
          <a:prstGeom prst="rect">
            <a:avLst/>
          </a:pr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lvl="0"/>
          </a:lstStyle>
          <a:p>
            <a:r>
              <a:rPr lang="en-IN" sz="2800" dirty="0">
                <a:solidFill>
                  <a:schemeClr val="bg1"/>
                </a:solidFill>
              </a:rPr>
              <a:t>Solution 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Method 3 ⇝ Example 1(Cont.)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971865" y="3488051"/>
                <a:ext cx="65319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i="0" dirty="0" smtClean="0"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  <m:sub>
                          <m:r>
                            <a:rPr lang="en-US" sz="2800" b="0" i="0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1865" y="3488051"/>
                <a:ext cx="653192" cy="52322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230004" y="4649591"/>
                <a:ext cx="7876765" cy="108234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1000"/>
                  </a:spcBef>
                  <a:buClr>
                    <a:srgbClr val="B84742"/>
                  </a:buClr>
                </a:pPr>
                <a:r>
                  <a:rPr lang="en-US" sz="2800" b="1" dirty="0">
                    <a:solidFill>
                      <a:srgbClr val="002060"/>
                    </a:solidFill>
                  </a:rPr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  <m:sub>
                        <m:r>
                          <a:rPr lang="en-US" sz="28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</a:p>
              <a:p>
                <a:pPr marL="265113" indent="-265113" algn="just">
                  <a:spcBef>
                    <a:spcPts val="1000"/>
                  </a:spcBef>
                  <a:buClr>
                    <a:srgbClr val="B84742"/>
                  </a:buClr>
                  <a:buFont typeface="Wingdings 3" panose="05040102010807070707" pitchFamily="18" charset="2"/>
                  <a:buChar char=""/>
                </a:pPr>
                <a:r>
                  <a:rPr lang="en-US" sz="2800" dirty="0">
                    <a:solidFill>
                      <a:srgbClr val="002060"/>
                    </a:solidFill>
                  </a:rPr>
                  <a:t>It has no circuits. 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itself is a spanning tree.</a:t>
                </a: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004" y="4649591"/>
                <a:ext cx="7876765" cy="1082348"/>
              </a:xfrm>
              <a:prstGeom prst="rect">
                <a:avLst/>
              </a:prstGeom>
              <a:blipFill rotWithShape="0">
                <a:blip r:embed="rId3"/>
                <a:stretch>
                  <a:fillRect l="-1625" t="-6215" b="-152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3739617" y="3488051"/>
                <a:ext cx="57823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i="0" dirty="0" smtClean="0"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  <m:sub>
                          <m:r>
                            <a:rPr lang="en-US" sz="2400" i="0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9617" y="3488051"/>
                <a:ext cx="578235" cy="461665"/>
              </a:xfrm>
              <a:prstGeom prst="rect">
                <a:avLst/>
              </a:prstGeom>
              <a:blipFill rotWithShape="0">
                <a:blip r:embed="rId4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7916081" y="3488051"/>
                <a:ext cx="65319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i="0" dirty="0" smtClean="0"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  <m:sub>
                          <m:r>
                            <a:rPr lang="en-US" sz="2800" b="0" i="0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6081" y="3488051"/>
                <a:ext cx="653191" cy="52322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70660" y="1705828"/>
            <a:ext cx="5774331" cy="2017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016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35C8299-099D-4E74-A7B7-29B2E1FD450E}"/>
              </a:ext>
            </a:extLst>
          </p:cNvPr>
          <p:cNvSpPr txBox="1">
            <a:spLocks/>
          </p:cNvSpPr>
          <p:nvPr/>
        </p:nvSpPr>
        <p:spPr>
          <a:xfrm>
            <a:off x="131176" y="884283"/>
            <a:ext cx="1407338" cy="523220"/>
          </a:xfrm>
          <a:prstGeom prst="rect">
            <a:avLst/>
          </a:pr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lvl="0"/>
          </a:lstStyle>
          <a:p>
            <a:r>
              <a:rPr lang="en-IN" sz="2800" dirty="0">
                <a:solidFill>
                  <a:schemeClr val="bg1"/>
                </a:solidFill>
              </a:rPr>
              <a:t>Solution 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Method 3 ⇝ Example 1(Cont.)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131176" y="1580586"/>
                <a:ext cx="5928312" cy="29341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1000"/>
                  </a:spcBef>
                  <a:buClr>
                    <a:srgbClr val="B84742"/>
                  </a:buClr>
                </a:pPr>
                <a:r>
                  <a:rPr lang="en-US" sz="2800" b="1" dirty="0">
                    <a:solidFill>
                      <a:srgbClr val="002060"/>
                    </a:solidFill>
                  </a:rPr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  <m:sub>
                        <m:r>
                          <a:rPr lang="en-US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</a:p>
              <a:p>
                <a:pPr marL="265113" lvl="1" indent="-265113" algn="just">
                  <a:spcBef>
                    <a:spcPts val="1000"/>
                  </a:spcBef>
                  <a:buClr>
                    <a:srgbClr val="B84742"/>
                  </a:buClr>
                  <a:buFont typeface="Wingdings 3" panose="05040102010807070707" pitchFamily="18" charset="2"/>
                  <a:buChar char=""/>
                </a:pPr>
                <a:r>
                  <a:rPr lang="en-US" sz="2800" dirty="0">
                    <a:solidFill>
                      <a:srgbClr val="002060"/>
                    </a:solidFill>
                  </a:rPr>
                  <a:t>Given graph is connected, contain cycles so apply </a:t>
                </a:r>
                <a:r>
                  <a:rPr lang="en-US" sz="2800" b="1" dirty="0">
                    <a:solidFill>
                      <a:srgbClr val="002060"/>
                    </a:solidFill>
                  </a:rPr>
                  <a:t>Cycle Removal</a:t>
                </a:r>
                <a:r>
                  <a:rPr lang="en-US" sz="2800" dirty="0">
                    <a:solidFill>
                      <a:srgbClr val="002060"/>
                    </a:solidFill>
                  </a:rPr>
                  <a:t> method for finding spanning tree of a connected graph </a:t>
                </a:r>
              </a:p>
              <a:p>
                <a:pPr marL="265113" lvl="1" indent="-265113" algn="just">
                  <a:spcBef>
                    <a:spcPts val="1000"/>
                  </a:spcBef>
                  <a:buClr>
                    <a:srgbClr val="B84742"/>
                  </a:buClr>
                  <a:buFont typeface="Wingdings 3" panose="05040102010807070707" pitchFamily="18" charset="2"/>
                  <a:buChar char=""/>
                </a:pPr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6" y="1580586"/>
                <a:ext cx="5928312" cy="2934137"/>
              </a:xfrm>
              <a:prstGeom prst="rect">
                <a:avLst/>
              </a:prstGeom>
              <a:blipFill rotWithShape="0">
                <a:blip r:embed="rId2"/>
                <a:stretch>
                  <a:fillRect l="-2160" t="-2075" r="-20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7594048" y="5893794"/>
            <a:ext cx="21259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0" dirty="0">
                <a:solidFill>
                  <a:srgbClr val="002060"/>
                </a:solidFill>
                <a:latin typeface="+mj-lt"/>
              </a:rPr>
              <a:t>S</a:t>
            </a:r>
            <a:r>
              <a:rPr lang="en-US" sz="2800" b="0" i="0" dirty="0">
                <a:solidFill>
                  <a:srgbClr val="002060"/>
                </a:solidFill>
                <a:latin typeface="+mj-lt"/>
              </a:rPr>
              <a:t>panning tree</a:t>
            </a:r>
            <a:endParaRPr lang="en-US" sz="2800" dirty="0">
              <a:solidFill>
                <a:srgbClr val="002060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E99354E-B9E7-A4B9-B0FB-B85D7587CE5F}"/>
              </a:ext>
            </a:extLst>
          </p:cNvPr>
          <p:cNvCxnSpPr>
            <a:cxnSpLocks/>
            <a:stCxn id="25" idx="6"/>
            <a:endCxn id="22" idx="2"/>
          </p:cNvCxnSpPr>
          <p:nvPr/>
        </p:nvCxnSpPr>
        <p:spPr>
          <a:xfrm>
            <a:off x="7893258" y="3867995"/>
            <a:ext cx="1527484" cy="0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C327030C-79EF-3CF6-8D84-F693C3A31D6D}"/>
              </a:ext>
            </a:extLst>
          </p:cNvPr>
          <p:cNvSpPr/>
          <p:nvPr/>
        </p:nvSpPr>
        <p:spPr>
          <a:xfrm>
            <a:off x="9420742" y="3795995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C2F5D99-BEB8-068B-6568-73FD39ACA5CA}"/>
              </a:ext>
            </a:extLst>
          </p:cNvPr>
          <p:cNvSpPr/>
          <p:nvPr/>
        </p:nvSpPr>
        <p:spPr>
          <a:xfrm>
            <a:off x="9420742" y="5507034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88BE81F-06D7-152E-7885-16AC17B4F94F}"/>
              </a:ext>
            </a:extLst>
          </p:cNvPr>
          <p:cNvSpPr/>
          <p:nvPr/>
        </p:nvSpPr>
        <p:spPr>
          <a:xfrm>
            <a:off x="7749258" y="5507034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FF8334A-51A7-7A3E-6DDD-6377BE88E413}"/>
              </a:ext>
            </a:extLst>
          </p:cNvPr>
          <p:cNvSpPr/>
          <p:nvPr/>
        </p:nvSpPr>
        <p:spPr>
          <a:xfrm>
            <a:off x="7749258" y="3795995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E99354E-B9E7-A4B9-B0FB-B85D7587CE5F}"/>
              </a:ext>
            </a:extLst>
          </p:cNvPr>
          <p:cNvCxnSpPr>
            <a:cxnSpLocks/>
            <a:stCxn id="22" idx="4"/>
            <a:endCxn id="23" idx="0"/>
          </p:cNvCxnSpPr>
          <p:nvPr/>
        </p:nvCxnSpPr>
        <p:spPr>
          <a:xfrm>
            <a:off x="9492742" y="3939995"/>
            <a:ext cx="0" cy="1567039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E99354E-B9E7-A4B9-B0FB-B85D7587CE5F}"/>
              </a:ext>
            </a:extLst>
          </p:cNvPr>
          <p:cNvCxnSpPr>
            <a:cxnSpLocks/>
            <a:stCxn id="24" idx="7"/>
            <a:endCxn id="22" idx="3"/>
          </p:cNvCxnSpPr>
          <p:nvPr/>
        </p:nvCxnSpPr>
        <p:spPr>
          <a:xfrm flipV="1">
            <a:off x="7872170" y="3918907"/>
            <a:ext cx="1569660" cy="1609215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E99354E-B9E7-A4B9-B0FB-B85D7587CE5F}"/>
              </a:ext>
            </a:extLst>
          </p:cNvPr>
          <p:cNvCxnSpPr>
            <a:cxnSpLocks/>
            <a:stCxn id="24" idx="6"/>
            <a:endCxn id="23" idx="2"/>
          </p:cNvCxnSpPr>
          <p:nvPr/>
        </p:nvCxnSpPr>
        <p:spPr>
          <a:xfrm>
            <a:off x="7893258" y="5579034"/>
            <a:ext cx="1527484" cy="0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9" name="TextBox 28"/>
          <p:cNvSpPr txBox="1"/>
          <p:nvPr/>
        </p:nvSpPr>
        <p:spPr>
          <a:xfrm>
            <a:off x="8834356" y="4999580"/>
            <a:ext cx="298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9258" y="1289106"/>
            <a:ext cx="1828959" cy="2408129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391729" y="4549147"/>
            <a:ext cx="5407205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  <a:buClr>
                <a:srgbClr val="B84742"/>
              </a:buClr>
            </a:pPr>
            <a:r>
              <a:rPr lang="en-US" sz="2400" b="1" dirty="0">
                <a:solidFill>
                  <a:srgbClr val="002060"/>
                </a:solidFill>
              </a:rPr>
              <a:t>If the graph G contains </a:t>
            </a:r>
            <a:r>
              <a:rPr lang="en-US" sz="2400" b="1" dirty="0">
                <a:solidFill>
                  <a:srgbClr val="FF0000"/>
                </a:solidFill>
              </a:rPr>
              <a:t>circuit</a:t>
            </a:r>
            <a:r>
              <a:rPr lang="en-US" sz="2400" b="1" dirty="0">
                <a:solidFill>
                  <a:srgbClr val="002060"/>
                </a:solidFill>
              </a:rPr>
              <a:t>, select any one edge from circuit and remove it.</a:t>
            </a:r>
          </a:p>
        </p:txBody>
      </p:sp>
    </p:spTree>
    <p:extLst>
      <p:ext uri="{BB962C8B-B14F-4D97-AF65-F5344CB8AC3E}">
        <p14:creationId xmlns:p14="http://schemas.microsoft.com/office/powerpoint/2010/main" val="3030192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 animBg="1"/>
      <p:bldP spid="23" grpId="0" animBg="1"/>
      <p:bldP spid="24" grpId="0" animBg="1"/>
      <p:bldP spid="25" grpId="0" animBg="1"/>
      <p:bldP spid="29" grpId="0"/>
      <p:bldP spid="29" grpId="1"/>
      <p:bldP spid="32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35C8299-099D-4E74-A7B7-29B2E1FD450E}"/>
              </a:ext>
            </a:extLst>
          </p:cNvPr>
          <p:cNvSpPr txBox="1">
            <a:spLocks/>
          </p:cNvSpPr>
          <p:nvPr/>
        </p:nvSpPr>
        <p:spPr>
          <a:xfrm>
            <a:off x="131176" y="868701"/>
            <a:ext cx="1407338" cy="523220"/>
          </a:xfrm>
          <a:prstGeom prst="rect">
            <a:avLst/>
          </a:pr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lvl="0"/>
          </a:lstStyle>
          <a:p>
            <a:r>
              <a:rPr lang="en-IN" sz="2800" dirty="0">
                <a:solidFill>
                  <a:schemeClr val="bg1"/>
                </a:solidFill>
              </a:rPr>
              <a:t>Solution 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Method 3 ⇝ Example 1(Cont.)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131176" y="1549422"/>
                <a:ext cx="7389356" cy="19441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1000"/>
                  </a:spcBef>
                  <a:buClr>
                    <a:srgbClr val="B84742"/>
                  </a:buClr>
                </a:pPr>
                <a:r>
                  <a:rPr lang="en-US" sz="2800" b="1" dirty="0">
                    <a:solidFill>
                      <a:srgbClr val="002060"/>
                    </a:solidFill>
                  </a:rPr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  <m:sub>
                        <m:r>
                          <a:rPr lang="en-US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</a:p>
              <a:p>
                <a:pPr marL="265113" indent="-265113" algn="just">
                  <a:spcBef>
                    <a:spcPts val="1000"/>
                  </a:spcBef>
                  <a:buClr>
                    <a:srgbClr val="B84742"/>
                  </a:buClr>
                  <a:buFont typeface="Wingdings 3" panose="05040102010807070707" pitchFamily="18" charset="2"/>
                  <a:buChar char=""/>
                </a:pPr>
                <a:r>
                  <a:rPr lang="en-US" sz="2800" dirty="0">
                    <a:solidFill>
                      <a:srgbClr val="002060"/>
                    </a:solidFill>
                  </a:rPr>
                  <a:t>Given graph is connected, contain cycles so apply </a:t>
                </a:r>
                <a:r>
                  <a:rPr lang="en-US" sz="2800" b="1" dirty="0">
                    <a:solidFill>
                      <a:srgbClr val="002060"/>
                    </a:solidFill>
                  </a:rPr>
                  <a:t>Cycle Removal </a:t>
                </a:r>
                <a:r>
                  <a:rPr lang="en-US" sz="2800" dirty="0">
                    <a:solidFill>
                      <a:srgbClr val="002060"/>
                    </a:solidFill>
                  </a:rPr>
                  <a:t>method for finding spanning tree of a connected graph </a:t>
                </a: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6" y="1549422"/>
                <a:ext cx="7389356" cy="1944122"/>
              </a:xfrm>
              <a:prstGeom prst="rect">
                <a:avLst/>
              </a:prstGeom>
              <a:blipFill rotWithShape="0">
                <a:blip r:embed="rId2"/>
                <a:stretch>
                  <a:fillRect l="-1733" t="-3135" r="-1650" b="-78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/>
          <p:cNvSpPr txBox="1"/>
          <p:nvPr/>
        </p:nvSpPr>
        <p:spPr>
          <a:xfrm>
            <a:off x="8539226" y="5575220"/>
            <a:ext cx="21339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rgbClr val="002060"/>
                </a:solidFill>
              </a:rPr>
              <a:t>Spanning tree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9203995" y="4257988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9924075" y="4257988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9203995" y="4978068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9918965" y="4978068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8843971" y="3897964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10284115" y="3897964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8843971" y="5338109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10284115" y="5338108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43" idx="0"/>
            <a:endCxn id="44" idx="4"/>
          </p:cNvCxnSpPr>
          <p:nvPr/>
        </p:nvCxnSpPr>
        <p:spPr>
          <a:xfrm>
            <a:off x="9347995" y="4329988"/>
            <a:ext cx="576080" cy="0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45" idx="0"/>
            <a:endCxn id="46" idx="4"/>
          </p:cNvCxnSpPr>
          <p:nvPr/>
        </p:nvCxnSpPr>
        <p:spPr>
          <a:xfrm>
            <a:off x="9347995" y="5050068"/>
            <a:ext cx="570970" cy="0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43" idx="6"/>
            <a:endCxn id="45" idx="2"/>
          </p:cNvCxnSpPr>
          <p:nvPr/>
        </p:nvCxnSpPr>
        <p:spPr>
          <a:xfrm>
            <a:off x="9275995" y="4401988"/>
            <a:ext cx="0" cy="576080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44" idx="6"/>
            <a:endCxn id="46" idx="2"/>
          </p:cNvCxnSpPr>
          <p:nvPr/>
        </p:nvCxnSpPr>
        <p:spPr>
          <a:xfrm flipH="1">
            <a:off x="9990965" y="4401988"/>
            <a:ext cx="5110" cy="576080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47" idx="6"/>
            <a:endCxn id="49" idx="2"/>
          </p:cNvCxnSpPr>
          <p:nvPr/>
        </p:nvCxnSpPr>
        <p:spPr>
          <a:xfrm>
            <a:off x="8915971" y="4041964"/>
            <a:ext cx="0" cy="1296145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48" idx="6"/>
            <a:endCxn id="50" idx="2"/>
          </p:cNvCxnSpPr>
          <p:nvPr/>
        </p:nvCxnSpPr>
        <p:spPr>
          <a:xfrm>
            <a:off x="10356115" y="4041964"/>
            <a:ext cx="0" cy="1296144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50" idx="4"/>
            <a:endCxn id="49" idx="0"/>
          </p:cNvCxnSpPr>
          <p:nvPr/>
        </p:nvCxnSpPr>
        <p:spPr>
          <a:xfrm flipH="1">
            <a:off x="8987971" y="5410108"/>
            <a:ext cx="1296144" cy="1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48" idx="4"/>
            <a:endCxn id="47" idx="0"/>
          </p:cNvCxnSpPr>
          <p:nvPr/>
        </p:nvCxnSpPr>
        <p:spPr>
          <a:xfrm flipH="1">
            <a:off x="8987971" y="3969964"/>
            <a:ext cx="1296144" cy="0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47" idx="7"/>
            <a:endCxn id="43" idx="3"/>
          </p:cNvCxnSpPr>
          <p:nvPr/>
        </p:nvCxnSpPr>
        <p:spPr>
          <a:xfrm>
            <a:off x="8966883" y="4020876"/>
            <a:ext cx="258200" cy="258200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44" idx="1"/>
            <a:endCxn id="48" idx="5"/>
          </p:cNvCxnSpPr>
          <p:nvPr/>
        </p:nvCxnSpPr>
        <p:spPr>
          <a:xfrm flipV="1">
            <a:off x="10046987" y="4020876"/>
            <a:ext cx="258216" cy="258200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49" idx="1"/>
            <a:endCxn id="45" idx="5"/>
          </p:cNvCxnSpPr>
          <p:nvPr/>
        </p:nvCxnSpPr>
        <p:spPr>
          <a:xfrm flipV="1">
            <a:off x="8966883" y="5100980"/>
            <a:ext cx="258200" cy="258217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46" idx="7"/>
            <a:endCxn id="50" idx="3"/>
          </p:cNvCxnSpPr>
          <p:nvPr/>
        </p:nvCxnSpPr>
        <p:spPr>
          <a:xfrm>
            <a:off x="10041877" y="5100980"/>
            <a:ext cx="263326" cy="258216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3" name="TextBox 62"/>
          <p:cNvSpPr txBox="1"/>
          <p:nvPr/>
        </p:nvSpPr>
        <p:spPr>
          <a:xfrm>
            <a:off x="8928087" y="442253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3075" y="1046642"/>
            <a:ext cx="2006220" cy="251588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389" y="4395249"/>
            <a:ext cx="7724775" cy="1266825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9488709" y="395868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458800" y="504641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277665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63" grpId="0"/>
      <p:bldP spid="63" grpId="1"/>
      <p:bldP spid="68" grpId="0"/>
      <p:bldP spid="68" grpId="1"/>
      <p:bldP spid="69" grpId="0"/>
      <p:bldP spid="69" grpId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/>
              <p:cNvSpPr txBox="1">
                <a:spLocks/>
              </p:cNvSpPr>
              <p:nvPr/>
            </p:nvSpPr>
            <p:spPr>
              <a:xfrm>
                <a:off x="131176" y="795831"/>
                <a:ext cx="11929645" cy="2273129"/>
              </a:xfrm>
              <a:prstGeom prst="rect">
                <a:avLst/>
              </a:prstGeom>
              <a:gradFill>
                <a:gsLst>
                  <a:gs pos="10000">
                    <a:srgbClr val="273238"/>
                  </a:gs>
                  <a:gs pos="100000">
                    <a:srgbClr val="607D8B"/>
                  </a:gs>
                </a:gsLst>
                <a:lin ang="108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lvl="0"/>
              </a:lstStyle>
              <a:p>
                <a:r>
                  <a:rPr lang="en-US" sz="2800" dirty="0">
                    <a:solidFill>
                      <a:schemeClr val="bg1"/>
                    </a:solidFill>
                  </a:rPr>
                  <a:t>For each of the following standard graphs with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sz="2800" dirty="0">
                    <a:solidFill>
                      <a:schemeClr val="bg1"/>
                    </a:solidFill>
                  </a:rPr>
                  <a:t> vertices, find the rank and nullity.</a:t>
                </a:r>
              </a:p>
              <a:p>
                <a:pPr marL="514350" indent="-514350">
                  <a:buFont typeface="+mj-lt"/>
                  <a:buAutoNum type="alphaLcParenR"/>
                </a:pPr>
                <a:r>
                  <a:rPr lang="en-US" sz="2800" dirty="0">
                    <a:solidFill>
                      <a:schemeClr val="bg1"/>
                    </a:solidFill>
                  </a:rPr>
                  <a:t>Complete graph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800" i="1" dirty="0" err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0" i="0" dirty="0" err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800" b="0" i="0" dirty="0" err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endParaRPr lang="en-US" sz="2800" dirty="0">
                  <a:solidFill>
                    <a:schemeClr val="bg1"/>
                  </a:solidFill>
                </a:endParaRPr>
              </a:p>
              <a:p>
                <a:pPr marL="514350" indent="-514350">
                  <a:buFont typeface="+mj-lt"/>
                  <a:buAutoNum type="alphaLcParenR"/>
                </a:pPr>
                <a:r>
                  <a:rPr lang="en-US" sz="2800" dirty="0">
                    <a:solidFill>
                      <a:schemeClr val="bg1"/>
                    </a:solidFill>
                  </a:rPr>
                  <a:t>Cycle graph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800" i="1" dirty="0" err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0" i="0" dirty="0" err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800" b="0" i="0" dirty="0" err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chemeClr val="bg1"/>
                    </a:solidFill>
                  </a:rPr>
                  <a:t> </a:t>
                </a:r>
              </a:p>
              <a:p>
                <a:pPr marL="514350" indent="-514350">
                  <a:buFont typeface="+mj-lt"/>
                  <a:buAutoNum type="alphaLcParenR"/>
                </a:pPr>
                <a:r>
                  <a:rPr lang="en-US" sz="2800" dirty="0">
                    <a:solidFill>
                      <a:schemeClr val="bg1"/>
                    </a:solidFill>
                  </a:rPr>
                  <a:t>Path graph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800" i="1" dirty="0" err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0" i="0" dirty="0" err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800" b="0" i="0" dirty="0" err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endParaRPr lang="en-US" sz="2800" dirty="0">
                  <a:solidFill>
                    <a:schemeClr val="bg1"/>
                  </a:solidFill>
                </a:endParaRPr>
              </a:p>
              <a:p>
                <a:pPr marL="514350" indent="-514350">
                  <a:buFont typeface="+mj-lt"/>
                  <a:buAutoNum type="alphaLcParenR"/>
                </a:pPr>
                <a:r>
                  <a:rPr lang="en-US" sz="2800" dirty="0">
                    <a:solidFill>
                      <a:schemeClr val="bg1"/>
                    </a:solidFill>
                  </a:rPr>
                  <a:t>Star tree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800" i="1" dirty="0" err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0" i="0" dirty="0" err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800" b="0" i="0" dirty="0" err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chemeClr val="bg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6" y="795831"/>
                <a:ext cx="11929645" cy="2273129"/>
              </a:xfrm>
              <a:prstGeom prst="rect">
                <a:avLst/>
              </a:prstGeom>
              <a:blipFill rotWithShape="0">
                <a:blip r:embed="rId2"/>
                <a:stretch>
                  <a:fillRect l="-1074" t="-2957" b="-564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35C8299-099D-4E74-A7B7-29B2E1FD450E}"/>
              </a:ext>
            </a:extLst>
          </p:cNvPr>
          <p:cNvSpPr txBox="1">
            <a:spLocks/>
          </p:cNvSpPr>
          <p:nvPr/>
        </p:nvSpPr>
        <p:spPr>
          <a:xfrm>
            <a:off x="113592" y="3121804"/>
            <a:ext cx="1407338" cy="523220"/>
          </a:xfrm>
          <a:prstGeom prst="rect">
            <a:avLst/>
          </a:pr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lvl="0"/>
          </a:lstStyle>
          <a:p>
            <a:r>
              <a:rPr lang="en-IN" sz="2800" dirty="0">
                <a:solidFill>
                  <a:schemeClr val="bg1"/>
                </a:solidFill>
              </a:rPr>
              <a:t>Solution 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Method 3 ⇝ Example 2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13592" y="2074664"/>
            <a:ext cx="1194722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just">
              <a:spcBef>
                <a:spcPts val="1000"/>
              </a:spcBef>
              <a:buClr>
                <a:srgbClr val="B84742"/>
              </a:buClr>
              <a:buFont typeface="Wingdings 3" panose="05040102010807070707" pitchFamily="18" charset="2"/>
              <a:buChar char=""/>
            </a:pPr>
            <a:endParaRPr lang="en-IN" sz="28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760066" y="3193589"/>
                <a:ext cx="9758645" cy="46166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rgbClr val="002060"/>
                    </a:solidFill>
                  </a:rPr>
                  <a:t>According to formula </a:t>
                </a:r>
                <a:r>
                  <a:rPr lang="en-US" sz="2400" b="1" dirty="0">
                    <a:solidFill>
                      <a:srgbClr val="002060"/>
                    </a:solidFill>
                  </a:rPr>
                  <a:t>Rank</a:t>
                </a:r>
                <a:r>
                  <a:rPr lang="en-US" sz="2400" dirty="0">
                    <a:solidFill>
                      <a:srgbClr val="002060"/>
                    </a:solidFill>
                  </a:rPr>
                  <a:t> of connected graph G with n vertices is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400" dirty="0">
                    <a:solidFill>
                      <a:srgbClr val="00206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0066" y="3193589"/>
                <a:ext cx="9758645" cy="461665"/>
              </a:xfrm>
              <a:prstGeom prst="rect">
                <a:avLst/>
              </a:prstGeom>
              <a:blipFill rotWithShape="0">
                <a:blip r:embed="rId3"/>
                <a:stretch>
                  <a:fillRect t="-7692" b="-282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6" name="Table 2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76390352"/>
                  </p:ext>
                </p:extLst>
              </p:nvPr>
            </p:nvGraphicFramePr>
            <p:xfrm>
              <a:off x="2495600" y="3799344"/>
              <a:ext cx="2445799" cy="263526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4579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49986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Graph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368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i="1" baseline="0" dirty="0">
                              <a:latin typeface="Cambria Math" panose="020405030504060302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0" smtClean="0">
                                      <a:latin typeface="Cambria Math" panose="02040503050406030204" pitchFamily="18" charset="0"/>
                                    </a:rPr>
                                    <m:t>𝐊</m:t>
                                  </m:r>
                                </m:e>
                                <m:sub>
                                  <m:r>
                                    <a:rPr lang="en-US" sz="2400" b="1" i="0" smtClean="0">
                                      <a:latin typeface="Cambria Math" panose="02040503050406030204" pitchFamily="18" charset="0"/>
                                    </a:rPr>
                                    <m:t>𝐧</m:t>
                                  </m:r>
                                </m:sub>
                              </m:sSub>
                            </m:oMath>
                          </a14:m>
                          <a:endParaRPr lang="en-US" sz="2400" b="1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𝐂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𝐧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1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𝐏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𝐧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1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8418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𝐒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𝐧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1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6" name="Table 2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76390352"/>
                  </p:ext>
                </p:extLst>
              </p:nvPr>
            </p:nvGraphicFramePr>
            <p:xfrm>
              <a:off x="2495600" y="3799344"/>
              <a:ext cx="2445799" cy="263526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45799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20000"/>
                        </a:ext>
                      </a:extLst>
                    </a:gridCol>
                  </a:tblGrid>
                  <a:tr h="49986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Graph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0"/>
                      </a:ext>
                    </a:extLst>
                  </a:tr>
                  <a:tr h="73681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249" t="-73554" r="-995" b="-1917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249" t="-280000" r="-995" b="-20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249" t="-380000" r="-995" b="-10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3"/>
                      </a:ext>
                    </a:extLst>
                  </a:tr>
                  <a:tr h="48418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249" t="-450000" r="-995" b="-2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1336898"/>
              </p:ext>
            </p:extLst>
          </p:nvPr>
        </p:nvGraphicFramePr>
        <p:xfrm>
          <a:off x="4871864" y="3809080"/>
          <a:ext cx="1423055" cy="2610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3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83931">
                <a:tc>
                  <a:txBody>
                    <a:bodyPr/>
                    <a:lstStyle/>
                    <a:p>
                      <a:pPr algn="ctr"/>
                      <a:r>
                        <a:rPr lang="en-US" sz="2400" b="1" i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Rank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3013">
                <a:tc>
                  <a:txBody>
                    <a:bodyPr/>
                    <a:lstStyle/>
                    <a:p>
                      <a:pPr algn="ctr"/>
                      <a:endParaRPr lang="en-US" b="1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158">
                <a:tc>
                  <a:txBody>
                    <a:bodyPr/>
                    <a:lstStyle/>
                    <a:p>
                      <a:endParaRPr lang="en-US" b="1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473">
                <a:tc>
                  <a:txBody>
                    <a:bodyPr/>
                    <a:lstStyle/>
                    <a:p>
                      <a:endParaRPr lang="en-US" b="1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9986">
                <a:tc>
                  <a:txBody>
                    <a:bodyPr/>
                    <a:lstStyle/>
                    <a:p>
                      <a:endParaRPr lang="en-US" b="1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5086721" y="5933480"/>
                <a:ext cx="9727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>
                  <a:defRPr sz="2400" b="0" i="0">
                    <a:solidFill>
                      <a:srgbClr val="FF0000"/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6721" y="5933480"/>
                <a:ext cx="972767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5086722" y="5472909"/>
                <a:ext cx="9727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>
                  <a:defRPr sz="2400" b="0" i="0">
                    <a:solidFill>
                      <a:srgbClr val="FF0000"/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6722" y="5472909"/>
                <a:ext cx="972767" cy="4616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5086722" y="4975858"/>
                <a:ext cx="9727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>
                  <a:defRPr sz="2400" b="0" i="0">
                    <a:solidFill>
                      <a:srgbClr val="FF0000"/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6722" y="4975858"/>
                <a:ext cx="972767" cy="46166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5086721" y="4350692"/>
                <a:ext cx="9727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6721" y="4350692"/>
                <a:ext cx="972767" cy="46166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5093882"/>
              </p:ext>
            </p:extLst>
          </p:nvPr>
        </p:nvGraphicFramePr>
        <p:xfrm>
          <a:off x="6266211" y="3809932"/>
          <a:ext cx="2422077" cy="26097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20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83931">
                <a:tc>
                  <a:txBody>
                    <a:bodyPr/>
                    <a:lstStyle/>
                    <a:p>
                      <a:pPr algn="ctr"/>
                      <a:r>
                        <a:rPr lang="en-US" sz="2400" b="1" i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Number of edges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2161">
                <a:tc>
                  <a:txBody>
                    <a:bodyPr/>
                    <a:lstStyle/>
                    <a:p>
                      <a:pPr algn="ctr"/>
                      <a:endParaRPr lang="en-US" b="1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158">
                <a:tc>
                  <a:txBody>
                    <a:bodyPr/>
                    <a:lstStyle/>
                    <a:p>
                      <a:endParaRPr lang="en-US" b="1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473">
                <a:tc>
                  <a:txBody>
                    <a:bodyPr/>
                    <a:lstStyle/>
                    <a:p>
                      <a:endParaRPr lang="en-US" b="1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9986">
                <a:tc>
                  <a:txBody>
                    <a:bodyPr/>
                    <a:lstStyle/>
                    <a:p>
                      <a:endParaRPr lang="en-US" b="1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6463653" y="4241549"/>
                <a:ext cx="1813914" cy="8066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en-US" sz="24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num>
                        <m:den>
                          <m:r>
                            <a:rPr lang="en-US" sz="24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3653" y="4241549"/>
                <a:ext cx="1813914" cy="806696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7104354" y="5048245"/>
                <a:ext cx="53251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4354" y="5048245"/>
                <a:ext cx="532512" cy="461665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6777631" y="5471815"/>
                <a:ext cx="11859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7631" y="5471815"/>
                <a:ext cx="1185958" cy="461665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6777631" y="5933480"/>
                <a:ext cx="11859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7631" y="5933480"/>
                <a:ext cx="1185958" cy="461665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5265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8" grpId="0"/>
      <p:bldP spid="29" grpId="0"/>
      <p:bldP spid="30" grpId="0"/>
      <p:bldP spid="31" grpId="0"/>
      <p:bldP spid="14" grpId="0"/>
      <p:bldP spid="15" grpId="0"/>
      <p:bldP spid="17" grpId="0"/>
      <p:bldP spid="18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35C8299-099D-4E74-A7B7-29B2E1FD450E}"/>
              </a:ext>
            </a:extLst>
          </p:cNvPr>
          <p:cNvSpPr txBox="1">
            <a:spLocks/>
          </p:cNvSpPr>
          <p:nvPr/>
        </p:nvSpPr>
        <p:spPr>
          <a:xfrm>
            <a:off x="113592" y="851642"/>
            <a:ext cx="1407338" cy="523220"/>
          </a:xfrm>
          <a:prstGeom prst="rect">
            <a:avLst/>
          </a:pr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lvl="0"/>
          </a:lstStyle>
          <a:p>
            <a:r>
              <a:rPr lang="en-IN" sz="2800" dirty="0">
                <a:solidFill>
                  <a:schemeClr val="bg1"/>
                </a:solidFill>
              </a:rPr>
              <a:t>Solution 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 b="0" dirty="0"/>
              <a:t>Method 3 ⇝ Example 2(Cont.)</a:t>
            </a:r>
            <a:endParaRPr lang="en-US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45695049"/>
                  </p:ext>
                </p:extLst>
              </p:nvPr>
            </p:nvGraphicFramePr>
            <p:xfrm>
              <a:off x="685092" y="1500188"/>
              <a:ext cx="11200402" cy="434492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5953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24087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7982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i="0" dirty="0"/>
                            <a:t>Graph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Nullity (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2400" i="0" dirty="0" smtClean="0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  <m:r>
                                <a:rPr lang="en-US" sz="2400" i="0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400" i="0" dirty="0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en-US" sz="2400" i="0" dirty="0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oMath>
                          </a14:m>
                          <a:r>
                            <a:rPr lang="en-US" sz="2400" dirty="0"/>
                            <a:t>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296965"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25704"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98275"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725704"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45695049"/>
                  </p:ext>
                </p:extLst>
              </p:nvPr>
            </p:nvGraphicFramePr>
            <p:xfrm>
              <a:off x="685092" y="1500188"/>
              <a:ext cx="11200402" cy="434492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59531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20000"/>
                        </a:ext>
                      </a:extLst>
                    </a:gridCol>
                    <a:gridCol w="10240871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20003"/>
                        </a:ext>
                      </a:extLst>
                    </a:gridCol>
                  </a:tblGrid>
                  <a:tr h="7982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i="0" dirty="0"/>
                            <a:t>Graph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9399" t="-763" r="-238" b="-44580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0"/>
                      </a:ext>
                    </a:extLst>
                  </a:tr>
                  <a:tr h="1296965"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1"/>
                      </a:ext>
                    </a:extLst>
                  </a:tr>
                  <a:tr h="725704"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2"/>
                      </a:ext>
                    </a:extLst>
                  </a:tr>
                  <a:tr h="798275"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3"/>
                      </a:ext>
                    </a:extLst>
                  </a:tr>
                  <a:tr h="725704"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822170" y="2635143"/>
                <a:ext cx="83691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dirty="0" smtClean="0"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0" dirty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170" y="2635143"/>
                <a:ext cx="836916" cy="52322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836665" y="3520451"/>
                <a:ext cx="79048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dirty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0" dirty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665" y="3520451"/>
                <a:ext cx="790482" cy="52322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855402" y="4326890"/>
                <a:ext cx="73341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dirty="0" smtClean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0" dirty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402" y="4326890"/>
                <a:ext cx="733415" cy="52322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855402" y="5193632"/>
                <a:ext cx="76116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dirty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0" dirty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402" y="5193632"/>
                <a:ext cx="761167" cy="52322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1657667" y="2536520"/>
                <a:ext cx="2419437" cy="8066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d>
                            <m:dPr>
                              <m:ctrlPr>
                                <a:rPr lang="en-US" sz="2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en-US" sz="24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num>
                        <m:den>
                          <m:r>
                            <a:rPr lang="en-US" sz="24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7667" y="2536520"/>
                <a:ext cx="2419437" cy="806696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1666418" y="3536905"/>
                <a:ext cx="148333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6418" y="3536905"/>
                <a:ext cx="1483333" cy="46166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1697281" y="4342092"/>
                <a:ext cx="201622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−1−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7281" y="4342092"/>
                <a:ext cx="2016224" cy="461665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1697282" y="5280223"/>
                <a:ext cx="198738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−1−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7282" y="5280223"/>
                <a:ext cx="1987389" cy="461665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/>
              <p:cNvSpPr txBox="1"/>
              <p:nvPr/>
            </p:nvSpPr>
            <p:spPr>
              <a:xfrm>
                <a:off x="3979461" y="2536520"/>
                <a:ext cx="2525207" cy="8404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p>
                              <m:r>
                                <a:rPr lang="en-US" sz="24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US" sz="24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US" sz="24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num>
                        <m:den>
                          <m:r>
                            <a:rPr lang="en-US" sz="24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9461" y="2536520"/>
                <a:ext cx="2525207" cy="840486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6482600" y="2539167"/>
                <a:ext cx="2165918" cy="8404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p>
                              <m:r>
                                <a:rPr lang="en-US" sz="24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−3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US" sz="24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num>
                        <m:den>
                          <m:r>
                            <a:rPr lang="en-US" sz="24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2600" y="2539167"/>
                <a:ext cx="2165918" cy="840486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8616965" y="2532031"/>
                <a:ext cx="2534692" cy="8156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en-US" sz="24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d>
                          <m:d>
                            <m:dPr>
                              <m:ctrlPr>
                                <a:rPr lang="en-US" sz="2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en-US" sz="24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num>
                        <m:den>
                          <m:r>
                            <a:rPr lang="en-US" sz="24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6965" y="2532031"/>
                <a:ext cx="2534692" cy="815673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3005735" y="3520451"/>
                <a:ext cx="71526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5735" y="3520451"/>
                <a:ext cx="715268" cy="461665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3543507" y="4342092"/>
                <a:ext cx="6452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3507" y="4342092"/>
                <a:ext cx="645219" cy="461665"/>
              </a:xfrm>
              <a:prstGeom prst="rect">
                <a:avLst/>
              </a:prstGeom>
              <a:blipFill rotWithShape="0">
                <a:blip r:embed="rId15"/>
                <a:stretch>
                  <a:fillRect r="-5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>
                <a:off x="3543507" y="5280222"/>
                <a:ext cx="6452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3507" y="5280222"/>
                <a:ext cx="645219" cy="461665"/>
              </a:xfrm>
              <a:prstGeom prst="rect">
                <a:avLst/>
              </a:prstGeom>
              <a:blipFill rotWithShape="0">
                <a:blip r:embed="rId16"/>
                <a:stretch>
                  <a:fillRect r="-5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2429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35C8299-099D-4E74-A7B7-29B2E1FD450E}"/>
              </a:ext>
            </a:extLst>
          </p:cNvPr>
          <p:cNvSpPr txBox="1">
            <a:spLocks/>
          </p:cNvSpPr>
          <p:nvPr/>
        </p:nvSpPr>
        <p:spPr>
          <a:xfrm>
            <a:off x="113592" y="765914"/>
            <a:ext cx="1407338" cy="523220"/>
          </a:xfrm>
          <a:prstGeom prst="rect">
            <a:avLst/>
          </a:pr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lvl="0"/>
          </a:lstStyle>
          <a:p>
            <a:r>
              <a:rPr lang="en-IN" sz="2800" dirty="0">
                <a:solidFill>
                  <a:schemeClr val="bg1"/>
                </a:solidFill>
              </a:rPr>
              <a:t>Solution 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Method 3 ⇝ Example 2(Cont.)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61047020"/>
                  </p:ext>
                </p:extLst>
              </p:nvPr>
            </p:nvGraphicFramePr>
            <p:xfrm>
              <a:off x="2350785" y="1603912"/>
              <a:ext cx="5761438" cy="405733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2493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401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09634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7920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i="0" dirty="0"/>
                            <a:t>Graph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Rank</a:t>
                          </a:r>
                          <a:r>
                            <a:rPr lang="en-US" sz="2400" baseline="0" dirty="0"/>
                            <a:t> 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Nullity (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2400" i="0" dirty="0" smtClean="0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  <m:r>
                                <a:rPr lang="en-US" sz="2400" i="0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400" i="0" dirty="0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en-US" sz="2400" i="0" dirty="0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oMath>
                          </a14:m>
                          <a:r>
                            <a:rPr lang="en-US" sz="2400" dirty="0"/>
                            <a:t>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033000"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20080"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92088"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720080"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61047020"/>
                  </p:ext>
                </p:extLst>
              </p:nvPr>
            </p:nvGraphicFramePr>
            <p:xfrm>
              <a:off x="2350785" y="1603912"/>
              <a:ext cx="5761438" cy="405733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24935"/>
                    <a:gridCol w="1440160"/>
                    <a:gridCol w="3096343"/>
                  </a:tblGrid>
                  <a:tr h="7920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i="0" dirty="0" smtClean="0"/>
                            <a:t>Graph </a:t>
                          </a:r>
                          <a:endParaRPr lang="en-US" sz="2400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Rank</a:t>
                          </a:r>
                          <a:r>
                            <a:rPr lang="en-US" sz="2400" baseline="0" dirty="0" smtClean="0"/>
                            <a:t> 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86417" t="-5385" r="-787" b="-413846"/>
                          </a:stretch>
                        </a:blipFill>
                      </a:tcPr>
                    </a:tc>
                  </a:tr>
                  <a:tr h="1033000"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</a:tr>
                  <a:tr h="720080"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</a:tr>
                  <a:tr h="792088"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</a:tr>
                  <a:tr h="720080"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2678031" y="2738154"/>
                <a:ext cx="83691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i="0" dirty="0" smtClean="0"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i="0" dirty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8031" y="2738154"/>
                <a:ext cx="836916" cy="52322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2678031" y="3493441"/>
                <a:ext cx="79048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dirty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i="0" dirty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8031" y="3493441"/>
                <a:ext cx="790482" cy="52322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2701488" y="4310283"/>
                <a:ext cx="73341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dirty="0" smtClean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i="0" dirty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1488" y="4310283"/>
                <a:ext cx="733415" cy="52322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2678031" y="5026718"/>
                <a:ext cx="76116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dirty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i="0" dirty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8031" y="5026718"/>
                <a:ext cx="761167" cy="52322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3667944" y="5057495"/>
                <a:ext cx="11859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7944" y="5057495"/>
                <a:ext cx="1185958" cy="46166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3667944" y="4341060"/>
                <a:ext cx="11859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7944" y="4341060"/>
                <a:ext cx="1185958" cy="46166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3667944" y="3554996"/>
                <a:ext cx="11859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7944" y="3554996"/>
                <a:ext cx="1185958" cy="461665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3667944" y="2738154"/>
                <a:ext cx="11859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7944" y="2738154"/>
                <a:ext cx="1185958" cy="461665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5159896" y="2540680"/>
                <a:ext cx="2534692" cy="8156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𝐧</m:t>
                              </m:r>
                              <m:r>
                                <a:rPr lang="en-US" sz="2400" b="1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1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d>
                          <m:d>
                            <m:dPr>
                              <m:ctrlP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𝐧</m:t>
                              </m:r>
                              <m:r>
                                <a:rPr lang="en-US" sz="2400" b="1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1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num>
                        <m:den>
                          <m:r>
                            <a:rPr lang="en-US" sz="24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9896" y="2540680"/>
                <a:ext cx="2534692" cy="815673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6034584" y="3554995"/>
                <a:ext cx="71526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4584" y="3554995"/>
                <a:ext cx="715268" cy="461665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6096000" y="4341060"/>
                <a:ext cx="6452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341060"/>
                <a:ext cx="645219" cy="461665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>
                <a:off x="6069608" y="5057495"/>
                <a:ext cx="6452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9608" y="5057495"/>
                <a:ext cx="645219" cy="461665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223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2"/>
          <p:cNvSpPr txBox="1">
            <a:spLocks/>
          </p:cNvSpPr>
          <p:nvPr/>
        </p:nvSpPr>
        <p:spPr>
          <a:xfrm>
            <a:off x="131176" y="867839"/>
            <a:ext cx="11929645" cy="544937"/>
          </a:xfrm>
          <a:prstGeom prst="rect">
            <a:avLst/>
          </a:pr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lvl="0"/>
          </a:lstStyle>
          <a:p>
            <a:r>
              <a:rPr lang="en-US" sz="2800" dirty="0">
                <a:solidFill>
                  <a:schemeClr val="bg1"/>
                </a:solidFill>
              </a:rPr>
              <a:t>For given graph find branch and chord with respect to spanning tree of your choice.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35C8299-099D-4E74-A7B7-29B2E1FD450E}"/>
              </a:ext>
            </a:extLst>
          </p:cNvPr>
          <p:cNvSpPr txBox="1">
            <a:spLocks/>
          </p:cNvSpPr>
          <p:nvPr/>
        </p:nvSpPr>
        <p:spPr>
          <a:xfrm>
            <a:off x="131176" y="1465620"/>
            <a:ext cx="1407338" cy="523220"/>
          </a:xfrm>
          <a:prstGeom prst="rect">
            <a:avLst/>
          </a:pr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lvl="0"/>
          </a:lstStyle>
          <a:p>
            <a:r>
              <a:rPr lang="en-IN" sz="2800" dirty="0">
                <a:solidFill>
                  <a:schemeClr val="bg1"/>
                </a:solidFill>
              </a:rPr>
              <a:t>Solution 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Method 3 ⇝ Example 3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31176" y="2072086"/>
                <a:ext cx="8417730" cy="263149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65113" indent="-265113" algn="just">
                  <a:spcBef>
                    <a:spcPts val="1000"/>
                  </a:spcBef>
                  <a:buClr>
                    <a:srgbClr val="B84742"/>
                  </a:buClr>
                  <a:buFont typeface="Wingdings 3" panose="05040102010807070707" pitchFamily="18" charset="2"/>
                  <a:buChar char=""/>
                </a:pPr>
                <a:r>
                  <a:rPr lang="en-US" sz="2800" dirty="0">
                    <a:solidFill>
                      <a:srgbClr val="002060"/>
                    </a:solidFill>
                  </a:rPr>
                  <a:t>First we take spanning tree.</a:t>
                </a:r>
              </a:p>
              <a:p>
                <a:pPr marL="265113" indent="-265113" algn="just">
                  <a:spcBef>
                    <a:spcPts val="1000"/>
                  </a:spcBef>
                  <a:buClr>
                    <a:srgbClr val="B84742"/>
                  </a:buClr>
                  <a:buFont typeface="Wingdings 3" panose="05040102010807070707" pitchFamily="18" charset="2"/>
                  <a:buChar char=""/>
                </a:pPr>
                <a:r>
                  <a:rPr lang="en-US" sz="2800" dirty="0">
                    <a:solidFill>
                      <a:srgbClr val="002060"/>
                    </a:solidFill>
                  </a:rPr>
                  <a:t>Consider Graph of order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and size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with its Spanning Tree  (Highlighted in Green)</a:t>
                </a:r>
              </a:p>
              <a:p>
                <a:pPr marL="265113" indent="-265113" algn="just">
                  <a:spcBef>
                    <a:spcPts val="1000"/>
                  </a:spcBef>
                  <a:buClr>
                    <a:srgbClr val="B84742"/>
                  </a:buClr>
                  <a:buFont typeface="Wingdings 3" panose="05040102010807070707" pitchFamily="18" charset="2"/>
                  <a:buChar char=""/>
                </a:pPr>
                <a:r>
                  <a:rPr lang="en-US" sz="2800" dirty="0">
                    <a:solidFill>
                      <a:srgbClr val="002060"/>
                    </a:solidFill>
                  </a:rPr>
                  <a:t>Braches: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</m:d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  <a:p>
                <a:pPr marL="265113" indent="-265113" algn="just">
                  <a:spcBef>
                    <a:spcPts val="1000"/>
                  </a:spcBef>
                  <a:buClr>
                    <a:srgbClr val="B84742"/>
                  </a:buClr>
                  <a:buFont typeface="Wingdings 3" panose="05040102010807070707" pitchFamily="18" charset="2"/>
                  <a:buChar char=""/>
                </a:pPr>
                <a:r>
                  <a:rPr lang="en-US" sz="2800" dirty="0">
                    <a:solidFill>
                      <a:srgbClr val="002060"/>
                    </a:solidFill>
                  </a:rPr>
                  <a:t>Chord: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6" y="2072086"/>
                <a:ext cx="8417730" cy="2631490"/>
              </a:xfrm>
              <a:prstGeom prst="rect">
                <a:avLst/>
              </a:prstGeom>
              <a:blipFill rotWithShape="0">
                <a:blip r:embed="rId2"/>
                <a:stretch>
                  <a:fillRect l="-1377" t="-2546" r="-1522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Oval 68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10505403" y="1933944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9793030" y="2654024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11225483" y="2654024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69" idx="5"/>
            <a:endCxn id="70" idx="1"/>
          </p:cNvCxnSpPr>
          <p:nvPr/>
        </p:nvCxnSpPr>
        <p:spPr>
          <a:xfrm flipH="1">
            <a:off x="9915942" y="2056856"/>
            <a:ext cx="610549" cy="618256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69" idx="7"/>
            <a:endCxn id="71" idx="3"/>
          </p:cNvCxnSpPr>
          <p:nvPr/>
        </p:nvCxnSpPr>
        <p:spPr>
          <a:xfrm>
            <a:off x="10628315" y="2056856"/>
            <a:ext cx="618256" cy="618256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71" idx="4"/>
            <a:endCxn id="70" idx="0"/>
          </p:cNvCxnSpPr>
          <p:nvPr/>
        </p:nvCxnSpPr>
        <p:spPr>
          <a:xfrm flipH="1">
            <a:off x="9937030" y="2726024"/>
            <a:ext cx="1288453" cy="0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5" name="Oval 74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9785323" y="4094184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11225483" y="4094184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70" idx="6"/>
            <a:endCxn id="75" idx="2"/>
          </p:cNvCxnSpPr>
          <p:nvPr/>
        </p:nvCxnSpPr>
        <p:spPr>
          <a:xfrm flipH="1">
            <a:off x="9857323" y="2798024"/>
            <a:ext cx="7707" cy="1296160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71" idx="6"/>
            <a:endCxn id="76" idx="2"/>
          </p:cNvCxnSpPr>
          <p:nvPr/>
        </p:nvCxnSpPr>
        <p:spPr>
          <a:xfrm>
            <a:off x="11297483" y="2798024"/>
            <a:ext cx="0" cy="1296160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76" idx="4"/>
            <a:endCxn id="75" idx="0"/>
          </p:cNvCxnSpPr>
          <p:nvPr/>
        </p:nvCxnSpPr>
        <p:spPr>
          <a:xfrm flipH="1">
            <a:off x="9929323" y="4166184"/>
            <a:ext cx="1296160" cy="0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76" idx="3"/>
            <a:endCxn id="70" idx="7"/>
          </p:cNvCxnSpPr>
          <p:nvPr/>
        </p:nvCxnSpPr>
        <p:spPr>
          <a:xfrm flipH="1" flipV="1">
            <a:off x="9915942" y="2776936"/>
            <a:ext cx="1330629" cy="1338336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1" name="Freeform: Shape 34">
            <a:extLst>
              <a:ext uri="{FF2B5EF4-FFF2-40B4-BE49-F238E27FC236}">
                <a16:creationId xmlns:a16="http://schemas.microsoft.com/office/drawing/2014/main" id="{5A43D9D2-4CAA-3544-4E99-2BE62F8BF717}"/>
              </a:ext>
            </a:extLst>
          </p:cNvPr>
          <p:cNvSpPr/>
          <p:nvPr/>
        </p:nvSpPr>
        <p:spPr>
          <a:xfrm rot="6444775" flipV="1">
            <a:off x="8512287" y="2375438"/>
            <a:ext cx="2264467" cy="1094257"/>
          </a:xfrm>
          <a:custGeom>
            <a:avLst/>
            <a:gdLst>
              <a:gd name="connsiteX0" fmla="*/ 0 w 2961249"/>
              <a:gd name="connsiteY0" fmla="*/ 436103 h 436103"/>
              <a:gd name="connsiteX1" fmla="*/ 942535 w 2961249"/>
              <a:gd name="connsiteY1" fmla="*/ 63310 h 436103"/>
              <a:gd name="connsiteX2" fmla="*/ 1892104 w 2961249"/>
              <a:gd name="connsiteY2" fmla="*/ 35174 h 436103"/>
              <a:gd name="connsiteX3" fmla="*/ 2961249 w 2961249"/>
              <a:gd name="connsiteY3" fmla="*/ 422036 h 436103"/>
              <a:gd name="connsiteX4" fmla="*/ 2961249 w 2961249"/>
              <a:gd name="connsiteY4" fmla="*/ 422036 h 436103"/>
              <a:gd name="connsiteX5" fmla="*/ 2961249 w 2961249"/>
              <a:gd name="connsiteY5" fmla="*/ 422036 h 436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61249" h="436103">
                <a:moveTo>
                  <a:pt x="0" y="436103"/>
                </a:moveTo>
                <a:cubicBezTo>
                  <a:pt x="313592" y="283117"/>
                  <a:pt x="627184" y="130131"/>
                  <a:pt x="942535" y="63310"/>
                </a:cubicBezTo>
                <a:cubicBezTo>
                  <a:pt x="1257886" y="-3512"/>
                  <a:pt x="1555652" y="-24614"/>
                  <a:pt x="1892104" y="35174"/>
                </a:cubicBezTo>
                <a:cubicBezTo>
                  <a:pt x="2228556" y="94962"/>
                  <a:pt x="2961249" y="422036"/>
                  <a:pt x="2961249" y="422036"/>
                </a:cubicBezTo>
                <a:lnTo>
                  <a:pt x="2961249" y="422036"/>
                </a:lnTo>
                <a:lnTo>
                  <a:pt x="2961249" y="422036"/>
                </a:lnTo>
              </a:path>
            </a:pathLst>
          </a:cu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2" name="TextBox 81"/>
          <p:cNvSpPr txBox="1"/>
          <p:nvPr/>
        </p:nvSpPr>
        <p:spPr>
          <a:xfrm>
            <a:off x="9148260" y="2613358"/>
            <a:ext cx="3561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B0F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396412" y="2613358"/>
            <a:ext cx="3529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B0F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803891" y="3142586"/>
            <a:ext cx="3577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B0F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h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1318555" y="3179768"/>
            <a:ext cx="3626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B0F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496144" y="3038546"/>
            <a:ext cx="2984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B0F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f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846537" y="1915738"/>
            <a:ext cx="3609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B0F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426730" y="4021793"/>
            <a:ext cx="3609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B0F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205885" y="2107292"/>
            <a:ext cx="3497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B0F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1681846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2"/>
          <p:cNvSpPr txBox="1">
            <a:spLocks/>
          </p:cNvSpPr>
          <p:nvPr/>
        </p:nvSpPr>
        <p:spPr>
          <a:xfrm>
            <a:off x="131176" y="867839"/>
            <a:ext cx="11929645" cy="544937"/>
          </a:xfrm>
          <a:prstGeom prst="rect">
            <a:avLst/>
          </a:pr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lvl="0"/>
          </a:lstStyle>
          <a:p>
            <a:pPr algn="just">
              <a:spcBef>
                <a:spcPts val="1200"/>
              </a:spcBef>
              <a:spcAft>
                <a:spcPts val="0"/>
              </a:spcAft>
              <a:tabLst>
                <a:tab pos="447675" algn="l"/>
              </a:tabLst>
            </a:pPr>
            <a:r>
              <a:rPr lang="en-US" sz="2800" dirty="0">
                <a:solidFill>
                  <a:schemeClr val="bg1"/>
                </a:solidFill>
              </a:rPr>
              <a:t>Find the rank and nullity of the following graph. </a:t>
            </a:r>
            <a:endParaRPr lang="en-US" sz="2800" b="1" dirty="0">
              <a:solidFill>
                <a:srgbClr val="C00000"/>
              </a:solidFill>
              <a:latin typeface="Cambria" panose="02040503050406030204" pitchFamily="18" charset="0"/>
              <a:ea typeface="Calibri" panose="020F0502020204030204" pitchFamily="34" charset="0"/>
              <a:cs typeface="Shruti" panose="020B0502040204020203" pitchFamily="34" charset="0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35C8299-099D-4E74-A7B7-29B2E1FD450E}"/>
              </a:ext>
            </a:extLst>
          </p:cNvPr>
          <p:cNvSpPr txBox="1">
            <a:spLocks/>
          </p:cNvSpPr>
          <p:nvPr/>
        </p:nvSpPr>
        <p:spPr>
          <a:xfrm>
            <a:off x="119336" y="1465620"/>
            <a:ext cx="1407338" cy="523220"/>
          </a:xfrm>
          <a:prstGeom prst="rect">
            <a:avLst/>
          </a:pr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lvl="0"/>
          </a:lstStyle>
          <a:p>
            <a:r>
              <a:rPr lang="en-IN" sz="2800" dirty="0">
                <a:solidFill>
                  <a:schemeClr val="bg1"/>
                </a:solidFill>
              </a:rPr>
              <a:t>Solution 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Method 3 ⇝ Example 4</a:t>
            </a:r>
            <a:endParaRPr lang="en-US" dirty="0"/>
          </a:p>
        </p:txBody>
      </p:sp>
      <p:pic>
        <p:nvPicPr>
          <p:cNvPr id="5121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4949" y="1940169"/>
            <a:ext cx="2717283" cy="18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0" y="2098894"/>
                <a:ext cx="8832304" cy="16414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65113" indent="-265113" algn="just">
                  <a:spcBef>
                    <a:spcPts val="1000"/>
                  </a:spcBef>
                  <a:buClr>
                    <a:srgbClr val="B84742"/>
                  </a:buClr>
                  <a:buFont typeface="Wingdings 3" panose="05040102010807070707" pitchFamily="18" charset="2"/>
                  <a:buChar char=""/>
                </a:pPr>
                <a:r>
                  <a:rPr lang="en-US" sz="2800" dirty="0">
                    <a:solidFill>
                      <a:srgbClr val="002060"/>
                    </a:solidFill>
                  </a:rPr>
                  <a:t>Here order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=7 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and size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=13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</a:p>
              <a:p>
                <a:pPr marL="265113" indent="-265113" algn="just">
                  <a:spcBef>
                    <a:spcPts val="1000"/>
                  </a:spcBef>
                  <a:buClr>
                    <a:srgbClr val="B84742"/>
                  </a:buClr>
                  <a:buFont typeface="Wingdings 3" panose="05040102010807070707" pitchFamily="18" charset="2"/>
                  <a:buChar char=""/>
                </a:pPr>
                <a:r>
                  <a:rPr lang="en-US" sz="2800" dirty="0">
                    <a:solidFill>
                      <a:srgbClr val="002060"/>
                    </a:solidFill>
                  </a:rPr>
                  <a:t>Rank</a:t>
                </a:r>
                <a14:m>
                  <m:oMath xmlns:m="http://schemas.openxmlformats.org/officeDocument/2006/math"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−1=7−1=6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  <a:p>
                <a:pPr marL="265113" indent="-265113" algn="just">
                  <a:spcBef>
                    <a:spcPts val="1000"/>
                  </a:spcBef>
                  <a:buClr>
                    <a:srgbClr val="B84742"/>
                  </a:buClr>
                  <a:buFont typeface="Wingdings 3" panose="05040102010807070707" pitchFamily="18" charset="2"/>
                  <a:buChar char=""/>
                </a:pPr>
                <a:r>
                  <a:rPr lang="en-US" sz="2800" dirty="0">
                    <a:solidFill>
                      <a:srgbClr val="002060"/>
                    </a:solidFill>
                  </a:rPr>
                  <a:t>Nullity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+1=12−7+1=6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098894"/>
                <a:ext cx="8832304" cy="1641475"/>
              </a:xfrm>
              <a:prstGeom prst="rect">
                <a:avLst/>
              </a:prstGeom>
              <a:blipFill rotWithShape="0">
                <a:blip r:embed="rId3"/>
                <a:stretch>
                  <a:fillRect l="-1242" t="-3704" b="-92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4297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u="sng" dirty="0">
                <a:uFill>
                  <a:solidFill>
                    <a:schemeClr val="bg1"/>
                  </a:solidFill>
                </a:uFill>
              </a:rPr>
              <a:t>Method – 4</a:t>
            </a:r>
            <a:br>
              <a:rPr lang="en-US" dirty="0"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en-US" dirty="0"/>
              <a:t>Fundamental Circuits &amp;</a:t>
            </a:r>
            <a:br>
              <a:rPr lang="en-US" dirty="0"/>
            </a:br>
            <a:r>
              <a:rPr lang="en-US" dirty="0"/>
              <a:t>Finding all Spanning Trees of Graphs</a:t>
            </a:r>
          </a:p>
        </p:txBody>
      </p:sp>
    </p:spTree>
    <p:extLst>
      <p:ext uri="{BB962C8B-B14F-4D97-AF65-F5344CB8AC3E}">
        <p14:creationId xmlns:p14="http://schemas.microsoft.com/office/powerpoint/2010/main" val="148226860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Fundamental Circuits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6409" y="729966"/>
                <a:ext cx="11935185" cy="20723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65113" indent="-265113" algn="just">
                  <a:spcBef>
                    <a:spcPts val="1000"/>
                  </a:spcBef>
                  <a:buClr>
                    <a:srgbClr val="B84742"/>
                  </a:buClr>
                  <a:buFont typeface="Wingdings 3" panose="05040102010807070707" pitchFamily="18" charset="2"/>
                  <a:buChar char=""/>
                </a:pPr>
                <a:r>
                  <a:rPr lang="en-IN" sz="2800" b="1" dirty="0">
                    <a:solidFill>
                      <a:srgbClr val="002060"/>
                    </a:solidFill>
                  </a:rPr>
                  <a:t>Definition:</a:t>
                </a:r>
                <a:r>
                  <a:rPr lang="en-IN" sz="2800" b="1" dirty="0"/>
                  <a:t> </a:t>
                </a:r>
                <a:r>
                  <a:rPr lang="en-US" sz="2800" dirty="0">
                    <a:solidFill>
                      <a:srgbClr val="002060"/>
                    </a:solidFill>
                  </a:rPr>
                  <a:t>A circuit, formed </a:t>
                </a:r>
                <a:r>
                  <a:rPr lang="en-US" sz="2800" b="1" dirty="0">
                    <a:solidFill>
                      <a:srgbClr val="002060"/>
                    </a:solidFill>
                  </a:rPr>
                  <a:t>by adding a chord to a spanning tree</a:t>
                </a:r>
                <a:r>
                  <a:rPr lang="en-US" sz="2800" dirty="0">
                    <a:solidFill>
                      <a:srgbClr val="002060"/>
                    </a:solidFill>
                  </a:rPr>
                  <a:t>, is called a 		</a:t>
                </a:r>
                <a:r>
                  <a:rPr lang="en-US" sz="2800" dirty="0">
                    <a:solidFill>
                      <a:srgbClr val="FF0000"/>
                    </a:solidFill>
                  </a:rPr>
                  <a:t>fundamental circuit</a:t>
                </a:r>
                <a:r>
                  <a:rPr lang="en-US" sz="2800" dirty="0">
                    <a:solidFill>
                      <a:srgbClr val="002060"/>
                    </a:solidFill>
                  </a:rPr>
                  <a:t>. </a:t>
                </a:r>
              </a:p>
              <a:p>
                <a:pPr marL="265113" indent="-265113" algn="just">
                  <a:spcBef>
                    <a:spcPts val="1000"/>
                  </a:spcBef>
                  <a:buClr>
                    <a:srgbClr val="B84742"/>
                  </a:buClr>
                  <a:buFont typeface="Wingdings 3" panose="05040102010807070707" pitchFamily="18" charset="2"/>
                  <a:buChar char=""/>
                </a:pPr>
                <a:r>
                  <a:rPr lang="en-US" sz="2800" dirty="0">
                    <a:solidFill>
                      <a:srgbClr val="002060"/>
                    </a:solidFill>
                  </a:rPr>
                  <a:t>Consider graph with spanning tree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j</m:t>
                        </m:r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l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 </a:t>
                </a:r>
              </a:p>
              <a:p>
                <a:pPr marL="265113" indent="-265113" algn="just">
                  <a:spcBef>
                    <a:spcPts val="1000"/>
                  </a:spcBef>
                  <a:buClr>
                    <a:srgbClr val="B84742"/>
                  </a:buClr>
                  <a:buFont typeface="Wingdings 3" panose="05040102010807070707" pitchFamily="18" charset="2"/>
                  <a:buChar char=""/>
                </a:pPr>
                <a:r>
                  <a:rPr lang="en-US" sz="2800" dirty="0">
                    <a:solidFill>
                      <a:srgbClr val="002060"/>
                    </a:solidFill>
                  </a:rPr>
                  <a:t>Here Branches are</a:t>
                </a:r>
                <a14:m>
                  <m:oMath xmlns:m="http://schemas.openxmlformats.org/officeDocument/2006/math">
                    <m: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1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1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𝐜</m:t>
                    </m:r>
                    <m:r>
                      <a:rPr lang="en-US" sz="2800" b="1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800" b="1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𝐛</m:t>
                    </m:r>
                    <m:r>
                      <a:rPr lang="en-US" sz="2800" b="1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800" b="1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𝐡</m:t>
                    </m:r>
                    <m:r>
                      <a:rPr lang="en-US" sz="2800" b="1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800" b="1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𝐈</m:t>
                    </m:r>
                    <m:r>
                      <a:rPr lang="en-US" sz="2800" b="1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800" b="1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𝐣</m:t>
                    </m:r>
                    <m:r>
                      <a:rPr lang="en-US" sz="2800" b="1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800" b="1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𝐥</m:t>
                    </m:r>
                  </m:oMath>
                </a14:m>
                <a:r>
                  <a:rPr lang="en-US" sz="2800" b="1" dirty="0">
                    <a:solidFill>
                      <a:srgbClr val="002060"/>
                    </a:solidFill>
                  </a:rPr>
                  <a:t> </a:t>
                </a:r>
                <a:r>
                  <a:rPr lang="en-US" sz="2800" dirty="0">
                    <a:solidFill>
                      <a:srgbClr val="002060"/>
                    </a:solidFill>
                  </a:rPr>
                  <a:t>and chords are</a:t>
                </a:r>
                <a14:m>
                  <m:oMath xmlns:m="http://schemas.openxmlformats.org/officeDocument/2006/math">
                    <m: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1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𝐚</m:t>
                    </m:r>
                    <m:r>
                      <a:rPr lang="en-US" sz="2800" b="1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800" b="1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𝐝</m:t>
                    </m:r>
                    <m:r>
                      <a:rPr lang="en-US" sz="2800" b="1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800" b="1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𝐞</m:t>
                    </m:r>
                    <m:r>
                      <a:rPr lang="en-US" sz="2800" b="1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800" b="1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𝐟</m:t>
                    </m:r>
                    <m:r>
                      <a:rPr lang="en-US" sz="2800" b="1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800" b="1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𝐠</m:t>
                    </m:r>
                    <m:r>
                      <a:rPr lang="en-US" sz="2800" b="1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800" b="1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𝐦</m:t>
                    </m:r>
                    <m:r>
                      <a:rPr lang="en-US" sz="2800" b="1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800" b="1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𝐤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 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09" y="729966"/>
                <a:ext cx="11935185" cy="2072362"/>
              </a:xfrm>
              <a:prstGeom prst="rect">
                <a:avLst/>
              </a:prstGeom>
              <a:blipFill rotWithShape="0">
                <a:blip r:embed="rId2"/>
                <a:stretch>
                  <a:fillRect l="-970" t="-3235" r="-1021" b="-7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Oval 24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6416633" y="4147253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27" idx="5"/>
            <a:endCxn id="25" idx="0"/>
          </p:cNvCxnSpPr>
          <p:nvPr/>
        </p:nvCxnSpPr>
        <p:spPr>
          <a:xfrm flipH="1">
            <a:off x="6560633" y="3929529"/>
            <a:ext cx="1001847" cy="289724"/>
          </a:xfrm>
          <a:prstGeom prst="line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7541392" y="3806617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32" idx="5"/>
            <a:endCxn id="27" idx="1"/>
          </p:cNvCxnSpPr>
          <p:nvPr/>
        </p:nvCxnSpPr>
        <p:spPr>
          <a:xfrm flipH="1">
            <a:off x="7664304" y="3190029"/>
            <a:ext cx="254519" cy="637676"/>
          </a:xfrm>
          <a:prstGeom prst="line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8360849" y="3662617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31" idx="2"/>
            <a:endCxn id="29" idx="6"/>
          </p:cNvCxnSpPr>
          <p:nvPr/>
        </p:nvCxnSpPr>
        <p:spPr>
          <a:xfrm flipH="1" flipV="1">
            <a:off x="8432849" y="3806617"/>
            <a:ext cx="209753" cy="1235628"/>
          </a:xfrm>
          <a:prstGeom prst="line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8570602" y="5042245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7897735" y="3067117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29" idx="3"/>
            <a:endCxn id="32" idx="7"/>
          </p:cNvCxnSpPr>
          <p:nvPr/>
        </p:nvCxnSpPr>
        <p:spPr>
          <a:xfrm flipH="1" flipV="1">
            <a:off x="8020647" y="3190029"/>
            <a:ext cx="361290" cy="493676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35" idx="4"/>
            <a:endCxn id="25" idx="0"/>
          </p:cNvCxnSpPr>
          <p:nvPr/>
        </p:nvCxnSpPr>
        <p:spPr>
          <a:xfrm flipH="1" flipV="1">
            <a:off x="6560633" y="4219253"/>
            <a:ext cx="1031671" cy="441742"/>
          </a:xfrm>
          <a:prstGeom prst="line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7592304" y="4588995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6560633" y="5371373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36" idx="0"/>
            <a:endCxn id="35" idx="5"/>
          </p:cNvCxnSpPr>
          <p:nvPr/>
        </p:nvCxnSpPr>
        <p:spPr>
          <a:xfrm flipV="1">
            <a:off x="6704633" y="4711907"/>
            <a:ext cx="908759" cy="731466"/>
          </a:xfrm>
          <a:prstGeom prst="line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36" idx="2"/>
            <a:endCxn id="25" idx="6"/>
          </p:cNvCxnSpPr>
          <p:nvPr/>
        </p:nvCxnSpPr>
        <p:spPr>
          <a:xfrm flipH="1" flipV="1">
            <a:off x="6488633" y="4291253"/>
            <a:ext cx="144000" cy="1080120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35" idx="2"/>
            <a:endCxn id="27" idx="6"/>
          </p:cNvCxnSpPr>
          <p:nvPr/>
        </p:nvCxnSpPr>
        <p:spPr>
          <a:xfrm flipH="1" flipV="1">
            <a:off x="7613392" y="3950617"/>
            <a:ext cx="50912" cy="638378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31" idx="3"/>
            <a:endCxn id="27" idx="7"/>
          </p:cNvCxnSpPr>
          <p:nvPr/>
        </p:nvCxnSpPr>
        <p:spPr>
          <a:xfrm flipH="1" flipV="1">
            <a:off x="7664304" y="3929529"/>
            <a:ext cx="927386" cy="1133804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27" idx="0"/>
            <a:endCxn id="29" idx="5"/>
          </p:cNvCxnSpPr>
          <p:nvPr/>
        </p:nvCxnSpPr>
        <p:spPr>
          <a:xfrm flipV="1">
            <a:off x="7685392" y="3785529"/>
            <a:ext cx="696545" cy="93088"/>
          </a:xfrm>
          <a:prstGeom prst="line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35" idx="7"/>
            <a:endCxn id="31" idx="4"/>
          </p:cNvCxnSpPr>
          <p:nvPr/>
        </p:nvCxnSpPr>
        <p:spPr>
          <a:xfrm>
            <a:off x="7715216" y="4711907"/>
            <a:ext cx="855386" cy="402338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3" name="Freeform: Shape 34">
            <a:extLst>
              <a:ext uri="{FF2B5EF4-FFF2-40B4-BE49-F238E27FC236}">
                <a16:creationId xmlns:a16="http://schemas.microsoft.com/office/drawing/2014/main" id="{5A43D9D2-4CAA-3544-4E99-2BE62F8BF717}"/>
              </a:ext>
            </a:extLst>
          </p:cNvPr>
          <p:cNvSpPr/>
          <p:nvPr/>
        </p:nvSpPr>
        <p:spPr>
          <a:xfrm rot="21008222" flipV="1">
            <a:off x="6716762" y="5298886"/>
            <a:ext cx="1906824" cy="306139"/>
          </a:xfrm>
          <a:custGeom>
            <a:avLst/>
            <a:gdLst>
              <a:gd name="connsiteX0" fmla="*/ 0 w 2961249"/>
              <a:gd name="connsiteY0" fmla="*/ 436103 h 436103"/>
              <a:gd name="connsiteX1" fmla="*/ 942535 w 2961249"/>
              <a:gd name="connsiteY1" fmla="*/ 63310 h 436103"/>
              <a:gd name="connsiteX2" fmla="*/ 1892104 w 2961249"/>
              <a:gd name="connsiteY2" fmla="*/ 35174 h 436103"/>
              <a:gd name="connsiteX3" fmla="*/ 2961249 w 2961249"/>
              <a:gd name="connsiteY3" fmla="*/ 422036 h 436103"/>
              <a:gd name="connsiteX4" fmla="*/ 2961249 w 2961249"/>
              <a:gd name="connsiteY4" fmla="*/ 422036 h 436103"/>
              <a:gd name="connsiteX5" fmla="*/ 2961249 w 2961249"/>
              <a:gd name="connsiteY5" fmla="*/ 422036 h 436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61249" h="436103">
                <a:moveTo>
                  <a:pt x="0" y="436103"/>
                </a:moveTo>
                <a:cubicBezTo>
                  <a:pt x="313592" y="283117"/>
                  <a:pt x="627184" y="130131"/>
                  <a:pt x="942535" y="63310"/>
                </a:cubicBezTo>
                <a:cubicBezTo>
                  <a:pt x="1257886" y="-3512"/>
                  <a:pt x="1555652" y="-24614"/>
                  <a:pt x="1892104" y="35174"/>
                </a:cubicBezTo>
                <a:cubicBezTo>
                  <a:pt x="2228556" y="94962"/>
                  <a:pt x="2961249" y="422036"/>
                  <a:pt x="2961249" y="422036"/>
                </a:cubicBezTo>
                <a:lnTo>
                  <a:pt x="2961249" y="422036"/>
                </a:lnTo>
                <a:lnTo>
                  <a:pt x="2961249" y="422036"/>
                </a:lnTo>
              </a:path>
            </a:pathLst>
          </a:cu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Freeform: Shape 34">
            <a:extLst>
              <a:ext uri="{FF2B5EF4-FFF2-40B4-BE49-F238E27FC236}">
                <a16:creationId xmlns:a16="http://schemas.microsoft.com/office/drawing/2014/main" id="{5A43D9D2-4CAA-3544-4E99-2BE62F8BF717}"/>
              </a:ext>
            </a:extLst>
          </p:cNvPr>
          <p:cNvSpPr/>
          <p:nvPr/>
        </p:nvSpPr>
        <p:spPr>
          <a:xfrm rot="15608222" flipV="1">
            <a:off x="8123942" y="4193680"/>
            <a:ext cx="1302703" cy="393948"/>
          </a:xfrm>
          <a:custGeom>
            <a:avLst/>
            <a:gdLst>
              <a:gd name="connsiteX0" fmla="*/ 0 w 2961249"/>
              <a:gd name="connsiteY0" fmla="*/ 436103 h 436103"/>
              <a:gd name="connsiteX1" fmla="*/ 942535 w 2961249"/>
              <a:gd name="connsiteY1" fmla="*/ 63310 h 436103"/>
              <a:gd name="connsiteX2" fmla="*/ 1892104 w 2961249"/>
              <a:gd name="connsiteY2" fmla="*/ 35174 h 436103"/>
              <a:gd name="connsiteX3" fmla="*/ 2961249 w 2961249"/>
              <a:gd name="connsiteY3" fmla="*/ 422036 h 436103"/>
              <a:gd name="connsiteX4" fmla="*/ 2961249 w 2961249"/>
              <a:gd name="connsiteY4" fmla="*/ 422036 h 436103"/>
              <a:gd name="connsiteX5" fmla="*/ 2961249 w 2961249"/>
              <a:gd name="connsiteY5" fmla="*/ 422036 h 436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61249" h="436103">
                <a:moveTo>
                  <a:pt x="0" y="436103"/>
                </a:moveTo>
                <a:cubicBezTo>
                  <a:pt x="313592" y="283117"/>
                  <a:pt x="627184" y="130131"/>
                  <a:pt x="942535" y="63310"/>
                </a:cubicBezTo>
                <a:cubicBezTo>
                  <a:pt x="1257886" y="-3512"/>
                  <a:pt x="1555652" y="-24614"/>
                  <a:pt x="1892104" y="35174"/>
                </a:cubicBezTo>
                <a:cubicBezTo>
                  <a:pt x="2228556" y="94962"/>
                  <a:pt x="2961249" y="422036"/>
                  <a:pt x="2961249" y="422036"/>
                </a:cubicBezTo>
                <a:lnTo>
                  <a:pt x="2961249" y="422036"/>
                </a:lnTo>
                <a:lnTo>
                  <a:pt x="2961249" y="422036"/>
                </a:lnTo>
              </a:path>
            </a:pathLst>
          </a:cu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TextBox 44"/>
          <p:cNvSpPr txBox="1"/>
          <p:nvPr/>
        </p:nvSpPr>
        <p:spPr>
          <a:xfrm>
            <a:off x="6185704" y="4651466"/>
            <a:ext cx="3561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22078" y="3627395"/>
            <a:ext cx="3577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12330" y="4029360"/>
            <a:ext cx="3609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90032" y="4737510"/>
            <a:ext cx="3529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10723" y="4845031"/>
            <a:ext cx="34977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82391" y="5170234"/>
            <a:ext cx="3626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44162" y="3342017"/>
            <a:ext cx="2648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59276" y="3997862"/>
            <a:ext cx="2664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38273" y="3122749"/>
            <a:ext cx="2664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i</a:t>
            </a:r>
            <a:endParaRPr lang="en-US" sz="2800" dirty="0">
              <a:solidFill>
                <a:srgbClr val="C00000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158030" y="3059889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904661" y="4008196"/>
            <a:ext cx="4555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88145" y="4052441"/>
            <a:ext cx="2984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f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77532" y="3967061"/>
            <a:ext cx="3609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2818838" y="4293112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60" idx="5"/>
            <a:endCxn id="58" idx="0"/>
          </p:cNvCxnSpPr>
          <p:nvPr/>
        </p:nvCxnSpPr>
        <p:spPr>
          <a:xfrm flipH="1">
            <a:off x="2962838" y="4075388"/>
            <a:ext cx="1001847" cy="289724"/>
          </a:xfrm>
          <a:prstGeom prst="line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3943597" y="3952476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65" idx="5"/>
            <a:endCxn id="60" idx="1"/>
          </p:cNvCxnSpPr>
          <p:nvPr/>
        </p:nvCxnSpPr>
        <p:spPr>
          <a:xfrm flipH="1">
            <a:off x="4066509" y="3335888"/>
            <a:ext cx="254519" cy="637676"/>
          </a:xfrm>
          <a:prstGeom prst="line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2" name="Oval 61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4763054" y="3808476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64" idx="2"/>
            <a:endCxn id="62" idx="6"/>
          </p:cNvCxnSpPr>
          <p:nvPr/>
        </p:nvCxnSpPr>
        <p:spPr>
          <a:xfrm flipH="1" flipV="1">
            <a:off x="4835054" y="3952476"/>
            <a:ext cx="209753" cy="1235628"/>
          </a:xfrm>
          <a:prstGeom prst="line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4" name="Oval 63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4972807" y="5188104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4299940" y="3212976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62" idx="3"/>
            <a:endCxn id="65" idx="7"/>
          </p:cNvCxnSpPr>
          <p:nvPr/>
        </p:nvCxnSpPr>
        <p:spPr>
          <a:xfrm flipH="1" flipV="1">
            <a:off x="4422852" y="3335888"/>
            <a:ext cx="361290" cy="493676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68" idx="4"/>
            <a:endCxn id="58" idx="0"/>
          </p:cNvCxnSpPr>
          <p:nvPr/>
        </p:nvCxnSpPr>
        <p:spPr>
          <a:xfrm flipH="1" flipV="1">
            <a:off x="2962838" y="4365112"/>
            <a:ext cx="1031671" cy="441742"/>
          </a:xfrm>
          <a:prstGeom prst="line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8" name="Oval 67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3994509" y="4734854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2962838" y="5517232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69" idx="0"/>
            <a:endCxn id="68" idx="5"/>
          </p:cNvCxnSpPr>
          <p:nvPr/>
        </p:nvCxnSpPr>
        <p:spPr>
          <a:xfrm flipV="1">
            <a:off x="3106838" y="4857766"/>
            <a:ext cx="908759" cy="731466"/>
          </a:xfrm>
          <a:prstGeom prst="line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69" idx="2"/>
            <a:endCxn id="58" idx="6"/>
          </p:cNvCxnSpPr>
          <p:nvPr/>
        </p:nvCxnSpPr>
        <p:spPr>
          <a:xfrm flipH="1" flipV="1">
            <a:off x="2890838" y="4437112"/>
            <a:ext cx="144000" cy="1080120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68" idx="2"/>
            <a:endCxn id="60" idx="6"/>
          </p:cNvCxnSpPr>
          <p:nvPr/>
        </p:nvCxnSpPr>
        <p:spPr>
          <a:xfrm flipH="1" flipV="1">
            <a:off x="4015597" y="4096476"/>
            <a:ext cx="50912" cy="638378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64" idx="3"/>
            <a:endCxn id="60" idx="7"/>
          </p:cNvCxnSpPr>
          <p:nvPr/>
        </p:nvCxnSpPr>
        <p:spPr>
          <a:xfrm flipH="1" flipV="1">
            <a:off x="4066509" y="4075388"/>
            <a:ext cx="927386" cy="1133804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60" idx="0"/>
            <a:endCxn id="62" idx="5"/>
          </p:cNvCxnSpPr>
          <p:nvPr/>
        </p:nvCxnSpPr>
        <p:spPr>
          <a:xfrm flipV="1">
            <a:off x="4087597" y="3931388"/>
            <a:ext cx="696545" cy="93088"/>
          </a:xfrm>
          <a:prstGeom prst="line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68" idx="7"/>
            <a:endCxn id="64" idx="4"/>
          </p:cNvCxnSpPr>
          <p:nvPr/>
        </p:nvCxnSpPr>
        <p:spPr>
          <a:xfrm>
            <a:off x="4117421" y="4857766"/>
            <a:ext cx="855386" cy="402338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6" name="Freeform: Shape 34">
            <a:extLst>
              <a:ext uri="{FF2B5EF4-FFF2-40B4-BE49-F238E27FC236}">
                <a16:creationId xmlns:a16="http://schemas.microsoft.com/office/drawing/2014/main" id="{5A43D9D2-4CAA-3544-4E99-2BE62F8BF717}"/>
              </a:ext>
            </a:extLst>
          </p:cNvPr>
          <p:cNvSpPr/>
          <p:nvPr/>
        </p:nvSpPr>
        <p:spPr>
          <a:xfrm rot="21008222" flipV="1">
            <a:off x="3118967" y="5444745"/>
            <a:ext cx="1906824" cy="306139"/>
          </a:xfrm>
          <a:custGeom>
            <a:avLst/>
            <a:gdLst>
              <a:gd name="connsiteX0" fmla="*/ 0 w 2961249"/>
              <a:gd name="connsiteY0" fmla="*/ 436103 h 436103"/>
              <a:gd name="connsiteX1" fmla="*/ 942535 w 2961249"/>
              <a:gd name="connsiteY1" fmla="*/ 63310 h 436103"/>
              <a:gd name="connsiteX2" fmla="*/ 1892104 w 2961249"/>
              <a:gd name="connsiteY2" fmla="*/ 35174 h 436103"/>
              <a:gd name="connsiteX3" fmla="*/ 2961249 w 2961249"/>
              <a:gd name="connsiteY3" fmla="*/ 422036 h 436103"/>
              <a:gd name="connsiteX4" fmla="*/ 2961249 w 2961249"/>
              <a:gd name="connsiteY4" fmla="*/ 422036 h 436103"/>
              <a:gd name="connsiteX5" fmla="*/ 2961249 w 2961249"/>
              <a:gd name="connsiteY5" fmla="*/ 422036 h 436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61249" h="436103">
                <a:moveTo>
                  <a:pt x="0" y="436103"/>
                </a:moveTo>
                <a:cubicBezTo>
                  <a:pt x="313592" y="283117"/>
                  <a:pt x="627184" y="130131"/>
                  <a:pt x="942535" y="63310"/>
                </a:cubicBezTo>
                <a:cubicBezTo>
                  <a:pt x="1257886" y="-3512"/>
                  <a:pt x="1555652" y="-24614"/>
                  <a:pt x="1892104" y="35174"/>
                </a:cubicBezTo>
                <a:cubicBezTo>
                  <a:pt x="2228556" y="94962"/>
                  <a:pt x="2961249" y="422036"/>
                  <a:pt x="2961249" y="422036"/>
                </a:cubicBezTo>
                <a:lnTo>
                  <a:pt x="2961249" y="422036"/>
                </a:lnTo>
                <a:lnTo>
                  <a:pt x="2961249" y="422036"/>
                </a:lnTo>
              </a:path>
            </a:pathLst>
          </a:cu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7" name="Freeform: Shape 34">
            <a:extLst>
              <a:ext uri="{FF2B5EF4-FFF2-40B4-BE49-F238E27FC236}">
                <a16:creationId xmlns:a16="http://schemas.microsoft.com/office/drawing/2014/main" id="{5A43D9D2-4CAA-3544-4E99-2BE62F8BF717}"/>
              </a:ext>
            </a:extLst>
          </p:cNvPr>
          <p:cNvSpPr/>
          <p:nvPr/>
        </p:nvSpPr>
        <p:spPr>
          <a:xfrm rot="15608222" flipV="1">
            <a:off x="4526147" y="4339539"/>
            <a:ext cx="1302703" cy="393948"/>
          </a:xfrm>
          <a:custGeom>
            <a:avLst/>
            <a:gdLst>
              <a:gd name="connsiteX0" fmla="*/ 0 w 2961249"/>
              <a:gd name="connsiteY0" fmla="*/ 436103 h 436103"/>
              <a:gd name="connsiteX1" fmla="*/ 942535 w 2961249"/>
              <a:gd name="connsiteY1" fmla="*/ 63310 h 436103"/>
              <a:gd name="connsiteX2" fmla="*/ 1892104 w 2961249"/>
              <a:gd name="connsiteY2" fmla="*/ 35174 h 436103"/>
              <a:gd name="connsiteX3" fmla="*/ 2961249 w 2961249"/>
              <a:gd name="connsiteY3" fmla="*/ 422036 h 436103"/>
              <a:gd name="connsiteX4" fmla="*/ 2961249 w 2961249"/>
              <a:gd name="connsiteY4" fmla="*/ 422036 h 436103"/>
              <a:gd name="connsiteX5" fmla="*/ 2961249 w 2961249"/>
              <a:gd name="connsiteY5" fmla="*/ 422036 h 436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61249" h="436103">
                <a:moveTo>
                  <a:pt x="0" y="436103"/>
                </a:moveTo>
                <a:cubicBezTo>
                  <a:pt x="313592" y="283117"/>
                  <a:pt x="627184" y="130131"/>
                  <a:pt x="942535" y="63310"/>
                </a:cubicBezTo>
                <a:cubicBezTo>
                  <a:pt x="1257886" y="-3512"/>
                  <a:pt x="1555652" y="-24614"/>
                  <a:pt x="1892104" y="35174"/>
                </a:cubicBezTo>
                <a:cubicBezTo>
                  <a:pt x="2228556" y="94962"/>
                  <a:pt x="2961249" y="422036"/>
                  <a:pt x="2961249" y="422036"/>
                </a:cubicBezTo>
                <a:lnTo>
                  <a:pt x="2961249" y="422036"/>
                </a:lnTo>
                <a:lnTo>
                  <a:pt x="2961249" y="422036"/>
                </a:lnTo>
              </a:path>
            </a:pathLst>
          </a:cu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8" name="TextBox 77"/>
          <p:cNvSpPr txBox="1"/>
          <p:nvPr/>
        </p:nvSpPr>
        <p:spPr>
          <a:xfrm>
            <a:off x="3103600" y="4797149"/>
            <a:ext cx="3561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324283" y="3773254"/>
            <a:ext cx="3577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h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176596" y="4442876"/>
            <a:ext cx="3609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92237" y="4883369"/>
            <a:ext cx="3529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512928" y="4990890"/>
            <a:ext cx="34977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c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984596" y="5316093"/>
            <a:ext cx="3626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246367" y="3487876"/>
            <a:ext cx="2648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861481" y="4143721"/>
            <a:ext cx="2664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l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940478" y="3268608"/>
            <a:ext cx="2664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i</a:t>
            </a:r>
            <a:endParaRPr lang="en-US" sz="2800" dirty="0">
              <a:solidFill>
                <a:srgbClr val="C00000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4560235" y="3205748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306866" y="4154055"/>
            <a:ext cx="4555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790350" y="4198300"/>
            <a:ext cx="2984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f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379737" y="4112920"/>
            <a:ext cx="3609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267426" y="5661056"/>
                <a:ext cx="3108543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Fundamental Circuit</a:t>
                </a:r>
                <a14:m>
                  <m:oMath xmlns:m="http://schemas.openxmlformats.org/officeDocument/2006/math"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US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7426" y="5661056"/>
                <a:ext cx="3108543" cy="954107"/>
              </a:xfrm>
              <a:prstGeom prst="rect">
                <a:avLst/>
              </a:prstGeom>
              <a:blipFill rotWithShape="0">
                <a:blip r:embed="rId3"/>
                <a:stretch>
                  <a:fillRect l="-3922" t="-7051" r="-5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5670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0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22" presetClass="entr" presetSubtype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7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2060"/>
                                      </p:to>
                                    </p:animClr>
                                    <p:set>
                                      <p:cBhvr>
                                        <p:cTn id="238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0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2060"/>
                                      </p:to>
                                    </p:animClr>
                                    <p:set>
                                      <p:cBhvr>
                                        <p:cTn id="241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3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2060"/>
                                      </p:to>
                                    </p:animClr>
                                    <p:set>
                                      <p:cBhvr>
                                        <p:cTn id="244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6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2060"/>
                                      </p:to>
                                    </p:animClr>
                                    <p:set>
                                      <p:cBhvr>
                                        <p:cTn id="247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9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2060"/>
                                      </p:to>
                                    </p:animClr>
                                    <p:set>
                                      <p:cBhvr>
                                        <p:cTn id="250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2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2060"/>
                                      </p:to>
                                    </p:animClr>
                                    <p:set>
                                      <p:cBhvr>
                                        <p:cTn id="253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7" grpId="0" animBg="1"/>
      <p:bldP spid="29" grpId="0" animBg="1"/>
      <p:bldP spid="31" grpId="0" animBg="1"/>
      <p:bldP spid="32" grpId="0" animBg="1"/>
      <p:bldP spid="35" grpId="0" animBg="1"/>
      <p:bldP spid="36" grpId="0" animBg="1"/>
      <p:bldP spid="43" grpId="0" animBg="1"/>
      <p:bldP spid="43" grpId="1" animBg="1"/>
      <p:bldP spid="44" grpId="0" animBg="1"/>
      <p:bldP spid="44" grpId="1" animBg="1"/>
      <p:bldP spid="45" grpId="0"/>
      <p:bldP spid="45" grpId="1"/>
      <p:bldP spid="45" grpId="2"/>
      <p:bldP spid="46" grpId="0"/>
      <p:bldP spid="47" grpId="0"/>
      <p:bldP spid="48" grpId="0"/>
      <p:bldP spid="48" grpId="1"/>
      <p:bldP spid="49" grpId="0"/>
      <p:bldP spid="50" grpId="0"/>
      <p:bldP spid="50" grpId="1"/>
      <p:bldP spid="51" grpId="0"/>
      <p:bldP spid="52" grpId="0"/>
      <p:bldP spid="53" grpId="0"/>
      <p:bldP spid="54" grpId="0"/>
      <p:bldP spid="54" grpId="1"/>
      <p:bldP spid="55" grpId="0"/>
      <p:bldP spid="55" grpId="1"/>
      <p:bldP spid="56" grpId="0"/>
      <p:bldP spid="56" grpId="1"/>
      <p:bldP spid="57" grpId="0"/>
      <p:bldP spid="57" grpId="1"/>
      <p:bldP spid="58" grpId="0" animBg="1"/>
      <p:bldP spid="60" grpId="0" animBg="1"/>
      <p:bldP spid="62" grpId="0" animBg="1"/>
      <p:bldP spid="64" grpId="0" animBg="1"/>
      <p:bldP spid="65" grpId="0" animBg="1"/>
      <p:bldP spid="68" grpId="0" animBg="1"/>
      <p:bldP spid="69" grpId="0" animBg="1"/>
      <p:bldP spid="76" grpId="0" animBg="1"/>
      <p:bldP spid="77" grpId="0" animBg="1"/>
      <p:bldP spid="78" grpId="0"/>
      <p:bldP spid="79" grpId="0"/>
      <p:bldP spid="80" grpId="0"/>
      <p:bldP spid="81" grpId="0"/>
      <p:bldP spid="82" grpId="0"/>
      <p:bldP spid="83" grpId="0"/>
      <p:bldP spid="84" grpId="0"/>
      <p:bldP spid="85" grpId="0"/>
      <p:bldP spid="86" grpId="0"/>
      <p:bldP spid="87" grpId="0"/>
      <p:bldP spid="88" grpId="0"/>
      <p:bldP spid="89" grpId="0"/>
      <p:bldP spid="90" grpId="0"/>
      <p:bldP spid="6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Fundamental Circuits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6409" y="729966"/>
                <a:ext cx="11935185" cy="20723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65113" indent="-265113" algn="just">
                  <a:spcBef>
                    <a:spcPts val="1000"/>
                  </a:spcBef>
                  <a:buClr>
                    <a:srgbClr val="B84742"/>
                  </a:buClr>
                  <a:buFont typeface="Wingdings 3" panose="05040102010807070707" pitchFamily="18" charset="2"/>
                  <a:buChar char=""/>
                </a:pPr>
                <a:r>
                  <a:rPr lang="en-IN" sz="2800" b="1" dirty="0">
                    <a:solidFill>
                      <a:srgbClr val="002060"/>
                    </a:solidFill>
                  </a:rPr>
                  <a:t>Definition:</a:t>
                </a:r>
                <a:r>
                  <a:rPr lang="en-IN" sz="2800" b="1" dirty="0"/>
                  <a:t> </a:t>
                </a:r>
                <a:r>
                  <a:rPr lang="en-US" sz="2800" dirty="0">
                    <a:solidFill>
                      <a:srgbClr val="002060"/>
                    </a:solidFill>
                  </a:rPr>
                  <a:t>A circuit, formed </a:t>
                </a:r>
                <a:r>
                  <a:rPr lang="en-US" sz="2800" b="1" dirty="0">
                    <a:solidFill>
                      <a:srgbClr val="002060"/>
                    </a:solidFill>
                  </a:rPr>
                  <a:t>by adding a chord to a spanning tree</a:t>
                </a:r>
                <a:r>
                  <a:rPr lang="en-US" sz="2800" dirty="0">
                    <a:solidFill>
                      <a:srgbClr val="002060"/>
                    </a:solidFill>
                  </a:rPr>
                  <a:t>, is called a 		</a:t>
                </a:r>
                <a:r>
                  <a:rPr lang="en-US" sz="2800" dirty="0">
                    <a:solidFill>
                      <a:srgbClr val="FF0000"/>
                    </a:solidFill>
                  </a:rPr>
                  <a:t>fundamental circuit</a:t>
                </a:r>
                <a:r>
                  <a:rPr lang="en-US" sz="2800" dirty="0">
                    <a:solidFill>
                      <a:srgbClr val="002060"/>
                    </a:solidFill>
                  </a:rPr>
                  <a:t>. </a:t>
                </a:r>
              </a:p>
              <a:p>
                <a:pPr marL="265113" indent="-265113" algn="just">
                  <a:spcBef>
                    <a:spcPts val="1000"/>
                  </a:spcBef>
                  <a:buClr>
                    <a:srgbClr val="B84742"/>
                  </a:buClr>
                  <a:buFont typeface="Wingdings 3" panose="05040102010807070707" pitchFamily="18" charset="2"/>
                  <a:buChar char=""/>
                </a:pPr>
                <a:r>
                  <a:rPr lang="en-US" sz="2800" dirty="0">
                    <a:solidFill>
                      <a:srgbClr val="002060"/>
                    </a:solidFill>
                  </a:rPr>
                  <a:t>Consider graph with spanning tree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j</m:t>
                        </m:r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l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 </a:t>
                </a:r>
              </a:p>
              <a:p>
                <a:pPr marL="265113" indent="-265113" algn="just">
                  <a:spcBef>
                    <a:spcPts val="1000"/>
                  </a:spcBef>
                  <a:buClr>
                    <a:srgbClr val="B84742"/>
                  </a:buClr>
                  <a:buFont typeface="Wingdings 3" panose="05040102010807070707" pitchFamily="18" charset="2"/>
                  <a:buChar char=""/>
                </a:pPr>
                <a:r>
                  <a:rPr lang="en-US" sz="2800" dirty="0">
                    <a:solidFill>
                      <a:srgbClr val="002060"/>
                    </a:solidFill>
                  </a:rPr>
                  <a:t>Here Branches are</a:t>
                </a:r>
                <a14:m>
                  <m:oMath xmlns:m="http://schemas.openxmlformats.org/officeDocument/2006/math">
                    <m: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1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1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𝐜</m:t>
                    </m:r>
                    <m:r>
                      <a:rPr lang="en-US" sz="2800" b="1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800" b="1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𝐛</m:t>
                    </m:r>
                    <m:r>
                      <a:rPr lang="en-US" sz="2800" b="1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800" b="1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𝐡</m:t>
                    </m:r>
                    <m:r>
                      <a:rPr lang="en-US" sz="2800" b="1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800" b="1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𝐈</m:t>
                    </m:r>
                    <m:r>
                      <a:rPr lang="en-US" sz="2800" b="1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800" b="1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𝐣</m:t>
                    </m:r>
                    <m:r>
                      <a:rPr lang="en-US" sz="2800" b="1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800" b="1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𝐥</m:t>
                    </m:r>
                  </m:oMath>
                </a14:m>
                <a:r>
                  <a:rPr lang="en-US" sz="2800" b="1" dirty="0">
                    <a:solidFill>
                      <a:srgbClr val="002060"/>
                    </a:solidFill>
                  </a:rPr>
                  <a:t> </a:t>
                </a:r>
                <a:r>
                  <a:rPr lang="en-US" sz="2800" dirty="0">
                    <a:solidFill>
                      <a:srgbClr val="002060"/>
                    </a:solidFill>
                  </a:rPr>
                  <a:t>and chords are</a:t>
                </a:r>
                <a14:m>
                  <m:oMath xmlns:m="http://schemas.openxmlformats.org/officeDocument/2006/math">
                    <m: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1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𝐚</m:t>
                    </m:r>
                    <m:r>
                      <a:rPr lang="en-US" sz="2800" b="1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800" b="1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𝐝</m:t>
                    </m:r>
                    <m:r>
                      <a:rPr lang="en-US" sz="2800" b="1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800" b="1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𝐞</m:t>
                    </m:r>
                    <m:r>
                      <a:rPr lang="en-US" sz="2800" b="1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800" b="1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𝐟</m:t>
                    </m:r>
                    <m:r>
                      <a:rPr lang="en-US" sz="2800" b="1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800" b="1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𝐠</m:t>
                    </m:r>
                    <m:r>
                      <a:rPr lang="en-US" sz="2800" b="1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800" b="1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𝐦</m:t>
                    </m:r>
                    <m:r>
                      <a:rPr lang="en-US" sz="2800" b="1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800" b="1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𝐤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 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09" y="729966"/>
                <a:ext cx="11935185" cy="2072362"/>
              </a:xfrm>
              <a:prstGeom prst="rect">
                <a:avLst/>
              </a:prstGeom>
              <a:blipFill rotWithShape="0">
                <a:blip r:embed="rId2"/>
                <a:stretch>
                  <a:fillRect l="-970" t="-3235" r="-1021" b="-7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Oval 24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6416633" y="4147253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27" idx="5"/>
            <a:endCxn id="25" idx="0"/>
          </p:cNvCxnSpPr>
          <p:nvPr/>
        </p:nvCxnSpPr>
        <p:spPr>
          <a:xfrm flipH="1">
            <a:off x="6560633" y="3929529"/>
            <a:ext cx="1001847" cy="289724"/>
          </a:xfrm>
          <a:prstGeom prst="line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7541392" y="3806617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32" idx="5"/>
            <a:endCxn id="27" idx="1"/>
          </p:cNvCxnSpPr>
          <p:nvPr/>
        </p:nvCxnSpPr>
        <p:spPr>
          <a:xfrm flipH="1">
            <a:off x="7664304" y="3190029"/>
            <a:ext cx="254519" cy="637676"/>
          </a:xfrm>
          <a:prstGeom prst="line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8360849" y="3662617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31" idx="2"/>
            <a:endCxn id="29" idx="6"/>
          </p:cNvCxnSpPr>
          <p:nvPr/>
        </p:nvCxnSpPr>
        <p:spPr>
          <a:xfrm flipH="1" flipV="1">
            <a:off x="8432849" y="3806617"/>
            <a:ext cx="209753" cy="1235628"/>
          </a:xfrm>
          <a:prstGeom prst="line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8570602" y="5042245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7897735" y="3067117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29" idx="3"/>
            <a:endCxn id="32" idx="7"/>
          </p:cNvCxnSpPr>
          <p:nvPr/>
        </p:nvCxnSpPr>
        <p:spPr>
          <a:xfrm flipH="1" flipV="1">
            <a:off x="8020647" y="3190029"/>
            <a:ext cx="361290" cy="493676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35" idx="4"/>
            <a:endCxn id="25" idx="0"/>
          </p:cNvCxnSpPr>
          <p:nvPr/>
        </p:nvCxnSpPr>
        <p:spPr>
          <a:xfrm flipH="1" flipV="1">
            <a:off x="6560633" y="4219253"/>
            <a:ext cx="1031671" cy="441742"/>
          </a:xfrm>
          <a:prstGeom prst="line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7592304" y="4588995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6560633" y="5371373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36" idx="0"/>
            <a:endCxn id="35" idx="5"/>
          </p:cNvCxnSpPr>
          <p:nvPr/>
        </p:nvCxnSpPr>
        <p:spPr>
          <a:xfrm flipV="1">
            <a:off x="6704633" y="4711907"/>
            <a:ext cx="908759" cy="731466"/>
          </a:xfrm>
          <a:prstGeom prst="line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36" idx="2"/>
            <a:endCxn id="25" idx="6"/>
          </p:cNvCxnSpPr>
          <p:nvPr/>
        </p:nvCxnSpPr>
        <p:spPr>
          <a:xfrm flipH="1" flipV="1">
            <a:off x="6488633" y="4291253"/>
            <a:ext cx="144000" cy="1080120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35" idx="2"/>
            <a:endCxn id="27" idx="6"/>
          </p:cNvCxnSpPr>
          <p:nvPr/>
        </p:nvCxnSpPr>
        <p:spPr>
          <a:xfrm flipH="1" flipV="1">
            <a:off x="7613392" y="3950617"/>
            <a:ext cx="50912" cy="638378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31" idx="3"/>
            <a:endCxn id="27" idx="7"/>
          </p:cNvCxnSpPr>
          <p:nvPr/>
        </p:nvCxnSpPr>
        <p:spPr>
          <a:xfrm flipH="1" flipV="1">
            <a:off x="7664304" y="3929529"/>
            <a:ext cx="927386" cy="1133804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27" idx="0"/>
            <a:endCxn id="29" idx="5"/>
          </p:cNvCxnSpPr>
          <p:nvPr/>
        </p:nvCxnSpPr>
        <p:spPr>
          <a:xfrm flipV="1">
            <a:off x="7685392" y="3785529"/>
            <a:ext cx="696545" cy="93088"/>
          </a:xfrm>
          <a:prstGeom prst="line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35" idx="7"/>
            <a:endCxn id="31" idx="4"/>
          </p:cNvCxnSpPr>
          <p:nvPr/>
        </p:nvCxnSpPr>
        <p:spPr>
          <a:xfrm>
            <a:off x="7715216" y="4711907"/>
            <a:ext cx="855386" cy="402338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3" name="Freeform: Shape 34">
            <a:extLst>
              <a:ext uri="{FF2B5EF4-FFF2-40B4-BE49-F238E27FC236}">
                <a16:creationId xmlns:a16="http://schemas.microsoft.com/office/drawing/2014/main" id="{5A43D9D2-4CAA-3544-4E99-2BE62F8BF717}"/>
              </a:ext>
            </a:extLst>
          </p:cNvPr>
          <p:cNvSpPr/>
          <p:nvPr/>
        </p:nvSpPr>
        <p:spPr>
          <a:xfrm rot="21008222" flipV="1">
            <a:off x="6716762" y="5298886"/>
            <a:ext cx="1906824" cy="306139"/>
          </a:xfrm>
          <a:custGeom>
            <a:avLst/>
            <a:gdLst>
              <a:gd name="connsiteX0" fmla="*/ 0 w 2961249"/>
              <a:gd name="connsiteY0" fmla="*/ 436103 h 436103"/>
              <a:gd name="connsiteX1" fmla="*/ 942535 w 2961249"/>
              <a:gd name="connsiteY1" fmla="*/ 63310 h 436103"/>
              <a:gd name="connsiteX2" fmla="*/ 1892104 w 2961249"/>
              <a:gd name="connsiteY2" fmla="*/ 35174 h 436103"/>
              <a:gd name="connsiteX3" fmla="*/ 2961249 w 2961249"/>
              <a:gd name="connsiteY3" fmla="*/ 422036 h 436103"/>
              <a:gd name="connsiteX4" fmla="*/ 2961249 w 2961249"/>
              <a:gd name="connsiteY4" fmla="*/ 422036 h 436103"/>
              <a:gd name="connsiteX5" fmla="*/ 2961249 w 2961249"/>
              <a:gd name="connsiteY5" fmla="*/ 422036 h 436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61249" h="436103">
                <a:moveTo>
                  <a:pt x="0" y="436103"/>
                </a:moveTo>
                <a:cubicBezTo>
                  <a:pt x="313592" y="283117"/>
                  <a:pt x="627184" y="130131"/>
                  <a:pt x="942535" y="63310"/>
                </a:cubicBezTo>
                <a:cubicBezTo>
                  <a:pt x="1257886" y="-3512"/>
                  <a:pt x="1555652" y="-24614"/>
                  <a:pt x="1892104" y="35174"/>
                </a:cubicBezTo>
                <a:cubicBezTo>
                  <a:pt x="2228556" y="94962"/>
                  <a:pt x="2961249" y="422036"/>
                  <a:pt x="2961249" y="422036"/>
                </a:cubicBezTo>
                <a:lnTo>
                  <a:pt x="2961249" y="422036"/>
                </a:lnTo>
                <a:lnTo>
                  <a:pt x="2961249" y="422036"/>
                </a:lnTo>
              </a:path>
            </a:pathLst>
          </a:cu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Freeform: Shape 34">
            <a:extLst>
              <a:ext uri="{FF2B5EF4-FFF2-40B4-BE49-F238E27FC236}">
                <a16:creationId xmlns:a16="http://schemas.microsoft.com/office/drawing/2014/main" id="{5A43D9D2-4CAA-3544-4E99-2BE62F8BF717}"/>
              </a:ext>
            </a:extLst>
          </p:cNvPr>
          <p:cNvSpPr/>
          <p:nvPr/>
        </p:nvSpPr>
        <p:spPr>
          <a:xfrm rot="15608222" flipV="1">
            <a:off x="8123942" y="4193680"/>
            <a:ext cx="1302703" cy="393948"/>
          </a:xfrm>
          <a:custGeom>
            <a:avLst/>
            <a:gdLst>
              <a:gd name="connsiteX0" fmla="*/ 0 w 2961249"/>
              <a:gd name="connsiteY0" fmla="*/ 436103 h 436103"/>
              <a:gd name="connsiteX1" fmla="*/ 942535 w 2961249"/>
              <a:gd name="connsiteY1" fmla="*/ 63310 h 436103"/>
              <a:gd name="connsiteX2" fmla="*/ 1892104 w 2961249"/>
              <a:gd name="connsiteY2" fmla="*/ 35174 h 436103"/>
              <a:gd name="connsiteX3" fmla="*/ 2961249 w 2961249"/>
              <a:gd name="connsiteY3" fmla="*/ 422036 h 436103"/>
              <a:gd name="connsiteX4" fmla="*/ 2961249 w 2961249"/>
              <a:gd name="connsiteY4" fmla="*/ 422036 h 436103"/>
              <a:gd name="connsiteX5" fmla="*/ 2961249 w 2961249"/>
              <a:gd name="connsiteY5" fmla="*/ 422036 h 436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61249" h="436103">
                <a:moveTo>
                  <a:pt x="0" y="436103"/>
                </a:moveTo>
                <a:cubicBezTo>
                  <a:pt x="313592" y="283117"/>
                  <a:pt x="627184" y="130131"/>
                  <a:pt x="942535" y="63310"/>
                </a:cubicBezTo>
                <a:cubicBezTo>
                  <a:pt x="1257886" y="-3512"/>
                  <a:pt x="1555652" y="-24614"/>
                  <a:pt x="1892104" y="35174"/>
                </a:cubicBezTo>
                <a:cubicBezTo>
                  <a:pt x="2228556" y="94962"/>
                  <a:pt x="2961249" y="422036"/>
                  <a:pt x="2961249" y="422036"/>
                </a:cubicBezTo>
                <a:lnTo>
                  <a:pt x="2961249" y="422036"/>
                </a:lnTo>
                <a:lnTo>
                  <a:pt x="2961249" y="422036"/>
                </a:lnTo>
              </a:path>
            </a:pathLst>
          </a:cu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TextBox 44"/>
          <p:cNvSpPr txBox="1"/>
          <p:nvPr/>
        </p:nvSpPr>
        <p:spPr>
          <a:xfrm>
            <a:off x="6185704" y="4651466"/>
            <a:ext cx="3561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22078" y="3627395"/>
            <a:ext cx="3577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12330" y="4029360"/>
            <a:ext cx="3609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90032" y="4737510"/>
            <a:ext cx="3529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10723" y="4845031"/>
            <a:ext cx="34977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82391" y="5170234"/>
            <a:ext cx="3626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44162" y="3342017"/>
            <a:ext cx="2648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59276" y="3997862"/>
            <a:ext cx="2664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38273" y="3122749"/>
            <a:ext cx="2664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i</a:t>
            </a:r>
            <a:endParaRPr lang="en-US" sz="2800" dirty="0">
              <a:solidFill>
                <a:srgbClr val="C00000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158030" y="3059889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904661" y="4008196"/>
            <a:ext cx="4555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88145" y="4052441"/>
            <a:ext cx="2984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f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77532" y="3967061"/>
            <a:ext cx="3609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2818838" y="4293112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60" idx="5"/>
            <a:endCxn id="58" idx="0"/>
          </p:cNvCxnSpPr>
          <p:nvPr/>
        </p:nvCxnSpPr>
        <p:spPr>
          <a:xfrm flipH="1">
            <a:off x="2962838" y="4075388"/>
            <a:ext cx="1001847" cy="289724"/>
          </a:xfrm>
          <a:prstGeom prst="line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3943597" y="3952476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65" idx="5"/>
            <a:endCxn id="60" idx="1"/>
          </p:cNvCxnSpPr>
          <p:nvPr/>
        </p:nvCxnSpPr>
        <p:spPr>
          <a:xfrm flipH="1">
            <a:off x="4066509" y="3335888"/>
            <a:ext cx="254519" cy="637676"/>
          </a:xfrm>
          <a:prstGeom prst="line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2" name="Oval 61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4763054" y="3808476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64" idx="2"/>
            <a:endCxn id="62" idx="6"/>
          </p:cNvCxnSpPr>
          <p:nvPr/>
        </p:nvCxnSpPr>
        <p:spPr>
          <a:xfrm flipH="1" flipV="1">
            <a:off x="4835054" y="3952476"/>
            <a:ext cx="209753" cy="1235628"/>
          </a:xfrm>
          <a:prstGeom prst="line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4" name="Oval 63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4972807" y="5188104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4299940" y="3212976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62" idx="3"/>
            <a:endCxn id="65" idx="7"/>
          </p:cNvCxnSpPr>
          <p:nvPr/>
        </p:nvCxnSpPr>
        <p:spPr>
          <a:xfrm flipH="1" flipV="1">
            <a:off x="4422852" y="3335888"/>
            <a:ext cx="361290" cy="493676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68" idx="4"/>
            <a:endCxn id="58" idx="0"/>
          </p:cNvCxnSpPr>
          <p:nvPr/>
        </p:nvCxnSpPr>
        <p:spPr>
          <a:xfrm flipH="1" flipV="1">
            <a:off x="2962838" y="4365112"/>
            <a:ext cx="1031671" cy="441742"/>
          </a:xfrm>
          <a:prstGeom prst="line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8" name="Oval 67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3994509" y="4734854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2962838" y="5517232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69" idx="0"/>
            <a:endCxn id="68" idx="5"/>
          </p:cNvCxnSpPr>
          <p:nvPr/>
        </p:nvCxnSpPr>
        <p:spPr>
          <a:xfrm flipV="1">
            <a:off x="3106838" y="4857766"/>
            <a:ext cx="908759" cy="731466"/>
          </a:xfrm>
          <a:prstGeom prst="line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69" idx="2"/>
            <a:endCxn id="58" idx="6"/>
          </p:cNvCxnSpPr>
          <p:nvPr/>
        </p:nvCxnSpPr>
        <p:spPr>
          <a:xfrm flipH="1" flipV="1">
            <a:off x="2890838" y="4437112"/>
            <a:ext cx="144000" cy="1080120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68" idx="2"/>
            <a:endCxn id="60" idx="6"/>
          </p:cNvCxnSpPr>
          <p:nvPr/>
        </p:nvCxnSpPr>
        <p:spPr>
          <a:xfrm flipH="1" flipV="1">
            <a:off x="4015597" y="4096476"/>
            <a:ext cx="50912" cy="638378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64" idx="3"/>
            <a:endCxn id="60" idx="7"/>
          </p:cNvCxnSpPr>
          <p:nvPr/>
        </p:nvCxnSpPr>
        <p:spPr>
          <a:xfrm flipH="1" flipV="1">
            <a:off x="4066509" y="4075388"/>
            <a:ext cx="927386" cy="1133804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60" idx="0"/>
            <a:endCxn id="62" idx="5"/>
          </p:cNvCxnSpPr>
          <p:nvPr/>
        </p:nvCxnSpPr>
        <p:spPr>
          <a:xfrm flipV="1">
            <a:off x="4087597" y="3931388"/>
            <a:ext cx="696545" cy="93088"/>
          </a:xfrm>
          <a:prstGeom prst="line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68" idx="7"/>
            <a:endCxn id="64" idx="4"/>
          </p:cNvCxnSpPr>
          <p:nvPr/>
        </p:nvCxnSpPr>
        <p:spPr>
          <a:xfrm>
            <a:off x="4117421" y="4857766"/>
            <a:ext cx="855386" cy="402338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6" name="Freeform: Shape 34">
            <a:extLst>
              <a:ext uri="{FF2B5EF4-FFF2-40B4-BE49-F238E27FC236}">
                <a16:creationId xmlns:a16="http://schemas.microsoft.com/office/drawing/2014/main" id="{5A43D9D2-4CAA-3544-4E99-2BE62F8BF717}"/>
              </a:ext>
            </a:extLst>
          </p:cNvPr>
          <p:cNvSpPr/>
          <p:nvPr/>
        </p:nvSpPr>
        <p:spPr>
          <a:xfrm rot="21008222" flipV="1">
            <a:off x="3118967" y="5444745"/>
            <a:ext cx="1906824" cy="306139"/>
          </a:xfrm>
          <a:custGeom>
            <a:avLst/>
            <a:gdLst>
              <a:gd name="connsiteX0" fmla="*/ 0 w 2961249"/>
              <a:gd name="connsiteY0" fmla="*/ 436103 h 436103"/>
              <a:gd name="connsiteX1" fmla="*/ 942535 w 2961249"/>
              <a:gd name="connsiteY1" fmla="*/ 63310 h 436103"/>
              <a:gd name="connsiteX2" fmla="*/ 1892104 w 2961249"/>
              <a:gd name="connsiteY2" fmla="*/ 35174 h 436103"/>
              <a:gd name="connsiteX3" fmla="*/ 2961249 w 2961249"/>
              <a:gd name="connsiteY3" fmla="*/ 422036 h 436103"/>
              <a:gd name="connsiteX4" fmla="*/ 2961249 w 2961249"/>
              <a:gd name="connsiteY4" fmla="*/ 422036 h 436103"/>
              <a:gd name="connsiteX5" fmla="*/ 2961249 w 2961249"/>
              <a:gd name="connsiteY5" fmla="*/ 422036 h 436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61249" h="436103">
                <a:moveTo>
                  <a:pt x="0" y="436103"/>
                </a:moveTo>
                <a:cubicBezTo>
                  <a:pt x="313592" y="283117"/>
                  <a:pt x="627184" y="130131"/>
                  <a:pt x="942535" y="63310"/>
                </a:cubicBezTo>
                <a:cubicBezTo>
                  <a:pt x="1257886" y="-3512"/>
                  <a:pt x="1555652" y="-24614"/>
                  <a:pt x="1892104" y="35174"/>
                </a:cubicBezTo>
                <a:cubicBezTo>
                  <a:pt x="2228556" y="94962"/>
                  <a:pt x="2961249" y="422036"/>
                  <a:pt x="2961249" y="422036"/>
                </a:cubicBezTo>
                <a:lnTo>
                  <a:pt x="2961249" y="422036"/>
                </a:lnTo>
                <a:lnTo>
                  <a:pt x="2961249" y="422036"/>
                </a:lnTo>
              </a:path>
            </a:pathLst>
          </a:cu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7" name="Freeform: Shape 34">
            <a:extLst>
              <a:ext uri="{FF2B5EF4-FFF2-40B4-BE49-F238E27FC236}">
                <a16:creationId xmlns:a16="http://schemas.microsoft.com/office/drawing/2014/main" id="{5A43D9D2-4CAA-3544-4E99-2BE62F8BF717}"/>
              </a:ext>
            </a:extLst>
          </p:cNvPr>
          <p:cNvSpPr/>
          <p:nvPr/>
        </p:nvSpPr>
        <p:spPr>
          <a:xfrm rot="15608222" flipV="1">
            <a:off x="4526147" y="4339539"/>
            <a:ext cx="1302703" cy="393948"/>
          </a:xfrm>
          <a:custGeom>
            <a:avLst/>
            <a:gdLst>
              <a:gd name="connsiteX0" fmla="*/ 0 w 2961249"/>
              <a:gd name="connsiteY0" fmla="*/ 436103 h 436103"/>
              <a:gd name="connsiteX1" fmla="*/ 942535 w 2961249"/>
              <a:gd name="connsiteY1" fmla="*/ 63310 h 436103"/>
              <a:gd name="connsiteX2" fmla="*/ 1892104 w 2961249"/>
              <a:gd name="connsiteY2" fmla="*/ 35174 h 436103"/>
              <a:gd name="connsiteX3" fmla="*/ 2961249 w 2961249"/>
              <a:gd name="connsiteY3" fmla="*/ 422036 h 436103"/>
              <a:gd name="connsiteX4" fmla="*/ 2961249 w 2961249"/>
              <a:gd name="connsiteY4" fmla="*/ 422036 h 436103"/>
              <a:gd name="connsiteX5" fmla="*/ 2961249 w 2961249"/>
              <a:gd name="connsiteY5" fmla="*/ 422036 h 436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61249" h="436103">
                <a:moveTo>
                  <a:pt x="0" y="436103"/>
                </a:moveTo>
                <a:cubicBezTo>
                  <a:pt x="313592" y="283117"/>
                  <a:pt x="627184" y="130131"/>
                  <a:pt x="942535" y="63310"/>
                </a:cubicBezTo>
                <a:cubicBezTo>
                  <a:pt x="1257886" y="-3512"/>
                  <a:pt x="1555652" y="-24614"/>
                  <a:pt x="1892104" y="35174"/>
                </a:cubicBezTo>
                <a:cubicBezTo>
                  <a:pt x="2228556" y="94962"/>
                  <a:pt x="2961249" y="422036"/>
                  <a:pt x="2961249" y="422036"/>
                </a:cubicBezTo>
                <a:lnTo>
                  <a:pt x="2961249" y="422036"/>
                </a:lnTo>
                <a:lnTo>
                  <a:pt x="2961249" y="422036"/>
                </a:lnTo>
              </a:path>
            </a:pathLst>
          </a:cu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8" name="TextBox 77"/>
          <p:cNvSpPr txBox="1"/>
          <p:nvPr/>
        </p:nvSpPr>
        <p:spPr>
          <a:xfrm>
            <a:off x="3103600" y="4797149"/>
            <a:ext cx="3561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324283" y="3773254"/>
            <a:ext cx="3577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h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176596" y="4442876"/>
            <a:ext cx="3609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92237" y="4883369"/>
            <a:ext cx="3529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512928" y="4990890"/>
            <a:ext cx="34977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c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984596" y="5316093"/>
            <a:ext cx="3626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246367" y="3487876"/>
            <a:ext cx="2648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861481" y="4143721"/>
            <a:ext cx="2664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l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940478" y="3268608"/>
            <a:ext cx="2664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i</a:t>
            </a:r>
            <a:endParaRPr lang="en-US" sz="2800" dirty="0">
              <a:solidFill>
                <a:srgbClr val="C00000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4560235" y="3205748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306866" y="4154055"/>
            <a:ext cx="4555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790350" y="4198300"/>
            <a:ext cx="2984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f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379737" y="4112920"/>
            <a:ext cx="3609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267426" y="5661056"/>
                <a:ext cx="3108543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Fundamental Circuit</a:t>
                </a:r>
                <a14:m>
                  <m:oMath xmlns:m="http://schemas.openxmlformats.org/officeDocument/2006/math"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l</m:t>
                          </m:r>
                          <m:r>
                            <a:rPr lang="en-US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US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  <m:r>
                            <a:rPr lang="en-US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US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US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US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US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7426" y="5661056"/>
                <a:ext cx="3108543" cy="954107"/>
              </a:xfrm>
              <a:prstGeom prst="rect">
                <a:avLst/>
              </a:prstGeom>
              <a:blipFill rotWithShape="0">
                <a:blip r:embed="rId3"/>
                <a:stretch>
                  <a:fillRect l="-3922" t="-7051" r="-5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5908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9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2060"/>
                                      </p:to>
                                    </p:animClr>
                                    <p:set>
                                      <p:cBhvr>
                                        <p:cTn id="160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2060"/>
                                      </p:to>
                                    </p:animClr>
                                    <p:set>
                                      <p:cBhvr>
                                        <p:cTn id="163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5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2060"/>
                                      </p:to>
                                    </p:animClr>
                                    <p:set>
                                      <p:cBhvr>
                                        <p:cTn id="166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2060"/>
                                      </p:to>
                                    </p:animClr>
                                    <p:set>
                                      <p:cBhvr>
                                        <p:cTn id="169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1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2060"/>
                                      </p:to>
                                    </p:animClr>
                                    <p:set>
                                      <p:cBhvr>
                                        <p:cTn id="172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2060"/>
                                      </p:to>
                                    </p:animClr>
                                    <p:set>
                                      <p:cBhvr>
                                        <p:cTn id="175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7" grpId="0" animBg="1"/>
      <p:bldP spid="29" grpId="0" animBg="1"/>
      <p:bldP spid="31" grpId="0" animBg="1"/>
      <p:bldP spid="32" grpId="0" animBg="1"/>
      <p:bldP spid="35" grpId="0" animBg="1"/>
      <p:bldP spid="36" grpId="0" animBg="1"/>
      <p:bldP spid="43" grpId="0" animBg="1"/>
      <p:bldP spid="43" grpId="1" animBg="1"/>
      <p:bldP spid="43" grpId="2" animBg="1"/>
      <p:bldP spid="44" grpId="0" animBg="1"/>
      <p:bldP spid="44" grpId="1" animBg="1"/>
      <p:bldP spid="45" grpId="0"/>
      <p:bldP spid="45" grpId="1"/>
      <p:bldP spid="46" grpId="0"/>
      <p:bldP spid="47" grpId="0"/>
      <p:bldP spid="48" grpId="0"/>
      <p:bldP spid="48" grpId="1"/>
      <p:bldP spid="49" grpId="0"/>
      <p:bldP spid="50" grpId="0"/>
      <p:bldP spid="50" grpId="1"/>
      <p:bldP spid="50" grpId="2"/>
      <p:bldP spid="51" grpId="0"/>
      <p:bldP spid="52" grpId="0"/>
      <p:bldP spid="53" grpId="0"/>
      <p:bldP spid="54" grpId="0"/>
      <p:bldP spid="54" grpId="1"/>
      <p:bldP spid="55" grpId="0"/>
      <p:bldP spid="55" grpId="1"/>
      <p:bldP spid="56" grpId="0"/>
      <p:bldP spid="56" grpId="1"/>
      <p:bldP spid="57" grpId="0"/>
      <p:bldP spid="57" grpId="1"/>
      <p:bldP spid="6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Fundamental Circuits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Content Placeholder 2">
                <a:extLst>
                  <a:ext uri="{FF2B5EF4-FFF2-40B4-BE49-F238E27FC236}">
                    <a16:creationId xmlns:a16="http://schemas.microsoft.com/office/drawing/2014/main" id="{DC6F4971-704E-42EF-A852-52D75741FB7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80" y="863444"/>
                <a:ext cx="8193954" cy="436575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628650" indent="-352425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895350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257300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1619250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Clr>
                    <a:srgbClr val="B84742"/>
                  </a:buClr>
                </a:pPr>
                <a:r>
                  <a:rPr lang="en-US" b="1" dirty="0"/>
                  <a:t>How many fundamental circuits does a graph have?</a:t>
                </a:r>
              </a:p>
              <a:p>
                <a:pPr lvl="1">
                  <a:buClr>
                    <a:srgbClr val="B84742"/>
                  </a:buClr>
                </a:pPr>
                <a:r>
                  <a:rPr lang="en-US" dirty="0"/>
                  <a:t>Exactly as many as the number of chords</a:t>
                </a:r>
                <a14:m>
                  <m:oMath xmlns:m="http://schemas.openxmlformats.org/officeDocument/2006/math">
                    <m:r>
                      <a:rPr lang="en-US" b="0" i="0" dirty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0" dirty="0"/>
              </a:p>
              <a:p>
                <a:pPr lvl="1">
                  <a:buClr>
                    <a:srgbClr val="B84742"/>
                  </a:buClr>
                </a:pPr>
                <a:r>
                  <a:rPr lang="en-US" dirty="0"/>
                  <a:t>We have eight chords: 𝐚, </a:t>
                </a:r>
                <a:r>
                  <a:rPr lang="en-US" b="1" dirty="0"/>
                  <a:t>d</a:t>
                </a:r>
                <a:r>
                  <a:rPr lang="en-US" dirty="0"/>
                  <a:t>, 𝐞, 𝐟, 𝐠, 𝐦, and 𝐤. </a:t>
                </a:r>
              </a:p>
              <a:p>
                <a:pPr lvl="1">
                  <a:buClr>
                    <a:srgbClr val="B84742"/>
                  </a:buClr>
                </a:pPr>
                <a:r>
                  <a:rPr lang="en-US" dirty="0"/>
                  <a:t>Therefore, there are only </a:t>
                </a:r>
                <a:r>
                  <a:rPr lang="en-US" b="1" dirty="0"/>
                  <a:t>eight fundamental circuits</a:t>
                </a:r>
                <a:r>
                  <a:rPr lang="en-US" dirty="0"/>
                  <a:t>. </a:t>
                </a:r>
              </a:p>
              <a:p>
                <a:pPr lvl="1">
                  <a:buClr>
                    <a:srgbClr val="B84742"/>
                  </a:buClr>
                </a:pPr>
                <a:r>
                  <a:rPr lang="en-US" dirty="0"/>
                  <a:t>Each fundamental circuits formed by one chord together with the branches of the tree.</a:t>
                </a:r>
              </a:p>
              <a:p>
                <a:pPr>
                  <a:buClr>
                    <a:srgbClr val="B84742"/>
                  </a:buClr>
                </a:pPr>
                <a:endParaRPr lang="en-US" b="1" dirty="0"/>
              </a:p>
              <a:p>
                <a:pPr lvl="1">
                  <a:buClr>
                    <a:srgbClr val="B84742"/>
                  </a:buClr>
                </a:pPr>
                <a:endParaRPr lang="en-US" b="1" dirty="0"/>
              </a:p>
              <a:p>
                <a:pPr marL="276225" lvl="1" indent="0">
                  <a:buClr>
                    <a:srgbClr val="B84742"/>
                  </a:buClr>
                  <a:buNone/>
                </a:pPr>
                <a:endParaRPr lang="en-US" b="1" dirty="0"/>
              </a:p>
            </p:txBody>
          </p:sp>
        </mc:Choice>
        <mc:Fallback xmlns="">
          <p:sp>
            <p:nvSpPr>
              <p:cNvPr id="93" name="Content Placeholder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DC6F4971-704E-42EF-A852-52D75741FB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0" y="863444"/>
                <a:ext cx="8193954" cy="4365755"/>
              </a:xfrm>
              <a:prstGeom prst="rect">
                <a:avLst/>
              </a:prstGeom>
              <a:blipFill rotWithShape="0">
                <a:blip r:embed="rId2"/>
                <a:stretch>
                  <a:fillRect l="-1414" r="-14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9350" y="898353"/>
            <a:ext cx="3072650" cy="2865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316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Fundamental Circuits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869476" cy="5661900"/>
          </a:xfrm>
          <a:prstGeom prst="rect">
            <a:avLst/>
          </a:prstGeom>
        </p:spPr>
        <p:txBody>
          <a:bodyPr>
            <a:noAutofit/>
          </a:bodyPr>
          <a:lstStyle>
            <a:lvl1pPr marL="265113" indent="-265113" algn="just" defTabSz="914400" rtl="0" eaLnBrk="1" latinLnBrk="0" hangingPunct="1">
              <a:lnSpc>
                <a:spcPct val="125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628650" indent="-352425" algn="just" defTabSz="914400" rtl="0" eaLnBrk="1" latinLnBrk="0" hangingPunct="1">
              <a:lnSpc>
                <a:spcPct val="125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895350" indent="-228600" algn="just" defTabSz="914400" rtl="0" eaLnBrk="1" latinLnBrk="0" hangingPunct="1">
              <a:lnSpc>
                <a:spcPct val="125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1257300" indent="-228600" algn="just" defTabSz="914400" rtl="0" eaLnBrk="1" latinLnBrk="0" hangingPunct="1">
              <a:lnSpc>
                <a:spcPct val="125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1619250" indent="-228600" algn="just" defTabSz="914400" rtl="0" eaLnBrk="1" latinLnBrk="0" hangingPunct="1">
              <a:lnSpc>
                <a:spcPct val="125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en-US" dirty="0">
                <a:solidFill>
                  <a:srgbClr val="FF0000"/>
                </a:solidFill>
              </a:rPr>
              <a:t>Keep in mind: </a:t>
            </a:r>
          </a:p>
          <a:p>
            <a:pPr lvl="0"/>
            <a:r>
              <a:rPr lang="en-US" dirty="0"/>
              <a:t>A circuit is a fundamental circuit only with respect to a given spanning tree.</a:t>
            </a:r>
          </a:p>
          <a:p>
            <a:pPr lvl="0"/>
            <a:r>
              <a:rPr lang="en-US" dirty="0"/>
              <a:t>A given circuit may be fundamental with respect to one spanning tree, but not with respect to other spanning tree of the same graph.</a:t>
            </a:r>
          </a:p>
          <a:p>
            <a:r>
              <a:rPr lang="en-US" dirty="0"/>
              <a:t>Although the number of fundamental circuits in a graph is fixed.</a:t>
            </a:r>
          </a:p>
          <a:p>
            <a:r>
              <a:rPr lang="en-US" b="1" dirty="0"/>
              <a:t>The circuits that become fundamental change with the spanning trees.</a:t>
            </a:r>
          </a:p>
        </p:txBody>
      </p:sp>
    </p:spTree>
    <p:extLst>
      <p:ext uri="{BB962C8B-B14F-4D97-AF65-F5344CB8AC3E}">
        <p14:creationId xmlns:p14="http://schemas.microsoft.com/office/powerpoint/2010/main" val="334064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FINDING ALL SPANNING TREES OF A GRAPH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869476" cy="5661900"/>
          </a:xfrm>
          <a:prstGeom prst="rect">
            <a:avLst/>
          </a:prstGeom>
        </p:spPr>
        <p:txBody>
          <a:bodyPr>
            <a:noAutofit/>
          </a:bodyPr>
          <a:lstStyle>
            <a:lvl1pPr marL="265113" indent="-265113" algn="just" defTabSz="914400" rtl="0" eaLnBrk="1" latinLnBrk="0" hangingPunct="1">
              <a:lnSpc>
                <a:spcPct val="125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628650" indent="-352425" algn="just" defTabSz="914400" rtl="0" eaLnBrk="1" latinLnBrk="0" hangingPunct="1">
              <a:lnSpc>
                <a:spcPct val="125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895350" indent="-228600" algn="just" defTabSz="914400" rtl="0" eaLnBrk="1" latinLnBrk="0" hangingPunct="1">
              <a:lnSpc>
                <a:spcPct val="125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1257300" indent="-228600" algn="just" defTabSz="914400" rtl="0" eaLnBrk="1" latinLnBrk="0" hangingPunct="1">
              <a:lnSpc>
                <a:spcPct val="125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1619250" indent="-228600" algn="just" defTabSz="914400" rtl="0" eaLnBrk="1" latinLnBrk="0" hangingPunct="1">
              <a:lnSpc>
                <a:spcPct val="125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dirty="0"/>
              <a:t>In a given connected graph there are a large number of spanning trees:</a:t>
            </a:r>
          </a:p>
          <a:p>
            <a:pPr lvl="0"/>
            <a:r>
              <a:rPr lang="en-US" dirty="0"/>
              <a:t>To find the exact number of spanning trees, </a:t>
            </a:r>
            <a:r>
              <a:rPr lang="en-US" b="1" dirty="0"/>
              <a:t>Kirchhoff's Matrix-Tree Theorem (</a:t>
            </a:r>
            <a:r>
              <a:rPr lang="en-US" dirty="0"/>
              <a:t>The </a:t>
            </a:r>
            <a:r>
              <a:rPr lang="en-US" b="1" dirty="0"/>
              <a:t>determinant</a:t>
            </a:r>
            <a:r>
              <a:rPr lang="en-US" dirty="0"/>
              <a:t> of that minor of the </a:t>
            </a:r>
            <a:r>
              <a:rPr lang="en-US" dirty="0" err="1"/>
              <a:t>Laplacian</a:t>
            </a:r>
            <a:r>
              <a:rPr lang="en-US" dirty="0"/>
              <a:t> matrix is the </a:t>
            </a:r>
            <a:r>
              <a:rPr lang="en-US" b="1" dirty="0"/>
              <a:t>number of spanning trees).</a:t>
            </a:r>
            <a:endParaRPr lang="en-US" dirty="0"/>
          </a:p>
          <a:p>
            <a:pPr lvl="0"/>
            <a:r>
              <a:rPr lang="en-US" dirty="0"/>
              <a:t>Here instead of this theorem we will use following procedure for finding all spanning tree of a graph.</a:t>
            </a:r>
          </a:p>
        </p:txBody>
      </p:sp>
    </p:spTree>
    <p:extLst>
      <p:ext uri="{BB962C8B-B14F-4D97-AF65-F5344CB8AC3E}">
        <p14:creationId xmlns:p14="http://schemas.microsoft.com/office/powerpoint/2010/main" val="1912259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PROCEDURE: Finding All Spanning Trees Of A Graph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Content Placeholder 2">
                <a:extLst>
                  <a:ext uri="{FF2B5EF4-FFF2-40B4-BE49-F238E27FC236}">
                    <a16:creationId xmlns:a16="http://schemas.microsoft.com/office/drawing/2014/main" id="{DC6F4971-704E-42EF-A852-52D75741FB7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9" y="863444"/>
                <a:ext cx="8795341" cy="573390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628650" indent="-352425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895350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257300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1619250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400" b="1" dirty="0"/>
                  <a:t>Step 1:</a:t>
                </a:r>
                <a:r>
                  <a:rPr lang="en-US" sz="2400" dirty="0"/>
                  <a:t> Start with any spanning tree of the graph. Let's say the tree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0" dirty="0" smtClean="0">
                            <a:latin typeface="Cambria Math" panose="02040503050406030204" pitchFamily="18" charset="0"/>
                          </a:rPr>
                          <m:t>𝐓</m:t>
                        </m:r>
                      </m:e>
                      <m:sub>
                        <m: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 i="0" dirty="0" smtClean="0">
                            <a:latin typeface="Cambria Math" panose="02040503050406030204" pitchFamily="18" charset="0"/>
                          </a:rPr>
                          <m:t>e</m:t>
                        </m:r>
                        <m:r>
                          <a:rPr lang="en-US" sz="2400" i="0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sz="2400" i="0" dirty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sz="2400" i="0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sz="2400" i="0" dirty="0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400" i="0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sz="2400" i="0" dirty="0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</m:d>
                  </m:oMath>
                </a14:m>
                <a:r>
                  <a:rPr lang="en-US" sz="2400" dirty="0"/>
                  <a:t>.</a:t>
                </a:r>
              </a:p>
              <a:p>
                <a:r>
                  <a:rPr lang="en-US" sz="2400" b="1" dirty="0"/>
                  <a:t>Step 2:</a:t>
                </a:r>
                <a:r>
                  <a:rPr lang="en-US" sz="2400" dirty="0"/>
                  <a:t> Add a </a:t>
                </a:r>
                <a:r>
                  <a:rPr lang="en-US" sz="2400" b="1" dirty="0"/>
                  <a:t>chord</a:t>
                </a:r>
                <a:r>
                  <a:rPr lang="en-US" sz="2400" dirty="0"/>
                  <a:t> to the tree. For example, add edge </a:t>
                </a:r>
                <a:r>
                  <a:rPr lang="en-US" sz="2400" b="1" dirty="0"/>
                  <a:t>g</a:t>
                </a:r>
                <a:r>
                  <a:rPr lang="en-US" sz="2400" dirty="0"/>
                  <a:t>. This will create a </a:t>
                </a:r>
                <a:r>
                  <a:rPr lang="en-US" sz="2400" b="1" dirty="0"/>
                  <a:t>fundamental circuit</a:t>
                </a:r>
                <a:r>
                  <a:rPr lang="en-US" sz="2400" dirty="0"/>
                  <a:t> — </a:t>
                </a:r>
                <a14:m>
                  <m:oMath xmlns:m="http://schemas.openxmlformats.org/officeDocument/2006/math">
                    <m:r>
                      <a:rPr lang="en-US" sz="2400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400" i="0" dirty="0"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sz="2400" i="0" dirty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400" i="0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i="0" dirty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400" i="0" dirty="0">
                        <a:latin typeface="Cambria Math" panose="02040503050406030204" pitchFamily="18" charset="0"/>
                      </a:rPr>
                      <m:t>g</m:t>
                    </m:r>
                    <m:r>
                      <a:rPr lang="en-US" sz="2400" i="0" dirty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400" i="0" dirty="0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sz="2400" i="0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r>
                  <a:rPr lang="en-US" sz="2400" b="1" dirty="0"/>
                  <a:t>Step 3:</a:t>
                </a:r>
                <a:r>
                  <a:rPr lang="en-US" sz="2400" dirty="0"/>
                  <a:t> Remove one </a:t>
                </a:r>
                <a:r>
                  <a:rPr lang="en-US" sz="2400" b="1" dirty="0"/>
                  <a:t>branch</a:t>
                </a:r>
                <a:r>
                  <a:rPr lang="en-US" sz="2400" dirty="0"/>
                  <a:t> from this fundamental circuit. For example, remove edge </a:t>
                </a:r>
                <a:r>
                  <a:rPr lang="en-US" sz="2400" b="1" dirty="0"/>
                  <a:t>h</a:t>
                </a:r>
                <a:r>
                  <a:rPr lang="en-US" sz="2400" dirty="0"/>
                  <a:t>.</a:t>
                </a:r>
              </a:p>
              <a:p>
                <a:r>
                  <a:rPr lang="en-US" sz="2400" b="1" dirty="0"/>
                  <a:t>Step 4:</a:t>
                </a:r>
                <a:r>
                  <a:rPr lang="en-US" sz="2400" dirty="0"/>
                  <a:t> The result is a new spanning tree, called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0" dirty="0" smtClean="0">
                            <a:latin typeface="Cambria Math" panose="02040503050406030204" pitchFamily="18" charset="0"/>
                          </a:rPr>
                          <m:t>𝐓</m:t>
                        </m:r>
                      </m:e>
                      <m:sub>
                        <m:r>
                          <a:rPr lang="en-US" sz="2400" b="1" i="0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400" dirty="0"/>
                  <a:t>.</a:t>
                </a:r>
              </a:p>
              <a:p>
                <a:r>
                  <a:rPr lang="en-US" sz="2400" dirty="0"/>
                  <a:t>This method of creating a new spanning tree from an existing one by adding a chord and removing one branch from the resulting </a:t>
                </a:r>
                <a:r>
                  <a:rPr lang="en-US" sz="2400" b="1" dirty="0"/>
                  <a:t>fundamental circuit </a:t>
                </a:r>
                <a:r>
                  <a:rPr lang="en-US" sz="2400" dirty="0"/>
                  <a:t>is called a </a:t>
                </a:r>
                <a:r>
                  <a:rPr lang="en-US" sz="2400" b="1" dirty="0"/>
                  <a:t>cyclic interchange</a:t>
                </a:r>
                <a:r>
                  <a:rPr lang="en-US" sz="2400" dirty="0"/>
                  <a:t> or an </a:t>
                </a:r>
                <a:r>
                  <a:rPr lang="en-US" sz="2400" b="1" dirty="0"/>
                  <a:t>elementary tree transformation</a:t>
                </a:r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93" name="Content Placeholder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DC6F4971-704E-42EF-A852-52D75741FB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9" y="863444"/>
                <a:ext cx="8795341" cy="5733908"/>
              </a:xfrm>
              <a:prstGeom prst="rect">
                <a:avLst/>
              </a:prstGeom>
              <a:blipFill rotWithShape="0">
                <a:blip r:embed="rId2"/>
                <a:stretch>
                  <a:fillRect l="-971" r="-1110" b="-1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10648285" y="2672675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9935912" y="3392755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11368365" y="3392755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5" idx="5"/>
            <a:endCxn id="6" idx="1"/>
          </p:cNvCxnSpPr>
          <p:nvPr/>
        </p:nvCxnSpPr>
        <p:spPr>
          <a:xfrm flipH="1">
            <a:off x="10058824" y="2795587"/>
            <a:ext cx="610549" cy="618256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5" idx="7"/>
            <a:endCxn id="7" idx="3"/>
          </p:cNvCxnSpPr>
          <p:nvPr/>
        </p:nvCxnSpPr>
        <p:spPr>
          <a:xfrm>
            <a:off x="10771197" y="2795587"/>
            <a:ext cx="618256" cy="618256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7" idx="4"/>
            <a:endCxn id="6" idx="0"/>
          </p:cNvCxnSpPr>
          <p:nvPr/>
        </p:nvCxnSpPr>
        <p:spPr>
          <a:xfrm flipH="1">
            <a:off x="10079912" y="3464755"/>
            <a:ext cx="1288453" cy="0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9928205" y="4832915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11368365" y="4832915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6" idx="6"/>
            <a:endCxn id="12" idx="2"/>
          </p:cNvCxnSpPr>
          <p:nvPr/>
        </p:nvCxnSpPr>
        <p:spPr>
          <a:xfrm flipH="1">
            <a:off x="10000205" y="3536755"/>
            <a:ext cx="7707" cy="1296160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7" idx="6"/>
            <a:endCxn id="13" idx="2"/>
          </p:cNvCxnSpPr>
          <p:nvPr/>
        </p:nvCxnSpPr>
        <p:spPr>
          <a:xfrm>
            <a:off x="11440365" y="3536755"/>
            <a:ext cx="0" cy="1296160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13" idx="4"/>
            <a:endCxn id="12" idx="0"/>
          </p:cNvCxnSpPr>
          <p:nvPr/>
        </p:nvCxnSpPr>
        <p:spPr>
          <a:xfrm flipH="1">
            <a:off x="10072205" y="4904915"/>
            <a:ext cx="1296160" cy="0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13" idx="3"/>
            <a:endCxn id="6" idx="7"/>
          </p:cNvCxnSpPr>
          <p:nvPr/>
        </p:nvCxnSpPr>
        <p:spPr>
          <a:xfrm flipH="1" flipV="1">
            <a:off x="10058824" y="3515667"/>
            <a:ext cx="1330629" cy="1338336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8" name="Freeform: Shape 34">
            <a:extLst>
              <a:ext uri="{FF2B5EF4-FFF2-40B4-BE49-F238E27FC236}">
                <a16:creationId xmlns:a16="http://schemas.microsoft.com/office/drawing/2014/main" id="{5A43D9D2-4CAA-3544-4E99-2BE62F8BF717}"/>
              </a:ext>
            </a:extLst>
          </p:cNvPr>
          <p:cNvSpPr/>
          <p:nvPr/>
        </p:nvSpPr>
        <p:spPr>
          <a:xfrm rot="6444775" flipV="1">
            <a:off x="8655169" y="3114169"/>
            <a:ext cx="2264467" cy="1094257"/>
          </a:xfrm>
          <a:custGeom>
            <a:avLst/>
            <a:gdLst>
              <a:gd name="connsiteX0" fmla="*/ 0 w 2961249"/>
              <a:gd name="connsiteY0" fmla="*/ 436103 h 436103"/>
              <a:gd name="connsiteX1" fmla="*/ 942535 w 2961249"/>
              <a:gd name="connsiteY1" fmla="*/ 63310 h 436103"/>
              <a:gd name="connsiteX2" fmla="*/ 1892104 w 2961249"/>
              <a:gd name="connsiteY2" fmla="*/ 35174 h 436103"/>
              <a:gd name="connsiteX3" fmla="*/ 2961249 w 2961249"/>
              <a:gd name="connsiteY3" fmla="*/ 422036 h 436103"/>
              <a:gd name="connsiteX4" fmla="*/ 2961249 w 2961249"/>
              <a:gd name="connsiteY4" fmla="*/ 422036 h 436103"/>
              <a:gd name="connsiteX5" fmla="*/ 2961249 w 2961249"/>
              <a:gd name="connsiteY5" fmla="*/ 422036 h 436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61249" h="436103">
                <a:moveTo>
                  <a:pt x="0" y="436103"/>
                </a:moveTo>
                <a:cubicBezTo>
                  <a:pt x="313592" y="283117"/>
                  <a:pt x="627184" y="130131"/>
                  <a:pt x="942535" y="63310"/>
                </a:cubicBezTo>
                <a:cubicBezTo>
                  <a:pt x="1257886" y="-3512"/>
                  <a:pt x="1555652" y="-24614"/>
                  <a:pt x="1892104" y="35174"/>
                </a:cubicBezTo>
                <a:cubicBezTo>
                  <a:pt x="2228556" y="94962"/>
                  <a:pt x="2961249" y="422036"/>
                  <a:pt x="2961249" y="422036"/>
                </a:cubicBezTo>
                <a:lnTo>
                  <a:pt x="2961249" y="422036"/>
                </a:lnTo>
                <a:lnTo>
                  <a:pt x="2961249" y="422036"/>
                </a:lnTo>
              </a:path>
            </a:pathLst>
          </a:cu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/>
          <p:cNvSpPr txBox="1"/>
          <p:nvPr/>
        </p:nvSpPr>
        <p:spPr>
          <a:xfrm>
            <a:off x="9291142" y="3352089"/>
            <a:ext cx="3561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B0F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39294" y="3352089"/>
            <a:ext cx="3529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B0F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6773" y="3881317"/>
            <a:ext cx="3577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B0F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61437" y="3918499"/>
            <a:ext cx="3626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B0F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39026" y="3777277"/>
            <a:ext cx="2984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B0F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89419" y="2654469"/>
            <a:ext cx="3609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B0F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69612" y="4760524"/>
            <a:ext cx="3609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B0F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48767" y="2846023"/>
            <a:ext cx="3497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B0F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10392385" y="5421259"/>
                <a:ext cx="49237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𝐓</m:t>
                          </m:r>
                        </m:e>
                        <m:sub>
                          <m:r>
                            <a:rPr lang="en-US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2385" y="5421259"/>
                <a:ext cx="492378" cy="369332"/>
              </a:xfrm>
              <a:prstGeom prst="rect">
                <a:avLst/>
              </a:prstGeom>
              <a:blipFill rotWithShape="0">
                <a:blip r:embed="rId3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10406240" y="5440790"/>
                <a:ext cx="47852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𝐓</m:t>
                          </m:r>
                        </m:e>
                        <m:sub>
                          <m:r>
                            <a:rPr lang="en-US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6240" y="5440790"/>
                <a:ext cx="478528" cy="369332"/>
              </a:xfrm>
              <a:prstGeom prst="rect">
                <a:avLst/>
              </a:prstGeom>
              <a:blipFill rotWithShape="0">
                <a:blip r:embed="rId4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92385" y="1029237"/>
            <a:ext cx="1639390" cy="1686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096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/>
      <p:bldP spid="21" grpId="0"/>
      <p:bldP spid="23" grpId="0"/>
      <p:bldP spid="24" grpId="0"/>
      <p:bldP spid="25" grpId="0"/>
      <p:bldP spid="25" grpId="1"/>
      <p:bldP spid="2" grpId="0"/>
      <p:bldP spid="2" grpId="1"/>
      <p:bldP spid="27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Method-4</a:t>
            </a:r>
          </a:p>
        </p:txBody>
      </p:sp>
    </p:spTree>
    <p:extLst>
      <p:ext uri="{BB962C8B-B14F-4D97-AF65-F5344CB8AC3E}">
        <p14:creationId xmlns:p14="http://schemas.microsoft.com/office/powerpoint/2010/main" val="154116821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2"/>
          <p:cNvSpPr txBox="1">
            <a:spLocks/>
          </p:cNvSpPr>
          <p:nvPr/>
        </p:nvSpPr>
        <p:spPr>
          <a:xfrm>
            <a:off x="131176" y="867839"/>
            <a:ext cx="11929645" cy="976985"/>
          </a:xfrm>
          <a:prstGeom prst="rect">
            <a:avLst/>
          </a:pr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lvl="0"/>
          </a:lstStyle>
          <a:p>
            <a:r>
              <a:rPr lang="en-US" sz="2800" dirty="0">
                <a:solidFill>
                  <a:schemeClr val="bg1"/>
                </a:solidFill>
              </a:rPr>
              <a:t>Find any fundamental circuit with respect to spanning tree of your choice and how many such fundamental circuits following graph have.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35C8299-099D-4E74-A7B7-29B2E1FD450E}"/>
              </a:ext>
            </a:extLst>
          </p:cNvPr>
          <p:cNvSpPr txBox="1">
            <a:spLocks/>
          </p:cNvSpPr>
          <p:nvPr/>
        </p:nvSpPr>
        <p:spPr>
          <a:xfrm>
            <a:off x="125283" y="1897668"/>
            <a:ext cx="1407338" cy="523220"/>
          </a:xfrm>
          <a:prstGeom prst="rect">
            <a:avLst/>
          </a:pr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lvl="0"/>
          </a:lstStyle>
          <a:p>
            <a:r>
              <a:rPr lang="en-IN" sz="2800" dirty="0">
                <a:solidFill>
                  <a:schemeClr val="bg1"/>
                </a:solidFill>
              </a:rPr>
              <a:t>Solution 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Method 4 ⇝ Example 1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125283" y="2453646"/>
                <a:ext cx="8923961" cy="473975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65113" indent="-265113" algn="just">
                  <a:spcBef>
                    <a:spcPts val="1000"/>
                  </a:spcBef>
                  <a:buClr>
                    <a:srgbClr val="B84742"/>
                  </a:buClr>
                  <a:buFont typeface="Wingdings 3" panose="05040102010807070707" pitchFamily="18" charset="2"/>
                  <a:buChar char=""/>
                </a:pPr>
                <a:r>
                  <a:rPr lang="en-US" sz="2800" dirty="0">
                    <a:solidFill>
                      <a:srgbClr val="002060"/>
                    </a:solidFill>
                  </a:rPr>
                  <a:t>Step 1: Start with any spanning tree of the graph. </a:t>
                </a:r>
              </a:p>
              <a:p>
                <a:pPr marL="265113" indent="-265113" algn="just">
                  <a:spcBef>
                    <a:spcPts val="1000"/>
                  </a:spcBef>
                  <a:buClr>
                    <a:srgbClr val="B84742"/>
                  </a:buClr>
                  <a:buFont typeface="Wingdings 3" panose="05040102010807070707" pitchFamily="18" charset="2"/>
                  <a:buChar char=""/>
                </a:pPr>
                <a:r>
                  <a:rPr lang="en-US" sz="2800" dirty="0">
                    <a:solidFill>
                      <a:srgbClr val="002060"/>
                    </a:solidFill>
                  </a:rPr>
                  <a:t>Let's say the tree is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i="0" dirty="0" err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  <m:r>
                          <a:rPr lang="en-US" sz="2800" i="0" dirty="0" err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sz="2800" i="0" dirty="0" err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800" i="0" dirty="0" err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sz="2800" i="0" dirty="0" err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sz="2800" i="0" dirty="0" err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 i="0" dirty="0" err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  <m:r>
                          <a:rPr lang="en-US" sz="2800" i="0" dirty="0" err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 i="0" dirty="0" err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and chord are</a:t>
                </a:r>
                <a14:m>
                  <m:oMath xmlns:m="http://schemas.openxmlformats.org/officeDocument/2006/math">
                    <m: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n-US" sz="280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i="0" dirty="0" err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sz="2800" i="0" dirty="0" err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 i="0" dirty="0" err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sz="2800" i="0" dirty="0" err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 i="0" dirty="0" err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  <m:r>
                          <a:rPr lang="en-US" sz="2800" i="0" dirty="0" err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 i="0" dirty="0" err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</a:p>
              <a:p>
                <a:pPr marL="265113" indent="-265113" algn="just">
                  <a:spcBef>
                    <a:spcPts val="1000"/>
                  </a:spcBef>
                  <a:buClr>
                    <a:srgbClr val="B84742"/>
                  </a:buClr>
                  <a:buFont typeface="Wingdings 3" panose="05040102010807070707" pitchFamily="18" charset="2"/>
                  <a:buChar char=""/>
                </a:pPr>
                <a:r>
                  <a:rPr lang="en-US" sz="2800" dirty="0">
                    <a:solidFill>
                      <a:srgbClr val="002060"/>
                    </a:solidFill>
                  </a:rPr>
                  <a:t>Add any chord to spanning tree we get fundamental circuit. For example </a:t>
                </a:r>
                <a:r>
                  <a:rPr lang="en-US" sz="2800" b="1" dirty="0">
                    <a:solidFill>
                      <a:srgbClr val="002060"/>
                    </a:solidFill>
                  </a:rPr>
                  <a:t>add</a:t>
                </a:r>
                <a14:m>
                  <m:oMath xmlns:m="http://schemas.openxmlformats.org/officeDocument/2006/math">
                    <m:r>
                      <a:rPr lang="en-US" sz="2800" b="1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1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𝐛</m:t>
                    </m:r>
                  </m:oMath>
                </a14:m>
                <a:r>
                  <a:rPr lang="en-US" sz="2800" b="1" dirty="0">
                    <a:solidFill>
                      <a:srgbClr val="002060"/>
                    </a:solidFill>
                  </a:rPr>
                  <a:t> </a:t>
                </a:r>
                <a:r>
                  <a:rPr lang="en-US" sz="2800" dirty="0">
                    <a:solidFill>
                      <a:srgbClr val="002060"/>
                    </a:solidFill>
                  </a:rPr>
                  <a:t>to</a:t>
                </a:r>
                <a14:m>
                  <m:oMath xmlns:m="http://schemas.openxmlformats.org/officeDocument/2006/math"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dirty="0" err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  <m:r>
                          <a:rPr lang="en-US" sz="2800" dirty="0" err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sz="2800" dirty="0" err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800" dirty="0" err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sz="2800" dirty="0" err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sz="2800" dirty="0" err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 dirty="0" err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  <m:r>
                          <a:rPr lang="en-US" sz="2800" dirty="0" err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 dirty="0" err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</a:p>
              <a:p>
                <a:pPr marL="265113" indent="-265113" algn="just">
                  <a:spcBef>
                    <a:spcPts val="1000"/>
                  </a:spcBef>
                  <a:buClr>
                    <a:srgbClr val="B84742"/>
                  </a:buClr>
                  <a:buFont typeface="Wingdings 3" panose="05040102010807070707" pitchFamily="18" charset="2"/>
                  <a:buChar char=""/>
                </a:pPr>
                <a:r>
                  <a:rPr lang="en-US" sz="2800" dirty="0">
                    <a:solidFill>
                      <a:srgbClr val="002060"/>
                    </a:solidFill>
                  </a:rPr>
                  <a:t>i.e.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is fundamental circuit with respect to spanning tree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dirty="0" err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  <m:r>
                          <a:rPr lang="en-US" sz="2800" dirty="0" err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sz="2800" dirty="0" err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800" dirty="0" err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sz="2800" dirty="0" err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sz="2800" dirty="0" err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 dirty="0" err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  <m:r>
                          <a:rPr lang="en-US" sz="2800" dirty="0" err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 dirty="0" err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</a:p>
              <a:p>
                <a:pPr marL="265113" indent="-265113" algn="just">
                  <a:spcBef>
                    <a:spcPts val="1000"/>
                  </a:spcBef>
                  <a:buClr>
                    <a:srgbClr val="B84742"/>
                  </a:buClr>
                  <a:buFont typeface="Wingdings 3" panose="05040102010807070707" pitchFamily="18" charset="2"/>
                  <a:buChar char=""/>
                </a:pPr>
                <a:r>
                  <a:rPr lang="en-US" sz="2800" dirty="0">
                    <a:solidFill>
                      <a:srgbClr val="002060"/>
                    </a:solidFill>
                  </a:rPr>
                  <a:t>Total 4 fundamental circuits graph have. </a:t>
                </a:r>
              </a:p>
              <a:p>
                <a:pPr marL="265113" indent="-265113" algn="just">
                  <a:spcBef>
                    <a:spcPts val="1000"/>
                  </a:spcBef>
                  <a:buClr>
                    <a:srgbClr val="B84742"/>
                  </a:buClr>
                  <a:buFont typeface="Wingdings 3" panose="05040102010807070707" pitchFamily="18" charset="2"/>
                  <a:buChar char=""/>
                </a:pPr>
                <a:endParaRPr lang="en-US" sz="2800" dirty="0">
                  <a:solidFill>
                    <a:srgbClr val="002060"/>
                  </a:solidFill>
                </a:endParaRPr>
              </a:p>
              <a:p>
                <a:pPr algn="just">
                  <a:spcBef>
                    <a:spcPts val="1000"/>
                  </a:spcBef>
                  <a:buClr>
                    <a:srgbClr val="B84742"/>
                  </a:buClr>
                </a:pPr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283" y="2453646"/>
                <a:ext cx="8923961" cy="4739759"/>
              </a:xfrm>
              <a:prstGeom prst="rect">
                <a:avLst/>
              </a:prstGeom>
              <a:blipFill rotWithShape="0">
                <a:blip r:embed="rId2"/>
                <a:stretch>
                  <a:fillRect l="-1299" t="-1416" r="-1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Oval 38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10600596" y="2529604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9888223" y="3249684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11320676" y="3249684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39" idx="5"/>
            <a:endCxn id="40" idx="1"/>
          </p:cNvCxnSpPr>
          <p:nvPr/>
        </p:nvCxnSpPr>
        <p:spPr>
          <a:xfrm flipH="1">
            <a:off x="10011135" y="2652516"/>
            <a:ext cx="610549" cy="618256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39" idx="7"/>
            <a:endCxn id="41" idx="3"/>
          </p:cNvCxnSpPr>
          <p:nvPr/>
        </p:nvCxnSpPr>
        <p:spPr>
          <a:xfrm>
            <a:off x="10723508" y="2652516"/>
            <a:ext cx="618256" cy="618256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41" idx="4"/>
            <a:endCxn id="40" idx="0"/>
          </p:cNvCxnSpPr>
          <p:nvPr/>
        </p:nvCxnSpPr>
        <p:spPr>
          <a:xfrm flipH="1">
            <a:off x="10032223" y="3321684"/>
            <a:ext cx="1288453" cy="0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9880516" y="4689844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11320676" y="4689844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40" idx="6"/>
            <a:endCxn id="45" idx="2"/>
          </p:cNvCxnSpPr>
          <p:nvPr/>
        </p:nvCxnSpPr>
        <p:spPr>
          <a:xfrm flipH="1">
            <a:off x="9952516" y="3393684"/>
            <a:ext cx="7707" cy="1296160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41" idx="6"/>
            <a:endCxn id="46" idx="2"/>
          </p:cNvCxnSpPr>
          <p:nvPr/>
        </p:nvCxnSpPr>
        <p:spPr>
          <a:xfrm>
            <a:off x="11392676" y="3393684"/>
            <a:ext cx="0" cy="1296160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46" idx="4"/>
            <a:endCxn id="45" idx="0"/>
          </p:cNvCxnSpPr>
          <p:nvPr/>
        </p:nvCxnSpPr>
        <p:spPr>
          <a:xfrm flipH="1">
            <a:off x="10024516" y="4761844"/>
            <a:ext cx="1296160" cy="0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46" idx="3"/>
            <a:endCxn id="40" idx="7"/>
          </p:cNvCxnSpPr>
          <p:nvPr/>
        </p:nvCxnSpPr>
        <p:spPr>
          <a:xfrm flipH="1" flipV="1">
            <a:off x="10011135" y="3372596"/>
            <a:ext cx="1330629" cy="1338336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1" name="TextBox 50"/>
          <p:cNvSpPr txBox="1"/>
          <p:nvPr/>
        </p:nvSpPr>
        <p:spPr>
          <a:xfrm>
            <a:off x="9995390" y="5000612"/>
            <a:ext cx="3561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B0F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80220" y="2536854"/>
            <a:ext cx="3529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B0F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32027" y="2837297"/>
            <a:ext cx="3577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B0F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413748" y="3775428"/>
            <a:ext cx="3626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B0F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010137" y="2563139"/>
            <a:ext cx="2984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B0F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f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052752" y="5039673"/>
            <a:ext cx="3609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B0F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21923" y="4617453"/>
            <a:ext cx="3609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B0F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960223" y="3667786"/>
            <a:ext cx="3497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B0F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c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71" idx="3"/>
            <a:endCxn id="45" idx="7"/>
          </p:cNvCxnSpPr>
          <p:nvPr/>
        </p:nvCxnSpPr>
        <p:spPr>
          <a:xfrm flipH="1" flipV="1">
            <a:off x="10003428" y="4812756"/>
            <a:ext cx="614237" cy="627225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1" name="Oval 70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10596577" y="5418893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71" idx="1"/>
            <a:endCxn id="46" idx="5"/>
          </p:cNvCxnSpPr>
          <p:nvPr/>
        </p:nvCxnSpPr>
        <p:spPr>
          <a:xfrm flipV="1">
            <a:off x="10719489" y="4812756"/>
            <a:ext cx="622275" cy="627225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3" name="TextBox 72"/>
          <p:cNvSpPr txBox="1"/>
          <p:nvPr/>
        </p:nvSpPr>
        <p:spPr>
          <a:xfrm>
            <a:off x="10552993" y="3524210"/>
            <a:ext cx="2664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B0F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1248212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B9D98F"/>
                                      </p:to>
                                    </p:animClr>
                                    <p:set>
                                      <p:cBhvr>
                                        <p:cTn id="9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B9D98F"/>
                                      </p:to>
                                    </p:animClr>
                                    <p:set>
                                      <p:cBhvr>
                                        <p:cTn id="12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7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B9D98F"/>
                                      </p:to>
                                    </p:animClr>
                                    <p:set>
                                      <p:cBhvr>
                                        <p:cTn id="15" dur="7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B9D98F"/>
                                      </p:to>
                                    </p:animClr>
                                    <p:set>
                                      <p:cBhvr>
                                        <p:cTn id="18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" dur="7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1" dur="7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" dur="7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7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B9D98F"/>
                                      </p:to>
                                    </p:animClr>
                                    <p:set>
                                      <p:cBhvr>
                                        <p:cTn id="25" dur="7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" dur="7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2060"/>
                                      </p:to>
                                    </p:animClr>
                                    <p:set>
                                      <p:cBhvr>
                                        <p:cTn id="38" dur="7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66" grpId="0"/>
      <p:bldP spid="73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2"/>
          <p:cNvSpPr txBox="1">
            <a:spLocks/>
          </p:cNvSpPr>
          <p:nvPr/>
        </p:nvSpPr>
        <p:spPr>
          <a:xfrm>
            <a:off x="131176" y="867839"/>
            <a:ext cx="11929645" cy="976985"/>
          </a:xfrm>
          <a:prstGeom prst="rect">
            <a:avLst/>
          </a:pr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lvl="0"/>
          </a:lstStyle>
          <a:p>
            <a:r>
              <a:rPr lang="en-US" sz="2800" dirty="0">
                <a:solidFill>
                  <a:schemeClr val="bg1"/>
                </a:solidFill>
              </a:rPr>
              <a:t>Generate any 2 spanning tree using procedure of finding all spanning tree for following graph.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35C8299-099D-4E74-A7B7-29B2E1FD450E}"/>
              </a:ext>
            </a:extLst>
          </p:cNvPr>
          <p:cNvSpPr txBox="1">
            <a:spLocks/>
          </p:cNvSpPr>
          <p:nvPr/>
        </p:nvSpPr>
        <p:spPr>
          <a:xfrm>
            <a:off x="125283" y="1897668"/>
            <a:ext cx="1407338" cy="523220"/>
          </a:xfrm>
          <a:prstGeom prst="rect">
            <a:avLst/>
          </a:pr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lvl="0"/>
          </a:lstStyle>
          <a:p>
            <a:r>
              <a:rPr lang="en-IN" sz="2800" dirty="0">
                <a:solidFill>
                  <a:schemeClr val="bg1"/>
                </a:solidFill>
              </a:rPr>
              <a:t>Solution 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Method 4 ⇝ Example 2</a:t>
            </a:r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10093287" y="2877222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9380914" y="3597302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10813367" y="3597302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26" idx="5"/>
            <a:endCxn id="27" idx="1"/>
          </p:cNvCxnSpPr>
          <p:nvPr/>
        </p:nvCxnSpPr>
        <p:spPr>
          <a:xfrm flipH="1">
            <a:off x="9503826" y="3000134"/>
            <a:ext cx="610549" cy="618256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26" idx="7"/>
            <a:endCxn id="28" idx="3"/>
          </p:cNvCxnSpPr>
          <p:nvPr/>
        </p:nvCxnSpPr>
        <p:spPr>
          <a:xfrm>
            <a:off x="10216199" y="3000134"/>
            <a:ext cx="618256" cy="618256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28" idx="4"/>
            <a:endCxn id="27" idx="0"/>
          </p:cNvCxnSpPr>
          <p:nvPr/>
        </p:nvCxnSpPr>
        <p:spPr>
          <a:xfrm flipH="1">
            <a:off x="9524914" y="3669302"/>
            <a:ext cx="1288453" cy="0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9373207" y="5037462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10813367" y="5037462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27" idx="6"/>
            <a:endCxn id="32" idx="2"/>
          </p:cNvCxnSpPr>
          <p:nvPr/>
        </p:nvCxnSpPr>
        <p:spPr>
          <a:xfrm flipH="1">
            <a:off x="9445207" y="3741302"/>
            <a:ext cx="7707" cy="1296160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28" idx="6"/>
            <a:endCxn id="33" idx="2"/>
          </p:cNvCxnSpPr>
          <p:nvPr/>
        </p:nvCxnSpPr>
        <p:spPr>
          <a:xfrm>
            <a:off x="10885367" y="3741302"/>
            <a:ext cx="0" cy="1296160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33" idx="4"/>
            <a:endCxn id="32" idx="0"/>
          </p:cNvCxnSpPr>
          <p:nvPr/>
        </p:nvCxnSpPr>
        <p:spPr>
          <a:xfrm flipH="1">
            <a:off x="9517207" y="5109462"/>
            <a:ext cx="1296160" cy="0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33" idx="3"/>
            <a:endCxn id="27" idx="7"/>
          </p:cNvCxnSpPr>
          <p:nvPr/>
        </p:nvCxnSpPr>
        <p:spPr>
          <a:xfrm flipH="1" flipV="1">
            <a:off x="9503826" y="3720214"/>
            <a:ext cx="1330629" cy="1338336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8" name="TextBox 37"/>
          <p:cNvSpPr txBox="1"/>
          <p:nvPr/>
        </p:nvSpPr>
        <p:spPr>
          <a:xfrm>
            <a:off x="9488081" y="5348230"/>
            <a:ext cx="3561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B0F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72911" y="2884472"/>
            <a:ext cx="3529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B0F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24718" y="3184915"/>
            <a:ext cx="3577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B0F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906439" y="4123046"/>
            <a:ext cx="3626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B0F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02828" y="2910757"/>
            <a:ext cx="2984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B0F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f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45443" y="5387291"/>
            <a:ext cx="3609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B0F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14614" y="4965071"/>
            <a:ext cx="3609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B0F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49243" y="4045834"/>
            <a:ext cx="3497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B0F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c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63" idx="3"/>
            <a:endCxn id="32" idx="7"/>
          </p:cNvCxnSpPr>
          <p:nvPr/>
        </p:nvCxnSpPr>
        <p:spPr>
          <a:xfrm flipH="1" flipV="1">
            <a:off x="9496119" y="5160374"/>
            <a:ext cx="614237" cy="627225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3" name="Oval 62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10089268" y="5766511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63" idx="1"/>
            <a:endCxn id="33" idx="5"/>
          </p:cNvCxnSpPr>
          <p:nvPr/>
        </p:nvCxnSpPr>
        <p:spPr>
          <a:xfrm flipV="1">
            <a:off x="10212180" y="5160374"/>
            <a:ext cx="622275" cy="627225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5" name="TextBox 64"/>
          <p:cNvSpPr txBox="1"/>
          <p:nvPr/>
        </p:nvSpPr>
        <p:spPr>
          <a:xfrm>
            <a:off x="10045684" y="3871828"/>
            <a:ext cx="2664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B0F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5282" y="2490118"/>
            <a:ext cx="8923961" cy="16414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1000"/>
              </a:spcBef>
              <a:buClr>
                <a:srgbClr val="B84742"/>
              </a:buClr>
            </a:pPr>
            <a:endParaRPr lang="en-US" sz="2800" dirty="0">
              <a:solidFill>
                <a:srgbClr val="002060"/>
              </a:solidFill>
            </a:endParaRPr>
          </a:p>
          <a:p>
            <a:pPr marL="265113" indent="-265113" algn="just">
              <a:spcBef>
                <a:spcPts val="1000"/>
              </a:spcBef>
              <a:buClr>
                <a:srgbClr val="B84742"/>
              </a:buClr>
              <a:buFont typeface="Wingdings 3" panose="05040102010807070707" pitchFamily="18" charset="2"/>
              <a:buChar char=""/>
            </a:pPr>
            <a:endParaRPr lang="en-US" sz="2800" dirty="0">
              <a:solidFill>
                <a:srgbClr val="002060"/>
              </a:solidFill>
            </a:endParaRPr>
          </a:p>
          <a:p>
            <a:pPr algn="just">
              <a:spcBef>
                <a:spcPts val="1000"/>
              </a:spcBef>
              <a:buClr>
                <a:srgbClr val="B84742"/>
              </a:buClr>
            </a:pPr>
            <a:endParaRPr lang="en-US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/>
              <p:cNvSpPr/>
              <p:nvPr/>
            </p:nvSpPr>
            <p:spPr>
              <a:xfrm>
                <a:off x="125282" y="2490118"/>
                <a:ext cx="8923961" cy="405239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65113" indent="-265113" algn="just">
                  <a:spcBef>
                    <a:spcPts val="1000"/>
                  </a:spcBef>
                  <a:buClr>
                    <a:srgbClr val="B84742"/>
                  </a:buClr>
                  <a:buFont typeface="Wingdings 3" panose="05040102010807070707" pitchFamily="18" charset="2"/>
                  <a:buChar char=""/>
                </a:pPr>
                <a:r>
                  <a:rPr lang="en-US" sz="2800" dirty="0">
                    <a:solidFill>
                      <a:srgbClr val="002060"/>
                    </a:solidFill>
                  </a:rPr>
                  <a:t>Start with any spanning tree of the graph. </a:t>
                </a:r>
              </a:p>
              <a:p>
                <a:pPr marL="265113" indent="-265113" algn="just">
                  <a:spcBef>
                    <a:spcPts val="1000"/>
                  </a:spcBef>
                  <a:buClr>
                    <a:srgbClr val="B84742"/>
                  </a:buClr>
                  <a:buFont typeface="Wingdings 3" panose="05040102010807070707" pitchFamily="18" charset="2"/>
                  <a:buChar char=""/>
                </a:pPr>
                <a:r>
                  <a:rPr lang="en-US" sz="2800" dirty="0">
                    <a:solidFill>
                      <a:srgbClr val="002060"/>
                    </a:solidFill>
                  </a:rPr>
                  <a:t>Let's say the tree is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i="0" dirty="0" err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  <m:r>
                          <a:rPr lang="en-US" sz="2800" i="0" dirty="0" err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sz="2800" i="0" dirty="0" err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800" i="0" dirty="0" err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sz="2800" i="0" dirty="0" err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sz="2800" i="0" dirty="0" err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 i="0" dirty="0" err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  <m:r>
                          <a:rPr lang="en-US" sz="2800" i="0" dirty="0" err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 i="0" dirty="0" err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with chord are</a:t>
                </a:r>
                <a14:m>
                  <m:oMath xmlns:m="http://schemas.openxmlformats.org/officeDocument/2006/math"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dirty="0" err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sz="2800" dirty="0" err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 dirty="0" err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sz="2800" dirty="0" err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 dirty="0" err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  <m:r>
                          <a:rPr lang="en-US" sz="2800" dirty="0" err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 dirty="0" err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and branches are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</a:p>
              <a:p>
                <a:pPr marL="265113" indent="-265113" algn="just">
                  <a:spcBef>
                    <a:spcPts val="1000"/>
                  </a:spcBef>
                  <a:buClr>
                    <a:srgbClr val="B84742"/>
                  </a:buClr>
                  <a:buFont typeface="Wingdings 3" panose="05040102010807070707" pitchFamily="18" charset="2"/>
                  <a:buChar char=""/>
                </a:pPr>
                <a:r>
                  <a:rPr lang="en-US" sz="2800" dirty="0">
                    <a:solidFill>
                      <a:srgbClr val="002060"/>
                    </a:solidFill>
                  </a:rPr>
                  <a:t>Add a chord to the tree. For example, </a:t>
                </a:r>
                <a:r>
                  <a:rPr lang="en-US" sz="2800" b="1" dirty="0">
                    <a:solidFill>
                      <a:srgbClr val="002060"/>
                    </a:solidFill>
                  </a:rPr>
                  <a:t>add edge </a:t>
                </a:r>
                <a14:m>
                  <m:oMath xmlns:m="http://schemas.openxmlformats.org/officeDocument/2006/math">
                    <m:r>
                      <a:rPr lang="en-US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𝐛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 This will create a fundamental circuit — (e, h, c, g, a, b).</a:t>
                </a:r>
              </a:p>
              <a:p>
                <a:pPr marL="265113" indent="-265113" algn="just">
                  <a:spcBef>
                    <a:spcPts val="1000"/>
                  </a:spcBef>
                  <a:buClr>
                    <a:srgbClr val="B84742"/>
                  </a:buClr>
                  <a:buFont typeface="Wingdings 3" panose="05040102010807070707" pitchFamily="18" charset="2"/>
                  <a:buChar char=""/>
                </a:pPr>
                <a:r>
                  <a:rPr lang="en-US" sz="2800" dirty="0">
                    <a:solidFill>
                      <a:srgbClr val="002060"/>
                    </a:solidFill>
                  </a:rPr>
                  <a:t>Remove one branch from this fundamental circuit. For example, </a:t>
                </a:r>
                <a:r>
                  <a:rPr lang="en-US" sz="2800" b="1" dirty="0">
                    <a:solidFill>
                      <a:srgbClr val="002060"/>
                    </a:solidFill>
                  </a:rPr>
                  <a:t>remove edge</a:t>
                </a:r>
                <a14:m>
                  <m:oMath xmlns:m="http://schemas.openxmlformats.org/officeDocument/2006/math">
                    <m:r>
                      <a:rPr lang="en-US" sz="2800" b="1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1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𝐚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</a:p>
              <a:p>
                <a:pPr marL="265113" indent="-265113" algn="just">
                  <a:spcBef>
                    <a:spcPts val="1000"/>
                  </a:spcBef>
                  <a:buClr>
                    <a:srgbClr val="B84742"/>
                  </a:buClr>
                  <a:buFont typeface="Wingdings 3" panose="05040102010807070707" pitchFamily="18" charset="2"/>
                  <a:buChar char=""/>
                </a:pPr>
                <a:r>
                  <a:rPr lang="en-US" sz="2800" dirty="0">
                    <a:solidFill>
                      <a:srgbClr val="002060"/>
                    </a:solidFill>
                  </a:rPr>
                  <a:t>The result is a new spanning tree,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2800" dirty="0">
                            <a:solidFill>
                              <a:srgbClr val="002060"/>
                            </a:solidFill>
                          </a:rPr>
                          <m:t>e</m:t>
                        </m:r>
                        <m:r>
                          <m:rPr>
                            <m:nor/>
                          </m:rPr>
                          <a:rPr lang="en-US" sz="2800" dirty="0">
                            <a:solidFill>
                              <a:srgbClr val="002060"/>
                            </a:solidFill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-US" sz="2800" dirty="0">
                            <a:solidFill>
                              <a:srgbClr val="002060"/>
                            </a:solidFill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en-US" sz="2800" dirty="0">
                            <a:solidFill>
                              <a:srgbClr val="002060"/>
                            </a:solidFill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-US" sz="2800" dirty="0">
                            <a:solidFill>
                              <a:srgbClr val="002060"/>
                            </a:solidFill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en-US" sz="2800" dirty="0">
                            <a:solidFill>
                              <a:srgbClr val="002060"/>
                            </a:solidFill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-US" sz="2800" dirty="0">
                            <a:solidFill>
                              <a:srgbClr val="002060"/>
                            </a:solidFill>
                          </a:rPr>
                          <m:t>g</m:t>
                        </m:r>
                        <m:r>
                          <m:rPr>
                            <m:nor/>
                          </m:rPr>
                          <a:rPr lang="en-US" sz="2800" dirty="0">
                            <a:solidFill>
                              <a:srgbClr val="002060"/>
                            </a:solidFill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-US" sz="2800" dirty="0">
                            <a:solidFill>
                              <a:srgbClr val="002060"/>
                            </a:solidFill>
                          </a:rPr>
                          <m:t>b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40" name="Rectangle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282" y="2490118"/>
                <a:ext cx="8923961" cy="4052391"/>
              </a:xfrm>
              <a:prstGeom prst="rect">
                <a:avLst/>
              </a:prstGeom>
              <a:blipFill rotWithShape="0">
                <a:blip r:embed="rId2"/>
                <a:stretch>
                  <a:fillRect l="-1299" t="-1504" r="-1435" b="-3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262" y="1969528"/>
            <a:ext cx="1231499" cy="1627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145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57" grpId="0"/>
      <p:bldP spid="58" grpId="0"/>
      <p:bldP spid="59" grpId="0"/>
      <p:bldP spid="59" grpId="1"/>
      <p:bldP spid="65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2"/>
          <p:cNvSpPr txBox="1">
            <a:spLocks/>
          </p:cNvSpPr>
          <p:nvPr/>
        </p:nvSpPr>
        <p:spPr>
          <a:xfrm>
            <a:off x="131176" y="867839"/>
            <a:ext cx="11929645" cy="976985"/>
          </a:xfrm>
          <a:prstGeom prst="rect">
            <a:avLst/>
          </a:pr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lvl="0"/>
          </a:lstStyle>
          <a:p>
            <a:r>
              <a:rPr lang="en-US" sz="2800" dirty="0">
                <a:solidFill>
                  <a:schemeClr val="bg1"/>
                </a:solidFill>
              </a:rPr>
              <a:t>Generate any 2 spanning tree using procedure of finding all spanning tree for following graph.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35C8299-099D-4E74-A7B7-29B2E1FD450E}"/>
              </a:ext>
            </a:extLst>
          </p:cNvPr>
          <p:cNvSpPr txBox="1">
            <a:spLocks/>
          </p:cNvSpPr>
          <p:nvPr/>
        </p:nvSpPr>
        <p:spPr>
          <a:xfrm>
            <a:off x="125283" y="1897668"/>
            <a:ext cx="1407338" cy="523220"/>
          </a:xfrm>
          <a:prstGeom prst="rect">
            <a:avLst/>
          </a:pr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lvl="0"/>
          </a:lstStyle>
          <a:p>
            <a:r>
              <a:rPr lang="en-IN" sz="2800" dirty="0">
                <a:solidFill>
                  <a:schemeClr val="bg1"/>
                </a:solidFill>
              </a:rPr>
              <a:t>Solution 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Method 4 ⇝ Example 1</a:t>
            </a:r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10093287" y="2877222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9380914" y="3597302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10813367" y="3597302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26" idx="5"/>
            <a:endCxn id="27" idx="1"/>
          </p:cNvCxnSpPr>
          <p:nvPr/>
        </p:nvCxnSpPr>
        <p:spPr>
          <a:xfrm flipH="1">
            <a:off x="9503826" y="3000134"/>
            <a:ext cx="610549" cy="618256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26" idx="7"/>
            <a:endCxn id="28" idx="3"/>
          </p:cNvCxnSpPr>
          <p:nvPr/>
        </p:nvCxnSpPr>
        <p:spPr>
          <a:xfrm>
            <a:off x="10216199" y="3000134"/>
            <a:ext cx="618256" cy="618256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28" idx="4"/>
            <a:endCxn id="27" idx="0"/>
          </p:cNvCxnSpPr>
          <p:nvPr/>
        </p:nvCxnSpPr>
        <p:spPr>
          <a:xfrm flipH="1">
            <a:off x="9524914" y="3669302"/>
            <a:ext cx="1288453" cy="0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9373207" y="5037462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10813367" y="5037462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27" idx="6"/>
            <a:endCxn id="32" idx="2"/>
          </p:cNvCxnSpPr>
          <p:nvPr/>
        </p:nvCxnSpPr>
        <p:spPr>
          <a:xfrm flipH="1">
            <a:off x="9445207" y="3741302"/>
            <a:ext cx="7707" cy="1296160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28" idx="6"/>
            <a:endCxn id="33" idx="2"/>
          </p:cNvCxnSpPr>
          <p:nvPr/>
        </p:nvCxnSpPr>
        <p:spPr>
          <a:xfrm>
            <a:off x="10885367" y="3741302"/>
            <a:ext cx="0" cy="1296160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33" idx="4"/>
            <a:endCxn id="32" idx="0"/>
          </p:cNvCxnSpPr>
          <p:nvPr/>
        </p:nvCxnSpPr>
        <p:spPr>
          <a:xfrm flipH="1">
            <a:off x="9517207" y="5109462"/>
            <a:ext cx="1296160" cy="0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33" idx="3"/>
            <a:endCxn id="27" idx="7"/>
          </p:cNvCxnSpPr>
          <p:nvPr/>
        </p:nvCxnSpPr>
        <p:spPr>
          <a:xfrm flipH="1" flipV="1">
            <a:off x="9503826" y="3720214"/>
            <a:ext cx="1330629" cy="1338336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8" name="TextBox 37"/>
          <p:cNvSpPr txBox="1"/>
          <p:nvPr/>
        </p:nvSpPr>
        <p:spPr>
          <a:xfrm>
            <a:off x="9488081" y="5348230"/>
            <a:ext cx="3561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B0F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72911" y="2884472"/>
            <a:ext cx="3529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B0F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24718" y="3184915"/>
            <a:ext cx="3577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B0F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906439" y="4123046"/>
            <a:ext cx="3626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B0F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02828" y="2910757"/>
            <a:ext cx="2984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B0F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f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45443" y="5387291"/>
            <a:ext cx="3609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B0F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14614" y="4965071"/>
            <a:ext cx="3609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B0F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49243" y="4045834"/>
            <a:ext cx="3497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B0F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c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63" idx="3"/>
            <a:endCxn id="32" idx="7"/>
          </p:cNvCxnSpPr>
          <p:nvPr/>
        </p:nvCxnSpPr>
        <p:spPr>
          <a:xfrm flipH="1" flipV="1">
            <a:off x="9496119" y="5160374"/>
            <a:ext cx="614237" cy="627225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3" name="Oval 62">
            <a:extLst>
              <a:ext uri="{FF2B5EF4-FFF2-40B4-BE49-F238E27FC236}">
                <a16:creationId xmlns:a16="http://schemas.microsoft.com/office/drawing/2014/main" id="{BDD11F87-DA81-9510-C1CB-0AF4093562CB}"/>
              </a:ext>
            </a:extLst>
          </p:cNvPr>
          <p:cNvSpPr/>
          <p:nvPr/>
        </p:nvSpPr>
        <p:spPr>
          <a:xfrm rot="5400000">
            <a:off x="10089268" y="5766511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6205DD86-315C-53B6-CEEF-A9919650168E}"/>
              </a:ext>
            </a:extLst>
          </p:cNvPr>
          <p:cNvCxnSpPr>
            <a:cxnSpLocks/>
            <a:stCxn id="63" idx="1"/>
            <a:endCxn id="33" idx="5"/>
          </p:cNvCxnSpPr>
          <p:nvPr/>
        </p:nvCxnSpPr>
        <p:spPr>
          <a:xfrm flipV="1">
            <a:off x="10212180" y="5160374"/>
            <a:ext cx="622275" cy="627225"/>
          </a:xfrm>
          <a:prstGeom prst="lin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5" name="TextBox 64"/>
          <p:cNvSpPr txBox="1"/>
          <p:nvPr/>
        </p:nvSpPr>
        <p:spPr>
          <a:xfrm>
            <a:off x="10045684" y="3871828"/>
            <a:ext cx="2664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B0F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5282" y="2490118"/>
            <a:ext cx="8923961" cy="16414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1000"/>
              </a:spcBef>
              <a:buClr>
                <a:srgbClr val="B84742"/>
              </a:buClr>
            </a:pPr>
            <a:endParaRPr lang="en-US" sz="2800" dirty="0">
              <a:solidFill>
                <a:srgbClr val="002060"/>
              </a:solidFill>
            </a:endParaRPr>
          </a:p>
          <a:p>
            <a:pPr marL="265113" indent="-265113" algn="just">
              <a:spcBef>
                <a:spcPts val="1000"/>
              </a:spcBef>
              <a:buClr>
                <a:srgbClr val="B84742"/>
              </a:buClr>
              <a:buFont typeface="Wingdings 3" panose="05040102010807070707" pitchFamily="18" charset="2"/>
              <a:buChar char=""/>
            </a:pPr>
            <a:endParaRPr lang="en-US" sz="2800" dirty="0">
              <a:solidFill>
                <a:srgbClr val="002060"/>
              </a:solidFill>
            </a:endParaRPr>
          </a:p>
          <a:p>
            <a:pPr algn="just">
              <a:spcBef>
                <a:spcPts val="1000"/>
              </a:spcBef>
              <a:buClr>
                <a:srgbClr val="B84742"/>
              </a:buClr>
            </a:pPr>
            <a:endParaRPr lang="en-US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/>
              <p:cNvSpPr/>
              <p:nvPr/>
            </p:nvSpPr>
            <p:spPr>
              <a:xfrm>
                <a:off x="125282" y="2490118"/>
                <a:ext cx="8923961" cy="250324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65113" indent="-265113" algn="just">
                  <a:spcBef>
                    <a:spcPts val="1000"/>
                  </a:spcBef>
                  <a:buClr>
                    <a:srgbClr val="B84742"/>
                  </a:buClr>
                  <a:buFont typeface="Wingdings 3" panose="05040102010807070707" pitchFamily="18" charset="2"/>
                  <a:buChar char=""/>
                </a:pPr>
                <a:r>
                  <a:rPr lang="en-US" sz="2800" dirty="0">
                    <a:solidFill>
                      <a:srgbClr val="002060"/>
                    </a:solidFill>
                  </a:rPr>
                  <a:t>For another spanning tree,</a:t>
                </a:r>
              </a:p>
              <a:p>
                <a:pPr marL="265113" indent="-265113" algn="just">
                  <a:spcBef>
                    <a:spcPts val="1000"/>
                  </a:spcBef>
                  <a:buClr>
                    <a:srgbClr val="B84742"/>
                  </a:buClr>
                  <a:buFont typeface="Wingdings 3" panose="05040102010807070707" pitchFamily="18" charset="2"/>
                  <a:buChar char=""/>
                </a:pPr>
                <a:r>
                  <a:rPr lang="en-US" sz="2800" dirty="0">
                    <a:solidFill>
                      <a:srgbClr val="002060"/>
                    </a:solidFill>
                  </a:rPr>
                  <a:t>We </a:t>
                </a:r>
                <a:r>
                  <a:rPr lang="en-US" sz="2800" b="1" dirty="0">
                    <a:solidFill>
                      <a:srgbClr val="002060"/>
                    </a:solidFill>
                  </a:rPr>
                  <a:t>add chord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𝐝</m:t>
                    </m:r>
                  </m:oMath>
                </a14:m>
                <a:r>
                  <a:rPr lang="en-US" sz="2800" b="1" dirty="0">
                    <a:solidFill>
                      <a:srgbClr val="002060"/>
                    </a:solidFill>
                  </a:rPr>
                  <a:t> </a:t>
                </a:r>
                <a:r>
                  <a:rPr lang="en-US" sz="2800" dirty="0">
                    <a:solidFill>
                      <a:srgbClr val="002060"/>
                    </a:solidFill>
                  </a:rPr>
                  <a:t>to spanning tree and </a:t>
                </a:r>
                <a:r>
                  <a:rPr lang="en-US" sz="2800" b="1" dirty="0">
                    <a:solidFill>
                      <a:srgbClr val="002060"/>
                    </a:solidFill>
                  </a:rPr>
                  <a:t>remove branch </a:t>
                </a:r>
                <a14:m>
                  <m:oMath xmlns:m="http://schemas.openxmlformats.org/officeDocument/2006/math">
                    <m:r>
                      <a:rPr lang="en-US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𝐜</m:t>
                    </m:r>
                  </m:oMath>
                </a14:m>
                <a:r>
                  <a:rPr lang="en-US" sz="2800" b="1" dirty="0">
                    <a:solidFill>
                      <a:srgbClr val="002060"/>
                    </a:solidFill>
                  </a:rPr>
                  <a:t> </a:t>
                </a:r>
                <a:r>
                  <a:rPr lang="en-US" sz="2800" dirty="0">
                    <a:solidFill>
                      <a:srgbClr val="002060"/>
                    </a:solidFill>
                  </a:rPr>
                  <a:t>from it.</a:t>
                </a:r>
              </a:p>
              <a:p>
                <a:pPr marL="265113" indent="-265113" algn="just">
                  <a:spcBef>
                    <a:spcPts val="1000"/>
                  </a:spcBef>
                  <a:buClr>
                    <a:srgbClr val="B84742"/>
                  </a:buClr>
                  <a:buFont typeface="Wingdings 3" panose="05040102010807070707" pitchFamily="18" charset="2"/>
                  <a:buChar char=""/>
                </a:pPr>
                <a:r>
                  <a:rPr lang="en-US" sz="2800" dirty="0">
                    <a:solidFill>
                      <a:srgbClr val="002060"/>
                    </a:solidFill>
                  </a:rPr>
                  <a:t>By this cyclic interchange we get another spanning tree,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d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0" name="Rectangle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282" y="2490118"/>
                <a:ext cx="8923961" cy="2503249"/>
              </a:xfrm>
              <a:prstGeom prst="rect">
                <a:avLst/>
              </a:prstGeom>
              <a:blipFill rotWithShape="0">
                <a:blip r:embed="rId2"/>
                <a:stretch>
                  <a:fillRect l="-1299" t="-2433" r="-1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1" name="Picture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262" y="1969528"/>
            <a:ext cx="1231499" cy="1627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493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57" grpId="1"/>
      <p:bldP spid="58" grpId="0"/>
      <p:bldP spid="59" grpId="0"/>
      <p:bldP spid="61" grpId="0"/>
      <p:bldP spid="65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5EEC38D-B69A-4F45-9CFB-3F832F2054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punit.vadher@darshan.ac.in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3B892750-977A-4A19-B627-46C829D9CDA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9662443859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DD3C75D-9CAD-401D-B6F2-D687EEC3CD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Department of Humanities &amp; Science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D6DA44CB-50AE-4D51-AC18-61617625288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</a:t>
            </a:r>
            <a:r>
              <a:rPr lang="en-US" dirty="0" err="1"/>
              <a:t>Punit</a:t>
            </a:r>
            <a:r>
              <a:rPr lang="en-US" dirty="0"/>
              <a:t> </a:t>
            </a:r>
            <a:r>
              <a:rPr lang="en-US" dirty="0" err="1"/>
              <a:t>Vadher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Placeholder 19">
                <a:extLst>
                  <a:ext uri="{FF2B5EF4-FFF2-40B4-BE49-F238E27FC236}">
                    <a16:creationId xmlns:a16="http://schemas.microsoft.com/office/drawing/2014/main" id="{FF5B8673-7BA1-4EA7-991A-5F4DCD3054D0}"/>
                  </a:ext>
                </a:extLst>
              </p:cNvPr>
              <p:cNvSpPr>
                <a:spLocks noGrp="1"/>
              </p:cNvSpPr>
              <p:nvPr>
                <p:ph type="body" sz="quarter" idx="16"/>
              </p:nvPr>
            </p:nvSpPr>
            <p:spPr/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en-US" dirty="0"/>
                  <a:t>B.Tech.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baseline="30000" dirty="0"/>
                  <a:t>th</a:t>
                </a:r>
                <a:r>
                  <a:rPr lang="en-US" dirty="0"/>
                  <a:t>  Semester</a:t>
                </a:r>
              </a:p>
              <a:p>
                <a:pPr>
                  <a:lnSpc>
                    <a:spcPct val="125000"/>
                  </a:lnSpc>
                </a:pPr>
                <a:r>
                  <a:rPr lang="en-US" b="1" dirty="0"/>
                  <a:t> Graph Theory (</a:t>
                </a:r>
                <a:r>
                  <a:rPr lang="en-US" dirty="0"/>
                  <a:t>2301HS301</a:t>
                </a:r>
                <a:r>
                  <a:rPr lang="en-US" b="1" dirty="0"/>
                  <a:t>)</a:t>
                </a:r>
              </a:p>
            </p:txBody>
          </p:sp>
        </mc:Choice>
        <mc:Fallback xmlns="">
          <p:sp>
            <p:nvSpPr>
              <p:cNvPr id="20" name="Text Placeholder 19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FF5B8673-7BA1-4EA7-991A-5F4DCD3054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6"/>
              </p:nvPr>
            </p:nvSpPr>
            <p:spPr>
              <a:blipFill rotWithShape="0">
                <a:blip r:embed="rId2"/>
                <a:stretch>
                  <a:fillRect t="-1653" b="-74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9677FDF1-46E9-47E1-A974-B878D8645D19}"/>
              </a:ext>
            </a:extLst>
          </p:cNvPr>
          <p:cNvGrpSpPr/>
          <p:nvPr/>
        </p:nvGrpSpPr>
        <p:grpSpPr>
          <a:xfrm>
            <a:off x="26704" y="1462475"/>
            <a:ext cx="8044476" cy="3103418"/>
            <a:chOff x="-12804" y="1537545"/>
            <a:chExt cx="8044476" cy="3103418"/>
          </a:xfrm>
        </p:grpSpPr>
        <p:sp>
          <p:nvSpPr>
            <p:cNvPr id="21" name="Title 1">
              <a:extLst>
                <a:ext uri="{FF2B5EF4-FFF2-40B4-BE49-F238E27FC236}">
                  <a16:creationId xmlns:a16="http://schemas.microsoft.com/office/drawing/2014/main" id="{CA4DBECA-252D-4599-A864-6399BFFEB65B}"/>
                </a:ext>
              </a:extLst>
            </p:cNvPr>
            <p:cNvSpPr txBox="1">
              <a:spLocks/>
            </p:cNvSpPr>
            <p:nvPr/>
          </p:nvSpPr>
          <p:spPr>
            <a:xfrm>
              <a:off x="-12804" y="2160999"/>
              <a:ext cx="2594560" cy="185650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lvl="0"/>
            </a:lstStyle>
            <a:p>
              <a:r>
                <a:rPr lang="en-GB" dirty="0">
                  <a:solidFill>
                    <a:srgbClr val="ED524F"/>
                  </a:solidFill>
                </a:rPr>
                <a:t> </a:t>
              </a:r>
            </a:p>
          </p:txBody>
        </p:sp>
        <p:sp>
          <p:nvSpPr>
            <p:cNvPr id="22" name="Hexagon 21">
              <a:extLst>
                <a:ext uri="{FF2B5EF4-FFF2-40B4-BE49-F238E27FC236}">
                  <a16:creationId xmlns:a16="http://schemas.microsoft.com/office/drawing/2014/main" id="{FB21F4C4-30D4-4011-8510-CF20FEFC370B}"/>
                </a:ext>
              </a:extLst>
            </p:cNvPr>
            <p:cNvSpPr/>
            <p:nvPr/>
          </p:nvSpPr>
          <p:spPr>
            <a:xfrm rot="5400000">
              <a:off x="2457725" y="1742096"/>
              <a:ext cx="3103418" cy="2694316"/>
            </a:xfrm>
            <a:prstGeom prst="hexagon">
              <a:avLst/>
            </a:prstGeom>
            <a:noFill/>
            <a:ln w="57150">
              <a:solidFill>
                <a:schemeClr val="tx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GB" sz="4400" b="1" dirty="0">
                  <a:solidFill>
                    <a:srgbClr val="0690DF"/>
                  </a:solidFill>
                </a:rPr>
                <a:t>THANK YOU</a:t>
              </a:r>
            </a:p>
          </p:txBody>
        </p:sp>
        <p:sp>
          <p:nvSpPr>
            <p:cNvPr id="23" name="Title 1">
              <a:extLst>
                <a:ext uri="{FF2B5EF4-FFF2-40B4-BE49-F238E27FC236}">
                  <a16:creationId xmlns:a16="http://schemas.microsoft.com/office/drawing/2014/main" id="{96D0D2A0-7D7D-452B-9ADA-174886259D92}"/>
                </a:ext>
              </a:extLst>
            </p:cNvPr>
            <p:cNvSpPr txBox="1">
              <a:spLocks/>
            </p:cNvSpPr>
            <p:nvPr/>
          </p:nvSpPr>
          <p:spPr>
            <a:xfrm rot="10800000">
              <a:off x="5437112" y="2160998"/>
              <a:ext cx="2594560" cy="185650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lvl="0"/>
            </a:lstStyle>
            <a:p>
              <a:r>
                <a:rPr lang="en-GB" dirty="0">
                  <a:solidFill>
                    <a:srgbClr val="ED524F"/>
                  </a:solidFill>
                </a:rPr>
                <a:t> </a:t>
              </a:r>
            </a:p>
          </p:txBody>
        </p:sp>
      </p:grpSp>
      <p:pic>
        <p:nvPicPr>
          <p:cNvPr id="5" name="Picture Placeholder 4"/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0936374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30937</TotalTime>
  <Words>5189</Words>
  <Application>Microsoft Office PowerPoint</Application>
  <PresentationFormat>Widescreen</PresentationFormat>
  <Paragraphs>983</Paragraphs>
  <Slides>86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86</vt:i4>
      </vt:variant>
    </vt:vector>
  </HeadingPairs>
  <TitlesOfParts>
    <vt:vector size="98" baseType="lpstr">
      <vt:lpstr>Roboto Condensed</vt:lpstr>
      <vt:lpstr>Cambria</vt:lpstr>
      <vt:lpstr>Cambria Math</vt:lpstr>
      <vt:lpstr>Wingdings</vt:lpstr>
      <vt:lpstr>Arial</vt:lpstr>
      <vt:lpstr>Wingdings 3</vt:lpstr>
      <vt:lpstr>Roboto Condensed Light</vt:lpstr>
      <vt:lpstr>Calibri Light</vt:lpstr>
      <vt:lpstr>Calibri</vt:lpstr>
      <vt:lpstr>Office Theme</vt:lpstr>
      <vt:lpstr>1_Custom Design</vt:lpstr>
      <vt:lpstr>Custom Design</vt:lpstr>
      <vt:lpstr>Unit – 1 Trees &amp; Spanning Trees </vt:lpstr>
      <vt:lpstr>PowerPoint Presentation</vt:lpstr>
      <vt:lpstr>Brief Introduction</vt:lpstr>
      <vt:lpstr>Unit Overview</vt:lpstr>
      <vt:lpstr>Method – 1 Introduction to Trees</vt:lpstr>
      <vt:lpstr>Tree</vt:lpstr>
      <vt:lpstr>Remarks on Trees</vt:lpstr>
      <vt:lpstr>Trees with one, two, three, and four vertices</vt:lpstr>
      <vt:lpstr>Recall: Graph Isomorphism</vt:lpstr>
      <vt:lpstr>Special type tree</vt:lpstr>
      <vt:lpstr>Examples of Special Trees</vt:lpstr>
      <vt:lpstr>Examples of Special Trees</vt:lpstr>
      <vt:lpstr>Observation</vt:lpstr>
      <vt:lpstr>Property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Examples of Method-1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Method – 2 Pendent Vertices, Distance and Center in Trees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Important terms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Examples of Method-2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Method – 3 Introduction to Spanning Trees and Properties</vt:lpstr>
      <vt:lpstr>PowerPoint Presentation</vt:lpstr>
      <vt:lpstr>PowerPoint Presentation</vt:lpstr>
      <vt:lpstr>Spanning tree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Examples of Method-3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Method – 4 Fundamental Circuits &amp; Finding all Spanning Trees of Graphs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Examples of Method-4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Vasudev </cp:lastModifiedBy>
  <cp:revision>1104</cp:revision>
  <dcterms:created xsi:type="dcterms:W3CDTF">2020-05-01T05:09:15Z</dcterms:created>
  <dcterms:modified xsi:type="dcterms:W3CDTF">2026-06-09T06:01:08Z</dcterms:modified>
</cp:coreProperties>
</file>