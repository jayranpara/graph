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726" r:id="rId2"/>
    <p:sldMasterId id="2147483713" r:id="rId3"/>
  </p:sldMasterIdLst>
  <p:notesMasterIdLst>
    <p:notesMasterId r:id="rId99"/>
  </p:notesMasterIdLst>
  <p:handoutMasterIdLst>
    <p:handoutMasterId r:id="rId100"/>
  </p:handoutMasterIdLst>
  <p:sldIdLst>
    <p:sldId id="256" r:id="rId4"/>
    <p:sldId id="265" r:id="rId5"/>
    <p:sldId id="750" r:id="rId6"/>
    <p:sldId id="748" r:id="rId7"/>
    <p:sldId id="747" r:id="rId8"/>
    <p:sldId id="775" r:id="rId9"/>
    <p:sldId id="805" r:id="rId10"/>
    <p:sldId id="807" r:id="rId11"/>
    <p:sldId id="808" r:id="rId12"/>
    <p:sldId id="884" r:id="rId13"/>
    <p:sldId id="883" r:id="rId14"/>
    <p:sldId id="817" r:id="rId15"/>
    <p:sldId id="809" r:id="rId16"/>
    <p:sldId id="810" r:id="rId17"/>
    <p:sldId id="811" r:id="rId18"/>
    <p:sldId id="812" r:id="rId19"/>
    <p:sldId id="814" r:id="rId20"/>
    <p:sldId id="815" r:id="rId21"/>
    <p:sldId id="816" r:id="rId22"/>
    <p:sldId id="819" r:id="rId23"/>
    <p:sldId id="888" r:id="rId24"/>
    <p:sldId id="889" r:id="rId25"/>
    <p:sldId id="820" r:id="rId26"/>
    <p:sldId id="821" r:id="rId27"/>
    <p:sldId id="890" r:id="rId28"/>
    <p:sldId id="891" r:id="rId29"/>
    <p:sldId id="892" r:id="rId30"/>
    <p:sldId id="893" r:id="rId31"/>
    <p:sldId id="822" r:id="rId32"/>
    <p:sldId id="823" r:id="rId33"/>
    <p:sldId id="835" r:id="rId34"/>
    <p:sldId id="829" r:id="rId35"/>
    <p:sldId id="830" r:id="rId36"/>
    <p:sldId id="831" r:id="rId37"/>
    <p:sldId id="832" r:id="rId38"/>
    <p:sldId id="827" r:id="rId39"/>
    <p:sldId id="828" r:id="rId40"/>
    <p:sldId id="836" r:id="rId41"/>
    <p:sldId id="837" r:id="rId42"/>
    <p:sldId id="852" r:id="rId43"/>
    <p:sldId id="874" r:id="rId44"/>
    <p:sldId id="853" r:id="rId45"/>
    <p:sldId id="875" r:id="rId46"/>
    <p:sldId id="886" r:id="rId47"/>
    <p:sldId id="839" r:id="rId48"/>
    <p:sldId id="887" r:id="rId49"/>
    <p:sldId id="845" r:id="rId50"/>
    <p:sldId id="846" r:id="rId51"/>
    <p:sldId id="848" r:id="rId52"/>
    <p:sldId id="849" r:id="rId53"/>
    <p:sldId id="850" r:id="rId54"/>
    <p:sldId id="851" r:id="rId55"/>
    <p:sldId id="854" r:id="rId56"/>
    <p:sldId id="855" r:id="rId57"/>
    <p:sldId id="856" r:id="rId58"/>
    <p:sldId id="857" r:id="rId59"/>
    <p:sldId id="858" r:id="rId60"/>
    <p:sldId id="859" r:id="rId61"/>
    <p:sldId id="860" r:id="rId62"/>
    <p:sldId id="861" r:id="rId63"/>
    <p:sldId id="862" r:id="rId64"/>
    <p:sldId id="863" r:id="rId65"/>
    <p:sldId id="882" r:id="rId66"/>
    <p:sldId id="881" r:id="rId67"/>
    <p:sldId id="864" r:id="rId68"/>
    <p:sldId id="866" r:id="rId69"/>
    <p:sldId id="865" r:id="rId70"/>
    <p:sldId id="877" r:id="rId71"/>
    <p:sldId id="878" r:id="rId72"/>
    <p:sldId id="876" r:id="rId73"/>
    <p:sldId id="879" r:id="rId74"/>
    <p:sldId id="867" r:id="rId75"/>
    <p:sldId id="868" r:id="rId76"/>
    <p:sldId id="880" r:id="rId77"/>
    <p:sldId id="872" r:id="rId78"/>
    <p:sldId id="899" r:id="rId79"/>
    <p:sldId id="896" r:id="rId80"/>
    <p:sldId id="895" r:id="rId81"/>
    <p:sldId id="897" r:id="rId82"/>
    <p:sldId id="902" r:id="rId83"/>
    <p:sldId id="907" r:id="rId84"/>
    <p:sldId id="894" r:id="rId85"/>
    <p:sldId id="903" r:id="rId86"/>
    <p:sldId id="904" r:id="rId87"/>
    <p:sldId id="905" r:id="rId88"/>
    <p:sldId id="906" r:id="rId89"/>
    <p:sldId id="900" r:id="rId90"/>
    <p:sldId id="908" r:id="rId91"/>
    <p:sldId id="909" r:id="rId92"/>
    <p:sldId id="910" r:id="rId93"/>
    <p:sldId id="911" r:id="rId94"/>
    <p:sldId id="901" r:id="rId95"/>
    <p:sldId id="912" r:id="rId96"/>
    <p:sldId id="913" r:id="rId97"/>
    <p:sldId id="264" r:id="rId98"/>
  </p:sldIdLst>
  <p:sldSz cx="12192000" cy="6858000"/>
  <p:notesSz cx="6858000" cy="9144000"/>
  <p:embeddedFontLst>
    <p:embeddedFont>
      <p:font typeface="Calibri" panose="020F0502020204030204" pitchFamily="34" charset="0"/>
      <p:regular r:id="rId101"/>
      <p:bold r:id="rId102"/>
      <p:italic r:id="rId103"/>
      <p:boldItalic r:id="rId104"/>
    </p:embeddedFont>
    <p:embeddedFont>
      <p:font typeface="Calibri Light" panose="020F0302020204030204" pitchFamily="34" charset="0"/>
      <p:regular r:id="rId105"/>
      <p:italic r:id="rId106"/>
    </p:embeddedFont>
    <p:embeddedFont>
      <p:font typeface="Cambria" panose="02040503050406030204" pitchFamily="18" charset="0"/>
      <p:regular r:id="rId107"/>
      <p:bold r:id="rId108"/>
      <p:italic r:id="rId109"/>
      <p:boldItalic r:id="rId110"/>
    </p:embeddedFont>
    <p:embeddedFont>
      <p:font typeface="Cambria Math" panose="02040503050406030204" pitchFamily="18" charset="0"/>
      <p:regular r:id="rId111"/>
    </p:embeddedFont>
    <p:embeddedFont>
      <p:font typeface="Roboto Condensed" panose="02000000000000000000" pitchFamily="2" charset="0"/>
      <p:regular r:id="rId112"/>
      <p:bold r:id="rId113"/>
      <p:italic r:id="rId114"/>
      <p:boldItalic r:id="rId115"/>
    </p:embeddedFont>
    <p:embeddedFont>
      <p:font typeface="Roboto Condensed Light" panose="02000000000000000000" pitchFamily="2" charset="0"/>
      <p:regular r:id="rId116"/>
      <p:italic r:id="rId117"/>
    </p:embeddedFont>
    <p:embeddedFont>
      <p:font typeface="Wingdings 3" panose="05040102010807070707" pitchFamily="18" charset="2"/>
      <p:regular r:id="rId1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eHjoqxEEwr/AlLuF5bZxdA==" hashData="J9T3R4QR3hEdxNC/6+8gQH63UwQQzuwoaZiZGmx5zARaIkRit+K+Mb9CxuUWt/U5nZGPXKt6Dc/bE1FEjgII7Q=="/>
  <p:extLst>
    <p:ext uri="{EFAFB233-063F-42B5-8137-9DF3F51BA10A}">
      <p15:sldGuideLst xmlns:p15="http://schemas.microsoft.com/office/powerpoint/2012/main">
        <p15:guide id="1" orient="horz" pos="2818" userDrawn="1">
          <p15:clr>
            <a:srgbClr val="A4A3A4"/>
          </p15:clr>
        </p15:guide>
        <p15:guide id="2" pos="379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733"/>
    <a:srgbClr val="D10233"/>
    <a:srgbClr val="3D0FE7"/>
    <a:srgbClr val="B71B1C"/>
    <a:srgbClr val="005E6A"/>
    <a:srgbClr val="0E4AA4"/>
    <a:srgbClr val="0E47A1"/>
    <a:srgbClr val="3A7F88"/>
    <a:srgbClr val="FADFCC"/>
    <a:srgbClr val="B7A9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p:scale>
          <a:sx n="50" d="100"/>
          <a:sy n="50" d="100"/>
        </p:scale>
        <p:origin x="1410" y="348"/>
      </p:cViewPr>
      <p:guideLst>
        <p:guide orient="horz" pos="2818"/>
        <p:guide pos="3795"/>
      </p:guideLst>
    </p:cSldViewPr>
  </p:slideViewPr>
  <p:notesTextViewPr>
    <p:cViewPr>
      <p:scale>
        <a:sx n="1" d="1"/>
        <a:sy n="1" d="1"/>
      </p:scale>
      <p:origin x="0" y="0"/>
    </p:cViewPr>
  </p:notesTextViewPr>
  <p:sorterViewPr>
    <p:cViewPr varScale="1">
      <p:scale>
        <a:sx n="100" d="100"/>
        <a:sy n="100" d="100"/>
      </p:scale>
      <p:origin x="0" y="-16776"/>
    </p:cViewPr>
  </p:sorterViewPr>
  <p:notesViewPr>
    <p:cSldViewPr>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font" Target="fonts/font17.fntdata"/><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font" Target="fonts/font12.fntdata"/><Relationship Id="rId16" Type="http://schemas.openxmlformats.org/officeDocument/2006/relationships/slide" Target="slides/slide13.xml"/><Relationship Id="rId107" Type="http://schemas.openxmlformats.org/officeDocument/2006/relationships/font" Target="fonts/font7.fntdata"/><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font" Target="fonts/font2.fntdata"/><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font" Target="fonts/font13.fntdata"/><Relationship Id="rId118" Type="http://schemas.openxmlformats.org/officeDocument/2006/relationships/font" Target="fonts/font18.fntdata"/><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font" Target="fonts/font3.fntdata"/><Relationship Id="rId108" Type="http://schemas.openxmlformats.org/officeDocument/2006/relationships/font" Target="fonts/font8.fntdata"/><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font" Target="fonts/font14.fntdata"/><Relationship Id="rId119" Type="http://schemas.openxmlformats.org/officeDocument/2006/relationships/presProps" Target="presProps.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font" Target="fonts/font9.fntdata"/><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font" Target="fonts/font4.fntdata"/><Relationship Id="rId120"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font" Target="fonts/font10.fntdata"/><Relationship Id="rId115" Type="http://schemas.openxmlformats.org/officeDocument/2006/relationships/font" Target="fonts/font15.fntdata"/><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handoutMaster" Target="handoutMasters/handoutMaster1.xml"/><Relationship Id="rId105" Type="http://schemas.openxmlformats.org/officeDocument/2006/relationships/font" Target="fonts/font5.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theme" Target="theme/theme1.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font" Target="fonts/font16.fntdata"/><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font" Target="fonts/font11.fntdata"/><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font" Target="fonts/font6.fntdata"/><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notesMaster" Target="notesMasters/notesMaster1.xml"/><Relationship Id="rId101" Type="http://schemas.openxmlformats.org/officeDocument/2006/relationships/font" Target="fonts/font1.fntdata"/><Relationship Id="rId1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0691E0-E0E7-464F-892B-71ACC2518A4D}" type="datetimeFigureOut">
              <a:rPr lang="en-US" smtClean="0"/>
              <a:t>7/15/2026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153689D-5810-4E66-9D5F-1657D824CFAB}" type="slidenum">
              <a:rPr lang="en-US" smtClean="0"/>
              <a:t>‹#›</a:t>
            </a:fld>
            <a:endParaRPr lang="en-US"/>
          </a:p>
        </p:txBody>
      </p:sp>
    </p:spTree>
    <p:extLst>
      <p:ext uri="{BB962C8B-B14F-4D97-AF65-F5344CB8AC3E}">
        <p14:creationId xmlns:p14="http://schemas.microsoft.com/office/powerpoint/2010/main" val="9870960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7/15/2026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3.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2.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image" Target="../media/image3.png"/><Relationship Id="rId7" Type="http://schemas.microsoft.com/office/2007/relationships/hdphoto" Target="../media/hdphoto2.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0.jpeg"/><Relationship Id="rId4" Type="http://schemas.openxmlformats.org/officeDocument/2006/relationships/image" Target="../media/image6.png"/><Relationship Id="rId9" Type="http://schemas.openxmlformats.org/officeDocument/2006/relationships/image" Target="../media/image14.jpeg"/></Relationships>
</file>

<file path=ppt/slideLayouts/_rels/slideLayout21.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png"/><Relationship Id="rId4" Type="http://schemas.openxmlformats.org/officeDocument/2006/relationships/image" Target="../media/image6.png"/><Relationship Id="rId9" Type="http://schemas.openxmlformats.org/officeDocument/2006/relationships/image" Target="../media/image10.jpe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and Content - Logo on T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9A329F3-B4EA-403B-BD1C-FDD65D8E9D3F}"/>
              </a:ext>
            </a:extLst>
          </p:cNvPr>
          <p:cNvGrpSpPr/>
          <p:nvPr userDrawn="1"/>
        </p:nvGrpSpPr>
        <p:grpSpPr>
          <a:xfrm>
            <a:off x="10721798" y="852808"/>
            <a:ext cx="1339023" cy="407045"/>
            <a:chOff x="10721798" y="852808"/>
            <a:chExt cx="1339023" cy="407045"/>
          </a:xfrm>
        </p:grpSpPr>
        <p:pic>
          <p:nvPicPr>
            <p:cNvPr id="16" name="Picture 15">
              <a:extLst>
                <a:ext uri="{FF2B5EF4-FFF2-40B4-BE49-F238E27FC236}">
                  <a16:creationId xmlns:a16="http://schemas.microsoft.com/office/drawing/2014/main" id="{F0325C5E-F004-43A9-9277-53A0BD206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5" name="Rectangle 14">
              <a:extLst>
                <a:ext uri="{FF2B5EF4-FFF2-40B4-BE49-F238E27FC236}">
                  <a16:creationId xmlns:a16="http://schemas.microsoft.com/office/drawing/2014/main" id="{4B63808E-204C-4894-A747-B51DDC7425C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userDrawn="1">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a:t>
            </a:r>
            <a:r>
              <a:rPr lang="en-US" sz="1200" b="0" kern="1200" dirty="0" err="1">
                <a:solidFill>
                  <a:schemeClr val="tx1">
                    <a:lumMod val="90000"/>
                    <a:lumOff val="10000"/>
                  </a:schemeClr>
                </a:solidFill>
                <a:latin typeface="+mn-lt"/>
                <a:ea typeface="+mn-ea"/>
                <a:cs typeface="+mn-cs"/>
              </a:rPr>
              <a:t>Punit</a:t>
            </a:r>
            <a:r>
              <a:rPr lang="en-US" sz="1200" b="0" kern="1200" dirty="0">
                <a:solidFill>
                  <a:schemeClr val="tx1">
                    <a:lumMod val="90000"/>
                    <a:lumOff val="10000"/>
                  </a:schemeClr>
                </a:solidFill>
                <a:latin typeface="+mn-lt"/>
                <a:ea typeface="+mn-ea"/>
                <a:cs typeface="+mn-cs"/>
              </a:rPr>
              <a:t> </a:t>
            </a:r>
            <a:r>
              <a:rPr lang="en-US" sz="1200" b="0" kern="1200" dirty="0" err="1">
                <a:solidFill>
                  <a:schemeClr val="tx1">
                    <a:lumMod val="90000"/>
                    <a:lumOff val="10000"/>
                  </a:schemeClr>
                </a:solidFill>
                <a:latin typeface="+mn-lt"/>
                <a:ea typeface="+mn-ea"/>
                <a:cs typeface="+mn-cs"/>
              </a:rPr>
              <a:t>Vadher</a:t>
            </a:r>
            <a:endParaRPr lang="en-US" sz="1200" b="0" kern="1200" dirty="0">
              <a:solidFill>
                <a:schemeClr val="tx1">
                  <a:lumMod val="90000"/>
                  <a:lumOff val="10000"/>
                </a:schemeClr>
              </a:solidFill>
              <a:latin typeface="+mn-lt"/>
              <a:ea typeface="+mn-ea"/>
              <a:cs typeface="+mn-cs"/>
            </a:endParaRPr>
          </a:p>
        </p:txBody>
      </p:sp>
      <p:sp>
        <p:nvSpPr>
          <p:cNvPr id="21" name="Footer Placeholder 2">
            <a:extLst>
              <a:ext uri="{FF2B5EF4-FFF2-40B4-BE49-F238E27FC236}">
                <a16:creationId xmlns:a16="http://schemas.microsoft.com/office/drawing/2014/main" id="{BF2BE79E-EA17-4AB9-8CB5-714A52A6B2F5}"/>
              </a:ext>
            </a:extLst>
          </p:cNvPr>
          <p:cNvSpPr txBox="1">
            <a:spLocks/>
          </p:cNvSpPr>
          <p:nvPr userDrawn="1"/>
        </p:nvSpPr>
        <p:spPr>
          <a:xfrm>
            <a:off x="3976258" y="6604000"/>
            <a:ext cx="4239482"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(Graph</a:t>
            </a:r>
            <a:r>
              <a:rPr lang="en-US" sz="1200" b="0" kern="1200" baseline="0" dirty="0">
                <a:solidFill>
                  <a:schemeClr val="tx1">
                    <a:lumMod val="90000"/>
                    <a:lumOff val="10000"/>
                  </a:schemeClr>
                </a:solidFill>
                <a:latin typeface="+mn-lt"/>
                <a:ea typeface="+mn-ea"/>
                <a:cs typeface="+mn-cs"/>
              </a:rPr>
              <a:t> theory</a:t>
            </a:r>
            <a:r>
              <a:rPr lang="en-US" sz="1200" b="0" kern="1200" dirty="0">
                <a:solidFill>
                  <a:schemeClr val="tx1">
                    <a:lumMod val="90000"/>
                    <a:lumOff val="10000"/>
                  </a:schemeClr>
                </a:solidFill>
                <a:latin typeface="+mn-lt"/>
                <a:ea typeface="+mn-ea"/>
                <a:cs typeface="+mn-cs"/>
              </a:rPr>
              <a:t>)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Cut-Sets and Connectivity</a:t>
            </a:r>
          </a:p>
        </p:txBody>
      </p:sp>
    </p:spTree>
    <p:extLst>
      <p:ext uri="{BB962C8B-B14F-4D97-AF65-F5344CB8AC3E}">
        <p14:creationId xmlns:p14="http://schemas.microsoft.com/office/powerpoint/2010/main" val="1306942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 Logo on BR">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619E228D-B2BD-4EFA-9FE9-86D81DDC600E}"/>
              </a:ext>
            </a:extLst>
          </p:cNvPr>
          <p:cNvGrpSpPr/>
          <p:nvPr userDrawn="1"/>
        </p:nvGrpSpPr>
        <p:grpSpPr>
          <a:xfrm>
            <a:off x="10721797" y="6047527"/>
            <a:ext cx="1339023" cy="407045"/>
            <a:chOff x="10721798" y="852808"/>
            <a:chExt cx="1339023" cy="407045"/>
          </a:xfrm>
        </p:grpSpPr>
        <p:pic>
          <p:nvPicPr>
            <p:cNvPr id="25" name="Picture 2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a:t>
            </a:r>
            <a:r>
              <a:rPr lang="en-US" sz="1200" b="0" kern="1200" dirty="0" err="1">
                <a:solidFill>
                  <a:schemeClr val="tx1">
                    <a:lumMod val="90000"/>
                    <a:lumOff val="10000"/>
                  </a:schemeClr>
                </a:solidFill>
                <a:latin typeface="+mn-lt"/>
                <a:ea typeface="+mn-ea"/>
                <a:cs typeface="+mn-cs"/>
              </a:rPr>
              <a:t>Punit</a:t>
            </a:r>
            <a:r>
              <a:rPr lang="en-US" sz="1200" b="0" kern="1200" dirty="0">
                <a:solidFill>
                  <a:schemeClr val="tx1">
                    <a:lumMod val="90000"/>
                    <a:lumOff val="10000"/>
                  </a:schemeClr>
                </a:solidFill>
                <a:latin typeface="+mn-lt"/>
                <a:ea typeface="+mn-ea"/>
                <a:cs typeface="+mn-cs"/>
              </a:rPr>
              <a:t> </a:t>
            </a:r>
            <a:r>
              <a:rPr lang="en-US" sz="1200" b="0" kern="1200" dirty="0" err="1">
                <a:solidFill>
                  <a:schemeClr val="tx1">
                    <a:lumMod val="90000"/>
                    <a:lumOff val="10000"/>
                  </a:schemeClr>
                </a:solidFill>
                <a:latin typeface="+mn-lt"/>
                <a:ea typeface="+mn-ea"/>
                <a:cs typeface="+mn-cs"/>
              </a:rPr>
              <a:t>Vadher</a:t>
            </a:r>
            <a:endParaRPr lang="en-US" sz="1200" b="0" kern="1200" dirty="0">
              <a:solidFill>
                <a:schemeClr val="tx1">
                  <a:lumMod val="90000"/>
                  <a:lumOff val="10000"/>
                </a:schemeClr>
              </a:solidFill>
              <a:latin typeface="+mn-lt"/>
              <a:ea typeface="+mn-ea"/>
              <a:cs typeface="+mn-cs"/>
            </a:endParaRPr>
          </a:p>
        </p:txBody>
      </p:sp>
      <p:sp>
        <p:nvSpPr>
          <p:cNvPr id="21"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#2301CS595 (Graph theory)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Cut-Sets and Connectivity</a:t>
            </a:r>
          </a:p>
        </p:txBody>
      </p:sp>
    </p:spTree>
    <p:extLst>
      <p:ext uri="{BB962C8B-B14F-4D97-AF65-F5344CB8AC3E}">
        <p14:creationId xmlns:p14="http://schemas.microsoft.com/office/powerpoint/2010/main" val="529939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 Logo on BL">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AE04132C-088A-4457-A3C3-1DC6427585FC}"/>
              </a:ext>
            </a:extLst>
          </p:cNvPr>
          <p:cNvGrpSpPr/>
          <p:nvPr userDrawn="1"/>
        </p:nvGrpSpPr>
        <p:grpSpPr>
          <a:xfrm>
            <a:off x="131179" y="6047527"/>
            <a:ext cx="1339023" cy="407045"/>
            <a:chOff x="10721798" y="852808"/>
            <a:chExt cx="1339023" cy="407045"/>
          </a:xfrm>
        </p:grpSpPr>
        <p:pic>
          <p:nvPicPr>
            <p:cNvPr id="25" name="Picture 24">
              <a:extLst>
                <a:ext uri="{FF2B5EF4-FFF2-40B4-BE49-F238E27FC236}">
                  <a16:creationId xmlns:a16="http://schemas.microsoft.com/office/drawing/2014/main" id="{B49C31A0-0173-45C3-B715-F73A797EA6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6" name="Rectangle 2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Dhvanik H. Zala</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800">
                <a:solidFill>
                  <a:srgbClr val="002060"/>
                </a:solidFill>
              </a:defRPr>
            </a:lvl1pPr>
            <a:lvl2pPr marL="809625" indent="-352425" algn="just">
              <a:buClr>
                <a:schemeClr val="accent6"/>
              </a:buClr>
              <a:buFont typeface="Wingdings 3" panose="05040102010807070707" pitchFamily="18" charset="2"/>
              <a:buChar char=""/>
              <a:defRPr sz="2800">
                <a:solidFill>
                  <a:srgbClr val="002060"/>
                </a:solidFill>
              </a:defRPr>
            </a:lvl2pPr>
            <a:lvl3pPr marL="1143000" indent="-228600" algn="just">
              <a:buClr>
                <a:schemeClr val="accent6"/>
              </a:buClr>
              <a:buFont typeface="Wingdings" panose="05000000000000000000" pitchFamily="2" charset="2"/>
              <a:buChar char="§"/>
              <a:defRPr sz="2800">
                <a:solidFill>
                  <a:srgbClr val="002060"/>
                </a:solidFill>
              </a:defRPr>
            </a:lvl3pPr>
            <a:lvl4pPr algn="just">
              <a:buClr>
                <a:schemeClr val="accent6"/>
              </a:buClr>
              <a:defRPr sz="2800">
                <a:solidFill>
                  <a:srgbClr val="002060"/>
                </a:solidFill>
              </a:defRPr>
            </a:lvl4pPr>
            <a:lvl5pPr algn="just">
              <a:buClr>
                <a:schemeClr val="accent6"/>
              </a:buClr>
              <a:defRPr sz="2800">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(Discrete Mathematics)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Graph Theory - I</a:t>
            </a:r>
          </a:p>
        </p:txBody>
      </p:sp>
    </p:spTree>
    <p:extLst>
      <p:ext uri="{BB962C8B-B14F-4D97-AF65-F5344CB8AC3E}">
        <p14:creationId xmlns:p14="http://schemas.microsoft.com/office/powerpoint/2010/main" val="3385785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grpSp>
        <p:nvGrpSpPr>
          <p:cNvPr id="10" name="Group 9">
            <a:extLst>
              <a:ext uri="{FF2B5EF4-FFF2-40B4-BE49-F238E27FC236}">
                <a16:creationId xmlns:a16="http://schemas.microsoft.com/office/drawing/2014/main" id="{AE04132C-088A-4457-A3C3-1DC6427585FC}"/>
              </a:ext>
            </a:extLst>
          </p:cNvPr>
          <p:cNvGrpSpPr/>
          <p:nvPr userDrawn="1"/>
        </p:nvGrpSpPr>
        <p:grpSpPr>
          <a:xfrm>
            <a:off x="10677938" y="6350844"/>
            <a:ext cx="1339023" cy="407045"/>
            <a:chOff x="10721798" y="852808"/>
            <a:chExt cx="1339023" cy="407045"/>
          </a:xfrm>
        </p:grpSpPr>
        <p:pic>
          <p:nvPicPr>
            <p:cNvPr id="15" name="Picture 14">
              <a:extLst>
                <a:ext uri="{FF2B5EF4-FFF2-40B4-BE49-F238E27FC236}">
                  <a16:creationId xmlns:a16="http://schemas.microsoft.com/office/drawing/2014/main" id="{B49C31A0-0173-45C3-B715-F73A797EA64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6" name="Rectangle 15">
              <a:extLst>
                <a:ext uri="{FF2B5EF4-FFF2-40B4-BE49-F238E27FC236}">
                  <a16:creationId xmlns:a16="http://schemas.microsoft.com/office/drawing/2014/main" id="{26EB3A16-1B2C-44F3-A559-3929B9A2E162}"/>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Freeform 17">
            <a:extLst>
              <a:ext uri="{FF2B5EF4-FFF2-40B4-BE49-F238E27FC236}">
                <a16:creationId xmlns:a16="http://schemas.microsoft.com/office/drawing/2014/main" id="{5E9DA42E-B221-4BBE-B651-F7171591BCD7}"/>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147790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Dhvanik H. Zala</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1AA5C57A-F840-488A-AACF-E658D398FCEC}"/>
              </a:ext>
            </a:extLst>
          </p:cNvPr>
          <p:cNvGrpSpPr/>
          <p:nvPr userDrawn="1"/>
        </p:nvGrpSpPr>
        <p:grpSpPr>
          <a:xfrm>
            <a:off x="10304203" y="212531"/>
            <a:ext cx="1649043" cy="501287"/>
            <a:chOff x="10721798" y="852808"/>
            <a:chExt cx="1339023" cy="407045"/>
          </a:xfrm>
        </p:grpSpPr>
        <p:pic>
          <p:nvPicPr>
            <p:cNvPr id="15" name="Picture 14">
              <a:extLst>
                <a:ext uri="{FF2B5EF4-FFF2-40B4-BE49-F238E27FC236}">
                  <a16:creationId xmlns:a16="http://schemas.microsoft.com/office/drawing/2014/main" id="{1B8F12B0-F30C-4955-8E3F-625C9D2A74C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8508BA0B-FE99-4953-98B0-D2708C070068}"/>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(Discrete Mathematics)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Graph Theory - I</a:t>
            </a:r>
          </a:p>
        </p:txBody>
      </p:sp>
    </p:spTree>
    <p:extLst>
      <p:ext uri="{BB962C8B-B14F-4D97-AF65-F5344CB8AC3E}">
        <p14:creationId xmlns:p14="http://schemas.microsoft.com/office/powerpoint/2010/main" val="4185281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a:t>
            </a:r>
            <a:r>
              <a:rPr lang="en-US" sz="1200" b="0" kern="1200" dirty="0" err="1">
                <a:solidFill>
                  <a:schemeClr val="tx1">
                    <a:lumMod val="90000"/>
                    <a:lumOff val="10000"/>
                  </a:schemeClr>
                </a:solidFill>
                <a:latin typeface="+mn-lt"/>
                <a:ea typeface="+mn-ea"/>
                <a:cs typeface="+mn-cs"/>
              </a:rPr>
              <a:t>Punit</a:t>
            </a:r>
            <a:r>
              <a:rPr lang="en-US" sz="1200" b="0" kern="1200" dirty="0">
                <a:solidFill>
                  <a:schemeClr val="tx1">
                    <a:lumMod val="90000"/>
                    <a:lumOff val="10000"/>
                  </a:schemeClr>
                </a:solidFill>
                <a:latin typeface="+mn-lt"/>
                <a:ea typeface="+mn-ea"/>
                <a:cs typeface="+mn-cs"/>
              </a:rPr>
              <a:t> </a:t>
            </a:r>
            <a:r>
              <a:rPr lang="en-US" sz="1200" b="0" kern="1200" dirty="0" err="1">
                <a:solidFill>
                  <a:schemeClr val="tx1">
                    <a:lumMod val="90000"/>
                    <a:lumOff val="10000"/>
                  </a:schemeClr>
                </a:solidFill>
                <a:latin typeface="+mn-lt"/>
                <a:ea typeface="+mn-ea"/>
                <a:cs typeface="+mn-cs"/>
              </a:rPr>
              <a:t>Vadher</a:t>
            </a:r>
            <a:endParaRPr lang="en-US" sz="1200" b="0" kern="1200" dirty="0">
              <a:solidFill>
                <a:schemeClr val="tx1">
                  <a:lumMod val="90000"/>
                  <a:lumOff val="10000"/>
                </a:schemeClr>
              </a:solidFill>
              <a:latin typeface="+mn-lt"/>
              <a:ea typeface="+mn-ea"/>
              <a:cs typeface="+mn-cs"/>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8FD38B6F-D549-4D28-B5DA-3AF636652084}"/>
              </a:ext>
            </a:extLst>
          </p:cNvPr>
          <p:cNvGrpSpPr/>
          <p:nvPr userDrawn="1"/>
        </p:nvGrpSpPr>
        <p:grpSpPr>
          <a:xfrm>
            <a:off x="10357991" y="5976558"/>
            <a:ext cx="1649043" cy="501287"/>
            <a:chOff x="10721798" y="852808"/>
            <a:chExt cx="1339023" cy="407045"/>
          </a:xfrm>
        </p:grpSpPr>
        <p:pic>
          <p:nvPicPr>
            <p:cNvPr id="15" name="Picture 14">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(Graph Theory)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2 – Cut-Sets and Connectivity</a:t>
            </a:r>
          </a:p>
        </p:txBody>
      </p:sp>
    </p:spTree>
    <p:extLst>
      <p:ext uri="{BB962C8B-B14F-4D97-AF65-F5344CB8AC3E}">
        <p14:creationId xmlns:p14="http://schemas.microsoft.com/office/powerpoint/2010/main" val="1879831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mplete Blanck">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8FD38B6F-D549-4D28-B5DA-3AF636652084}"/>
              </a:ext>
            </a:extLst>
          </p:cNvPr>
          <p:cNvGrpSpPr/>
          <p:nvPr userDrawn="1"/>
        </p:nvGrpSpPr>
        <p:grpSpPr>
          <a:xfrm>
            <a:off x="131179" y="6000405"/>
            <a:ext cx="1649043" cy="501287"/>
            <a:chOff x="10721798" y="852808"/>
            <a:chExt cx="1339023" cy="407045"/>
          </a:xfrm>
        </p:grpSpPr>
        <p:pic>
          <p:nvPicPr>
            <p:cNvPr id="18" name="Picture 17">
              <a:extLst>
                <a:ext uri="{FF2B5EF4-FFF2-40B4-BE49-F238E27FC236}">
                  <a16:creationId xmlns:a16="http://schemas.microsoft.com/office/drawing/2014/main" id="{538C9597-8AB6-41B2-8903-FB3D0B47AD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0CB3A116-446D-49CC-96A6-7C8DB2B53F5A}"/>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Prof. Dhvanik H. Zala</a:t>
            </a:r>
          </a:p>
        </p:txBody>
      </p:sp>
      <p:sp>
        <p:nvSpPr>
          <p:cNvPr id="24"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5" name="Footer Placeholder 2">
            <a:extLst>
              <a:ext uri="{FF2B5EF4-FFF2-40B4-BE49-F238E27FC236}">
                <a16:creationId xmlns:a16="http://schemas.microsoft.com/office/drawing/2014/main" id="{BF2BE79E-EA17-4AB9-8CB5-714A52A6B2F5}"/>
              </a:ext>
            </a:extLst>
          </p:cNvPr>
          <p:cNvSpPr txBox="1">
            <a:spLocks/>
          </p:cNvSpPr>
          <p:nvPr userDrawn="1"/>
        </p:nvSpPr>
        <p:spPr>
          <a:xfrm>
            <a:off x="3933652" y="6604000"/>
            <a:ext cx="4324696"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b="0" kern="1200" dirty="0">
                <a:solidFill>
                  <a:schemeClr val="tx1">
                    <a:lumMod val="90000"/>
                    <a:lumOff val="10000"/>
                  </a:schemeClr>
                </a:solidFill>
                <a:latin typeface="+mn-lt"/>
                <a:ea typeface="+mn-ea"/>
                <a:cs typeface="+mn-cs"/>
              </a:rPr>
              <a:t>#2301HS301 (Discrete Mathematics)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sz="1200" b="0" kern="1200" dirty="0">
                <a:solidFill>
                  <a:schemeClr val="tx1">
                    <a:lumMod val="90000"/>
                    <a:lumOff val="10000"/>
                  </a:schemeClr>
                </a:solidFill>
                <a:latin typeface="+mn-lt"/>
                <a:ea typeface="+mn-ea"/>
                <a:cs typeface="+mn-cs"/>
              </a:rPr>
              <a:t>   Unit 4 – Graph Theory - I</a:t>
            </a:r>
          </a:p>
        </p:txBody>
      </p:sp>
    </p:spTree>
    <p:extLst>
      <p:ext uri="{BB962C8B-B14F-4D97-AF65-F5344CB8AC3E}">
        <p14:creationId xmlns:p14="http://schemas.microsoft.com/office/powerpoint/2010/main" val="36206743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4779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180587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0" name="Picture 29">
            <a:extLst>
              <a:ext uri="{FF2B5EF4-FFF2-40B4-BE49-F238E27FC236}">
                <a16:creationId xmlns:a16="http://schemas.microsoft.com/office/drawing/2014/main" id="{65C24A8B-C009-4A74-9481-67BB67CA49B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796946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21" name="Picture 20">
            <a:extLst>
              <a:ext uri="{FF2B5EF4-FFF2-40B4-BE49-F238E27FC236}">
                <a16:creationId xmlns:a16="http://schemas.microsoft.com/office/drawing/2014/main" id="{8DCFBA18-DBB7-4232-9BDC-C0D95AE93AF0}"/>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4" name="Picture 3">
            <a:extLst>
              <a:ext uri="{FF2B5EF4-FFF2-40B4-BE49-F238E27FC236}">
                <a16:creationId xmlns:a16="http://schemas.microsoft.com/office/drawing/2014/main" id="{52D49F10-F713-AD06-6440-6C6BB452A6F1}"/>
              </a:ext>
            </a:extLst>
          </p:cNvPr>
          <p:cNvPicPr>
            <a:picLocks noChangeAspect="1"/>
          </p:cNvPicPr>
          <p:nvPr userDrawn="1"/>
        </p:nvPicPr>
        <p:blipFill>
          <a:blip r:embed="rId10"/>
          <a:stretch>
            <a:fillRect/>
          </a:stretch>
        </p:blipFill>
        <p:spPr>
          <a:xfrm>
            <a:off x="8579226" y="2084604"/>
            <a:ext cx="3433959" cy="1438526"/>
          </a:xfrm>
          <a:prstGeom prst="rect">
            <a:avLst/>
          </a:prstGeom>
        </p:spPr>
      </p:pic>
    </p:spTree>
    <p:extLst>
      <p:ext uri="{BB962C8B-B14F-4D97-AF65-F5344CB8AC3E}">
        <p14:creationId xmlns:p14="http://schemas.microsoft.com/office/powerpoint/2010/main" val="11997843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5E75AD4F-9BB9-4005-AB78-4A6D388A4CD6}"/>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3169577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4964C355-848F-46E4-BB2A-EA2EE69FEBA2}"/>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6655936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036D56FE-CA91-4481-9096-27448303AC20}"/>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42594576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hasCustomPrompt="1"/>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Unit 1: Tree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punit.vadher@darshan.ac.in</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9662443859</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baseline="0" dirty="0">
                <a:solidFill>
                  <a:schemeClr val="tx1"/>
                </a:solidFill>
                <a:latin typeface="+mn-lt"/>
                <a:ea typeface="+mn-ea"/>
                <a:cs typeface="+mn-cs"/>
              </a:defRPr>
            </a:lvl1pPr>
          </a:lstStyle>
          <a:p>
            <a:pPr lvl="0"/>
            <a:r>
              <a:rPr lang="en-US" dirty="0"/>
              <a:t>Department of Humanities and Sciences </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Prof. </a:t>
            </a:r>
            <a:r>
              <a:rPr lang="en-US" dirty="0" err="1"/>
              <a:t>Punit</a:t>
            </a:r>
            <a:r>
              <a:rPr lang="en-US" dirty="0"/>
              <a:t> B </a:t>
            </a:r>
            <a:r>
              <a:rPr lang="en-US" dirty="0" err="1"/>
              <a:t>Vadher</a:t>
            </a:r>
            <a:endParaRPr lang="en-US" dirty="0"/>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Graph Theory</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pic>
        <p:nvPicPr>
          <p:cNvPr id="31" name="Picture 30">
            <a:extLst>
              <a:ext uri="{FF2B5EF4-FFF2-40B4-BE49-F238E27FC236}">
                <a16:creationId xmlns:a16="http://schemas.microsoft.com/office/drawing/2014/main" id="{A561853C-B15A-4153-A982-7E7EB1213BC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4" name="Picture 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113098" y="1865087"/>
            <a:ext cx="3205151" cy="2564121"/>
          </a:xfrm>
          <a:prstGeom prst="rect">
            <a:avLst/>
          </a:prstGeom>
        </p:spPr>
      </p:pic>
    </p:spTree>
    <p:extLst>
      <p:ext uri="{BB962C8B-B14F-4D97-AF65-F5344CB8AC3E}">
        <p14:creationId xmlns:p14="http://schemas.microsoft.com/office/powerpoint/2010/main" val="28421015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CD21B45-1703-4330-B544-825BD8F37AF2}" type="datetimeFigureOut">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41F3C7-36DD-4595-AA08-2525D86280BD}" type="slidenum">
              <a:rPr lang="en-US" smtClean="0"/>
              <a:t>‹#›</a:t>
            </a:fld>
            <a:endParaRPr lang="en-US"/>
          </a:p>
        </p:txBody>
      </p:sp>
    </p:spTree>
    <p:extLst>
      <p:ext uri="{BB962C8B-B14F-4D97-AF65-F5344CB8AC3E}">
        <p14:creationId xmlns:p14="http://schemas.microsoft.com/office/powerpoint/2010/main" val="4120342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B976521A-C815-4A64-A047-CE405ED0E59A}"/>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31824997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631765DD-2E04-4EE4-AFB7-43E328823E6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2529989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1018DFAF-9B15-4199-9C36-C730A2CE6C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pic>
        <p:nvPicPr>
          <p:cNvPr id="5" name="Picture 4">
            <a:extLst>
              <a:ext uri="{FF2B5EF4-FFF2-40B4-BE49-F238E27FC236}">
                <a16:creationId xmlns:a16="http://schemas.microsoft.com/office/drawing/2014/main" id="{EDFB250A-3893-87F0-04F7-777249C1CBE2}"/>
              </a:ext>
            </a:extLst>
          </p:cNvPr>
          <p:cNvPicPr>
            <a:picLocks noChangeAspect="1"/>
          </p:cNvPicPr>
          <p:nvPr userDrawn="1"/>
        </p:nvPicPr>
        <p:blipFill>
          <a:blip r:embed="rId10"/>
          <a:stretch>
            <a:fillRect/>
          </a:stretch>
        </p:blipFill>
        <p:spPr>
          <a:xfrm>
            <a:off x="9062429" y="1979469"/>
            <a:ext cx="2875475" cy="2164552"/>
          </a:xfrm>
          <a:prstGeom prst="rect">
            <a:avLst/>
          </a:prstGeom>
        </p:spPr>
      </p:pic>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5" name="Picture 34">
            <a:extLst>
              <a:ext uri="{FF2B5EF4-FFF2-40B4-BE49-F238E27FC236}">
                <a16:creationId xmlns:a16="http://schemas.microsoft.com/office/drawing/2014/main" id="{744A518A-BE68-4048-BDCB-77578CB57230}"/>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1971949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7" cstate="print">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C248CBD5-99BA-4017-857A-5ED400F43651}"/>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22114210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E2B174A-3678-4F11-89C2-E0E8A23F7789}"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171929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2B174A-3678-4F11-89C2-E0E8A23F7789}"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3900155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2B174A-3678-4F11-89C2-E0E8A23F7789}"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2766860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E2B174A-3678-4F11-89C2-E0E8A23F7789}"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6455344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E2B174A-3678-4F11-89C2-E0E8A23F7789}" type="datetimeFigureOut">
              <a:rPr lang="en-US" smtClean="0"/>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3356234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E2B174A-3678-4F11-89C2-E0E8A23F7789}" type="datetimeFigureOut">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6201205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E2B174A-3678-4F11-89C2-E0E8A23F7789}" type="datetimeFigureOut">
              <a:rPr lang="en-US" smtClean="0"/>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2648859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2B174A-3678-4F11-89C2-E0E8A23F7789}"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10623903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2B174A-3678-4F11-89C2-E0E8A23F7789}"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185960720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2B174A-3678-4F11-89C2-E0E8A23F7789}"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4021661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E2B174A-3678-4F11-89C2-E0E8A23F7789}"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4044C2-AE3D-42EF-919C-864D09930126}" type="slidenum">
              <a:rPr lang="en-US" smtClean="0"/>
              <a:t>‹#›</a:t>
            </a:fld>
            <a:endParaRPr lang="en-US"/>
          </a:p>
        </p:txBody>
      </p:sp>
    </p:spTree>
    <p:extLst>
      <p:ext uri="{BB962C8B-B14F-4D97-AF65-F5344CB8AC3E}">
        <p14:creationId xmlns:p14="http://schemas.microsoft.com/office/powerpoint/2010/main" val="18402970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4F8DB99-FD62-4481-9A4B-A22D148AD429}"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0360967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F8DB99-FD62-4481-9A4B-A22D148AD429}"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7851190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F8DB99-FD62-4481-9A4B-A22D148AD429}"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5675444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4F8DB99-FD62-4481-9A4B-A22D148AD429}"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0928376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4F8DB99-FD62-4481-9A4B-A22D148AD429}" type="datetimeFigureOut">
              <a:rPr lang="en-US" smtClean="0"/>
              <a:t>7/15/2026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5829439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4F8DB99-FD62-4481-9A4B-A22D148AD429}" type="datetimeFigureOut">
              <a:rPr lang="en-US" smtClean="0"/>
              <a:t>7/15/2026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41979140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F8DB99-FD62-4481-9A4B-A22D148AD429}" type="datetimeFigureOut">
              <a:rPr lang="en-US" smtClean="0"/>
              <a:t>7/15/2026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635690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8DB99-FD62-4481-9A4B-A22D148AD429}"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37854044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F8DB99-FD62-4481-9A4B-A22D148AD429}" type="datetimeFigureOut">
              <a:rPr lang="en-US" smtClean="0"/>
              <a:t>7/15/2026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4993827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F8DB99-FD62-4481-9A4B-A22D148AD429}"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217285378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4F8DB99-FD62-4481-9A4B-A22D148AD429}" type="datetimeFigureOut">
              <a:rPr lang="en-US" smtClean="0"/>
              <a:t>7/15/2026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8359511-47C3-4666-B47A-5254F608EFFB}" type="slidenum">
              <a:rPr lang="en-US" smtClean="0"/>
              <a:t>‹#›</a:t>
            </a:fld>
            <a:endParaRPr lang="en-US"/>
          </a:p>
        </p:txBody>
      </p:sp>
    </p:spTree>
    <p:extLst>
      <p:ext uri="{BB962C8B-B14F-4D97-AF65-F5344CB8AC3E}">
        <p14:creationId xmlns:p14="http://schemas.microsoft.com/office/powerpoint/2010/main" val="2646572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3.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7/15/2026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25" r:id="rId16"/>
    <p:sldLayoutId id="2147483708" r:id="rId17"/>
    <p:sldLayoutId id="2147483709" r:id="rId18"/>
    <p:sldLayoutId id="2147483684" r:id="rId19"/>
    <p:sldLayoutId id="2147483711" r:id="rId20"/>
    <p:sldLayoutId id="2147483712" r:id="rId2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2B174A-3678-4F11-89C2-E0E8A23F7789}" type="datetimeFigureOut">
              <a:rPr lang="en-US" smtClean="0"/>
              <a:t>7/15/2026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4044C2-AE3D-42EF-919C-864D09930126}" type="slidenum">
              <a:rPr lang="en-US" smtClean="0"/>
              <a:t>‹#›</a:t>
            </a:fld>
            <a:endParaRPr lang="en-US"/>
          </a:p>
        </p:txBody>
      </p:sp>
    </p:spTree>
    <p:extLst>
      <p:ext uri="{BB962C8B-B14F-4D97-AF65-F5344CB8AC3E}">
        <p14:creationId xmlns:p14="http://schemas.microsoft.com/office/powerpoint/2010/main" val="854998963"/>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F8DB99-FD62-4481-9A4B-A22D148AD429}" type="datetimeFigureOut">
              <a:rPr lang="en-US" smtClean="0"/>
              <a:t>7/15/2026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8359511-47C3-4666-B47A-5254F608EFFB}" type="slidenum">
              <a:rPr lang="en-US" smtClean="0"/>
              <a:t>‹#›</a:t>
            </a:fld>
            <a:endParaRPr lang="en-US"/>
          </a:p>
        </p:txBody>
      </p:sp>
    </p:spTree>
    <p:extLst>
      <p:ext uri="{BB962C8B-B14F-4D97-AF65-F5344CB8AC3E}">
        <p14:creationId xmlns:p14="http://schemas.microsoft.com/office/powerpoint/2010/main" val="181923596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0.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5" Type="http://schemas.openxmlformats.org/officeDocument/2006/relationships/image" Target="../media/image23.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s>
</file>

<file path=ppt/slides/_rels/slide16.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36.png"/><Relationship Id="rId2" Type="http://schemas.openxmlformats.org/officeDocument/2006/relationships/image" Target="../media/image35.png"/><Relationship Id="rId16"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17.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1.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1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1.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80.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19.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3" Type="http://schemas.openxmlformats.org/officeDocument/2006/relationships/image" Target="../media/image51.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5" Type="http://schemas.openxmlformats.org/officeDocument/2006/relationships/image" Target="../media/image69.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s>
</file>

<file path=ppt/slides/_rels/slide2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2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7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4.png"/></Relationships>
</file>

<file path=ppt/slides/_rels/slide3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50.png"/><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40.png"/><Relationship Id="rId7" Type="http://schemas.openxmlformats.org/officeDocument/2006/relationships/image" Target="../media/image980.png"/><Relationship Id="rId2" Type="http://schemas.openxmlformats.org/officeDocument/2006/relationships/image" Target="../media/image930.png"/><Relationship Id="rId1" Type="http://schemas.openxmlformats.org/officeDocument/2006/relationships/slideLayout" Target="../slideLayouts/slideLayout2.xml"/><Relationship Id="rId6" Type="http://schemas.openxmlformats.org/officeDocument/2006/relationships/image" Target="../media/image970.png"/><Relationship Id="rId5" Type="http://schemas.openxmlformats.org/officeDocument/2006/relationships/image" Target="../media/image960.png"/><Relationship Id="rId4" Type="http://schemas.openxmlformats.org/officeDocument/2006/relationships/image" Target="../media/image95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0.png"/><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4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4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2.png"/><Relationship Id="rId4" Type="http://schemas.openxmlformats.org/officeDocument/2006/relationships/image" Target="../media/image103.png"/></Relationships>
</file>

<file path=ppt/slides/_rels/slide4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890.png"/><Relationship Id="rId5" Type="http://schemas.openxmlformats.org/officeDocument/2006/relationships/image" Target="../media/image115.png"/><Relationship Id="rId4" Type="http://schemas.openxmlformats.org/officeDocument/2006/relationships/image" Target="../media/image11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12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5" Type="http://schemas.openxmlformats.org/officeDocument/2006/relationships/image" Target="../media/image126.png"/><Relationship Id="rId4" Type="http://schemas.openxmlformats.org/officeDocument/2006/relationships/image" Target="../media/image125.png"/></Relationships>
</file>

<file path=ppt/slides/_rels/slide55.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0.png"/><Relationship Id="rId1" Type="http://schemas.openxmlformats.org/officeDocument/2006/relationships/slideLayout" Target="../slideLayouts/slideLayout2.xml"/><Relationship Id="rId6" Type="http://schemas.openxmlformats.org/officeDocument/2006/relationships/image" Target="../media/image138.png"/><Relationship Id="rId5" Type="http://schemas.openxmlformats.org/officeDocument/2006/relationships/image" Target="../media/image136.png"/><Relationship Id="rId4" Type="http://schemas.openxmlformats.org/officeDocument/2006/relationships/image" Target="../media/image129.png"/></Relationships>
</file>

<file path=ppt/slides/_rels/slide73.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74.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40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06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07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060.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6D125B39-4795-4BA6-B9B5-11FFCFC98439}"/>
              </a:ext>
            </a:extLst>
          </p:cNvPr>
          <p:cNvSpPr>
            <a:spLocks noGrp="1"/>
          </p:cNvSpPr>
          <p:nvPr>
            <p:ph type="ctrTitle"/>
          </p:nvPr>
        </p:nvSpPr>
        <p:spPr>
          <a:xfrm>
            <a:off x="353569" y="1883110"/>
            <a:ext cx="8989204" cy="1795625"/>
          </a:xfrm>
        </p:spPr>
        <p:txBody>
          <a:bodyPr/>
          <a:lstStyle/>
          <a:p>
            <a:r>
              <a:rPr lang="en-US" dirty="0"/>
              <a:t>Unit – 2</a:t>
            </a:r>
            <a:br>
              <a:rPr lang="en-US" dirty="0"/>
            </a:br>
            <a:r>
              <a:rPr lang="en-US" dirty="0"/>
              <a:t>Cut-Sets &amp; Connectivity</a:t>
            </a:r>
            <a:endParaRPr lang="en-US" sz="2400" dirty="0">
              <a:solidFill>
                <a:srgbClr val="FF0000"/>
              </a:solidFill>
            </a:endParaRPr>
          </a:p>
        </p:txBody>
      </p:sp>
      <p:sp>
        <p:nvSpPr>
          <p:cNvPr id="16" name="Text Placeholder 15">
            <a:extLst>
              <a:ext uri="{FF2B5EF4-FFF2-40B4-BE49-F238E27FC236}">
                <a16:creationId xmlns:a16="http://schemas.microsoft.com/office/drawing/2014/main" id="{05EEC38D-B69A-4F45-9CFB-3F832F2054F3}"/>
              </a:ext>
            </a:extLst>
          </p:cNvPr>
          <p:cNvSpPr>
            <a:spLocks noGrp="1"/>
          </p:cNvSpPr>
          <p:nvPr>
            <p:ph type="body" sz="quarter" idx="11"/>
          </p:nvPr>
        </p:nvSpPr>
        <p:spPr/>
        <p:txBody>
          <a:bodyPr/>
          <a:lstStyle/>
          <a:p>
            <a:r>
              <a:rPr lang="en-US" dirty="0"/>
              <a:t>punit.vadher@darshan.ac.in</a:t>
            </a:r>
          </a:p>
        </p:txBody>
      </p:sp>
      <p:sp>
        <p:nvSpPr>
          <p:cNvPr id="17" name="Text Placeholder 16">
            <a:extLst>
              <a:ext uri="{FF2B5EF4-FFF2-40B4-BE49-F238E27FC236}">
                <a16:creationId xmlns:a16="http://schemas.microsoft.com/office/drawing/2014/main" id="{3B892750-977A-4A19-B627-46C829D9CDA2}"/>
              </a:ext>
            </a:extLst>
          </p:cNvPr>
          <p:cNvSpPr>
            <a:spLocks noGrp="1"/>
          </p:cNvSpPr>
          <p:nvPr>
            <p:ph type="body" sz="quarter" idx="12"/>
          </p:nvPr>
        </p:nvSpPr>
        <p:spPr/>
        <p:txBody>
          <a:bodyPr/>
          <a:lstStyle/>
          <a:p>
            <a:r>
              <a:rPr lang="en-US" dirty="0"/>
              <a:t>9662443859</a:t>
            </a:r>
          </a:p>
        </p:txBody>
      </p:sp>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p:txBody>
          <a:bodyPr/>
          <a:lstStyle/>
          <a:p>
            <a:r>
              <a:rPr lang="en-US" dirty="0"/>
              <a:t>Department of Humanities &amp; Science</a:t>
            </a:r>
          </a:p>
        </p:txBody>
      </p:sp>
      <p:sp>
        <p:nvSpPr>
          <p:cNvPr id="19" name="Text Placeholder 18">
            <a:extLst>
              <a:ext uri="{FF2B5EF4-FFF2-40B4-BE49-F238E27FC236}">
                <a16:creationId xmlns:a16="http://schemas.microsoft.com/office/drawing/2014/main" id="{D6DA44CB-50AE-4D51-AC18-616176252887}"/>
              </a:ext>
            </a:extLst>
          </p:cNvPr>
          <p:cNvSpPr>
            <a:spLocks noGrp="1"/>
          </p:cNvSpPr>
          <p:nvPr>
            <p:ph type="body" sz="quarter" idx="14"/>
          </p:nvPr>
        </p:nvSpPr>
        <p:spPr/>
        <p:txBody>
          <a:bodyPr/>
          <a:lstStyle/>
          <a:p>
            <a:r>
              <a:rPr lang="en-US" dirty="0"/>
              <a:t>Prof. </a:t>
            </a:r>
            <a:r>
              <a:rPr lang="en-US" dirty="0" err="1"/>
              <a:t>Punit</a:t>
            </a:r>
            <a:r>
              <a:rPr lang="en-US" dirty="0"/>
              <a:t> </a:t>
            </a:r>
            <a:r>
              <a:rPr lang="en-US" dirty="0" err="1"/>
              <a:t>Vadher</a:t>
            </a:r>
            <a:endParaRPr lang="en-US" dirty="0"/>
          </a:p>
        </p:txBody>
      </p:sp>
      <mc:AlternateContent xmlns:mc="http://schemas.openxmlformats.org/markup-compatibility/2006" xmlns:a14="http://schemas.microsoft.com/office/drawing/2010/main">
        <mc:Choice Requires="a14">
          <p:sp>
            <p:nvSpPr>
              <p:cNvPr id="20" name="Text Placeholder 19">
                <a:extLst>
                  <a:ext uri="{FF2B5EF4-FFF2-40B4-BE49-F238E27FC236}">
                    <a16:creationId xmlns:a16="http://schemas.microsoft.com/office/drawing/2014/main" id="{FF5B8673-7BA1-4EA7-991A-5F4DCD3054D0}"/>
                  </a:ext>
                </a:extLst>
              </p:cNvPr>
              <p:cNvSpPr>
                <a:spLocks noGrp="1"/>
              </p:cNvSpPr>
              <p:nvPr>
                <p:ph type="body" sz="quarter" idx="16"/>
              </p:nvPr>
            </p:nvSpPr>
            <p:spPr>
              <a:xfrm>
                <a:off x="2431631" y="93846"/>
                <a:ext cx="4719796" cy="843097"/>
              </a:xfrm>
            </p:spPr>
            <p:txBody>
              <a:bodyPr/>
              <a:lstStyle/>
              <a:p>
                <a:pPr>
                  <a:lnSpc>
                    <a:spcPct val="100000"/>
                  </a:lnSpc>
                </a:pPr>
                <a:r>
                  <a:rPr lang="en-US" dirty="0"/>
                  <a:t>B.Tech., B.Sc.(H) CS </a:t>
                </a:r>
                <a14:m>
                  <m:oMath xmlns:m="http://schemas.openxmlformats.org/officeDocument/2006/math">
                    <m:r>
                      <a:rPr lang="en-US" i="1" dirty="0">
                        <a:latin typeface="Cambria Math" panose="02040503050406030204" pitchFamily="18" charset="0"/>
                      </a:rPr>
                      <m:t>→</m:t>
                    </m:r>
                    <m:r>
                      <a:rPr lang="en-US" b="0" i="0" dirty="0" smtClean="0">
                        <a:latin typeface="Cambria Math" panose="02040503050406030204" pitchFamily="18" charset="0"/>
                      </a:rPr>
                      <m:t>5</m:t>
                    </m:r>
                  </m:oMath>
                </a14:m>
                <a:r>
                  <a:rPr lang="en-US" baseline="30000" dirty="0"/>
                  <a:t>th</a:t>
                </a:r>
                <a:r>
                  <a:rPr lang="en-US" dirty="0"/>
                  <a:t>  Semester</a:t>
                </a:r>
              </a:p>
              <a:p>
                <a:pPr>
                  <a:lnSpc>
                    <a:spcPct val="125000"/>
                  </a:lnSpc>
                </a:pPr>
                <a:r>
                  <a:rPr lang="en-US" b="1" dirty="0"/>
                  <a:t>Graph theory (</a:t>
                </a:r>
                <a:r>
                  <a:rPr lang="en-US" dirty="0"/>
                  <a:t>2301CS595</a:t>
                </a:r>
                <a:r>
                  <a:rPr lang="en-US" b="1" dirty="0"/>
                  <a:t>)</a:t>
                </a:r>
              </a:p>
            </p:txBody>
          </p:sp>
        </mc:Choice>
        <mc:Fallback xmlns="">
          <p:sp>
            <p:nvSpPr>
              <p:cNvPr id="20" name="Text Placeholder 19">
                <a:extLst>
                  <a:ext uri="{FF2B5EF4-FFF2-40B4-BE49-F238E27FC236}">
                    <a16:creationId xmlns="" xmlns:a16="http://schemas.microsoft.com/office/drawing/2014/main" xmlns:a14="http://schemas.microsoft.com/office/drawing/2010/main" id="{FF5B8673-7BA1-4EA7-991A-5F4DCD3054D0}"/>
                  </a:ext>
                </a:extLst>
              </p:cNvPr>
              <p:cNvSpPr>
                <a:spLocks noGrp="1" noRot="1" noChangeAspect="1" noMove="1" noResize="1" noEditPoints="1" noAdjustHandles="1" noChangeArrowheads="1" noChangeShapeType="1" noTextEdit="1"/>
              </p:cNvSpPr>
              <p:nvPr>
                <p:ph type="body" sz="quarter" idx="16"/>
              </p:nvPr>
            </p:nvSpPr>
            <p:spPr>
              <a:xfrm>
                <a:off x="2431631" y="93846"/>
                <a:ext cx="4719796" cy="843097"/>
              </a:xfrm>
              <a:blipFill rotWithShape="0">
                <a:blip r:embed="rId2"/>
                <a:stretch>
                  <a:fillRect/>
                </a:stretch>
              </a:blipFill>
            </p:spPr>
            <p:txBody>
              <a:bodyPr/>
              <a:lstStyle/>
              <a:p>
                <a:r>
                  <a:rPr lang="en-US">
                    <a:noFill/>
                  </a:rPr>
                  <a:t> </a:t>
                </a:r>
              </a:p>
            </p:txBody>
          </p:sp>
        </mc:Fallback>
      </mc:AlternateContent>
      <p:pic>
        <p:nvPicPr>
          <p:cNvPr id="4" name="Picture Placeholder 3"/>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a:stretch>
            <a:fillRect/>
          </a:stretch>
        </p:blipFill>
        <p:spPr/>
      </p:pic>
      <p:sp>
        <p:nvSpPr>
          <p:cNvPr id="12" name="Title 13">
            <a:extLst>
              <a:ext uri="{FF2B5EF4-FFF2-40B4-BE49-F238E27FC236}">
                <a16:creationId xmlns:a16="http://schemas.microsoft.com/office/drawing/2014/main" id="{F3B88914-E51B-4A33-96D7-EC0CE630740C}"/>
              </a:ext>
            </a:extLst>
          </p:cNvPr>
          <p:cNvSpPr txBox="1">
            <a:spLocks/>
          </p:cNvSpPr>
          <p:nvPr/>
        </p:nvSpPr>
        <p:spPr>
          <a:xfrm>
            <a:off x="424926" y="3943171"/>
            <a:ext cx="801907" cy="468715"/>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sz="2400" b="0" dirty="0">
                <a:latin typeface="+mn-lt"/>
              </a:rPr>
              <a:t>CO2:</a:t>
            </a:r>
            <a:br>
              <a:rPr lang="en-US" sz="2400" dirty="0"/>
            </a:br>
            <a:endParaRPr lang="en-US" sz="2400" b="0" dirty="0">
              <a:latin typeface="+mn-lt"/>
            </a:endParaRPr>
          </a:p>
        </p:txBody>
      </p:sp>
      <p:sp>
        <p:nvSpPr>
          <p:cNvPr id="13" name="Title 13">
            <a:extLst>
              <a:ext uri="{FF2B5EF4-FFF2-40B4-BE49-F238E27FC236}">
                <a16:creationId xmlns:a16="http://schemas.microsoft.com/office/drawing/2014/main" id="{BBA8A0F4-F547-438E-815A-3C41AF4A49EB}"/>
              </a:ext>
            </a:extLst>
          </p:cNvPr>
          <p:cNvSpPr txBox="1">
            <a:spLocks/>
          </p:cNvSpPr>
          <p:nvPr/>
        </p:nvSpPr>
        <p:spPr>
          <a:xfrm>
            <a:off x="1075450" y="3943171"/>
            <a:ext cx="8071430" cy="821235"/>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pPr algn="just"/>
            <a:r>
              <a:rPr lang="en-US" sz="2400" b="0" dirty="0">
                <a:latin typeface="+mn-lt"/>
              </a:rPr>
              <a:t>At the end of this unit, students will be able to </a:t>
            </a:r>
          </a:p>
          <a:p>
            <a:r>
              <a:rPr lang="en-US" sz="2400" dirty="0">
                <a:solidFill>
                  <a:srgbClr val="FF0000"/>
                </a:solidFill>
              </a:rPr>
              <a:t>Demonstrate the use of cut-sets, connectivity, and Separability.</a:t>
            </a:r>
            <a:r>
              <a:rPr lang="en-US" sz="800" dirty="0"/>
              <a:t>. </a:t>
            </a:r>
            <a:endParaRPr lang="en-US" sz="2400" dirty="0">
              <a:solidFill>
                <a:srgbClr val="FF0000"/>
              </a:solidFill>
            </a:endParaRPr>
          </a:p>
        </p:txBody>
      </p:sp>
    </p:spTree>
    <p:extLst>
      <p:ext uri="{BB962C8B-B14F-4D97-AF65-F5344CB8AC3E}">
        <p14:creationId xmlns:p14="http://schemas.microsoft.com/office/powerpoint/2010/main" val="1273260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34260FD-CAA3-43A0-977C-7E4B57013872}"/>
              </a:ext>
            </a:extLst>
          </p:cNvPr>
          <p:cNvCxnSpPr>
            <a:cxnSpLocks/>
            <a:stCxn id="6" idx="4"/>
          </p:cNvCxnSpPr>
          <p:nvPr/>
        </p:nvCxnSpPr>
        <p:spPr>
          <a:xfrm>
            <a:off x="1191446" y="1157468"/>
            <a:ext cx="0" cy="5079559"/>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sp>
        <p:nvSpPr>
          <p:cNvPr id="9" name="TextBox 8">
            <a:extLst>
              <a:ext uri="{FF2B5EF4-FFF2-40B4-BE49-F238E27FC236}">
                <a16:creationId xmlns:a16="http://schemas.microsoft.com/office/drawing/2014/main" id="{BDA2F9A4-6988-4274-8384-12496EC9D59D}"/>
              </a:ext>
            </a:extLst>
          </p:cNvPr>
          <p:cNvSpPr txBox="1"/>
          <p:nvPr/>
        </p:nvSpPr>
        <p:spPr>
          <a:xfrm>
            <a:off x="1458964" y="646362"/>
            <a:ext cx="9445594" cy="3400931"/>
          </a:xfrm>
          <a:prstGeom prst="rect">
            <a:avLst/>
          </a:prstGeom>
          <a:noFill/>
        </p:spPr>
        <p:txBody>
          <a:bodyPr wrap="square" rtlCol="0">
            <a:spAutoFit/>
          </a:bodyPr>
          <a:lstStyle/>
          <a:p>
            <a:pPr>
              <a:lnSpc>
                <a:spcPct val="125000"/>
              </a:lnSpc>
            </a:pPr>
            <a:r>
              <a:rPr lang="en-US" sz="2800" b="1" dirty="0">
                <a:solidFill>
                  <a:srgbClr val="FF0000"/>
                </a:solidFill>
              </a:rPr>
              <a:t>Topics of Unit 2</a:t>
            </a:r>
          </a:p>
          <a:p>
            <a:pPr marL="800100" lvl="1" indent="-342900">
              <a:lnSpc>
                <a:spcPct val="150000"/>
              </a:lnSpc>
              <a:buFont typeface="Wingdings" panose="05000000000000000000" pitchFamily="2" charset="2"/>
              <a:buChar char="§"/>
            </a:pPr>
            <a:r>
              <a:rPr lang="en-US" sz="2400" dirty="0">
                <a:solidFill>
                  <a:srgbClr val="002060"/>
                </a:solidFill>
              </a:rPr>
              <a:t>Brief Introduction of Unit</a:t>
            </a:r>
          </a:p>
          <a:p>
            <a:pPr marL="800100" lvl="1" indent="-342900">
              <a:lnSpc>
                <a:spcPct val="150000"/>
              </a:lnSpc>
              <a:buFont typeface="Wingdings" panose="05000000000000000000" pitchFamily="2" charset="2"/>
              <a:buChar char="§"/>
            </a:pPr>
            <a:r>
              <a:rPr lang="en-US" sz="2400" dirty="0">
                <a:solidFill>
                  <a:srgbClr val="002060"/>
                </a:solidFill>
              </a:rPr>
              <a:t>Introduction to cut and cut - set</a:t>
            </a:r>
          </a:p>
          <a:p>
            <a:pPr marL="800100" lvl="1" indent="-342900">
              <a:lnSpc>
                <a:spcPct val="150000"/>
              </a:lnSpc>
              <a:buFont typeface="Wingdings" panose="05000000000000000000" pitchFamily="2" charset="2"/>
              <a:buChar char="§"/>
            </a:pPr>
            <a:r>
              <a:rPr lang="en-US" sz="2400" dirty="0">
                <a:solidFill>
                  <a:srgbClr val="002060"/>
                </a:solidFill>
              </a:rPr>
              <a:t>Fundamental cut–sets with respect to a spanning tree </a:t>
            </a:r>
          </a:p>
          <a:p>
            <a:pPr marL="800100" lvl="1" indent="-342900">
              <a:lnSpc>
                <a:spcPct val="150000"/>
              </a:lnSpc>
              <a:buFont typeface="Wingdings" panose="05000000000000000000" pitchFamily="2" charset="2"/>
              <a:buChar char="§"/>
            </a:pPr>
            <a:r>
              <a:rPr lang="en-US" sz="2400" dirty="0">
                <a:solidFill>
                  <a:srgbClr val="002060"/>
                </a:solidFill>
              </a:rPr>
              <a:t>Relationship between fundamental cut-sets and fundamental Circuits</a:t>
            </a:r>
          </a:p>
          <a:p>
            <a:pPr marL="800100" lvl="1" indent="-342900">
              <a:lnSpc>
                <a:spcPct val="150000"/>
              </a:lnSpc>
              <a:buFont typeface="Wingdings" panose="05000000000000000000" pitchFamily="2" charset="2"/>
              <a:buChar char="§"/>
            </a:pPr>
            <a:r>
              <a:rPr lang="en-US" sz="2400" dirty="0">
                <a:solidFill>
                  <a:srgbClr val="002060"/>
                </a:solidFill>
              </a:rPr>
              <a:t>Connectivity and Separability</a:t>
            </a:r>
          </a:p>
        </p:txBody>
      </p:sp>
    </p:spTree>
    <p:extLst>
      <p:ext uri="{BB962C8B-B14F-4D97-AF65-F5344CB8AC3E}">
        <p14:creationId xmlns:p14="http://schemas.microsoft.com/office/powerpoint/2010/main" val="138175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2" presetClass="entr" presetSubtype="1" fill="hold" grpId="0" nodeType="after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up)">
                                      <p:cBhvr>
                                        <p:cTn id="17" dur="500"/>
                                        <p:tgtEl>
                                          <p:spTgt spid="9"/>
                                        </p:tgtEl>
                                      </p:cBhvr>
                                    </p:animEffect>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up)">
                                      <p:cBhvr>
                                        <p:cTn id="21" dur="500"/>
                                        <p:tgtEl>
                                          <p:spTgt spid="8"/>
                                        </p:tgtEl>
                                      </p:cBhvr>
                                    </p:animEffect>
                                  </p:childTnLst>
                                </p:cTn>
                              </p:par>
                            </p:childTnLst>
                          </p:cTn>
                        </p:par>
                        <p:par>
                          <p:cTn id="22" fill="hold">
                            <p:stCondLst>
                              <p:cond delay="2000"/>
                            </p:stCondLst>
                            <p:childTnLst>
                              <p:par>
                                <p:cTn id="23" presetID="1" presetClass="entr" presetSubtype="0" fill="hold" grpId="0" nodeType="after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C00000"/>
                </a:solidFill>
              </a:rPr>
              <a:t>Brief Introduction </a:t>
            </a:r>
            <a:endParaRPr lang="en-US" dirty="0"/>
          </a:p>
        </p:txBody>
      </p:sp>
    </p:spTree>
    <p:extLst>
      <p:ext uri="{BB962C8B-B14F-4D97-AF65-F5344CB8AC3E}">
        <p14:creationId xmlns:p14="http://schemas.microsoft.com/office/powerpoint/2010/main" val="3641178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600" dirty="0">
                <a:solidFill>
                  <a:srgbClr val="002060"/>
                </a:solidFill>
              </a:rPr>
              <a:t>Unit Overview</a:t>
            </a:r>
            <a:endParaRPr lang="en-US" dirty="0"/>
          </a:p>
        </p:txBody>
      </p:sp>
      <p:sp>
        <p:nvSpPr>
          <p:cNvPr id="5" name="Content Placeholder 4"/>
          <p:cNvSpPr>
            <a:spLocks noGrp="1"/>
          </p:cNvSpPr>
          <p:nvPr>
            <p:ph idx="1"/>
          </p:nvPr>
        </p:nvSpPr>
        <p:spPr/>
        <p:txBody>
          <a:bodyPr/>
          <a:lstStyle/>
          <a:p>
            <a:pPr marL="0" indent="0">
              <a:lnSpc>
                <a:spcPct val="100000"/>
              </a:lnSpc>
              <a:buNone/>
            </a:pPr>
            <a:r>
              <a:rPr lang="en-US" b="1" dirty="0"/>
              <a:t>Key Question</a:t>
            </a:r>
            <a:r>
              <a:rPr lang="en-US" dirty="0"/>
              <a:t>: What are the critical components of a graph whose removal disconnects it?</a:t>
            </a:r>
          </a:p>
          <a:p>
            <a:r>
              <a:rPr lang="en-US" dirty="0"/>
              <a:t>Understanding: </a:t>
            </a:r>
          </a:p>
          <a:p>
            <a:pPr lvl="1"/>
            <a:r>
              <a:rPr lang="en-US" b="1" dirty="0"/>
              <a:t>Cut-vertices (Articulation points), Cut-edges (Bridges)</a:t>
            </a:r>
            <a:r>
              <a:rPr lang="en-US" dirty="0"/>
              <a:t>, </a:t>
            </a:r>
            <a:r>
              <a:rPr lang="en-US" b="1" dirty="0"/>
              <a:t>Cut-sets</a:t>
            </a:r>
            <a:endParaRPr lang="en-US" dirty="0"/>
          </a:p>
          <a:p>
            <a:r>
              <a:rPr lang="en-US" dirty="0"/>
              <a:t>Exploring: </a:t>
            </a:r>
          </a:p>
          <a:p>
            <a:pPr lvl="1"/>
            <a:r>
              <a:rPr lang="en-US" b="1" dirty="0"/>
              <a:t>Connectivity of graphs</a:t>
            </a:r>
            <a:r>
              <a:rPr lang="en-US" dirty="0"/>
              <a:t> (</a:t>
            </a:r>
            <a:r>
              <a:rPr lang="en-US" b="1" dirty="0"/>
              <a:t>Vertex connectivity &amp; Edge connectivity)</a:t>
            </a:r>
            <a:endParaRPr lang="en-US" dirty="0"/>
          </a:p>
          <a:p>
            <a:r>
              <a:rPr lang="en-US" dirty="0"/>
              <a:t>Advanced Insight: </a:t>
            </a:r>
          </a:p>
          <a:p>
            <a:pPr lvl="1"/>
            <a:r>
              <a:rPr lang="en-US" dirty="0"/>
              <a:t>Relationship between </a:t>
            </a:r>
            <a:r>
              <a:rPr lang="en-US" b="1" dirty="0"/>
              <a:t>spanning trees</a:t>
            </a:r>
            <a:r>
              <a:rPr lang="en-US" dirty="0"/>
              <a:t> and </a:t>
            </a:r>
            <a:r>
              <a:rPr lang="en-US" b="1" dirty="0"/>
              <a:t>fundamental cut-sets</a:t>
            </a:r>
            <a:endParaRPr lang="en-US" dirty="0"/>
          </a:p>
          <a:p>
            <a:r>
              <a:rPr lang="en-US" dirty="0"/>
              <a:t>Key idea: </a:t>
            </a:r>
          </a:p>
          <a:p>
            <a:pPr lvl="1"/>
            <a:r>
              <a:rPr lang="en-US" dirty="0"/>
              <a:t>A </a:t>
            </a:r>
            <a:r>
              <a:rPr lang="en-US" b="1" dirty="0"/>
              <a:t>spanning tree connects</a:t>
            </a:r>
            <a:r>
              <a:rPr lang="en-US" dirty="0"/>
              <a:t>, while a </a:t>
            </a:r>
            <a:r>
              <a:rPr lang="en-US" b="1" dirty="0"/>
              <a:t>cut-set disconnects</a:t>
            </a:r>
            <a:endParaRPr lang="en-US" dirty="0"/>
          </a:p>
        </p:txBody>
      </p:sp>
    </p:spTree>
    <p:extLst>
      <p:ext uri="{BB962C8B-B14F-4D97-AF65-F5344CB8AC3E}">
        <p14:creationId xmlns:p14="http://schemas.microsoft.com/office/powerpoint/2010/main" val="4194643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uFill>
                  <a:solidFill>
                    <a:schemeClr val="bg1"/>
                  </a:solidFill>
                </a:uFill>
              </a:rPr>
              <a:t>Method – 1</a:t>
            </a:r>
            <a:br>
              <a:rPr lang="en-US" dirty="0">
                <a:hlinkClick r:id="rId2" action="ppaction://hlinksldjump">
                  <a:extLst>
                    <a:ext uri="{A12FA001-AC4F-418D-AE19-62706E023703}">
                      <ahyp:hlinkClr xmlns:ahyp="http://schemas.microsoft.com/office/drawing/2018/hyperlinkcolor" val="tx"/>
                    </a:ext>
                  </a:extLst>
                </a:hlinkClick>
              </a:rPr>
            </a:br>
            <a:r>
              <a:rPr lang="en-US" dirty="0"/>
              <a:t>Introduction and Properties </a:t>
            </a:r>
          </a:p>
        </p:txBody>
      </p:sp>
    </p:spTree>
    <p:extLst>
      <p:ext uri="{BB962C8B-B14F-4D97-AF65-F5344CB8AC3E}">
        <p14:creationId xmlns:p14="http://schemas.microsoft.com/office/powerpoint/2010/main" val="19076723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6205DD86-315C-53B6-CEEF-A9919650168E}"/>
              </a:ext>
            </a:extLst>
          </p:cNvPr>
          <p:cNvCxnSpPr>
            <a:cxnSpLocks/>
            <a:stCxn id="20" idx="4"/>
            <a:endCxn id="7" idx="0"/>
          </p:cNvCxnSpPr>
          <p:nvPr/>
        </p:nvCxnSpPr>
        <p:spPr>
          <a:xfrm flipH="1">
            <a:off x="4826016" y="3531815"/>
            <a:ext cx="1125984"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Cut-sets</a:t>
            </a:r>
          </a:p>
        </p:txBody>
      </p:sp>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0" y="863445"/>
            <a:ext cx="11929641" cy="1304481"/>
          </a:xfrm>
        </p:spPr>
        <p:txBody>
          <a:bodyPr/>
          <a:lstStyle/>
          <a:p>
            <a:r>
              <a:rPr lang="en-US" dirty="0"/>
              <a:t>In a connected graph G, a </a:t>
            </a:r>
            <a:r>
              <a:rPr lang="en-US" b="1" dirty="0"/>
              <a:t>cut-set</a:t>
            </a:r>
            <a:r>
              <a:rPr lang="en-US" dirty="0"/>
              <a:t> is a </a:t>
            </a:r>
            <a:r>
              <a:rPr lang="en-US" dirty="0">
                <a:solidFill>
                  <a:srgbClr val="C00000"/>
                </a:solidFill>
              </a:rPr>
              <a:t>set of edges </a:t>
            </a:r>
            <a:r>
              <a:rPr lang="en-US" dirty="0"/>
              <a:t>whose </a:t>
            </a:r>
            <a:r>
              <a:rPr lang="en-US" b="1" dirty="0"/>
              <a:t>removal</a:t>
            </a:r>
            <a:r>
              <a:rPr lang="en-US" dirty="0"/>
              <a:t> from G makes the graph </a:t>
            </a:r>
            <a:r>
              <a:rPr lang="en-US" b="1" dirty="0"/>
              <a:t>disconnected</a:t>
            </a:r>
            <a:r>
              <a:rPr lang="en-US" dirty="0"/>
              <a:t>, and no smaller subset of these edges can disconnect the graph. </a:t>
            </a:r>
          </a:p>
          <a:p>
            <a:r>
              <a:rPr lang="en-US" dirty="0"/>
              <a:t>Also called minimal cut-set. We will simply use the term cut-set.</a:t>
            </a:r>
          </a:p>
          <a:p>
            <a:pPr lvl="0"/>
            <a:endParaRPr lang="en-US" dirty="0">
              <a:solidFill>
                <a:srgbClr val="FF0000"/>
              </a:solidFill>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2521784" y="345981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4682016" y="346687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2521784" y="56049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BDD11F87-DA81-9510-C1CB-0AF4093562CB}"/>
              </a:ext>
            </a:extLst>
          </p:cNvPr>
          <p:cNvSpPr/>
          <p:nvPr/>
        </p:nvSpPr>
        <p:spPr>
          <a:xfrm rot="5400000">
            <a:off x="4682016" y="561197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BDD11F87-DA81-9510-C1CB-0AF4093562CB}"/>
              </a:ext>
            </a:extLst>
          </p:cNvPr>
          <p:cNvSpPr/>
          <p:nvPr/>
        </p:nvSpPr>
        <p:spPr>
          <a:xfrm rot="5400000">
            <a:off x="3673904" y="451447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6205DD86-315C-53B6-CEEF-A9919650168E}"/>
              </a:ext>
            </a:extLst>
          </p:cNvPr>
          <p:cNvCxnSpPr>
            <a:cxnSpLocks/>
            <a:stCxn id="11" idx="3"/>
            <a:endCxn id="6" idx="7"/>
          </p:cNvCxnSpPr>
          <p:nvPr/>
        </p:nvCxnSpPr>
        <p:spPr>
          <a:xfrm flipH="1" flipV="1">
            <a:off x="2644696" y="3582727"/>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205DD86-315C-53B6-CEEF-A9919650168E}"/>
              </a:ext>
            </a:extLst>
          </p:cNvPr>
          <p:cNvCxnSpPr>
            <a:cxnSpLocks/>
            <a:stCxn id="9" idx="3"/>
            <a:endCxn id="11" idx="7"/>
          </p:cNvCxnSpPr>
          <p:nvPr/>
        </p:nvCxnSpPr>
        <p:spPr>
          <a:xfrm flipH="1" flipV="1">
            <a:off x="3796816" y="4637391"/>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205DD86-315C-53B6-CEEF-A9919650168E}"/>
              </a:ext>
            </a:extLst>
          </p:cNvPr>
          <p:cNvCxnSpPr>
            <a:cxnSpLocks/>
            <a:stCxn id="11" idx="5"/>
            <a:endCxn id="8" idx="1"/>
          </p:cNvCxnSpPr>
          <p:nvPr/>
        </p:nvCxnSpPr>
        <p:spPr>
          <a:xfrm flipH="1">
            <a:off x="2644696" y="4637391"/>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6205DD86-315C-53B6-CEEF-A9919650168E}"/>
              </a:ext>
            </a:extLst>
          </p:cNvPr>
          <p:cNvCxnSpPr>
            <a:cxnSpLocks/>
            <a:stCxn id="7" idx="5"/>
            <a:endCxn id="11" idx="1"/>
          </p:cNvCxnSpPr>
          <p:nvPr/>
        </p:nvCxnSpPr>
        <p:spPr>
          <a:xfrm flipH="1">
            <a:off x="3796816" y="3589784"/>
            <a:ext cx="906288" cy="9457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8" idx="2"/>
            <a:endCxn id="6" idx="6"/>
          </p:cNvCxnSpPr>
          <p:nvPr/>
        </p:nvCxnSpPr>
        <p:spPr>
          <a:xfrm flipV="1">
            <a:off x="2593784" y="3603815"/>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9" idx="2"/>
            <a:endCxn id="7" idx="6"/>
          </p:cNvCxnSpPr>
          <p:nvPr/>
        </p:nvCxnSpPr>
        <p:spPr>
          <a:xfrm flipV="1">
            <a:off x="4754016" y="3610872"/>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6205DD86-315C-53B6-CEEF-A9919650168E}"/>
              </a:ext>
            </a:extLst>
          </p:cNvPr>
          <p:cNvCxnSpPr>
            <a:cxnSpLocks/>
            <a:stCxn id="6" idx="0"/>
            <a:endCxn id="7" idx="4"/>
          </p:cNvCxnSpPr>
          <p:nvPr/>
        </p:nvCxnSpPr>
        <p:spPr>
          <a:xfrm>
            <a:off x="2665784" y="3531815"/>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6205DD86-315C-53B6-CEEF-A9919650168E}"/>
              </a:ext>
            </a:extLst>
          </p:cNvPr>
          <p:cNvCxnSpPr>
            <a:cxnSpLocks/>
            <a:stCxn id="8" idx="0"/>
            <a:endCxn id="9" idx="4"/>
          </p:cNvCxnSpPr>
          <p:nvPr/>
        </p:nvCxnSpPr>
        <p:spPr>
          <a:xfrm>
            <a:off x="2665784" y="5676916"/>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BDD11F87-DA81-9510-C1CB-0AF4093562CB}"/>
              </a:ext>
            </a:extLst>
          </p:cNvPr>
          <p:cNvSpPr/>
          <p:nvPr/>
        </p:nvSpPr>
        <p:spPr>
          <a:xfrm rot="5400000">
            <a:off x="5952000" y="345981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8" name="Arc 27"/>
          <p:cNvSpPr/>
          <p:nvPr/>
        </p:nvSpPr>
        <p:spPr>
          <a:xfrm>
            <a:off x="3553147" y="3199736"/>
            <a:ext cx="689113" cy="3368795"/>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p:cNvSpPr txBox="1"/>
          <p:nvPr/>
        </p:nvSpPr>
        <p:spPr>
          <a:xfrm>
            <a:off x="3490875" y="3070150"/>
            <a:ext cx="332142" cy="461665"/>
          </a:xfrm>
          <a:prstGeom prst="rect">
            <a:avLst/>
          </a:prstGeom>
          <a:noFill/>
        </p:spPr>
        <p:txBody>
          <a:bodyPr wrap="square" rtlCol="0">
            <a:spAutoFit/>
          </a:bodyPr>
          <a:lstStyle/>
          <a:p>
            <a:r>
              <a:rPr lang="en-US" sz="2400" dirty="0">
                <a:solidFill>
                  <a:srgbClr val="D10233"/>
                </a:solidFill>
              </a:rPr>
              <a:t>a</a:t>
            </a:r>
          </a:p>
        </p:txBody>
      </p:sp>
      <p:sp>
        <p:nvSpPr>
          <p:cNvPr id="41" name="TextBox 40"/>
          <p:cNvSpPr txBox="1"/>
          <p:nvPr/>
        </p:nvSpPr>
        <p:spPr>
          <a:xfrm>
            <a:off x="3095327" y="3657343"/>
            <a:ext cx="336952"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b</a:t>
            </a:r>
          </a:p>
        </p:txBody>
      </p:sp>
      <p:sp>
        <p:nvSpPr>
          <p:cNvPr id="42" name="TextBox 41"/>
          <p:cNvSpPr txBox="1"/>
          <p:nvPr/>
        </p:nvSpPr>
        <p:spPr>
          <a:xfrm>
            <a:off x="3782785" y="3853184"/>
            <a:ext cx="327334"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c</a:t>
            </a:r>
          </a:p>
        </p:txBody>
      </p:sp>
      <p:sp>
        <p:nvSpPr>
          <p:cNvPr id="43" name="TextBox 42"/>
          <p:cNvSpPr txBox="1"/>
          <p:nvPr/>
        </p:nvSpPr>
        <p:spPr>
          <a:xfrm>
            <a:off x="3790312" y="4911794"/>
            <a:ext cx="336952"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d</a:t>
            </a:r>
          </a:p>
        </p:txBody>
      </p:sp>
      <p:sp>
        <p:nvSpPr>
          <p:cNvPr id="44" name="TextBox 43"/>
          <p:cNvSpPr txBox="1"/>
          <p:nvPr/>
        </p:nvSpPr>
        <p:spPr>
          <a:xfrm>
            <a:off x="3025333" y="4653302"/>
            <a:ext cx="328936"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e</a:t>
            </a:r>
          </a:p>
        </p:txBody>
      </p:sp>
      <p:sp>
        <p:nvSpPr>
          <p:cNvPr id="45" name="TextBox 44"/>
          <p:cNvSpPr txBox="1"/>
          <p:nvPr/>
        </p:nvSpPr>
        <p:spPr>
          <a:xfrm>
            <a:off x="3377755" y="5748916"/>
            <a:ext cx="282450"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f</a:t>
            </a:r>
          </a:p>
        </p:txBody>
      </p:sp>
      <p:sp>
        <p:nvSpPr>
          <p:cNvPr id="46" name="TextBox 45"/>
          <p:cNvSpPr txBox="1"/>
          <p:nvPr/>
        </p:nvSpPr>
        <p:spPr>
          <a:xfrm>
            <a:off x="2239334" y="4384216"/>
            <a:ext cx="336952"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g</a:t>
            </a:r>
          </a:p>
        </p:txBody>
      </p:sp>
      <p:sp>
        <p:nvSpPr>
          <p:cNvPr id="47" name="TextBox 46"/>
          <p:cNvSpPr txBox="1"/>
          <p:nvPr/>
        </p:nvSpPr>
        <p:spPr>
          <a:xfrm>
            <a:off x="4754016" y="4391768"/>
            <a:ext cx="333746"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h</a:t>
            </a:r>
          </a:p>
        </p:txBody>
      </p:sp>
      <p:sp>
        <p:nvSpPr>
          <p:cNvPr id="48" name="TextBox 47"/>
          <p:cNvSpPr txBox="1"/>
          <p:nvPr/>
        </p:nvSpPr>
        <p:spPr>
          <a:xfrm>
            <a:off x="5182979" y="3113500"/>
            <a:ext cx="324128"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k</a:t>
            </a:r>
          </a:p>
        </p:txBody>
      </p:sp>
      <mc:AlternateContent xmlns:mc="http://schemas.openxmlformats.org/markup-compatibility/2006" xmlns:a14="http://schemas.microsoft.com/office/drawing/2010/main">
        <mc:Choice Requires="a14">
          <p:sp>
            <p:nvSpPr>
              <p:cNvPr id="49" name="Rectangle 48"/>
              <p:cNvSpPr/>
              <p:nvPr/>
            </p:nvSpPr>
            <p:spPr>
              <a:xfrm>
                <a:off x="3708420" y="6034784"/>
                <a:ext cx="5668475" cy="523220"/>
              </a:xfrm>
              <a:prstGeom prst="rect">
                <a:avLst/>
              </a:prstGeom>
            </p:spPr>
            <p:txBody>
              <a:bodyPr wrap="none">
                <a:spAutoFit/>
              </a:bodyPr>
              <a:lstStyle/>
              <a:p>
                <a:pPr lvl="0"/>
                <a:r>
                  <a:rPr lang="en-US" sz="2800" dirty="0">
                    <a:solidFill>
                      <a:srgbClr val="002060"/>
                    </a:solidFill>
                  </a:rPr>
                  <a:t>The set of edges</a:t>
                </a:r>
                <a14:m>
                  <m:oMath xmlns:m="http://schemas.openxmlformats.org/officeDocument/2006/math">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a</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c</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d</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f</m:t>
                    </m:r>
                    <m:r>
                      <a:rPr lang="en-US" sz="2800" dirty="0">
                        <a:solidFill>
                          <a:srgbClr val="002060"/>
                        </a:solidFill>
                        <a:latin typeface="Cambria Math" panose="02040503050406030204" pitchFamily="18" charset="0"/>
                      </a:rPr>
                      <m:t>} </m:t>
                    </m:r>
                  </m:oMath>
                </a14:m>
                <a:r>
                  <a:rPr lang="en-US" sz="2800" dirty="0">
                    <a:solidFill>
                      <a:srgbClr val="002060"/>
                    </a:solidFill>
                  </a:rPr>
                  <a:t>is a cut-set.</a:t>
                </a:r>
              </a:p>
            </p:txBody>
          </p:sp>
        </mc:Choice>
        <mc:Fallback xmlns="">
          <p:sp>
            <p:nvSpPr>
              <p:cNvPr id="49" name="Rectangle 48"/>
              <p:cNvSpPr>
                <a:spLocks noRot="1" noChangeAspect="1" noMove="1" noResize="1" noEditPoints="1" noAdjustHandles="1" noChangeArrowheads="1" noChangeShapeType="1" noTextEdit="1"/>
              </p:cNvSpPr>
              <p:nvPr/>
            </p:nvSpPr>
            <p:spPr>
              <a:xfrm>
                <a:off x="3708420" y="6034784"/>
                <a:ext cx="5668475" cy="523220"/>
              </a:xfrm>
              <a:prstGeom prst="rect">
                <a:avLst/>
              </a:prstGeom>
              <a:blipFill rotWithShape="0">
                <a:blip r:embed="rId2"/>
                <a:stretch>
                  <a:fillRect l="-2151" t="-12791" r="-1075" b="-31395"/>
                </a:stretch>
              </a:blipFill>
            </p:spPr>
            <p:txBody>
              <a:bodyPr/>
              <a:lstStyle/>
              <a:p>
                <a:r>
                  <a:rPr lang="en-US">
                    <a:noFill/>
                  </a:rPr>
                  <a:t> </a:t>
                </a:r>
              </a:p>
            </p:txBody>
          </p:sp>
        </mc:Fallback>
      </mc:AlternateContent>
    </p:spTree>
    <p:extLst>
      <p:ext uri="{BB962C8B-B14F-4D97-AF65-F5344CB8AC3E}">
        <p14:creationId xmlns:p14="http://schemas.microsoft.com/office/powerpoint/2010/main" val="3026652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5"/>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28"/>
                                        </p:tgtEl>
                                        <p:attrNameLst>
                                          <p:attrName>style.visibility</p:attrName>
                                        </p:attrNameLst>
                                      </p:cBhvr>
                                      <p:to>
                                        <p:strVal val="visible"/>
                                      </p:to>
                                    </p:set>
                                    <p:animEffect transition="in" filter="wipe(up)">
                                      <p:cBhvr>
                                        <p:cTn id="65" dur="500"/>
                                        <p:tgtEl>
                                          <p:spTgt spid="28"/>
                                        </p:tgtEl>
                                      </p:cBhvr>
                                    </p:animEffect>
                                  </p:childTnLst>
                                </p:cTn>
                              </p:par>
                            </p:childTnLst>
                          </p:cTn>
                        </p:par>
                      </p:childTnLst>
                    </p:cTn>
                  </p:par>
                  <p:par>
                    <p:cTn id="66" fill="hold">
                      <p:stCondLst>
                        <p:cond delay="indefinite"/>
                      </p:stCondLst>
                      <p:childTnLst>
                        <p:par>
                          <p:cTn id="67" fill="hold">
                            <p:stCondLst>
                              <p:cond delay="0"/>
                            </p:stCondLst>
                            <p:childTnLst>
                              <p:par>
                                <p:cTn id="68" presetID="63" presetClass="path" presetSubtype="0" accel="50000" decel="50000" fill="hold" grpId="1" nodeType="clickEffect">
                                  <p:stCondLst>
                                    <p:cond delay="0"/>
                                  </p:stCondLst>
                                  <p:childTnLst>
                                    <p:animMotion origin="layout" path="M -4.16667E-7 -4.81481E-6 L 0.25 -4.81481E-6 " pathEditMode="relative" rAng="0" ptsTypes="AA">
                                      <p:cBhvr>
                                        <p:cTn id="69" dur="2000" fill="hold"/>
                                        <p:tgtEl>
                                          <p:spTgt spid="6"/>
                                        </p:tgtEl>
                                        <p:attrNameLst>
                                          <p:attrName>ppt_x</p:attrName>
                                          <p:attrName>ppt_y</p:attrName>
                                        </p:attrNameLst>
                                      </p:cBhvr>
                                      <p:rCtr x="12500" y="0"/>
                                    </p:animMotion>
                                  </p:childTnLst>
                                </p:cTn>
                              </p:par>
                              <p:par>
                                <p:cTn id="70" presetID="63" presetClass="path" presetSubtype="0" accel="50000" decel="50000" fill="hold" grpId="1" nodeType="withEffect">
                                  <p:stCondLst>
                                    <p:cond delay="0"/>
                                  </p:stCondLst>
                                  <p:childTnLst>
                                    <p:animMotion origin="layout" path="M -4.16667E-7 2.22222E-6 L 0.25 2.22222E-6 " pathEditMode="relative" rAng="0" ptsTypes="AA">
                                      <p:cBhvr>
                                        <p:cTn id="71" dur="2000" fill="hold"/>
                                        <p:tgtEl>
                                          <p:spTgt spid="8"/>
                                        </p:tgtEl>
                                        <p:attrNameLst>
                                          <p:attrName>ppt_x</p:attrName>
                                          <p:attrName>ppt_y</p:attrName>
                                        </p:attrNameLst>
                                      </p:cBhvr>
                                      <p:rCtr x="12500" y="0"/>
                                    </p:animMotion>
                                  </p:childTnLst>
                                </p:cTn>
                              </p:par>
                              <p:par>
                                <p:cTn id="72" presetID="63" presetClass="path" presetSubtype="0" accel="50000" decel="50000" fill="hold" grpId="1" nodeType="withEffect">
                                  <p:stCondLst>
                                    <p:cond delay="0"/>
                                  </p:stCondLst>
                                  <p:childTnLst>
                                    <p:animMotion origin="layout" path="M -1.45833E-6 1.11022E-16 L 0.25 1.11022E-16 " pathEditMode="relative" rAng="0" ptsTypes="AA">
                                      <p:cBhvr>
                                        <p:cTn id="73" dur="2000" fill="hold"/>
                                        <p:tgtEl>
                                          <p:spTgt spid="11"/>
                                        </p:tgtEl>
                                        <p:attrNameLst>
                                          <p:attrName>ppt_x</p:attrName>
                                          <p:attrName>ppt_y</p:attrName>
                                        </p:attrNameLst>
                                      </p:cBhvr>
                                      <p:rCtr x="12500" y="0"/>
                                    </p:animMotion>
                                  </p:childTnLst>
                                </p:cTn>
                              </p:par>
                              <p:par>
                                <p:cTn id="74" presetID="63" presetClass="path" presetSubtype="0" accel="50000" decel="50000" fill="hold" nodeType="withEffect">
                                  <p:stCondLst>
                                    <p:cond delay="0"/>
                                  </p:stCondLst>
                                  <p:childTnLst>
                                    <p:animMotion origin="layout" path="M 3.95833E-6 1.85185E-6 L 0.25 1.85185E-6 " pathEditMode="relative" rAng="0" ptsTypes="AA">
                                      <p:cBhvr>
                                        <p:cTn id="75" dur="2000" fill="hold"/>
                                        <p:tgtEl>
                                          <p:spTgt spid="12"/>
                                        </p:tgtEl>
                                        <p:attrNameLst>
                                          <p:attrName>ppt_x</p:attrName>
                                          <p:attrName>ppt_y</p:attrName>
                                        </p:attrNameLst>
                                      </p:cBhvr>
                                      <p:rCtr x="12500" y="0"/>
                                    </p:animMotion>
                                  </p:childTnLst>
                                </p:cTn>
                              </p:par>
                              <p:par>
                                <p:cTn id="76" presetID="63" presetClass="path" presetSubtype="0" accel="50000" decel="50000" fill="hold" nodeType="withEffect">
                                  <p:stCondLst>
                                    <p:cond delay="0"/>
                                  </p:stCondLst>
                                  <p:childTnLst>
                                    <p:animMotion origin="layout" path="M 3.95833E-6 1.85185E-6 L 0.25 1.85185E-6 " pathEditMode="relative" rAng="0" ptsTypes="AA">
                                      <p:cBhvr>
                                        <p:cTn id="77" dur="2000" fill="hold"/>
                                        <p:tgtEl>
                                          <p:spTgt spid="14"/>
                                        </p:tgtEl>
                                        <p:attrNameLst>
                                          <p:attrName>ppt_x</p:attrName>
                                          <p:attrName>ppt_y</p:attrName>
                                        </p:attrNameLst>
                                      </p:cBhvr>
                                      <p:rCtr x="12500" y="0"/>
                                    </p:animMotion>
                                  </p:childTnLst>
                                </p:cTn>
                              </p:par>
                              <p:par>
                                <p:cTn id="78" presetID="63" presetClass="path" presetSubtype="0" accel="50000" decel="50000" fill="hold" nodeType="withEffect">
                                  <p:stCondLst>
                                    <p:cond delay="0"/>
                                  </p:stCondLst>
                                  <p:childTnLst>
                                    <p:animMotion origin="layout" path="M -4.16667E-7 3.7037E-6 L 0.25 3.7037E-6 " pathEditMode="relative" rAng="0" ptsTypes="AA">
                                      <p:cBhvr>
                                        <p:cTn id="79" dur="2000" fill="hold"/>
                                        <p:tgtEl>
                                          <p:spTgt spid="16"/>
                                        </p:tgtEl>
                                        <p:attrNameLst>
                                          <p:attrName>ppt_x</p:attrName>
                                          <p:attrName>ppt_y</p:attrName>
                                        </p:attrNameLst>
                                      </p:cBhvr>
                                      <p:rCtr x="12500" y="0"/>
                                    </p:animMotion>
                                  </p:childTnLst>
                                </p:cTn>
                              </p:par>
                              <p:par>
                                <p:cTn id="80" presetID="63" presetClass="path" presetSubtype="0" accel="50000" decel="50000" fill="hold" grpId="1" nodeType="withEffect">
                                  <p:stCondLst>
                                    <p:cond delay="0"/>
                                  </p:stCondLst>
                                  <p:childTnLst>
                                    <p:animMotion origin="layout" path="M 1.66667E-6 1.85185E-6 L 0.25 1.85185E-6 " pathEditMode="relative" rAng="0" ptsTypes="AA">
                                      <p:cBhvr>
                                        <p:cTn id="81" dur="2000" fill="hold"/>
                                        <p:tgtEl>
                                          <p:spTgt spid="41"/>
                                        </p:tgtEl>
                                        <p:attrNameLst>
                                          <p:attrName>ppt_x</p:attrName>
                                          <p:attrName>ppt_y</p:attrName>
                                        </p:attrNameLst>
                                      </p:cBhvr>
                                      <p:rCtr x="12500" y="0"/>
                                    </p:animMotion>
                                  </p:childTnLst>
                                </p:cTn>
                              </p:par>
                              <p:par>
                                <p:cTn id="82" presetID="63" presetClass="path" presetSubtype="0" accel="50000" decel="50000" fill="hold" grpId="1" nodeType="withEffect">
                                  <p:stCondLst>
                                    <p:cond delay="0"/>
                                  </p:stCondLst>
                                  <p:childTnLst>
                                    <p:animMotion origin="layout" path="M 1.45833E-6 2.96296E-6 L 0.25 2.96296E-6 " pathEditMode="relative" rAng="0" ptsTypes="AA">
                                      <p:cBhvr>
                                        <p:cTn id="83" dur="2000" fill="hold"/>
                                        <p:tgtEl>
                                          <p:spTgt spid="44"/>
                                        </p:tgtEl>
                                        <p:attrNameLst>
                                          <p:attrName>ppt_x</p:attrName>
                                          <p:attrName>ppt_y</p:attrName>
                                        </p:attrNameLst>
                                      </p:cBhvr>
                                      <p:rCtr x="12500" y="0"/>
                                    </p:animMotion>
                                  </p:childTnLst>
                                </p:cTn>
                              </p:par>
                              <p:par>
                                <p:cTn id="84" presetID="63" presetClass="path" presetSubtype="0" accel="50000" decel="50000" fill="hold" grpId="1" nodeType="withEffect">
                                  <p:stCondLst>
                                    <p:cond delay="0"/>
                                  </p:stCondLst>
                                  <p:childTnLst>
                                    <p:animMotion origin="layout" path="M 3.95833E-6 3.33333E-6 L 0.25 3.33333E-6 " pathEditMode="relative" rAng="0" ptsTypes="AA">
                                      <p:cBhvr>
                                        <p:cTn id="85" dur="2000" fill="hold"/>
                                        <p:tgtEl>
                                          <p:spTgt spid="46"/>
                                        </p:tgtEl>
                                        <p:attrNameLst>
                                          <p:attrName>ppt_x</p:attrName>
                                          <p:attrName>ppt_y</p:attrName>
                                        </p:attrNameLst>
                                      </p:cBhvr>
                                      <p:rCtr x="12500" y="0"/>
                                    </p:animMotion>
                                  </p:childTnLst>
                                </p:cTn>
                              </p:par>
                              <p:par>
                                <p:cTn id="86" presetID="63" presetClass="path" presetSubtype="0" accel="50000" decel="50000" fill="hold" grpId="1" nodeType="withEffect">
                                  <p:stCondLst>
                                    <p:cond delay="0"/>
                                  </p:stCondLst>
                                  <p:childTnLst>
                                    <p:animMotion origin="layout" path="M -3.75E-6 -2.22222E-6 L 0.25 -2.22222E-6 " pathEditMode="relative" rAng="0" ptsTypes="AA">
                                      <p:cBhvr>
                                        <p:cTn id="87" dur="2000" fill="hold"/>
                                        <p:tgtEl>
                                          <p:spTgt spid="7"/>
                                        </p:tgtEl>
                                        <p:attrNameLst>
                                          <p:attrName>ppt_x</p:attrName>
                                          <p:attrName>ppt_y</p:attrName>
                                        </p:attrNameLst>
                                      </p:cBhvr>
                                      <p:rCtr x="12500" y="0"/>
                                    </p:animMotion>
                                  </p:childTnLst>
                                </p:cTn>
                              </p:par>
                              <p:par>
                                <p:cTn id="88" presetID="63" presetClass="path" presetSubtype="0" accel="50000" decel="50000" fill="hold" grpId="1" nodeType="withEffect">
                                  <p:stCondLst>
                                    <p:cond delay="0"/>
                                  </p:stCondLst>
                                  <p:childTnLst>
                                    <p:animMotion origin="layout" path="M -3.75E-6 -3.7037E-6 L 0.25 -3.7037E-6 " pathEditMode="relative" rAng="0" ptsTypes="AA">
                                      <p:cBhvr>
                                        <p:cTn id="89" dur="2000" fill="hold"/>
                                        <p:tgtEl>
                                          <p:spTgt spid="9"/>
                                        </p:tgtEl>
                                        <p:attrNameLst>
                                          <p:attrName>ppt_x</p:attrName>
                                          <p:attrName>ppt_y</p:attrName>
                                        </p:attrNameLst>
                                      </p:cBhvr>
                                      <p:rCtr x="12500" y="0"/>
                                    </p:animMotion>
                                  </p:childTnLst>
                                </p:cTn>
                              </p:par>
                              <p:par>
                                <p:cTn id="90" presetID="63" presetClass="path" presetSubtype="0" accel="50000" decel="50000" fill="hold" nodeType="withEffect">
                                  <p:stCondLst>
                                    <p:cond delay="0"/>
                                  </p:stCondLst>
                                  <p:childTnLst>
                                    <p:animMotion origin="layout" path="M -3.95833E-6 -3.7037E-6 L 0.25 -3.7037E-6 " pathEditMode="relative" rAng="0" ptsTypes="AA">
                                      <p:cBhvr>
                                        <p:cTn id="91" dur="2000" fill="hold"/>
                                        <p:tgtEl>
                                          <p:spTgt spid="17"/>
                                        </p:tgtEl>
                                        <p:attrNameLst>
                                          <p:attrName>ppt_x</p:attrName>
                                          <p:attrName>ppt_y</p:attrName>
                                        </p:attrNameLst>
                                      </p:cBhvr>
                                      <p:rCtr x="12500" y="0"/>
                                    </p:animMotion>
                                  </p:childTnLst>
                                </p:cTn>
                              </p:par>
                              <p:par>
                                <p:cTn id="92" presetID="63" presetClass="path" presetSubtype="0" accel="50000" decel="50000" fill="hold" grpId="1" nodeType="withEffect">
                                  <p:stCondLst>
                                    <p:cond delay="0"/>
                                  </p:stCondLst>
                                  <p:childTnLst>
                                    <p:animMotion origin="layout" path="M -4.16667E-7 -4.81481E-6 L 0.25 -4.81481E-6 " pathEditMode="relative" rAng="0" ptsTypes="AA">
                                      <p:cBhvr>
                                        <p:cTn id="93" dur="2000" fill="hold"/>
                                        <p:tgtEl>
                                          <p:spTgt spid="20"/>
                                        </p:tgtEl>
                                        <p:attrNameLst>
                                          <p:attrName>ppt_x</p:attrName>
                                          <p:attrName>ppt_y</p:attrName>
                                        </p:attrNameLst>
                                      </p:cBhvr>
                                      <p:rCtr x="12500" y="0"/>
                                    </p:animMotion>
                                  </p:childTnLst>
                                </p:cTn>
                              </p:par>
                              <p:par>
                                <p:cTn id="94" presetID="63" presetClass="path" presetSubtype="0" accel="50000" decel="50000" fill="hold" nodeType="withEffect">
                                  <p:stCondLst>
                                    <p:cond delay="0"/>
                                  </p:stCondLst>
                                  <p:childTnLst>
                                    <p:animMotion origin="layout" path="M 2.91667E-6 7.40741E-7 L 0.25 7.40741E-7 " pathEditMode="relative" rAng="0" ptsTypes="AA">
                                      <p:cBhvr>
                                        <p:cTn id="95" dur="2000" fill="hold"/>
                                        <p:tgtEl>
                                          <p:spTgt spid="21"/>
                                        </p:tgtEl>
                                        <p:attrNameLst>
                                          <p:attrName>ppt_x</p:attrName>
                                          <p:attrName>ppt_y</p:attrName>
                                        </p:attrNameLst>
                                      </p:cBhvr>
                                      <p:rCtr x="12500" y="0"/>
                                    </p:animMotion>
                                  </p:childTnLst>
                                </p:cTn>
                              </p:par>
                              <p:par>
                                <p:cTn id="96" presetID="63" presetClass="path" presetSubtype="0" accel="50000" decel="50000" fill="hold" grpId="1" nodeType="withEffect">
                                  <p:stCondLst>
                                    <p:cond delay="0"/>
                                  </p:stCondLst>
                                  <p:childTnLst>
                                    <p:animMotion origin="layout" path="M -1.45833E-6 0 L 0.25 0 " pathEditMode="relative" rAng="0" ptsTypes="AA">
                                      <p:cBhvr>
                                        <p:cTn id="97" dur="2000" fill="hold"/>
                                        <p:tgtEl>
                                          <p:spTgt spid="48"/>
                                        </p:tgtEl>
                                        <p:attrNameLst>
                                          <p:attrName>ppt_x</p:attrName>
                                          <p:attrName>ppt_y</p:attrName>
                                        </p:attrNameLst>
                                      </p:cBhvr>
                                      <p:rCtr x="12500" y="0"/>
                                    </p:animMotion>
                                  </p:childTnLst>
                                </p:cTn>
                              </p:par>
                              <p:par>
                                <p:cTn id="98" presetID="63" presetClass="path" presetSubtype="0" accel="50000" decel="50000" fill="hold" grpId="1" nodeType="withEffect">
                                  <p:stCondLst>
                                    <p:cond delay="0"/>
                                  </p:stCondLst>
                                  <p:childTnLst>
                                    <p:animMotion origin="layout" path="M 4.16667E-6 -2.59259E-6 L 0.25 -2.59259E-6 " pathEditMode="relative" rAng="0" ptsTypes="AA">
                                      <p:cBhvr>
                                        <p:cTn id="99" dur="2000" fill="hold"/>
                                        <p:tgtEl>
                                          <p:spTgt spid="47"/>
                                        </p:tgtEl>
                                        <p:attrNameLst>
                                          <p:attrName>ppt_x</p:attrName>
                                          <p:attrName>ppt_y</p:attrName>
                                        </p:attrNameLst>
                                      </p:cBhvr>
                                      <p:rCtr x="12500" y="0"/>
                                    </p:animMotion>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9" grpId="1" animBg="1"/>
      <p:bldP spid="11" grpId="0" animBg="1"/>
      <p:bldP spid="11" grpId="1" animBg="1"/>
      <p:bldP spid="20" grpId="0" animBg="1"/>
      <p:bldP spid="20" grpId="1" animBg="1"/>
      <p:bldP spid="28" grpId="0" animBg="1"/>
      <p:bldP spid="40" grpId="0"/>
      <p:bldP spid="41" grpId="0"/>
      <p:bldP spid="41" grpId="1"/>
      <p:bldP spid="42" grpId="0"/>
      <p:bldP spid="43" grpId="0"/>
      <p:bldP spid="44" grpId="0"/>
      <p:bldP spid="44" grpId="1"/>
      <p:bldP spid="45" grpId="0"/>
      <p:bldP spid="46" grpId="0"/>
      <p:bldP spid="46" grpId="1"/>
      <p:bldP spid="47" grpId="0"/>
      <p:bldP spid="47" grpId="1"/>
      <p:bldP spid="48" grpId="0"/>
      <p:bldP spid="48" grpId="1"/>
      <p:bldP spid="4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Cut-sets</a:t>
            </a:r>
          </a:p>
        </p:txBody>
      </p:sp>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1" y="863446"/>
            <a:ext cx="5928308" cy="581528"/>
          </a:xfrm>
        </p:spPr>
        <p:txBody>
          <a:bodyPr/>
          <a:lstStyle/>
          <a:p>
            <a:pPr lvl="0"/>
            <a:r>
              <a:rPr lang="en-US" dirty="0"/>
              <a:t>There are many other cutsets, such as</a:t>
            </a:r>
          </a:p>
        </p:txBody>
      </p:sp>
      <p:sp>
        <p:nvSpPr>
          <p:cNvPr id="6" name="Oval 5">
            <a:extLst>
              <a:ext uri="{FF2B5EF4-FFF2-40B4-BE49-F238E27FC236}">
                <a16:creationId xmlns:a16="http://schemas.microsoft.com/office/drawing/2014/main" id="{BDD11F87-DA81-9510-C1CB-0AF4093562CB}"/>
              </a:ext>
            </a:extLst>
          </p:cNvPr>
          <p:cNvSpPr/>
          <p:nvPr/>
        </p:nvSpPr>
        <p:spPr>
          <a:xfrm rot="5400000">
            <a:off x="1034176" y="309268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3194408" y="30997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1034176" y="52377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BDD11F87-DA81-9510-C1CB-0AF4093562CB}"/>
              </a:ext>
            </a:extLst>
          </p:cNvPr>
          <p:cNvSpPr/>
          <p:nvPr/>
        </p:nvSpPr>
        <p:spPr>
          <a:xfrm rot="5400000">
            <a:off x="3194408" y="52448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BDD11F87-DA81-9510-C1CB-0AF4093562CB}"/>
              </a:ext>
            </a:extLst>
          </p:cNvPr>
          <p:cNvSpPr/>
          <p:nvPr/>
        </p:nvSpPr>
        <p:spPr>
          <a:xfrm rot="5400000">
            <a:off x="2186296" y="41473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6205DD86-315C-53B6-CEEF-A9919650168E}"/>
              </a:ext>
            </a:extLst>
          </p:cNvPr>
          <p:cNvCxnSpPr>
            <a:cxnSpLocks/>
            <a:stCxn id="11" idx="3"/>
            <a:endCxn id="6" idx="7"/>
          </p:cNvCxnSpPr>
          <p:nvPr/>
        </p:nvCxnSpPr>
        <p:spPr>
          <a:xfrm flipH="1" flipV="1">
            <a:off x="1157088" y="3215600"/>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205DD86-315C-53B6-CEEF-A9919650168E}"/>
              </a:ext>
            </a:extLst>
          </p:cNvPr>
          <p:cNvCxnSpPr>
            <a:cxnSpLocks/>
            <a:stCxn id="9" idx="3"/>
            <a:endCxn id="11" idx="7"/>
          </p:cNvCxnSpPr>
          <p:nvPr/>
        </p:nvCxnSpPr>
        <p:spPr>
          <a:xfrm flipH="1" flipV="1">
            <a:off x="2309208" y="4270264"/>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205DD86-315C-53B6-CEEF-A9919650168E}"/>
              </a:ext>
            </a:extLst>
          </p:cNvPr>
          <p:cNvCxnSpPr>
            <a:cxnSpLocks/>
            <a:stCxn id="11" idx="5"/>
            <a:endCxn id="8" idx="1"/>
          </p:cNvCxnSpPr>
          <p:nvPr/>
        </p:nvCxnSpPr>
        <p:spPr>
          <a:xfrm flipH="1">
            <a:off x="1157088" y="4270264"/>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6205DD86-315C-53B6-CEEF-A9919650168E}"/>
              </a:ext>
            </a:extLst>
          </p:cNvPr>
          <p:cNvCxnSpPr>
            <a:cxnSpLocks/>
            <a:stCxn id="7" idx="5"/>
            <a:endCxn id="11" idx="1"/>
          </p:cNvCxnSpPr>
          <p:nvPr/>
        </p:nvCxnSpPr>
        <p:spPr>
          <a:xfrm flipH="1">
            <a:off x="2309208" y="3222657"/>
            <a:ext cx="906288" cy="9457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8" idx="2"/>
            <a:endCxn id="6" idx="6"/>
          </p:cNvCxnSpPr>
          <p:nvPr/>
        </p:nvCxnSpPr>
        <p:spPr>
          <a:xfrm flipV="1">
            <a:off x="1106176" y="3236688"/>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9" idx="2"/>
            <a:endCxn id="7" idx="6"/>
          </p:cNvCxnSpPr>
          <p:nvPr/>
        </p:nvCxnSpPr>
        <p:spPr>
          <a:xfrm flipV="1">
            <a:off x="3266408" y="3243745"/>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6205DD86-315C-53B6-CEEF-A9919650168E}"/>
              </a:ext>
            </a:extLst>
          </p:cNvPr>
          <p:cNvCxnSpPr>
            <a:cxnSpLocks/>
            <a:stCxn id="6" idx="0"/>
            <a:endCxn id="7" idx="4"/>
          </p:cNvCxnSpPr>
          <p:nvPr/>
        </p:nvCxnSpPr>
        <p:spPr>
          <a:xfrm>
            <a:off x="1178176" y="3164688"/>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6205DD86-315C-53B6-CEEF-A9919650168E}"/>
              </a:ext>
            </a:extLst>
          </p:cNvPr>
          <p:cNvCxnSpPr>
            <a:cxnSpLocks/>
            <a:stCxn id="8" idx="0"/>
            <a:endCxn id="9" idx="4"/>
          </p:cNvCxnSpPr>
          <p:nvPr/>
        </p:nvCxnSpPr>
        <p:spPr>
          <a:xfrm>
            <a:off x="1178176" y="5309789"/>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BDD11F87-DA81-9510-C1CB-0AF4093562CB}"/>
              </a:ext>
            </a:extLst>
          </p:cNvPr>
          <p:cNvSpPr/>
          <p:nvPr/>
        </p:nvSpPr>
        <p:spPr>
          <a:xfrm rot="5400000">
            <a:off x="4202512" y="20893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20" idx="5"/>
            <a:endCxn id="7" idx="1"/>
          </p:cNvCxnSpPr>
          <p:nvPr/>
        </p:nvCxnSpPr>
        <p:spPr>
          <a:xfrm flipH="1">
            <a:off x="3317320" y="2212222"/>
            <a:ext cx="906280" cy="9086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8" name="Arc 27"/>
          <p:cNvSpPr/>
          <p:nvPr/>
        </p:nvSpPr>
        <p:spPr>
          <a:xfrm rot="2267539">
            <a:off x="676799" y="2234546"/>
            <a:ext cx="689113" cy="3368795"/>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p:cNvSpPr txBox="1"/>
          <p:nvPr/>
        </p:nvSpPr>
        <p:spPr>
          <a:xfrm>
            <a:off x="2003267" y="2703023"/>
            <a:ext cx="332142" cy="461665"/>
          </a:xfrm>
          <a:prstGeom prst="rect">
            <a:avLst/>
          </a:prstGeom>
          <a:noFill/>
        </p:spPr>
        <p:txBody>
          <a:bodyPr wrap="none" rtlCol="0">
            <a:spAutoFit/>
          </a:bodyPr>
          <a:lstStyle/>
          <a:p>
            <a:r>
              <a:rPr lang="en-US" sz="2400" dirty="0">
                <a:solidFill>
                  <a:srgbClr val="D10233"/>
                </a:solidFill>
              </a:rPr>
              <a:t>a</a:t>
            </a:r>
          </a:p>
        </p:txBody>
      </p:sp>
      <p:sp>
        <p:nvSpPr>
          <p:cNvPr id="41" name="TextBox 40"/>
          <p:cNvSpPr txBox="1"/>
          <p:nvPr/>
        </p:nvSpPr>
        <p:spPr>
          <a:xfrm>
            <a:off x="1607719" y="3290216"/>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42" name="TextBox 41"/>
          <p:cNvSpPr txBox="1"/>
          <p:nvPr/>
        </p:nvSpPr>
        <p:spPr>
          <a:xfrm>
            <a:off x="2295177" y="3486057"/>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43" name="TextBox 42"/>
          <p:cNvSpPr txBox="1"/>
          <p:nvPr/>
        </p:nvSpPr>
        <p:spPr>
          <a:xfrm>
            <a:off x="2302704" y="4544667"/>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44" name="TextBox 43"/>
          <p:cNvSpPr txBox="1"/>
          <p:nvPr/>
        </p:nvSpPr>
        <p:spPr>
          <a:xfrm>
            <a:off x="1537725" y="4286175"/>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45" name="TextBox 44"/>
          <p:cNvSpPr txBox="1"/>
          <p:nvPr/>
        </p:nvSpPr>
        <p:spPr>
          <a:xfrm>
            <a:off x="1890147" y="5381789"/>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46" name="TextBox 45"/>
          <p:cNvSpPr txBox="1"/>
          <p:nvPr/>
        </p:nvSpPr>
        <p:spPr>
          <a:xfrm>
            <a:off x="751726" y="4017089"/>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47" name="TextBox 46"/>
          <p:cNvSpPr txBox="1"/>
          <p:nvPr/>
        </p:nvSpPr>
        <p:spPr>
          <a:xfrm>
            <a:off x="3266408" y="4024641"/>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48" name="TextBox 47"/>
          <p:cNvSpPr txBox="1"/>
          <p:nvPr/>
        </p:nvSpPr>
        <p:spPr>
          <a:xfrm>
            <a:off x="3760601" y="2631023"/>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p:sp>
        <p:nvSpPr>
          <p:cNvPr id="30" name="Arc 29"/>
          <p:cNvSpPr/>
          <p:nvPr/>
        </p:nvSpPr>
        <p:spPr>
          <a:xfrm rot="2308508">
            <a:off x="8418952" y="3049445"/>
            <a:ext cx="689113" cy="3368795"/>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Arc 30"/>
          <p:cNvSpPr/>
          <p:nvPr/>
        </p:nvSpPr>
        <p:spPr>
          <a:xfrm>
            <a:off x="4313128" y="2969587"/>
            <a:ext cx="689113" cy="3368795"/>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Oval 31">
            <a:extLst>
              <a:ext uri="{FF2B5EF4-FFF2-40B4-BE49-F238E27FC236}">
                <a16:creationId xmlns:a16="http://schemas.microsoft.com/office/drawing/2014/main" id="{BDD11F87-DA81-9510-C1CB-0AF4093562CB}"/>
              </a:ext>
            </a:extLst>
          </p:cNvPr>
          <p:cNvSpPr/>
          <p:nvPr/>
        </p:nvSpPr>
        <p:spPr>
          <a:xfrm rot="5400000">
            <a:off x="4142519" y="31323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BDD11F87-DA81-9510-C1CB-0AF4093562CB}"/>
              </a:ext>
            </a:extLst>
          </p:cNvPr>
          <p:cNvSpPr/>
          <p:nvPr/>
        </p:nvSpPr>
        <p:spPr>
          <a:xfrm rot="5400000">
            <a:off x="6302751" y="313940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4" name="Oval 33">
            <a:extLst>
              <a:ext uri="{FF2B5EF4-FFF2-40B4-BE49-F238E27FC236}">
                <a16:creationId xmlns:a16="http://schemas.microsoft.com/office/drawing/2014/main" id="{BDD11F87-DA81-9510-C1CB-0AF4093562CB}"/>
              </a:ext>
            </a:extLst>
          </p:cNvPr>
          <p:cNvSpPr/>
          <p:nvPr/>
        </p:nvSpPr>
        <p:spPr>
          <a:xfrm rot="5400000">
            <a:off x="4142519" y="52774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5" name="Oval 34">
            <a:extLst>
              <a:ext uri="{FF2B5EF4-FFF2-40B4-BE49-F238E27FC236}">
                <a16:creationId xmlns:a16="http://schemas.microsoft.com/office/drawing/2014/main" id="{BDD11F87-DA81-9510-C1CB-0AF4093562CB}"/>
              </a:ext>
            </a:extLst>
          </p:cNvPr>
          <p:cNvSpPr/>
          <p:nvPr/>
        </p:nvSpPr>
        <p:spPr>
          <a:xfrm rot="5400000">
            <a:off x="6302751" y="52845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Oval 35">
            <a:extLst>
              <a:ext uri="{FF2B5EF4-FFF2-40B4-BE49-F238E27FC236}">
                <a16:creationId xmlns:a16="http://schemas.microsoft.com/office/drawing/2014/main" id="{BDD11F87-DA81-9510-C1CB-0AF4093562CB}"/>
              </a:ext>
            </a:extLst>
          </p:cNvPr>
          <p:cNvSpPr/>
          <p:nvPr/>
        </p:nvSpPr>
        <p:spPr>
          <a:xfrm rot="5400000">
            <a:off x="5294639" y="41870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7" name="Straight Connector 36">
            <a:extLst>
              <a:ext uri="{FF2B5EF4-FFF2-40B4-BE49-F238E27FC236}">
                <a16:creationId xmlns:a16="http://schemas.microsoft.com/office/drawing/2014/main" id="{6205DD86-315C-53B6-CEEF-A9919650168E}"/>
              </a:ext>
            </a:extLst>
          </p:cNvPr>
          <p:cNvCxnSpPr>
            <a:cxnSpLocks/>
            <a:stCxn id="36" idx="3"/>
            <a:endCxn id="32" idx="7"/>
          </p:cNvCxnSpPr>
          <p:nvPr/>
        </p:nvCxnSpPr>
        <p:spPr>
          <a:xfrm flipH="1" flipV="1">
            <a:off x="4265431" y="3255262"/>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205DD86-315C-53B6-CEEF-A9919650168E}"/>
              </a:ext>
            </a:extLst>
          </p:cNvPr>
          <p:cNvCxnSpPr>
            <a:cxnSpLocks/>
            <a:stCxn id="35" idx="3"/>
            <a:endCxn id="36" idx="7"/>
          </p:cNvCxnSpPr>
          <p:nvPr/>
        </p:nvCxnSpPr>
        <p:spPr>
          <a:xfrm flipH="1" flipV="1">
            <a:off x="5417551" y="4309926"/>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205DD86-315C-53B6-CEEF-A9919650168E}"/>
              </a:ext>
            </a:extLst>
          </p:cNvPr>
          <p:cNvCxnSpPr>
            <a:cxnSpLocks/>
            <a:stCxn id="36" idx="5"/>
            <a:endCxn id="34" idx="1"/>
          </p:cNvCxnSpPr>
          <p:nvPr/>
        </p:nvCxnSpPr>
        <p:spPr>
          <a:xfrm flipH="1">
            <a:off x="4265431" y="4309926"/>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33" idx="5"/>
            <a:endCxn id="36" idx="1"/>
          </p:cNvCxnSpPr>
          <p:nvPr/>
        </p:nvCxnSpPr>
        <p:spPr>
          <a:xfrm flipH="1">
            <a:off x="5417551" y="3262319"/>
            <a:ext cx="906288" cy="9457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a:extLst>
              <a:ext uri="{FF2B5EF4-FFF2-40B4-BE49-F238E27FC236}">
                <a16:creationId xmlns:a16="http://schemas.microsoft.com/office/drawing/2014/main" id="{6205DD86-315C-53B6-CEEF-A9919650168E}"/>
              </a:ext>
            </a:extLst>
          </p:cNvPr>
          <p:cNvCxnSpPr>
            <a:cxnSpLocks/>
            <a:stCxn id="34" idx="2"/>
            <a:endCxn id="32" idx="6"/>
          </p:cNvCxnSpPr>
          <p:nvPr/>
        </p:nvCxnSpPr>
        <p:spPr>
          <a:xfrm flipV="1">
            <a:off x="4214519" y="3276350"/>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6205DD86-315C-53B6-CEEF-A9919650168E}"/>
              </a:ext>
            </a:extLst>
          </p:cNvPr>
          <p:cNvCxnSpPr>
            <a:cxnSpLocks/>
            <a:stCxn id="35" idx="2"/>
            <a:endCxn id="33" idx="6"/>
          </p:cNvCxnSpPr>
          <p:nvPr/>
        </p:nvCxnSpPr>
        <p:spPr>
          <a:xfrm flipV="1">
            <a:off x="6374751" y="3283407"/>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6205DD86-315C-53B6-CEEF-A9919650168E}"/>
              </a:ext>
            </a:extLst>
          </p:cNvPr>
          <p:cNvCxnSpPr>
            <a:cxnSpLocks/>
            <a:stCxn id="32" idx="0"/>
            <a:endCxn id="33" idx="4"/>
          </p:cNvCxnSpPr>
          <p:nvPr/>
        </p:nvCxnSpPr>
        <p:spPr>
          <a:xfrm>
            <a:off x="4286519" y="3204350"/>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a:extLst>
              <a:ext uri="{FF2B5EF4-FFF2-40B4-BE49-F238E27FC236}">
                <a16:creationId xmlns:a16="http://schemas.microsoft.com/office/drawing/2014/main" id="{6205DD86-315C-53B6-CEEF-A9919650168E}"/>
              </a:ext>
            </a:extLst>
          </p:cNvPr>
          <p:cNvCxnSpPr>
            <a:cxnSpLocks/>
            <a:stCxn id="34" idx="0"/>
            <a:endCxn id="35" idx="4"/>
          </p:cNvCxnSpPr>
          <p:nvPr/>
        </p:nvCxnSpPr>
        <p:spPr>
          <a:xfrm>
            <a:off x="4286519" y="5349451"/>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5" name="Oval 54">
            <a:extLst>
              <a:ext uri="{FF2B5EF4-FFF2-40B4-BE49-F238E27FC236}">
                <a16:creationId xmlns:a16="http://schemas.microsoft.com/office/drawing/2014/main" id="{BDD11F87-DA81-9510-C1CB-0AF4093562CB}"/>
              </a:ext>
            </a:extLst>
          </p:cNvPr>
          <p:cNvSpPr/>
          <p:nvPr/>
        </p:nvSpPr>
        <p:spPr>
          <a:xfrm rot="5400000">
            <a:off x="7310855" y="212897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6" name="Straight Connector 55">
            <a:extLst>
              <a:ext uri="{FF2B5EF4-FFF2-40B4-BE49-F238E27FC236}">
                <a16:creationId xmlns:a16="http://schemas.microsoft.com/office/drawing/2014/main" id="{6205DD86-315C-53B6-CEEF-A9919650168E}"/>
              </a:ext>
            </a:extLst>
          </p:cNvPr>
          <p:cNvCxnSpPr>
            <a:cxnSpLocks/>
            <a:stCxn id="55" idx="5"/>
            <a:endCxn id="33" idx="1"/>
          </p:cNvCxnSpPr>
          <p:nvPr/>
        </p:nvCxnSpPr>
        <p:spPr>
          <a:xfrm flipH="1">
            <a:off x="6425663" y="2251884"/>
            <a:ext cx="906280" cy="9086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7" name="TextBox 56"/>
          <p:cNvSpPr txBox="1"/>
          <p:nvPr/>
        </p:nvSpPr>
        <p:spPr>
          <a:xfrm>
            <a:off x="5111610" y="2742685"/>
            <a:ext cx="332142" cy="461665"/>
          </a:xfrm>
          <a:prstGeom prst="rect">
            <a:avLst/>
          </a:prstGeom>
          <a:noFill/>
        </p:spPr>
        <p:txBody>
          <a:bodyPr wrap="none" rtlCol="0">
            <a:spAutoFit/>
          </a:bodyPr>
          <a:lstStyle/>
          <a:p>
            <a:r>
              <a:rPr lang="en-US" sz="2400" dirty="0">
                <a:solidFill>
                  <a:srgbClr val="D10233"/>
                </a:solidFill>
              </a:rPr>
              <a:t>a</a:t>
            </a:r>
          </a:p>
        </p:txBody>
      </p:sp>
      <p:sp>
        <p:nvSpPr>
          <p:cNvPr id="58" name="TextBox 57"/>
          <p:cNvSpPr txBox="1"/>
          <p:nvPr/>
        </p:nvSpPr>
        <p:spPr>
          <a:xfrm>
            <a:off x="4716062" y="3329878"/>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59" name="TextBox 58"/>
          <p:cNvSpPr txBox="1"/>
          <p:nvPr/>
        </p:nvSpPr>
        <p:spPr>
          <a:xfrm>
            <a:off x="5403520" y="3525719"/>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60" name="TextBox 59"/>
          <p:cNvSpPr txBox="1"/>
          <p:nvPr/>
        </p:nvSpPr>
        <p:spPr>
          <a:xfrm>
            <a:off x="5411047" y="4584329"/>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61" name="TextBox 60"/>
          <p:cNvSpPr txBox="1"/>
          <p:nvPr/>
        </p:nvSpPr>
        <p:spPr>
          <a:xfrm>
            <a:off x="4646068" y="4325837"/>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62" name="TextBox 61"/>
          <p:cNvSpPr txBox="1"/>
          <p:nvPr/>
        </p:nvSpPr>
        <p:spPr>
          <a:xfrm>
            <a:off x="4998490" y="5421451"/>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63" name="TextBox 62"/>
          <p:cNvSpPr txBox="1"/>
          <p:nvPr/>
        </p:nvSpPr>
        <p:spPr>
          <a:xfrm>
            <a:off x="3860069" y="4056751"/>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64" name="TextBox 63"/>
          <p:cNvSpPr txBox="1"/>
          <p:nvPr/>
        </p:nvSpPr>
        <p:spPr>
          <a:xfrm>
            <a:off x="6374751" y="4064303"/>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65" name="TextBox 64"/>
          <p:cNvSpPr txBox="1"/>
          <p:nvPr/>
        </p:nvSpPr>
        <p:spPr>
          <a:xfrm>
            <a:off x="6868944" y="2670685"/>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p:sp>
        <p:nvSpPr>
          <p:cNvPr id="66" name="Oval 65">
            <a:extLst>
              <a:ext uri="{FF2B5EF4-FFF2-40B4-BE49-F238E27FC236}">
                <a16:creationId xmlns:a16="http://schemas.microsoft.com/office/drawing/2014/main" id="{BDD11F87-DA81-9510-C1CB-0AF4093562CB}"/>
              </a:ext>
            </a:extLst>
          </p:cNvPr>
          <p:cNvSpPr/>
          <p:nvPr/>
        </p:nvSpPr>
        <p:spPr>
          <a:xfrm rot="5400000">
            <a:off x="7250862" y="31720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7" name="Oval 66">
            <a:extLst>
              <a:ext uri="{FF2B5EF4-FFF2-40B4-BE49-F238E27FC236}">
                <a16:creationId xmlns:a16="http://schemas.microsoft.com/office/drawing/2014/main" id="{BDD11F87-DA81-9510-C1CB-0AF4093562CB}"/>
              </a:ext>
            </a:extLst>
          </p:cNvPr>
          <p:cNvSpPr/>
          <p:nvPr/>
        </p:nvSpPr>
        <p:spPr>
          <a:xfrm rot="5400000">
            <a:off x="9411094" y="317906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8" name="Oval 67">
            <a:extLst>
              <a:ext uri="{FF2B5EF4-FFF2-40B4-BE49-F238E27FC236}">
                <a16:creationId xmlns:a16="http://schemas.microsoft.com/office/drawing/2014/main" id="{BDD11F87-DA81-9510-C1CB-0AF4093562CB}"/>
              </a:ext>
            </a:extLst>
          </p:cNvPr>
          <p:cNvSpPr/>
          <p:nvPr/>
        </p:nvSpPr>
        <p:spPr>
          <a:xfrm rot="5400000">
            <a:off x="7250862" y="53171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9" name="Oval 68">
            <a:extLst>
              <a:ext uri="{FF2B5EF4-FFF2-40B4-BE49-F238E27FC236}">
                <a16:creationId xmlns:a16="http://schemas.microsoft.com/office/drawing/2014/main" id="{BDD11F87-DA81-9510-C1CB-0AF4093562CB}"/>
              </a:ext>
            </a:extLst>
          </p:cNvPr>
          <p:cNvSpPr/>
          <p:nvPr/>
        </p:nvSpPr>
        <p:spPr>
          <a:xfrm rot="5400000">
            <a:off x="9411094" y="53241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0" name="Oval 69">
            <a:extLst>
              <a:ext uri="{FF2B5EF4-FFF2-40B4-BE49-F238E27FC236}">
                <a16:creationId xmlns:a16="http://schemas.microsoft.com/office/drawing/2014/main" id="{BDD11F87-DA81-9510-C1CB-0AF4093562CB}"/>
              </a:ext>
            </a:extLst>
          </p:cNvPr>
          <p:cNvSpPr/>
          <p:nvPr/>
        </p:nvSpPr>
        <p:spPr>
          <a:xfrm rot="5400000">
            <a:off x="8402982" y="422667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1" name="Straight Connector 70">
            <a:extLst>
              <a:ext uri="{FF2B5EF4-FFF2-40B4-BE49-F238E27FC236}">
                <a16:creationId xmlns:a16="http://schemas.microsoft.com/office/drawing/2014/main" id="{6205DD86-315C-53B6-CEEF-A9919650168E}"/>
              </a:ext>
            </a:extLst>
          </p:cNvPr>
          <p:cNvCxnSpPr>
            <a:cxnSpLocks/>
            <a:stCxn id="70" idx="3"/>
            <a:endCxn id="66" idx="7"/>
          </p:cNvCxnSpPr>
          <p:nvPr/>
        </p:nvCxnSpPr>
        <p:spPr>
          <a:xfrm flipH="1" flipV="1">
            <a:off x="7373774" y="3294924"/>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Straight Connector 71">
            <a:extLst>
              <a:ext uri="{FF2B5EF4-FFF2-40B4-BE49-F238E27FC236}">
                <a16:creationId xmlns:a16="http://schemas.microsoft.com/office/drawing/2014/main" id="{6205DD86-315C-53B6-CEEF-A9919650168E}"/>
              </a:ext>
            </a:extLst>
          </p:cNvPr>
          <p:cNvCxnSpPr>
            <a:cxnSpLocks/>
            <a:stCxn id="69" idx="3"/>
            <a:endCxn id="70" idx="7"/>
          </p:cNvCxnSpPr>
          <p:nvPr/>
        </p:nvCxnSpPr>
        <p:spPr>
          <a:xfrm flipH="1" flipV="1">
            <a:off x="8525894" y="4349588"/>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Straight Connector 72">
            <a:extLst>
              <a:ext uri="{FF2B5EF4-FFF2-40B4-BE49-F238E27FC236}">
                <a16:creationId xmlns:a16="http://schemas.microsoft.com/office/drawing/2014/main" id="{6205DD86-315C-53B6-CEEF-A9919650168E}"/>
              </a:ext>
            </a:extLst>
          </p:cNvPr>
          <p:cNvCxnSpPr>
            <a:cxnSpLocks/>
            <a:stCxn id="70" idx="5"/>
            <a:endCxn id="68" idx="1"/>
          </p:cNvCxnSpPr>
          <p:nvPr/>
        </p:nvCxnSpPr>
        <p:spPr>
          <a:xfrm flipH="1">
            <a:off x="7373774" y="4349588"/>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73">
            <a:extLst>
              <a:ext uri="{FF2B5EF4-FFF2-40B4-BE49-F238E27FC236}">
                <a16:creationId xmlns:a16="http://schemas.microsoft.com/office/drawing/2014/main" id="{6205DD86-315C-53B6-CEEF-A9919650168E}"/>
              </a:ext>
            </a:extLst>
          </p:cNvPr>
          <p:cNvCxnSpPr>
            <a:cxnSpLocks/>
            <a:stCxn id="67" idx="5"/>
            <a:endCxn id="70" idx="1"/>
          </p:cNvCxnSpPr>
          <p:nvPr/>
        </p:nvCxnSpPr>
        <p:spPr>
          <a:xfrm flipH="1">
            <a:off x="8525894" y="3301981"/>
            <a:ext cx="906288" cy="9457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Straight Connector 74">
            <a:extLst>
              <a:ext uri="{FF2B5EF4-FFF2-40B4-BE49-F238E27FC236}">
                <a16:creationId xmlns:a16="http://schemas.microsoft.com/office/drawing/2014/main" id="{6205DD86-315C-53B6-CEEF-A9919650168E}"/>
              </a:ext>
            </a:extLst>
          </p:cNvPr>
          <p:cNvCxnSpPr>
            <a:cxnSpLocks/>
            <a:stCxn id="68" idx="2"/>
            <a:endCxn id="66" idx="6"/>
          </p:cNvCxnSpPr>
          <p:nvPr/>
        </p:nvCxnSpPr>
        <p:spPr>
          <a:xfrm flipV="1">
            <a:off x="7322862" y="3316012"/>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Straight Connector 75">
            <a:extLst>
              <a:ext uri="{FF2B5EF4-FFF2-40B4-BE49-F238E27FC236}">
                <a16:creationId xmlns:a16="http://schemas.microsoft.com/office/drawing/2014/main" id="{6205DD86-315C-53B6-CEEF-A9919650168E}"/>
              </a:ext>
            </a:extLst>
          </p:cNvPr>
          <p:cNvCxnSpPr>
            <a:cxnSpLocks/>
            <a:stCxn id="69" idx="2"/>
            <a:endCxn id="67" idx="6"/>
          </p:cNvCxnSpPr>
          <p:nvPr/>
        </p:nvCxnSpPr>
        <p:spPr>
          <a:xfrm flipV="1">
            <a:off x="9483094" y="3323069"/>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6205DD86-315C-53B6-CEEF-A9919650168E}"/>
              </a:ext>
            </a:extLst>
          </p:cNvPr>
          <p:cNvCxnSpPr>
            <a:cxnSpLocks/>
            <a:stCxn id="66" idx="0"/>
            <a:endCxn id="67" idx="4"/>
          </p:cNvCxnSpPr>
          <p:nvPr/>
        </p:nvCxnSpPr>
        <p:spPr>
          <a:xfrm>
            <a:off x="7394862" y="3244012"/>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68" idx="0"/>
            <a:endCxn id="69" idx="4"/>
          </p:cNvCxnSpPr>
          <p:nvPr/>
        </p:nvCxnSpPr>
        <p:spPr>
          <a:xfrm>
            <a:off x="7394862" y="5389113"/>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9" name="Oval 78">
            <a:extLst>
              <a:ext uri="{FF2B5EF4-FFF2-40B4-BE49-F238E27FC236}">
                <a16:creationId xmlns:a16="http://schemas.microsoft.com/office/drawing/2014/main" id="{BDD11F87-DA81-9510-C1CB-0AF4093562CB}"/>
              </a:ext>
            </a:extLst>
          </p:cNvPr>
          <p:cNvSpPr/>
          <p:nvPr/>
        </p:nvSpPr>
        <p:spPr>
          <a:xfrm rot="5400000">
            <a:off x="10419198" y="21686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0" name="Straight Connector 79">
            <a:extLst>
              <a:ext uri="{FF2B5EF4-FFF2-40B4-BE49-F238E27FC236}">
                <a16:creationId xmlns:a16="http://schemas.microsoft.com/office/drawing/2014/main" id="{6205DD86-315C-53B6-CEEF-A9919650168E}"/>
              </a:ext>
            </a:extLst>
          </p:cNvPr>
          <p:cNvCxnSpPr>
            <a:cxnSpLocks/>
            <a:stCxn id="79" idx="5"/>
            <a:endCxn id="67" idx="1"/>
          </p:cNvCxnSpPr>
          <p:nvPr/>
        </p:nvCxnSpPr>
        <p:spPr>
          <a:xfrm flipH="1">
            <a:off x="9534006" y="2291546"/>
            <a:ext cx="906280" cy="9086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1" name="TextBox 80"/>
          <p:cNvSpPr txBox="1"/>
          <p:nvPr/>
        </p:nvSpPr>
        <p:spPr>
          <a:xfrm>
            <a:off x="8219953" y="2782347"/>
            <a:ext cx="332142" cy="461665"/>
          </a:xfrm>
          <a:prstGeom prst="rect">
            <a:avLst/>
          </a:prstGeom>
          <a:noFill/>
        </p:spPr>
        <p:txBody>
          <a:bodyPr wrap="none" rtlCol="0">
            <a:spAutoFit/>
          </a:bodyPr>
          <a:lstStyle/>
          <a:p>
            <a:r>
              <a:rPr lang="en-US" sz="2400" dirty="0">
                <a:solidFill>
                  <a:srgbClr val="D10233"/>
                </a:solidFill>
              </a:rPr>
              <a:t>a</a:t>
            </a:r>
          </a:p>
        </p:txBody>
      </p:sp>
      <p:sp>
        <p:nvSpPr>
          <p:cNvPr id="82" name="TextBox 81"/>
          <p:cNvSpPr txBox="1"/>
          <p:nvPr/>
        </p:nvSpPr>
        <p:spPr>
          <a:xfrm>
            <a:off x="7824405" y="3369540"/>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83" name="TextBox 82"/>
          <p:cNvSpPr txBox="1"/>
          <p:nvPr/>
        </p:nvSpPr>
        <p:spPr>
          <a:xfrm>
            <a:off x="8511863" y="3565381"/>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84" name="TextBox 83"/>
          <p:cNvSpPr txBox="1"/>
          <p:nvPr/>
        </p:nvSpPr>
        <p:spPr>
          <a:xfrm>
            <a:off x="8519390" y="4623991"/>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85" name="TextBox 84"/>
          <p:cNvSpPr txBox="1"/>
          <p:nvPr/>
        </p:nvSpPr>
        <p:spPr>
          <a:xfrm>
            <a:off x="7754411" y="4365499"/>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86" name="TextBox 85"/>
          <p:cNvSpPr txBox="1"/>
          <p:nvPr/>
        </p:nvSpPr>
        <p:spPr>
          <a:xfrm>
            <a:off x="8106833" y="5461113"/>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87" name="TextBox 86"/>
          <p:cNvSpPr txBox="1"/>
          <p:nvPr/>
        </p:nvSpPr>
        <p:spPr>
          <a:xfrm>
            <a:off x="6968412" y="4096413"/>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88" name="TextBox 87"/>
          <p:cNvSpPr txBox="1"/>
          <p:nvPr/>
        </p:nvSpPr>
        <p:spPr>
          <a:xfrm>
            <a:off x="9483094" y="4103965"/>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89" name="TextBox 88"/>
          <p:cNvSpPr txBox="1"/>
          <p:nvPr/>
        </p:nvSpPr>
        <p:spPr>
          <a:xfrm>
            <a:off x="9977287" y="2710347"/>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mc:AlternateContent xmlns:mc="http://schemas.openxmlformats.org/markup-compatibility/2006" xmlns:a14="http://schemas.microsoft.com/office/drawing/2010/main">
        <mc:Choice Requires="a14">
          <p:sp>
            <p:nvSpPr>
              <p:cNvPr id="4" name="Rectangle 3"/>
              <p:cNvSpPr/>
              <p:nvPr/>
            </p:nvSpPr>
            <p:spPr>
              <a:xfrm>
                <a:off x="1315025" y="5738112"/>
                <a:ext cx="143763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dirty="0">
                          <a:solidFill>
                            <a:srgbClr val="002060"/>
                          </a:solidFill>
                          <a:latin typeface="Cambria Math" panose="02040503050406030204" pitchFamily="18" charset="0"/>
                        </a:rPr>
                        <m:t>{</m:t>
                      </m:r>
                      <m:r>
                        <m:rPr>
                          <m:sty m:val="p"/>
                        </m:rPr>
                        <a:rPr lang="en-US" sz="2800" dirty="0">
                          <a:solidFill>
                            <a:srgbClr val="002060"/>
                          </a:solidFill>
                          <a:latin typeface="Cambria Math" panose="02040503050406030204" pitchFamily="18" charset="0"/>
                        </a:rPr>
                        <m:t>a</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b</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g</m:t>
                      </m:r>
                      <m:r>
                        <a:rPr lang="en-US" sz="2800" dirty="0">
                          <a:solidFill>
                            <a:srgbClr val="002060"/>
                          </a:solidFill>
                          <a:latin typeface="Cambria Math" panose="02040503050406030204" pitchFamily="18" charset="0"/>
                        </a:rPr>
                        <m:t>} </m:t>
                      </m:r>
                    </m:oMath>
                  </m:oMathPara>
                </a14:m>
                <a:endParaRPr lang="en-US" sz="2800" dirty="0">
                  <a:solidFill>
                    <a:srgbClr val="002060"/>
                  </a:solidFill>
                  <a:latin typeface="Cambria Math" panose="02040503050406030204" pitchFamily="18"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1315025" y="5738112"/>
                <a:ext cx="1437638"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4328143" y="5740151"/>
                <a:ext cx="1676998"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dirty="0">
                          <a:solidFill>
                            <a:srgbClr val="002060"/>
                          </a:solidFill>
                          <a:latin typeface="Cambria Math" panose="02040503050406030204" pitchFamily="18" charset="0"/>
                        </a:rPr>
                        <m:t>{</m:t>
                      </m:r>
                      <m:r>
                        <m:rPr>
                          <m:sty m:val="p"/>
                        </m:rPr>
                        <a:rPr lang="en-US" sz="2800" dirty="0">
                          <a:solidFill>
                            <a:srgbClr val="002060"/>
                          </a:solidFill>
                          <a:latin typeface="Cambria Math" panose="02040503050406030204" pitchFamily="18" charset="0"/>
                        </a:rPr>
                        <m:t>a</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b</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e</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f</m:t>
                      </m:r>
                      <m:r>
                        <a:rPr lang="en-US" sz="2800" dirty="0">
                          <a:solidFill>
                            <a:srgbClr val="002060"/>
                          </a:solidFill>
                          <a:latin typeface="Cambria Math" panose="02040503050406030204" pitchFamily="18" charset="0"/>
                        </a:rPr>
                        <m:t>} </m:t>
                      </m:r>
                    </m:oMath>
                  </m:oMathPara>
                </a14:m>
                <a:endParaRPr lang="en-US" sz="2800" dirty="0">
                  <a:solidFill>
                    <a:srgbClr val="002060"/>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4328143" y="5740151"/>
                <a:ext cx="167699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7728119" y="5759587"/>
                <a:ext cx="131580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dirty="0">
                          <a:solidFill>
                            <a:srgbClr val="002060"/>
                          </a:solidFill>
                          <a:latin typeface="Cambria Math" panose="02040503050406030204" pitchFamily="18" charset="0"/>
                        </a:rPr>
                        <m:t>{</m:t>
                      </m:r>
                      <m:r>
                        <m:rPr>
                          <m:sty m:val="p"/>
                        </m:rPr>
                        <a:rPr lang="en-US" sz="2800" dirty="0">
                          <a:solidFill>
                            <a:srgbClr val="002060"/>
                          </a:solidFill>
                          <a:latin typeface="Cambria Math" panose="02040503050406030204" pitchFamily="18" charset="0"/>
                        </a:rPr>
                        <m:t>d</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h</m:t>
                      </m:r>
                      <m:r>
                        <a:rPr lang="en-US" sz="2800" dirty="0">
                          <a:solidFill>
                            <a:srgbClr val="002060"/>
                          </a:solidFill>
                          <a:latin typeface="Cambria Math" panose="02040503050406030204" pitchFamily="18" charset="0"/>
                        </a:rPr>
                        <m:t>, </m:t>
                      </m:r>
                      <m:r>
                        <m:rPr>
                          <m:sty m:val="p"/>
                        </m:rPr>
                        <a:rPr lang="en-US" sz="2800" dirty="0">
                          <a:solidFill>
                            <a:srgbClr val="002060"/>
                          </a:solidFill>
                          <a:latin typeface="Cambria Math" panose="02040503050406030204" pitchFamily="18" charset="0"/>
                        </a:rPr>
                        <m:t>f</m:t>
                      </m:r>
                      <m:r>
                        <a:rPr lang="en-US" sz="2800" dirty="0">
                          <a:solidFill>
                            <a:srgbClr val="002060"/>
                          </a:solidFill>
                          <a:latin typeface="Cambria Math" panose="02040503050406030204" pitchFamily="18" charset="0"/>
                        </a:rPr>
                        <m:t>}</m:t>
                      </m:r>
                    </m:oMath>
                  </m:oMathPara>
                </a14:m>
                <a:endParaRPr lang="en-US" sz="2800" dirty="0">
                  <a:solidFill>
                    <a:srgbClr val="002060"/>
                  </a:solidFill>
                  <a:latin typeface="Cambria Math" panose="02040503050406030204" pitchFamily="18" charset="0"/>
                </a:endParaRPr>
              </a:p>
            </p:txBody>
          </p:sp>
        </mc:Choice>
        <mc:Fallback xmlns="">
          <p:sp>
            <p:nvSpPr>
              <p:cNvPr id="10" name="Rectangle 9"/>
              <p:cNvSpPr>
                <a:spLocks noRot="1" noChangeAspect="1" noMove="1" noResize="1" noEditPoints="1" noAdjustHandles="1" noChangeArrowheads="1" noChangeShapeType="1" noTextEdit="1"/>
              </p:cNvSpPr>
              <p:nvPr/>
            </p:nvSpPr>
            <p:spPr>
              <a:xfrm>
                <a:off x="7728119" y="5759587"/>
                <a:ext cx="1315809" cy="523220"/>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0437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up)">
                                      <p:cBhvr>
                                        <p:cTn id="11" dur="500"/>
                                        <p:tgtEl>
                                          <p:spTgt spid="28"/>
                                        </p:tgtEl>
                                      </p:cBhvr>
                                    </p:animEffect>
                                  </p:childTnLst>
                                </p:cTn>
                              </p:par>
                              <p:par>
                                <p:cTn id="12" presetID="22" presetClass="entr" presetSubtype="1"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up)">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up)">
                                      <p:cBhvr>
                                        <p:cTn id="19" dur="500"/>
                                        <p:tgtEl>
                                          <p:spTgt spid="31"/>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wipe(up)">
                                      <p:cBhvr>
                                        <p:cTn id="27" dur="500"/>
                                        <p:tgtEl>
                                          <p:spTgt spid="30"/>
                                        </p:tgtEl>
                                      </p:cBhvr>
                                    </p:animEffect>
                                  </p:childTnLst>
                                </p:cTn>
                              </p:par>
                              <p:par>
                                <p:cTn id="28" presetID="22" presetClass="entr" presetSubtype="1"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0" grpId="0" animBg="1"/>
      <p:bldP spid="31" grpId="0" animBg="1"/>
      <p:bldP spid="4" grpId="0"/>
      <p:bldP spid="5"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Observation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0" y="863445"/>
                <a:ext cx="11929641" cy="1304481"/>
              </a:xfrm>
            </p:spPr>
            <p:txBody>
              <a:bodyPr/>
              <a:lstStyle/>
              <a:p>
                <a:pPr lvl="0"/>
                <a:r>
                  <a:rPr lang="en-US" dirty="0"/>
                  <a:t>Edge</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k</m:t>
                    </m:r>
                    <m:r>
                      <a:rPr lang="en-US" i="0" dirty="0" smtClean="0">
                        <a:latin typeface="Cambria Math" panose="02040503050406030204" pitchFamily="18" charset="0"/>
                      </a:rPr>
                      <m:t>}</m:t>
                    </m:r>
                  </m:oMath>
                </a14:m>
                <a:r>
                  <a:rPr lang="en-US" dirty="0"/>
                  <a:t> alone is also a cut-set. </a:t>
                </a:r>
              </a:p>
              <a:p>
                <a:pPr lvl="0"/>
                <a:r>
                  <a:rPr lang="en-US" dirty="0"/>
                  <a:t>The set of edges</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a</m:t>
                    </m:r>
                    <m:r>
                      <a:rPr lang="en-US" i="0" dirty="0" smtClean="0">
                        <a:latin typeface="Cambria Math" panose="02040503050406030204" pitchFamily="18" charset="0"/>
                      </a:rPr>
                      <m:t>, </m:t>
                    </m:r>
                    <m:r>
                      <m:rPr>
                        <m:sty m:val="p"/>
                      </m:rPr>
                      <a:rPr lang="en-US" i="0" dirty="0" smtClean="0">
                        <a:latin typeface="Cambria Math" panose="02040503050406030204" pitchFamily="18" charset="0"/>
                      </a:rPr>
                      <m:t>c</m:t>
                    </m:r>
                    <m:r>
                      <a:rPr lang="en-US" i="0" dirty="0" smtClean="0">
                        <a:latin typeface="Cambria Math" panose="02040503050406030204" pitchFamily="18" charset="0"/>
                      </a:rPr>
                      <m:t>, </m:t>
                    </m:r>
                    <m:r>
                      <m:rPr>
                        <m:sty m:val="p"/>
                      </m:rPr>
                      <a:rPr lang="en-US" i="0" dirty="0" smtClean="0">
                        <a:latin typeface="Cambria Math" panose="02040503050406030204" pitchFamily="18" charset="0"/>
                      </a:rPr>
                      <m:t>h</m:t>
                    </m:r>
                    <m:r>
                      <a:rPr lang="en-US" i="0" dirty="0" smtClean="0">
                        <a:latin typeface="Cambria Math" panose="02040503050406030204" pitchFamily="18" charset="0"/>
                      </a:rPr>
                      <m:t>, </m:t>
                    </m:r>
                    <m:r>
                      <m:rPr>
                        <m:sty m:val="p"/>
                      </m:rPr>
                      <a:rPr lang="en-US" i="0" dirty="0" smtClean="0">
                        <a:latin typeface="Cambria Math" panose="02040503050406030204" pitchFamily="18" charset="0"/>
                      </a:rPr>
                      <m:t>d</m:t>
                    </m:r>
                    <m:r>
                      <a:rPr lang="en-US" i="0" dirty="0" smtClean="0">
                        <a:latin typeface="Cambria Math" panose="02040503050406030204" pitchFamily="18" charset="0"/>
                      </a:rPr>
                      <m:t>}</m:t>
                    </m:r>
                  </m:oMath>
                </a14:m>
                <a:r>
                  <a:rPr lang="en-US" dirty="0"/>
                  <a:t>, is not a cut-set.</a:t>
                </a:r>
              </a:p>
            </p:txBody>
          </p:sp>
        </mc:Choice>
        <mc:Fallback xmlns="">
          <p:sp>
            <p:nvSpPr>
              <p:cNvPr id="3" name="Content Placeholder 2">
                <a:extLst>
                  <a:ext uri="{FF2B5EF4-FFF2-40B4-BE49-F238E27FC236}">
                    <a16:creationId xmlns="" xmlns:a16="http://schemas.microsoft.com/office/drawing/2014/main" xmlns:a14="http://schemas.microsoft.com/office/drawing/2010/main" id="{9CB3AA53-5FE6-7420-2832-B8AB64C9E95F}"/>
                  </a:ext>
                </a:extLst>
              </p:cNvPr>
              <p:cNvSpPr>
                <a:spLocks noGrp="1" noRot="1" noChangeAspect="1" noMove="1" noResize="1" noEditPoints="1" noAdjustHandles="1" noChangeArrowheads="1" noChangeShapeType="1" noTextEdit="1"/>
              </p:cNvSpPr>
              <p:nvPr>
                <p:ph idx="1"/>
              </p:nvPr>
            </p:nvSpPr>
            <p:spPr>
              <a:xfrm>
                <a:off x="131180" y="863445"/>
                <a:ext cx="11929641" cy="1304481"/>
              </a:xfrm>
              <a:blipFill rotWithShape="0">
                <a:blip r:embed="rId2"/>
                <a:stretch>
                  <a:fillRect l="-971" t="-8411"/>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BDD11F87-DA81-9510-C1CB-0AF4093562CB}"/>
              </a:ext>
            </a:extLst>
          </p:cNvPr>
          <p:cNvSpPr/>
          <p:nvPr/>
        </p:nvSpPr>
        <p:spPr>
          <a:xfrm rot="5400000">
            <a:off x="4865797" y="33654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7026029" y="33724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4865797" y="55105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BDD11F87-DA81-9510-C1CB-0AF4093562CB}"/>
              </a:ext>
            </a:extLst>
          </p:cNvPr>
          <p:cNvSpPr/>
          <p:nvPr/>
        </p:nvSpPr>
        <p:spPr>
          <a:xfrm rot="5400000">
            <a:off x="7026029" y="551756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BDD11F87-DA81-9510-C1CB-0AF4093562CB}"/>
              </a:ext>
            </a:extLst>
          </p:cNvPr>
          <p:cNvSpPr/>
          <p:nvPr/>
        </p:nvSpPr>
        <p:spPr>
          <a:xfrm rot="5400000">
            <a:off x="6017917" y="442007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6205DD86-315C-53B6-CEEF-A9919650168E}"/>
              </a:ext>
            </a:extLst>
          </p:cNvPr>
          <p:cNvCxnSpPr>
            <a:cxnSpLocks/>
            <a:stCxn id="11" idx="3"/>
            <a:endCxn id="6" idx="7"/>
          </p:cNvCxnSpPr>
          <p:nvPr/>
        </p:nvCxnSpPr>
        <p:spPr>
          <a:xfrm flipH="1" flipV="1">
            <a:off x="4988709" y="3488321"/>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205DD86-315C-53B6-CEEF-A9919650168E}"/>
              </a:ext>
            </a:extLst>
          </p:cNvPr>
          <p:cNvCxnSpPr>
            <a:cxnSpLocks/>
            <a:stCxn id="9" idx="3"/>
            <a:endCxn id="11" idx="7"/>
          </p:cNvCxnSpPr>
          <p:nvPr/>
        </p:nvCxnSpPr>
        <p:spPr>
          <a:xfrm flipH="1" flipV="1">
            <a:off x="6140829" y="4542985"/>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205DD86-315C-53B6-CEEF-A9919650168E}"/>
              </a:ext>
            </a:extLst>
          </p:cNvPr>
          <p:cNvCxnSpPr>
            <a:cxnSpLocks/>
            <a:stCxn id="11" idx="5"/>
            <a:endCxn id="8" idx="1"/>
          </p:cNvCxnSpPr>
          <p:nvPr/>
        </p:nvCxnSpPr>
        <p:spPr>
          <a:xfrm flipH="1">
            <a:off x="4988709" y="4542985"/>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6205DD86-315C-53B6-CEEF-A9919650168E}"/>
              </a:ext>
            </a:extLst>
          </p:cNvPr>
          <p:cNvCxnSpPr>
            <a:cxnSpLocks/>
            <a:stCxn id="7" idx="5"/>
            <a:endCxn id="11" idx="1"/>
          </p:cNvCxnSpPr>
          <p:nvPr/>
        </p:nvCxnSpPr>
        <p:spPr>
          <a:xfrm flipH="1">
            <a:off x="6140829" y="3495378"/>
            <a:ext cx="906288" cy="9457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8" idx="2"/>
            <a:endCxn id="6" idx="6"/>
          </p:cNvCxnSpPr>
          <p:nvPr/>
        </p:nvCxnSpPr>
        <p:spPr>
          <a:xfrm flipV="1">
            <a:off x="4937797" y="3509409"/>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9" idx="2"/>
            <a:endCxn id="7" idx="6"/>
          </p:cNvCxnSpPr>
          <p:nvPr/>
        </p:nvCxnSpPr>
        <p:spPr>
          <a:xfrm flipV="1">
            <a:off x="7098029" y="3516466"/>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6205DD86-315C-53B6-CEEF-A9919650168E}"/>
              </a:ext>
            </a:extLst>
          </p:cNvPr>
          <p:cNvCxnSpPr>
            <a:cxnSpLocks/>
            <a:stCxn id="6" idx="0"/>
            <a:endCxn id="7" idx="4"/>
          </p:cNvCxnSpPr>
          <p:nvPr/>
        </p:nvCxnSpPr>
        <p:spPr>
          <a:xfrm>
            <a:off x="5009797" y="3437409"/>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6205DD86-315C-53B6-CEEF-A9919650168E}"/>
              </a:ext>
            </a:extLst>
          </p:cNvPr>
          <p:cNvCxnSpPr>
            <a:cxnSpLocks/>
            <a:stCxn id="8" idx="0"/>
            <a:endCxn id="9" idx="4"/>
          </p:cNvCxnSpPr>
          <p:nvPr/>
        </p:nvCxnSpPr>
        <p:spPr>
          <a:xfrm>
            <a:off x="5009797" y="5582510"/>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BDD11F87-DA81-9510-C1CB-0AF4093562CB}"/>
              </a:ext>
            </a:extLst>
          </p:cNvPr>
          <p:cNvSpPr/>
          <p:nvPr/>
        </p:nvSpPr>
        <p:spPr>
          <a:xfrm rot="5400000">
            <a:off x="8034133" y="236203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20" idx="5"/>
            <a:endCxn id="7" idx="1"/>
          </p:cNvCxnSpPr>
          <p:nvPr/>
        </p:nvCxnSpPr>
        <p:spPr>
          <a:xfrm flipH="1">
            <a:off x="7148941" y="2484943"/>
            <a:ext cx="906280" cy="9086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8" name="Arc 27"/>
          <p:cNvSpPr/>
          <p:nvPr/>
        </p:nvSpPr>
        <p:spPr>
          <a:xfrm rot="18862138">
            <a:off x="7827969" y="2212432"/>
            <a:ext cx="689113" cy="3368795"/>
          </a:xfrm>
          <a:prstGeom prst="arc">
            <a:avLst>
              <a:gd name="adj1" fmla="val 16200000"/>
              <a:gd name="adj2" fmla="val 20269394"/>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p:cNvSpPr txBox="1"/>
          <p:nvPr/>
        </p:nvSpPr>
        <p:spPr>
          <a:xfrm>
            <a:off x="5834888" y="2975744"/>
            <a:ext cx="332142" cy="461665"/>
          </a:xfrm>
          <a:prstGeom prst="rect">
            <a:avLst/>
          </a:prstGeom>
          <a:noFill/>
        </p:spPr>
        <p:txBody>
          <a:bodyPr wrap="none" rtlCol="0">
            <a:spAutoFit/>
          </a:bodyPr>
          <a:lstStyle/>
          <a:p>
            <a:r>
              <a:rPr lang="en-US" sz="2400" dirty="0">
                <a:solidFill>
                  <a:srgbClr val="D10233"/>
                </a:solidFill>
              </a:rPr>
              <a:t>a</a:t>
            </a:r>
          </a:p>
        </p:txBody>
      </p:sp>
      <p:sp>
        <p:nvSpPr>
          <p:cNvPr id="41" name="TextBox 40"/>
          <p:cNvSpPr txBox="1"/>
          <p:nvPr/>
        </p:nvSpPr>
        <p:spPr>
          <a:xfrm>
            <a:off x="5439340" y="3562937"/>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42" name="TextBox 41"/>
          <p:cNvSpPr txBox="1"/>
          <p:nvPr/>
        </p:nvSpPr>
        <p:spPr>
          <a:xfrm>
            <a:off x="6126798" y="3758778"/>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43" name="TextBox 42"/>
          <p:cNvSpPr txBox="1"/>
          <p:nvPr/>
        </p:nvSpPr>
        <p:spPr>
          <a:xfrm>
            <a:off x="6134325" y="4817388"/>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44" name="TextBox 43"/>
          <p:cNvSpPr txBox="1"/>
          <p:nvPr/>
        </p:nvSpPr>
        <p:spPr>
          <a:xfrm>
            <a:off x="5369346" y="4558896"/>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45" name="TextBox 44"/>
          <p:cNvSpPr txBox="1"/>
          <p:nvPr/>
        </p:nvSpPr>
        <p:spPr>
          <a:xfrm>
            <a:off x="5721768" y="5654510"/>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46" name="TextBox 45"/>
          <p:cNvSpPr txBox="1"/>
          <p:nvPr/>
        </p:nvSpPr>
        <p:spPr>
          <a:xfrm>
            <a:off x="4583347" y="4289810"/>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47" name="TextBox 46"/>
          <p:cNvSpPr txBox="1"/>
          <p:nvPr/>
        </p:nvSpPr>
        <p:spPr>
          <a:xfrm>
            <a:off x="7098029" y="4297362"/>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48" name="TextBox 47"/>
          <p:cNvSpPr txBox="1"/>
          <p:nvPr/>
        </p:nvSpPr>
        <p:spPr>
          <a:xfrm>
            <a:off x="7592222" y="2903744"/>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p:sp>
        <p:nvSpPr>
          <p:cNvPr id="50" name="Arc 49"/>
          <p:cNvSpPr/>
          <p:nvPr/>
        </p:nvSpPr>
        <p:spPr>
          <a:xfrm rot="18862138">
            <a:off x="5049070" y="3081718"/>
            <a:ext cx="2081693" cy="2416185"/>
          </a:xfrm>
          <a:prstGeom prst="arc">
            <a:avLst>
              <a:gd name="adj1" fmla="val 17305548"/>
              <a:gd name="adj2" fmla="val 7270293"/>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Arc 50"/>
          <p:cNvSpPr/>
          <p:nvPr/>
        </p:nvSpPr>
        <p:spPr>
          <a:xfrm rot="8888021" flipH="1">
            <a:off x="6790445" y="1361459"/>
            <a:ext cx="615168" cy="7373521"/>
          </a:xfrm>
          <a:prstGeom prst="arc">
            <a:avLst>
              <a:gd name="adj1" fmla="val 17305548"/>
              <a:gd name="adj2" fmla="val 5148348"/>
            </a:avLst>
          </a:prstGeom>
          <a:noFill/>
          <a:ln w="76200">
            <a:solidFill>
              <a:srgbClr val="00B05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Rectangle 30"/>
              <p:cNvSpPr/>
              <p:nvPr/>
            </p:nvSpPr>
            <p:spPr>
              <a:xfrm>
                <a:off x="428586" y="1754734"/>
                <a:ext cx="8146453" cy="523220"/>
              </a:xfrm>
              <a:prstGeom prst="rect">
                <a:avLst/>
              </a:prstGeom>
            </p:spPr>
            <p:txBody>
              <a:bodyPr wrap="square">
                <a:spAutoFit/>
              </a:bodyPr>
              <a:lstStyle/>
              <a:p>
                <a:pPr lvl="0"/>
                <a:r>
                  <a:rPr lang="en-US" sz="2800" dirty="0">
                    <a:solidFill>
                      <a:srgbClr val="D10233"/>
                    </a:solidFill>
                  </a:rPr>
                  <a:t>As its proper subset of edges</a:t>
                </a:r>
                <a14:m>
                  <m:oMath xmlns:m="http://schemas.openxmlformats.org/officeDocument/2006/math">
                    <m:r>
                      <a:rPr lang="en-US" sz="2800" dirty="0">
                        <a:solidFill>
                          <a:srgbClr val="D10233"/>
                        </a:solidFill>
                        <a:latin typeface="Cambria Math" panose="02040503050406030204" pitchFamily="18" charset="0"/>
                      </a:rPr>
                      <m:t> {</m:t>
                    </m:r>
                    <m:r>
                      <m:rPr>
                        <m:sty m:val="p"/>
                      </m:rPr>
                      <a:rPr lang="en-US" sz="2800" dirty="0">
                        <a:solidFill>
                          <a:srgbClr val="D10233"/>
                        </a:solidFill>
                        <a:latin typeface="Cambria Math" panose="02040503050406030204" pitchFamily="18" charset="0"/>
                      </a:rPr>
                      <m:t>a</m:t>
                    </m:r>
                    <m:r>
                      <a:rPr lang="en-US" sz="2800" dirty="0">
                        <a:solidFill>
                          <a:srgbClr val="D10233"/>
                        </a:solidFill>
                        <a:latin typeface="Cambria Math" panose="02040503050406030204" pitchFamily="18" charset="0"/>
                      </a:rPr>
                      <m:t>, </m:t>
                    </m:r>
                    <m:r>
                      <m:rPr>
                        <m:sty m:val="p"/>
                      </m:rPr>
                      <a:rPr lang="en-US" sz="2800" dirty="0">
                        <a:solidFill>
                          <a:srgbClr val="D10233"/>
                        </a:solidFill>
                        <a:latin typeface="Cambria Math" panose="02040503050406030204" pitchFamily="18" charset="0"/>
                      </a:rPr>
                      <m:t>c</m:t>
                    </m:r>
                    <m:r>
                      <a:rPr lang="en-US" sz="2800" dirty="0">
                        <a:solidFill>
                          <a:srgbClr val="D10233"/>
                        </a:solidFill>
                        <a:latin typeface="Cambria Math" panose="02040503050406030204" pitchFamily="18" charset="0"/>
                      </a:rPr>
                      <m:t>, </m:t>
                    </m:r>
                    <m:r>
                      <m:rPr>
                        <m:sty m:val="p"/>
                      </m:rPr>
                      <a:rPr lang="en-US" sz="2800" dirty="0">
                        <a:solidFill>
                          <a:srgbClr val="D10233"/>
                        </a:solidFill>
                        <a:latin typeface="Cambria Math" panose="02040503050406030204" pitchFamily="18" charset="0"/>
                      </a:rPr>
                      <m:t>h</m:t>
                    </m:r>
                    <m:r>
                      <a:rPr lang="en-US" sz="2800" dirty="0">
                        <a:solidFill>
                          <a:srgbClr val="D10233"/>
                        </a:solidFill>
                        <a:latin typeface="Cambria Math" panose="02040503050406030204" pitchFamily="18" charset="0"/>
                      </a:rPr>
                      <m:t>} </m:t>
                    </m:r>
                  </m:oMath>
                </a14:m>
                <a:r>
                  <a:rPr lang="en-US" sz="2800" dirty="0">
                    <a:solidFill>
                      <a:srgbClr val="D10233"/>
                    </a:solidFill>
                  </a:rPr>
                  <a:t>is a cut-set .</a:t>
                </a:r>
              </a:p>
            </p:txBody>
          </p:sp>
        </mc:Choice>
        <mc:Fallback xmlns="">
          <p:sp>
            <p:nvSpPr>
              <p:cNvPr id="31" name="Rectangle 30"/>
              <p:cNvSpPr>
                <a:spLocks noRot="1" noChangeAspect="1" noMove="1" noResize="1" noEditPoints="1" noAdjustHandles="1" noChangeArrowheads="1" noChangeShapeType="1" noTextEdit="1"/>
              </p:cNvSpPr>
              <p:nvPr/>
            </p:nvSpPr>
            <p:spPr>
              <a:xfrm>
                <a:off x="428586" y="1754734"/>
                <a:ext cx="8146453" cy="523220"/>
              </a:xfrm>
              <a:prstGeom prst="rect">
                <a:avLst/>
              </a:prstGeom>
              <a:blipFill rotWithShape="0">
                <a:blip r:embed="rId3"/>
                <a:stretch>
                  <a:fillRect l="-1496" t="-12791" b="-31395"/>
                </a:stretch>
              </a:blipFill>
            </p:spPr>
            <p:txBody>
              <a:bodyPr/>
              <a:lstStyle/>
              <a:p>
                <a:r>
                  <a:rPr lang="en-US">
                    <a:noFill/>
                  </a:rPr>
                  <a:t> </a:t>
                </a:r>
              </a:p>
            </p:txBody>
          </p:sp>
        </mc:Fallback>
      </mc:AlternateContent>
      <p:sp>
        <p:nvSpPr>
          <p:cNvPr id="32" name="Rectangle 31"/>
          <p:cNvSpPr/>
          <p:nvPr/>
        </p:nvSpPr>
        <p:spPr>
          <a:xfrm>
            <a:off x="7917925" y="788276"/>
            <a:ext cx="3442696" cy="1323439"/>
          </a:xfrm>
          <a:prstGeom prst="rect">
            <a:avLst/>
          </a:prstGeom>
        </p:spPr>
        <p:txBody>
          <a:bodyPr wrap="square">
            <a:spAutoFit/>
          </a:bodyPr>
          <a:lstStyle/>
          <a:p>
            <a:pPr lvl="0" algn="ctr"/>
            <a:r>
              <a:rPr lang="en-US" sz="8000" b="1" dirty="0">
                <a:ln w="12700">
                  <a:solidFill>
                    <a:schemeClr val="accent5"/>
                  </a:solidFill>
                  <a:prstDash val="solid"/>
                </a:ln>
                <a:pattFill prst="ltDnDiag">
                  <a:fgClr>
                    <a:schemeClr val="accent5">
                      <a:lumMod val="60000"/>
                      <a:lumOff val="40000"/>
                    </a:schemeClr>
                  </a:fgClr>
                  <a:bgClr>
                    <a:schemeClr val="bg1"/>
                  </a:bgClr>
                </a:pattFill>
              </a:rPr>
              <a:t>?</a:t>
            </a:r>
          </a:p>
        </p:txBody>
      </p:sp>
    </p:spTree>
    <p:extLst>
      <p:ext uri="{BB962C8B-B14F-4D97-AF65-F5344CB8AC3E}">
        <p14:creationId xmlns:p14="http://schemas.microsoft.com/office/powerpoint/2010/main" val="3472962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22" presetClass="entr" presetSubtype="1"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animEffect transition="in" filter="wipe(up)">
                                      <p:cBhvr>
                                        <p:cTn id="9" dur="500"/>
                                        <p:tgtEl>
                                          <p:spTgt spid="2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childTnLst>
                                    <p:set>
                                      <p:cBhvr>
                                        <p:cTn id="13" dur="1" fill="hold">
                                          <p:stCondLst>
                                            <p:cond delay="0"/>
                                          </p:stCondLst>
                                        </p:cTn>
                                        <p:tgtEl>
                                          <p:spTgt spid="28"/>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50"/>
                                        </p:tgtEl>
                                        <p:attrNameLst>
                                          <p:attrName>style.visibility</p:attrName>
                                        </p:attrNameLst>
                                      </p:cBhvr>
                                      <p:to>
                                        <p:strVal val="visible"/>
                                      </p:to>
                                    </p:set>
                                    <p:animEffect transition="in" filter="wipe(up)">
                                      <p:cBhvr>
                                        <p:cTn id="26" dur="500"/>
                                        <p:tgtEl>
                                          <p:spTgt spid="5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51"/>
                                        </p:tgtEl>
                                        <p:attrNameLst>
                                          <p:attrName>style.visibility</p:attrName>
                                        </p:attrNameLst>
                                      </p:cBhvr>
                                      <p:to>
                                        <p:strVal val="visible"/>
                                      </p:to>
                                    </p:set>
                                    <p:animEffect transition="in" filter="wipe(up)">
                                      <p:cBhvr>
                                        <p:cTn id="35" dur="500"/>
                                        <p:tgtEl>
                                          <p:spTgt spid="51"/>
                                        </p:tgtEl>
                                      </p:cBhvr>
                                    </p:animEffect>
                                  </p:childTnLst>
                                </p:cTn>
                              </p:par>
                            </p:childTnLst>
                          </p:cTn>
                        </p:par>
                      </p:childTnLst>
                    </p:cTn>
                  </p:par>
                  <p:par>
                    <p:cTn id="36" fill="hold">
                      <p:stCondLst>
                        <p:cond delay="indefinite"/>
                      </p:stCondLst>
                      <p:childTnLst>
                        <p:par>
                          <p:cTn id="37" fill="hold">
                            <p:stCondLst>
                              <p:cond delay="0"/>
                            </p:stCondLst>
                            <p:childTnLst>
                              <p:par>
                                <p:cTn id="38" presetID="63" presetClass="path" presetSubtype="0" accel="50000" decel="50000" fill="hold" grpId="0" nodeType="clickEffect">
                                  <p:stCondLst>
                                    <p:cond delay="0"/>
                                  </p:stCondLst>
                                  <p:childTnLst>
                                    <p:animMotion origin="layout" path="M 2.29167E-6 -4.44444E-6 L 0.25 -4.44444E-6 " pathEditMode="relative" rAng="0" ptsTypes="AA">
                                      <p:cBhvr>
                                        <p:cTn id="39" dur="2000" fill="hold"/>
                                        <p:tgtEl>
                                          <p:spTgt spid="48"/>
                                        </p:tgtEl>
                                        <p:attrNameLst>
                                          <p:attrName>ppt_x</p:attrName>
                                          <p:attrName>ppt_y</p:attrName>
                                        </p:attrNameLst>
                                      </p:cBhvr>
                                      <p:rCtr x="12500" y="0"/>
                                    </p:animMotion>
                                  </p:childTnLst>
                                </p:cTn>
                              </p:par>
                              <p:par>
                                <p:cTn id="40" presetID="63" presetClass="path" presetSubtype="0" accel="50000" decel="50000" fill="hold" nodeType="withEffect">
                                  <p:stCondLst>
                                    <p:cond delay="0"/>
                                  </p:stCondLst>
                                  <p:childTnLst>
                                    <p:animMotion origin="layout" path="M 2.5E-6 -2.22222E-6 L 0.25 -2.22222E-6 " pathEditMode="relative" rAng="0" ptsTypes="AA">
                                      <p:cBhvr>
                                        <p:cTn id="41" dur="2000" fill="hold"/>
                                        <p:tgtEl>
                                          <p:spTgt spid="21"/>
                                        </p:tgtEl>
                                        <p:attrNameLst>
                                          <p:attrName>ppt_x</p:attrName>
                                          <p:attrName>ppt_y</p:attrName>
                                        </p:attrNameLst>
                                      </p:cBhvr>
                                      <p:rCtr x="12500" y="0"/>
                                    </p:animMotion>
                                  </p:childTnLst>
                                </p:cTn>
                              </p:par>
                              <p:par>
                                <p:cTn id="42" presetID="63" presetClass="path" presetSubtype="0" accel="50000" decel="50000" fill="hold" grpId="0" nodeType="withEffect">
                                  <p:stCondLst>
                                    <p:cond delay="0"/>
                                  </p:stCondLst>
                                  <p:childTnLst>
                                    <p:animMotion origin="layout" path="M -3.75E-6 -1.11111E-6 L 0.25 -1.11111E-6 " pathEditMode="relative" rAng="0" ptsTypes="AA">
                                      <p:cBhvr>
                                        <p:cTn id="43" dur="2000" fill="hold"/>
                                        <p:tgtEl>
                                          <p:spTgt spid="20"/>
                                        </p:tgtEl>
                                        <p:attrNameLst>
                                          <p:attrName>ppt_x</p:attrName>
                                          <p:attrName>ppt_y</p:attrName>
                                        </p:attrNameLst>
                                      </p:cBhvr>
                                      <p:rCtr x="12500" y="0"/>
                                    </p:animMotion>
                                  </p:childTnLst>
                                </p:cTn>
                              </p:par>
                              <p:par>
                                <p:cTn id="44" presetID="63" presetClass="path" presetSubtype="0" accel="50000" decel="50000" fill="hold" grpId="0" nodeType="withEffect">
                                  <p:stCondLst>
                                    <p:cond delay="0"/>
                                  </p:stCondLst>
                                  <p:childTnLst>
                                    <p:animMotion origin="layout" path="M -1.45833E-6 -3.33333E-6 L 0.25 -3.33333E-6 " pathEditMode="relative" rAng="0" ptsTypes="AA">
                                      <p:cBhvr>
                                        <p:cTn id="45" dur="2000" fill="hold"/>
                                        <p:tgtEl>
                                          <p:spTgt spid="7"/>
                                        </p:tgtEl>
                                        <p:attrNameLst>
                                          <p:attrName>ppt_x</p:attrName>
                                          <p:attrName>ppt_y</p:attrName>
                                        </p:attrNameLst>
                                      </p:cBhvr>
                                      <p:rCtr x="12500" y="0"/>
                                    </p:animMotion>
                                  </p:childTnLst>
                                </p:cTn>
                              </p:par>
                            </p:childTnLst>
                          </p:cTn>
                        </p:par>
                      </p:childTnLst>
                    </p:cTn>
                  </p:par>
                  <p:par>
                    <p:cTn id="46" fill="hold">
                      <p:stCondLst>
                        <p:cond delay="indefinite"/>
                      </p:stCondLst>
                      <p:childTnLst>
                        <p:par>
                          <p:cTn id="47" fill="hold">
                            <p:stCondLst>
                              <p:cond delay="0"/>
                            </p:stCondLst>
                            <p:childTnLst>
                              <p:par>
                                <p:cTn id="48" presetID="35" presetClass="path" presetSubtype="0" accel="50000" decel="50000" fill="hold" grpId="0" nodeType="clickEffect">
                                  <p:stCondLst>
                                    <p:cond delay="0"/>
                                  </p:stCondLst>
                                  <p:childTnLst>
                                    <p:animMotion origin="layout" path="M -1.45833E-6 3.7037E-6 L -0.25 3.7037E-6 " pathEditMode="relative" rAng="0" ptsTypes="AA">
                                      <p:cBhvr>
                                        <p:cTn id="49" dur="2000" fill="hold"/>
                                        <p:tgtEl>
                                          <p:spTgt spid="9"/>
                                        </p:tgtEl>
                                        <p:attrNameLst>
                                          <p:attrName>ppt_x</p:attrName>
                                          <p:attrName>ppt_y</p:attrName>
                                        </p:attrNameLst>
                                      </p:cBhvr>
                                      <p:rCtr x="-12500" y="0"/>
                                    </p:animMotion>
                                  </p:childTnLst>
                                </p:cTn>
                              </p:par>
                              <p:par>
                                <p:cTn id="50" presetID="35" presetClass="path" presetSubtype="0" accel="50000" decel="50000" fill="hold" nodeType="withEffect">
                                  <p:stCondLst>
                                    <p:cond delay="0"/>
                                  </p:stCondLst>
                                  <p:childTnLst>
                                    <p:animMotion origin="layout" path="M 2.08333E-7 -3.33333E-6 L -0.25 -3.33333E-6 " pathEditMode="relative" rAng="0" ptsTypes="AA">
                                      <p:cBhvr>
                                        <p:cTn id="51" dur="2000" fill="hold"/>
                                        <p:tgtEl>
                                          <p:spTgt spid="19"/>
                                        </p:tgtEl>
                                        <p:attrNameLst>
                                          <p:attrName>ppt_x</p:attrName>
                                          <p:attrName>ppt_y</p:attrName>
                                        </p:attrNameLst>
                                      </p:cBhvr>
                                      <p:rCtr x="-12500" y="0"/>
                                    </p:animMotion>
                                  </p:childTnLst>
                                </p:cTn>
                              </p:par>
                              <p:par>
                                <p:cTn id="52" presetID="35" presetClass="path" presetSubtype="0" accel="50000" decel="50000" fill="hold" grpId="0" nodeType="withEffect">
                                  <p:stCondLst>
                                    <p:cond delay="0"/>
                                  </p:stCondLst>
                                  <p:childTnLst>
                                    <p:animMotion origin="layout" path="M 6.25E-7 -1.85185E-6 L -0.25 -1.85185E-6 " pathEditMode="relative" rAng="0" ptsTypes="AA">
                                      <p:cBhvr>
                                        <p:cTn id="53" dur="2000" fill="hold"/>
                                        <p:tgtEl>
                                          <p:spTgt spid="45"/>
                                        </p:tgtEl>
                                        <p:attrNameLst>
                                          <p:attrName>ppt_x</p:attrName>
                                          <p:attrName>ppt_y</p:attrName>
                                        </p:attrNameLst>
                                      </p:cBhvr>
                                      <p:rCtr x="-12500" y="0"/>
                                    </p:animMotion>
                                  </p:childTnLst>
                                </p:cTn>
                              </p:par>
                              <p:par>
                                <p:cTn id="54" presetID="35" presetClass="path" presetSubtype="0" accel="50000" decel="50000" fill="hold" grpId="0" nodeType="withEffect">
                                  <p:stCondLst>
                                    <p:cond delay="0"/>
                                  </p:stCondLst>
                                  <p:childTnLst>
                                    <p:animMotion origin="layout" path="M 3.95833E-6 3.7037E-7 L -0.25 3.7037E-7 " pathEditMode="relative" rAng="0" ptsTypes="AA">
                                      <p:cBhvr>
                                        <p:cTn id="55" dur="2000" fill="hold"/>
                                        <p:tgtEl>
                                          <p:spTgt spid="44"/>
                                        </p:tgtEl>
                                        <p:attrNameLst>
                                          <p:attrName>ppt_x</p:attrName>
                                          <p:attrName>ppt_y</p:attrName>
                                        </p:attrNameLst>
                                      </p:cBhvr>
                                      <p:rCtr x="-12500" y="0"/>
                                    </p:animMotion>
                                  </p:childTnLst>
                                </p:cTn>
                              </p:par>
                              <p:par>
                                <p:cTn id="56" presetID="35" presetClass="path" presetSubtype="0" accel="50000" decel="50000" fill="hold" nodeType="withEffect">
                                  <p:stCondLst>
                                    <p:cond delay="0"/>
                                  </p:stCondLst>
                                  <p:childTnLst>
                                    <p:animMotion origin="layout" path="M -3.54167E-6 -7.40741E-7 L -0.25 -7.40741E-7 " pathEditMode="relative" rAng="0" ptsTypes="AA">
                                      <p:cBhvr>
                                        <p:cTn id="57" dur="2000" fill="hold"/>
                                        <p:tgtEl>
                                          <p:spTgt spid="14"/>
                                        </p:tgtEl>
                                        <p:attrNameLst>
                                          <p:attrName>ppt_x</p:attrName>
                                          <p:attrName>ppt_y</p:attrName>
                                        </p:attrNameLst>
                                      </p:cBhvr>
                                      <p:rCtr x="-12500" y="0"/>
                                    </p:animMotion>
                                  </p:childTnLst>
                                </p:cTn>
                              </p:par>
                              <p:par>
                                <p:cTn id="58" presetID="35" presetClass="path" presetSubtype="0" accel="50000" decel="50000" fill="hold" grpId="0" nodeType="withEffect">
                                  <p:stCondLst>
                                    <p:cond delay="0"/>
                                  </p:stCondLst>
                                  <p:childTnLst>
                                    <p:animMotion origin="layout" path="M 8.33333E-7 -1.11111E-6 L -0.25 -1.11111E-6 " pathEditMode="relative" rAng="0" ptsTypes="AA">
                                      <p:cBhvr>
                                        <p:cTn id="59" dur="2000" fill="hold"/>
                                        <p:tgtEl>
                                          <p:spTgt spid="11"/>
                                        </p:tgtEl>
                                        <p:attrNameLst>
                                          <p:attrName>ppt_x</p:attrName>
                                          <p:attrName>ppt_y</p:attrName>
                                        </p:attrNameLst>
                                      </p:cBhvr>
                                      <p:rCtr x="-12500" y="0"/>
                                    </p:animMotion>
                                  </p:childTnLst>
                                </p:cTn>
                              </p:par>
                              <p:par>
                                <p:cTn id="60" presetID="35" presetClass="path" presetSubtype="0" accel="50000" decel="50000" fill="hold" grpId="0" nodeType="withEffect">
                                  <p:stCondLst>
                                    <p:cond delay="0"/>
                                  </p:stCondLst>
                                  <p:childTnLst>
                                    <p:animMotion origin="layout" path="M 2.91667E-6 -1.11111E-6 L -0.25 -1.11111E-6 " pathEditMode="relative" rAng="0" ptsTypes="AA">
                                      <p:cBhvr>
                                        <p:cTn id="61" dur="2000" fill="hold"/>
                                        <p:tgtEl>
                                          <p:spTgt spid="43"/>
                                        </p:tgtEl>
                                        <p:attrNameLst>
                                          <p:attrName>ppt_x</p:attrName>
                                          <p:attrName>ppt_y</p:attrName>
                                        </p:attrNameLst>
                                      </p:cBhvr>
                                      <p:rCtr x="-12500" y="0"/>
                                    </p:animMotion>
                                  </p:childTnLst>
                                </p:cTn>
                              </p:par>
                              <p:par>
                                <p:cTn id="62" presetID="35" presetClass="path" presetSubtype="0" accel="50000" decel="50000" fill="hold" nodeType="withEffect">
                                  <p:stCondLst>
                                    <p:cond delay="0"/>
                                  </p:stCondLst>
                                  <p:childTnLst>
                                    <p:animMotion origin="layout" path="M 4.79167E-6 -3.7037E-6 L -0.25 -3.7037E-6 " pathEditMode="relative" rAng="0" ptsTypes="AA">
                                      <p:cBhvr>
                                        <p:cTn id="63" dur="2000" fill="hold"/>
                                        <p:tgtEl>
                                          <p:spTgt spid="13"/>
                                        </p:tgtEl>
                                        <p:attrNameLst>
                                          <p:attrName>ppt_x</p:attrName>
                                          <p:attrName>ppt_y</p:attrName>
                                        </p:attrNameLst>
                                      </p:cBhvr>
                                      <p:rCtr x="-12500" y="0"/>
                                    </p:animMotion>
                                  </p:childTnLst>
                                </p:cTn>
                              </p:par>
                              <p:par>
                                <p:cTn id="64" presetID="35" presetClass="path" presetSubtype="0" accel="50000" decel="50000" fill="hold" grpId="0" nodeType="withEffect">
                                  <p:stCondLst>
                                    <p:cond delay="0"/>
                                  </p:stCondLst>
                                  <p:childTnLst>
                                    <p:animMotion origin="layout" path="M -3.54167E-6 2.22222E-6 L -0.25 2.22222E-6 " pathEditMode="relative" rAng="0" ptsTypes="AA">
                                      <p:cBhvr>
                                        <p:cTn id="65" dur="2000" fill="hold"/>
                                        <p:tgtEl>
                                          <p:spTgt spid="46"/>
                                        </p:tgtEl>
                                        <p:attrNameLst>
                                          <p:attrName>ppt_x</p:attrName>
                                          <p:attrName>ppt_y</p:attrName>
                                        </p:attrNameLst>
                                      </p:cBhvr>
                                      <p:rCtr x="-12500" y="0"/>
                                    </p:animMotion>
                                  </p:childTnLst>
                                </p:cTn>
                              </p:par>
                              <p:par>
                                <p:cTn id="66" presetID="35" presetClass="path" presetSubtype="0" accel="50000" decel="50000" fill="hold" grpId="0" nodeType="withEffect">
                                  <p:stCondLst>
                                    <p:cond delay="0"/>
                                  </p:stCondLst>
                                  <p:childTnLst>
                                    <p:animMotion origin="layout" path="M 2.08333E-6 2.59259E-6 L -0.25 2.59259E-6 " pathEditMode="relative" rAng="0" ptsTypes="AA">
                                      <p:cBhvr>
                                        <p:cTn id="67" dur="2000" fill="hold"/>
                                        <p:tgtEl>
                                          <p:spTgt spid="6"/>
                                        </p:tgtEl>
                                        <p:attrNameLst>
                                          <p:attrName>ppt_x</p:attrName>
                                          <p:attrName>ppt_y</p:attrName>
                                        </p:attrNameLst>
                                      </p:cBhvr>
                                      <p:rCtr x="-12500" y="0"/>
                                    </p:animMotion>
                                  </p:childTnLst>
                                </p:cTn>
                              </p:par>
                              <p:par>
                                <p:cTn id="68" presetID="35" presetClass="path" presetSubtype="0" accel="50000" decel="50000" fill="hold" nodeType="withEffect">
                                  <p:stCondLst>
                                    <p:cond delay="0"/>
                                  </p:stCondLst>
                                  <p:childTnLst>
                                    <p:animMotion origin="layout" path="M 2.08333E-6 1.11111E-6 L -0.25 1.11111E-6 " pathEditMode="relative" rAng="0" ptsTypes="AA">
                                      <p:cBhvr>
                                        <p:cTn id="69" dur="2000" fill="hold"/>
                                        <p:tgtEl>
                                          <p:spTgt spid="16"/>
                                        </p:tgtEl>
                                        <p:attrNameLst>
                                          <p:attrName>ppt_x</p:attrName>
                                          <p:attrName>ppt_y</p:attrName>
                                        </p:attrNameLst>
                                      </p:cBhvr>
                                      <p:rCtr x="-12500" y="0"/>
                                    </p:animMotion>
                                  </p:childTnLst>
                                </p:cTn>
                              </p:par>
                              <p:par>
                                <p:cTn id="70" presetID="35" presetClass="path" presetSubtype="0" accel="50000" decel="50000" fill="hold" nodeType="withEffect">
                                  <p:stCondLst>
                                    <p:cond delay="0"/>
                                  </p:stCondLst>
                                  <p:childTnLst>
                                    <p:animMotion origin="layout" path="M -3.54167E-6 7.40741E-7 L -0.25 7.40741E-7 " pathEditMode="relative" rAng="0" ptsTypes="AA">
                                      <p:cBhvr>
                                        <p:cTn id="71" dur="2000" fill="hold"/>
                                        <p:tgtEl>
                                          <p:spTgt spid="12"/>
                                        </p:tgtEl>
                                        <p:attrNameLst>
                                          <p:attrName>ppt_x</p:attrName>
                                          <p:attrName>ppt_y</p:attrName>
                                        </p:attrNameLst>
                                      </p:cBhvr>
                                      <p:rCtr x="-12500" y="0"/>
                                    </p:animMotion>
                                  </p:childTnLst>
                                </p:cTn>
                              </p:par>
                              <p:par>
                                <p:cTn id="72" presetID="35" presetClass="path" presetSubtype="0" accel="50000" decel="50000" fill="hold" grpId="0" nodeType="withEffect">
                                  <p:stCondLst>
                                    <p:cond delay="0"/>
                                  </p:stCondLst>
                                  <p:childTnLst>
                                    <p:animMotion origin="layout" path="M 4.16667E-6 7.40741E-7 L -0.25 7.40741E-7 " pathEditMode="relative" rAng="0" ptsTypes="AA">
                                      <p:cBhvr>
                                        <p:cTn id="73" dur="2000" fill="hold"/>
                                        <p:tgtEl>
                                          <p:spTgt spid="41"/>
                                        </p:tgtEl>
                                        <p:attrNameLst>
                                          <p:attrName>ppt_x</p:attrName>
                                          <p:attrName>ppt_y</p:attrName>
                                        </p:attrNameLst>
                                      </p:cBhvr>
                                      <p:rCtr x="-12500" y="0"/>
                                    </p:animMotion>
                                  </p:childTnLst>
                                </p:cTn>
                              </p:par>
                              <p:par>
                                <p:cTn id="74" presetID="35" presetClass="path" presetSubtype="0" accel="50000" decel="50000" fill="hold" grpId="0" nodeType="withEffect">
                                  <p:stCondLst>
                                    <p:cond delay="0"/>
                                  </p:stCondLst>
                                  <p:childTnLst>
                                    <p:animMotion origin="layout" path="M 2.08333E-6 1.11111E-6 L -0.25 1.11111E-6 " pathEditMode="relative" rAng="0" ptsTypes="AA">
                                      <p:cBhvr>
                                        <p:cTn id="75" dur="2000" fill="hold"/>
                                        <p:tgtEl>
                                          <p:spTgt spid="8"/>
                                        </p:tgtEl>
                                        <p:attrNameLst>
                                          <p:attrName>ppt_x</p:attrName>
                                          <p:attrName>ppt_y</p:attrName>
                                        </p:attrNameLst>
                                      </p:cBhvr>
                                      <p:rCtr x="-12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20" grpId="0" animBg="1"/>
      <p:bldP spid="28" grpId="0" animBg="1"/>
      <p:bldP spid="28" grpId="1" animBg="1"/>
      <p:bldP spid="41" grpId="0"/>
      <p:bldP spid="43" grpId="0"/>
      <p:bldP spid="44" grpId="0"/>
      <p:bldP spid="45" grpId="0"/>
      <p:bldP spid="46" grpId="0"/>
      <p:bldP spid="48" grpId="0"/>
      <p:bldP spid="50" grpId="0" animBg="1"/>
      <p:bldP spid="51" grpId="0" animBg="1"/>
      <p:bldP spid="31" grpId="0"/>
      <p:bldP spid="3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Properties</a:t>
            </a:r>
          </a:p>
        </p:txBody>
      </p:sp>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0" y="863444"/>
            <a:ext cx="11929641" cy="4854775"/>
          </a:xfrm>
        </p:spPr>
        <p:txBody>
          <a:bodyPr/>
          <a:lstStyle/>
          <a:p>
            <a:pPr lvl="0">
              <a:lnSpc>
                <a:spcPct val="150000"/>
              </a:lnSpc>
            </a:pPr>
            <a:r>
              <a:rPr lang="en-US" dirty="0"/>
              <a:t>No proper subset of a cut-set is a cut-set.</a:t>
            </a:r>
          </a:p>
          <a:p>
            <a:pPr lvl="0">
              <a:lnSpc>
                <a:spcPct val="150000"/>
              </a:lnSpc>
            </a:pPr>
            <a:r>
              <a:rPr lang="en-US" dirty="0"/>
              <a:t>Every edge of a tree is a cut-edge (cut-set of size 1)</a:t>
            </a:r>
          </a:p>
          <a:p>
            <a:pPr lvl="0">
              <a:lnSpc>
                <a:spcPct val="150000"/>
              </a:lnSpc>
            </a:pPr>
            <a:r>
              <a:rPr lang="en-US" dirty="0"/>
              <a:t>A cut-set always divides a graph into two components. </a:t>
            </a:r>
          </a:p>
          <a:p>
            <a:pPr lvl="0">
              <a:lnSpc>
                <a:spcPct val="150000"/>
              </a:lnSpc>
            </a:pPr>
            <a:r>
              <a:rPr lang="en-US" dirty="0"/>
              <a:t>Every cut-set contains at least one branch of every spanning tree</a:t>
            </a:r>
            <a:r>
              <a:rPr lang="en-US" dirty="0">
                <a:solidFill>
                  <a:srgbClr val="D10233"/>
                </a:solidFill>
              </a:rPr>
              <a:t>.</a:t>
            </a:r>
            <a:endParaRPr lang="en-US" dirty="0"/>
          </a:p>
        </p:txBody>
      </p:sp>
    </p:spTree>
    <p:extLst>
      <p:ext uri="{BB962C8B-B14F-4D97-AF65-F5344CB8AC3E}">
        <p14:creationId xmlns:p14="http://schemas.microsoft.com/office/powerpoint/2010/main" val="357936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normAutofit/>
          </a:bodyPr>
          <a:lstStyle/>
          <a:p>
            <a:r>
              <a:rPr lang="en-US" dirty="0"/>
              <a:t>Why </a:t>
            </a:r>
          </a:p>
        </p:txBody>
      </p:sp>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0" y="863444"/>
            <a:ext cx="11929641" cy="1497619"/>
          </a:xfrm>
        </p:spPr>
        <p:txBody>
          <a:bodyPr/>
          <a:lstStyle/>
          <a:p>
            <a:pPr lvl="0">
              <a:lnSpc>
                <a:spcPct val="150000"/>
              </a:lnSpc>
            </a:pPr>
            <a:r>
              <a:rPr lang="en-US" dirty="0"/>
              <a:t>No proper subset of a cut-set is a cut-set.</a:t>
            </a:r>
          </a:p>
          <a:p>
            <a:pPr lvl="1">
              <a:lnSpc>
                <a:spcPct val="150000"/>
              </a:lnSpc>
            </a:pPr>
            <a:r>
              <a:rPr lang="en-US" dirty="0"/>
              <a:t>A cut-set is </a:t>
            </a:r>
            <a:r>
              <a:rPr lang="en-US" b="1" dirty="0"/>
              <a:t>minimal</a:t>
            </a:r>
            <a:r>
              <a:rPr lang="en-US" dirty="0"/>
              <a:t> — remove fewer edges → graph stays connected</a:t>
            </a:r>
          </a:p>
        </p:txBody>
      </p:sp>
      <p:cxnSp>
        <p:nvCxnSpPr>
          <p:cNvPr id="4" name="Straight Connector 3">
            <a:extLst>
              <a:ext uri="{FF2B5EF4-FFF2-40B4-BE49-F238E27FC236}">
                <a16:creationId xmlns:a16="http://schemas.microsoft.com/office/drawing/2014/main" id="{6205DD86-315C-53B6-CEEF-A9919650168E}"/>
              </a:ext>
            </a:extLst>
          </p:cNvPr>
          <p:cNvCxnSpPr>
            <a:cxnSpLocks/>
            <a:stCxn id="18" idx="4"/>
            <a:endCxn id="6" idx="0"/>
          </p:cNvCxnSpPr>
          <p:nvPr/>
        </p:nvCxnSpPr>
        <p:spPr>
          <a:xfrm flipH="1">
            <a:off x="6751274" y="3055136"/>
            <a:ext cx="1125984"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 name="Oval 4">
            <a:extLst>
              <a:ext uri="{FF2B5EF4-FFF2-40B4-BE49-F238E27FC236}">
                <a16:creationId xmlns:a16="http://schemas.microsoft.com/office/drawing/2014/main" id="{BDD11F87-DA81-9510-C1CB-0AF4093562CB}"/>
              </a:ext>
            </a:extLst>
          </p:cNvPr>
          <p:cNvSpPr/>
          <p:nvPr/>
        </p:nvSpPr>
        <p:spPr>
          <a:xfrm rot="5400000">
            <a:off x="4447042" y="29831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6607274" y="29901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4447042" y="51282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6607274" y="513529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BDD11F87-DA81-9510-C1CB-0AF4093562CB}"/>
              </a:ext>
            </a:extLst>
          </p:cNvPr>
          <p:cNvSpPr/>
          <p:nvPr/>
        </p:nvSpPr>
        <p:spPr>
          <a:xfrm rot="5400000">
            <a:off x="5599162" y="40378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 name="Straight Connector 9">
            <a:extLst>
              <a:ext uri="{FF2B5EF4-FFF2-40B4-BE49-F238E27FC236}">
                <a16:creationId xmlns:a16="http://schemas.microsoft.com/office/drawing/2014/main" id="{6205DD86-315C-53B6-CEEF-A9919650168E}"/>
              </a:ext>
            </a:extLst>
          </p:cNvPr>
          <p:cNvCxnSpPr>
            <a:cxnSpLocks/>
            <a:stCxn id="9" idx="3"/>
            <a:endCxn id="5" idx="7"/>
          </p:cNvCxnSpPr>
          <p:nvPr/>
        </p:nvCxnSpPr>
        <p:spPr>
          <a:xfrm flipH="1" flipV="1">
            <a:off x="4569954" y="3106048"/>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6205DD86-315C-53B6-CEEF-A9919650168E}"/>
              </a:ext>
            </a:extLst>
          </p:cNvPr>
          <p:cNvCxnSpPr>
            <a:cxnSpLocks/>
            <a:stCxn id="8" idx="3"/>
            <a:endCxn id="9" idx="7"/>
          </p:cNvCxnSpPr>
          <p:nvPr/>
        </p:nvCxnSpPr>
        <p:spPr>
          <a:xfrm flipH="1" flipV="1">
            <a:off x="5722074" y="4160712"/>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6205DD86-315C-53B6-CEEF-A9919650168E}"/>
              </a:ext>
            </a:extLst>
          </p:cNvPr>
          <p:cNvCxnSpPr>
            <a:cxnSpLocks/>
            <a:stCxn id="9" idx="5"/>
            <a:endCxn id="7" idx="1"/>
          </p:cNvCxnSpPr>
          <p:nvPr/>
        </p:nvCxnSpPr>
        <p:spPr>
          <a:xfrm flipH="1">
            <a:off x="4569954" y="4160712"/>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205DD86-315C-53B6-CEEF-A9919650168E}"/>
              </a:ext>
            </a:extLst>
          </p:cNvPr>
          <p:cNvCxnSpPr>
            <a:cxnSpLocks/>
            <a:stCxn id="6" idx="5"/>
            <a:endCxn id="9" idx="1"/>
          </p:cNvCxnSpPr>
          <p:nvPr/>
        </p:nvCxnSpPr>
        <p:spPr>
          <a:xfrm flipH="1">
            <a:off x="5722074" y="3113105"/>
            <a:ext cx="906288" cy="9457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205DD86-315C-53B6-CEEF-A9919650168E}"/>
              </a:ext>
            </a:extLst>
          </p:cNvPr>
          <p:cNvCxnSpPr>
            <a:cxnSpLocks/>
            <a:stCxn id="7" idx="2"/>
            <a:endCxn id="5" idx="6"/>
          </p:cNvCxnSpPr>
          <p:nvPr/>
        </p:nvCxnSpPr>
        <p:spPr>
          <a:xfrm flipV="1">
            <a:off x="4519042" y="3127136"/>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6205DD86-315C-53B6-CEEF-A9919650168E}"/>
              </a:ext>
            </a:extLst>
          </p:cNvPr>
          <p:cNvCxnSpPr>
            <a:cxnSpLocks/>
            <a:stCxn id="8" idx="2"/>
            <a:endCxn id="6" idx="6"/>
          </p:cNvCxnSpPr>
          <p:nvPr/>
        </p:nvCxnSpPr>
        <p:spPr>
          <a:xfrm flipV="1">
            <a:off x="6679274" y="3134193"/>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5" idx="0"/>
            <a:endCxn id="6" idx="4"/>
          </p:cNvCxnSpPr>
          <p:nvPr/>
        </p:nvCxnSpPr>
        <p:spPr>
          <a:xfrm>
            <a:off x="4591042" y="3055136"/>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7" idx="0"/>
            <a:endCxn id="8" idx="4"/>
          </p:cNvCxnSpPr>
          <p:nvPr/>
        </p:nvCxnSpPr>
        <p:spPr>
          <a:xfrm>
            <a:off x="4591042" y="5200237"/>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 name="Oval 17">
            <a:extLst>
              <a:ext uri="{FF2B5EF4-FFF2-40B4-BE49-F238E27FC236}">
                <a16:creationId xmlns:a16="http://schemas.microsoft.com/office/drawing/2014/main" id="{BDD11F87-DA81-9510-C1CB-0AF4093562CB}"/>
              </a:ext>
            </a:extLst>
          </p:cNvPr>
          <p:cNvSpPr/>
          <p:nvPr/>
        </p:nvSpPr>
        <p:spPr>
          <a:xfrm rot="5400000">
            <a:off x="7877258" y="29831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Arc 18"/>
          <p:cNvSpPr/>
          <p:nvPr/>
        </p:nvSpPr>
        <p:spPr>
          <a:xfrm>
            <a:off x="5478405" y="2723057"/>
            <a:ext cx="689113" cy="3368795"/>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5416133" y="2593471"/>
            <a:ext cx="332142" cy="461665"/>
          </a:xfrm>
          <a:prstGeom prst="rect">
            <a:avLst/>
          </a:prstGeom>
          <a:noFill/>
        </p:spPr>
        <p:txBody>
          <a:bodyPr wrap="square" rtlCol="0">
            <a:spAutoFit/>
          </a:bodyPr>
          <a:lstStyle/>
          <a:p>
            <a:r>
              <a:rPr lang="en-US" sz="2400" dirty="0">
                <a:solidFill>
                  <a:srgbClr val="D10233"/>
                </a:solidFill>
              </a:rPr>
              <a:t>a</a:t>
            </a:r>
          </a:p>
        </p:txBody>
      </p:sp>
      <p:sp>
        <p:nvSpPr>
          <p:cNvPr id="21" name="TextBox 20"/>
          <p:cNvSpPr txBox="1"/>
          <p:nvPr/>
        </p:nvSpPr>
        <p:spPr>
          <a:xfrm>
            <a:off x="5020585" y="3180664"/>
            <a:ext cx="336952"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b</a:t>
            </a:r>
          </a:p>
        </p:txBody>
      </p:sp>
      <p:sp>
        <p:nvSpPr>
          <p:cNvPr id="22" name="TextBox 21"/>
          <p:cNvSpPr txBox="1"/>
          <p:nvPr/>
        </p:nvSpPr>
        <p:spPr>
          <a:xfrm>
            <a:off x="5708043" y="3376505"/>
            <a:ext cx="327334"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c</a:t>
            </a:r>
          </a:p>
        </p:txBody>
      </p:sp>
      <p:sp>
        <p:nvSpPr>
          <p:cNvPr id="23" name="TextBox 22"/>
          <p:cNvSpPr txBox="1"/>
          <p:nvPr/>
        </p:nvSpPr>
        <p:spPr>
          <a:xfrm>
            <a:off x="5715570" y="4435115"/>
            <a:ext cx="336952"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d</a:t>
            </a:r>
          </a:p>
        </p:txBody>
      </p:sp>
      <p:sp>
        <p:nvSpPr>
          <p:cNvPr id="24" name="TextBox 23"/>
          <p:cNvSpPr txBox="1"/>
          <p:nvPr/>
        </p:nvSpPr>
        <p:spPr>
          <a:xfrm>
            <a:off x="4950591" y="4176623"/>
            <a:ext cx="328936"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e</a:t>
            </a:r>
          </a:p>
        </p:txBody>
      </p:sp>
      <p:sp>
        <p:nvSpPr>
          <p:cNvPr id="25" name="TextBox 24"/>
          <p:cNvSpPr txBox="1"/>
          <p:nvPr/>
        </p:nvSpPr>
        <p:spPr>
          <a:xfrm>
            <a:off x="5303013" y="5272237"/>
            <a:ext cx="282450"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f</a:t>
            </a:r>
          </a:p>
        </p:txBody>
      </p:sp>
      <p:sp>
        <p:nvSpPr>
          <p:cNvPr id="26" name="TextBox 25"/>
          <p:cNvSpPr txBox="1"/>
          <p:nvPr/>
        </p:nvSpPr>
        <p:spPr>
          <a:xfrm>
            <a:off x="4164592" y="3907537"/>
            <a:ext cx="336952"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g</a:t>
            </a:r>
          </a:p>
        </p:txBody>
      </p:sp>
      <p:sp>
        <p:nvSpPr>
          <p:cNvPr id="27" name="TextBox 26"/>
          <p:cNvSpPr txBox="1"/>
          <p:nvPr/>
        </p:nvSpPr>
        <p:spPr>
          <a:xfrm>
            <a:off x="6679274" y="3915089"/>
            <a:ext cx="333746"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h</a:t>
            </a:r>
          </a:p>
        </p:txBody>
      </p:sp>
      <p:sp>
        <p:nvSpPr>
          <p:cNvPr id="28" name="TextBox 27"/>
          <p:cNvSpPr txBox="1"/>
          <p:nvPr/>
        </p:nvSpPr>
        <p:spPr>
          <a:xfrm>
            <a:off x="7108237" y="2636821"/>
            <a:ext cx="324128" cy="461665"/>
          </a:xfrm>
          <a:prstGeom prst="rect">
            <a:avLst/>
          </a:prstGeom>
          <a:noFill/>
        </p:spPr>
        <p:txBody>
          <a:bodyPr wrap="square" rtlCol="0">
            <a:spAutoFit/>
          </a:bodyPr>
          <a:lstStyle>
            <a:defPPr>
              <a:defRPr lang="en-US"/>
            </a:defPPr>
            <a:lvl1pPr>
              <a:defRPr sz="2400">
                <a:solidFill>
                  <a:srgbClr val="D10233"/>
                </a:solidFill>
              </a:defRPr>
            </a:lvl1pPr>
          </a:lstStyle>
          <a:p>
            <a:r>
              <a:rPr lang="en-US" dirty="0"/>
              <a:t>k</a:t>
            </a:r>
          </a:p>
        </p:txBody>
      </p:sp>
      <mc:AlternateContent xmlns:mc="http://schemas.openxmlformats.org/markup-compatibility/2006" xmlns:a14="http://schemas.microsoft.com/office/drawing/2010/main">
        <mc:Choice Requires="a14">
          <p:sp>
            <p:nvSpPr>
              <p:cNvPr id="29" name="Rectangle 28"/>
              <p:cNvSpPr/>
              <p:nvPr/>
            </p:nvSpPr>
            <p:spPr>
              <a:xfrm>
                <a:off x="918472" y="5716542"/>
                <a:ext cx="9361372" cy="523220"/>
              </a:xfrm>
              <a:prstGeom prst="rect">
                <a:avLst/>
              </a:prstGeom>
            </p:spPr>
            <p:txBody>
              <a:bodyPr wrap="square">
                <a:spAutoFit/>
              </a:bodyPr>
              <a:lstStyle/>
              <a:p>
                <a:pPr lvl="0" algn="ctr"/>
                <a:r>
                  <a:rPr lang="en-US" sz="2800" b="1" dirty="0">
                    <a:solidFill>
                      <a:srgbClr val="002060"/>
                    </a:solidFill>
                  </a:rPr>
                  <a:t>The set of edges</a:t>
                </a:r>
                <a14:m>
                  <m:oMath xmlns:m="http://schemas.openxmlformats.org/officeDocument/2006/math">
                    <m:r>
                      <a:rPr lang="en-US" sz="2800" b="1" dirty="0">
                        <a:solidFill>
                          <a:srgbClr val="002060"/>
                        </a:solidFill>
                        <a:latin typeface="Cambria Math" panose="02040503050406030204" pitchFamily="18" charset="0"/>
                      </a:rPr>
                      <m:t> {</m:t>
                    </m:r>
                    <m:r>
                      <a:rPr lang="en-US" sz="2800" b="1" i="1" dirty="0">
                        <a:solidFill>
                          <a:srgbClr val="002060"/>
                        </a:solidFill>
                        <a:latin typeface="Cambria Math" panose="02040503050406030204" pitchFamily="18" charset="0"/>
                      </a:rPr>
                      <m:t>𝐚</m:t>
                    </m:r>
                    <m:r>
                      <a:rPr lang="en-US" sz="2800" b="1" dirty="0">
                        <a:solidFill>
                          <a:srgbClr val="002060"/>
                        </a:solidFill>
                        <a:latin typeface="Cambria Math" panose="02040503050406030204" pitchFamily="18" charset="0"/>
                      </a:rPr>
                      <m:t>, </m:t>
                    </m:r>
                    <m:r>
                      <a:rPr lang="en-US" sz="2800" b="1" i="1" dirty="0">
                        <a:solidFill>
                          <a:srgbClr val="002060"/>
                        </a:solidFill>
                        <a:latin typeface="Cambria Math" panose="02040503050406030204" pitchFamily="18" charset="0"/>
                      </a:rPr>
                      <m:t>𝐜</m:t>
                    </m:r>
                    <m:r>
                      <a:rPr lang="en-US" sz="2800" b="1" dirty="0">
                        <a:solidFill>
                          <a:srgbClr val="002060"/>
                        </a:solidFill>
                        <a:latin typeface="Cambria Math" panose="02040503050406030204" pitchFamily="18" charset="0"/>
                      </a:rPr>
                      <m:t>, </m:t>
                    </m:r>
                    <m:r>
                      <a:rPr lang="en-US" sz="2800" b="1" i="1" dirty="0">
                        <a:solidFill>
                          <a:srgbClr val="002060"/>
                        </a:solidFill>
                        <a:latin typeface="Cambria Math" panose="02040503050406030204" pitchFamily="18" charset="0"/>
                      </a:rPr>
                      <m:t>𝐝</m:t>
                    </m:r>
                    <m:r>
                      <a:rPr lang="en-US" sz="2800" b="1" dirty="0">
                        <a:solidFill>
                          <a:srgbClr val="002060"/>
                        </a:solidFill>
                        <a:latin typeface="Cambria Math" panose="02040503050406030204" pitchFamily="18" charset="0"/>
                      </a:rPr>
                      <m:t>, </m:t>
                    </m:r>
                    <m:r>
                      <a:rPr lang="en-US" sz="2800" b="1" i="1" dirty="0">
                        <a:solidFill>
                          <a:srgbClr val="002060"/>
                        </a:solidFill>
                        <a:latin typeface="Cambria Math" panose="02040503050406030204" pitchFamily="18" charset="0"/>
                      </a:rPr>
                      <m:t>𝐟</m:t>
                    </m:r>
                    <m:r>
                      <a:rPr lang="en-US" sz="2800" b="1" dirty="0">
                        <a:solidFill>
                          <a:srgbClr val="002060"/>
                        </a:solidFill>
                        <a:latin typeface="Cambria Math" panose="02040503050406030204" pitchFamily="18" charset="0"/>
                      </a:rPr>
                      <m:t>} </m:t>
                    </m:r>
                  </m:oMath>
                </a14:m>
                <a:r>
                  <a:rPr lang="en-US" sz="2800" b="1" dirty="0">
                    <a:solidFill>
                      <a:srgbClr val="002060"/>
                    </a:solidFill>
                  </a:rPr>
                  <a:t>is a cut-set.</a:t>
                </a:r>
              </a:p>
            </p:txBody>
          </p:sp>
        </mc:Choice>
        <mc:Fallback xmlns="">
          <p:sp>
            <p:nvSpPr>
              <p:cNvPr id="29" name="Rectangle 28"/>
              <p:cNvSpPr>
                <a:spLocks noRot="1" noChangeAspect="1" noMove="1" noResize="1" noEditPoints="1" noAdjustHandles="1" noChangeArrowheads="1" noChangeShapeType="1" noTextEdit="1"/>
              </p:cNvSpPr>
              <p:nvPr/>
            </p:nvSpPr>
            <p:spPr>
              <a:xfrm>
                <a:off x="918472" y="5716542"/>
                <a:ext cx="9361372" cy="523220"/>
              </a:xfrm>
              <a:prstGeom prst="rect">
                <a:avLst/>
              </a:prstGeom>
              <a:blipFill rotWithShape="0">
                <a:blip r:embed="rId2"/>
                <a:stretch>
                  <a:fillRect t="-12791" b="-31395"/>
                </a:stretch>
              </a:blipFill>
            </p:spPr>
            <p:txBody>
              <a:bodyPr/>
              <a:lstStyle/>
              <a:p>
                <a:r>
                  <a:rPr lang="en-US">
                    <a:noFill/>
                  </a:rPr>
                  <a:t> </a:t>
                </a:r>
              </a:p>
            </p:txBody>
          </p:sp>
        </mc:Fallback>
      </mc:AlternateContent>
      <p:sp>
        <p:nvSpPr>
          <p:cNvPr id="30" name="Arc 29"/>
          <p:cNvSpPr/>
          <p:nvPr/>
        </p:nvSpPr>
        <p:spPr>
          <a:xfrm rot="8888021" flipH="1">
            <a:off x="5515377" y="2158671"/>
            <a:ext cx="615168" cy="4035904"/>
          </a:xfrm>
          <a:prstGeom prst="arc">
            <a:avLst>
              <a:gd name="adj1" fmla="val 17305548"/>
              <a:gd name="adj2" fmla="val 5148348"/>
            </a:avLst>
          </a:prstGeom>
          <a:noFill/>
          <a:ln w="76200">
            <a:solidFill>
              <a:srgbClr val="00B050"/>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158797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19"/>
                                        </p:tgtEl>
                                        <p:attrNameLst>
                                          <p:attrName>style.visibility</p:attrName>
                                        </p:attrNameLst>
                                      </p:cBhvr>
                                      <p:to>
                                        <p:strVal val="visible"/>
                                      </p:to>
                                    </p:set>
                                    <p:animEffect transition="in" filter="wipe(up)">
                                      <p:cBhvr>
                                        <p:cTn id="65" dur="500"/>
                                        <p:tgtEl>
                                          <p:spTgt spid="19"/>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wipe(up)">
                                      <p:cBhvr>
                                        <p:cTn id="74" dur="500"/>
                                        <p:tgtEl>
                                          <p:spTgt spid="30"/>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xit" presetSubtype="4" fill="hold" nodeType="clickEffect">
                                  <p:stCondLst>
                                    <p:cond delay="0"/>
                                  </p:stCondLst>
                                  <p:childTnLst>
                                    <p:animEffect transition="out" filter="wipe(down)">
                                      <p:cBhvr>
                                        <p:cTn id="78" dur="500"/>
                                        <p:tgtEl>
                                          <p:spTgt spid="16"/>
                                        </p:tgtEl>
                                      </p:cBhvr>
                                    </p:animEffect>
                                    <p:set>
                                      <p:cBhvr>
                                        <p:cTn id="79" dur="1" fill="hold">
                                          <p:stCondLst>
                                            <p:cond delay="499"/>
                                          </p:stCondLst>
                                        </p:cTn>
                                        <p:tgtEl>
                                          <p:spTgt spid="16"/>
                                        </p:tgtEl>
                                        <p:attrNameLst>
                                          <p:attrName>style.visibility</p:attrName>
                                        </p:attrNameLst>
                                      </p:cBhvr>
                                      <p:to>
                                        <p:strVal val="hidden"/>
                                      </p:to>
                                    </p:set>
                                  </p:childTnLst>
                                </p:cTn>
                              </p:par>
                              <p:par>
                                <p:cTn id="80" presetID="22" presetClass="exit" presetSubtype="4" fill="hold" nodeType="withEffect">
                                  <p:stCondLst>
                                    <p:cond delay="0"/>
                                  </p:stCondLst>
                                  <p:childTnLst>
                                    <p:animEffect transition="out" filter="wipe(down)">
                                      <p:cBhvr>
                                        <p:cTn id="81" dur="500"/>
                                        <p:tgtEl>
                                          <p:spTgt spid="13"/>
                                        </p:tgtEl>
                                      </p:cBhvr>
                                    </p:animEffect>
                                    <p:set>
                                      <p:cBhvr>
                                        <p:cTn id="82" dur="1" fill="hold">
                                          <p:stCondLst>
                                            <p:cond delay="499"/>
                                          </p:stCondLst>
                                        </p:cTn>
                                        <p:tgtEl>
                                          <p:spTgt spid="13"/>
                                        </p:tgtEl>
                                        <p:attrNameLst>
                                          <p:attrName>style.visibility</p:attrName>
                                        </p:attrNameLst>
                                      </p:cBhvr>
                                      <p:to>
                                        <p:strVal val="hidden"/>
                                      </p:to>
                                    </p:set>
                                  </p:childTnLst>
                                </p:cTn>
                              </p:par>
                              <p:par>
                                <p:cTn id="83" presetID="22" presetClass="exit" presetSubtype="4" fill="hold" grpId="1" nodeType="withEffect">
                                  <p:stCondLst>
                                    <p:cond delay="0"/>
                                  </p:stCondLst>
                                  <p:childTnLst>
                                    <p:animEffect transition="out" filter="wipe(down)">
                                      <p:cBhvr>
                                        <p:cTn id="84" dur="500"/>
                                        <p:tgtEl>
                                          <p:spTgt spid="20"/>
                                        </p:tgtEl>
                                      </p:cBhvr>
                                    </p:animEffect>
                                    <p:set>
                                      <p:cBhvr>
                                        <p:cTn id="85" dur="1" fill="hold">
                                          <p:stCondLst>
                                            <p:cond delay="499"/>
                                          </p:stCondLst>
                                        </p:cTn>
                                        <p:tgtEl>
                                          <p:spTgt spid="20"/>
                                        </p:tgtEl>
                                        <p:attrNameLst>
                                          <p:attrName>style.visibility</p:attrName>
                                        </p:attrNameLst>
                                      </p:cBhvr>
                                      <p:to>
                                        <p:strVal val="hidden"/>
                                      </p:to>
                                    </p:set>
                                  </p:childTnLst>
                                </p:cTn>
                              </p:par>
                              <p:par>
                                <p:cTn id="86" presetID="22" presetClass="exit" presetSubtype="4" fill="hold" grpId="1" nodeType="withEffect">
                                  <p:stCondLst>
                                    <p:cond delay="0"/>
                                  </p:stCondLst>
                                  <p:childTnLst>
                                    <p:animEffect transition="out" filter="wipe(down)">
                                      <p:cBhvr>
                                        <p:cTn id="87" dur="500"/>
                                        <p:tgtEl>
                                          <p:spTgt spid="22"/>
                                        </p:tgtEl>
                                      </p:cBhvr>
                                    </p:animEffect>
                                    <p:set>
                                      <p:cBhvr>
                                        <p:cTn id="88" dur="1" fill="hold">
                                          <p:stCondLst>
                                            <p:cond delay="499"/>
                                          </p:stCondLst>
                                        </p:cTn>
                                        <p:tgtEl>
                                          <p:spTgt spid="2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22" presetClass="exit" presetSubtype="4" fill="hold" grpId="1" nodeType="clickEffect">
                                  <p:stCondLst>
                                    <p:cond delay="0"/>
                                  </p:stCondLst>
                                  <p:childTnLst>
                                    <p:animEffect transition="out" filter="wipe(down)">
                                      <p:cBhvr>
                                        <p:cTn id="92" dur="500"/>
                                        <p:tgtEl>
                                          <p:spTgt spid="30"/>
                                        </p:tgtEl>
                                      </p:cBhvr>
                                    </p:animEffect>
                                    <p:set>
                                      <p:cBhvr>
                                        <p:cTn id="93" dur="1" fill="hold">
                                          <p:stCondLst>
                                            <p:cond delay="499"/>
                                          </p:stCondLst>
                                        </p:cTn>
                                        <p:tgtEl>
                                          <p:spTgt spid="30"/>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22" presetClass="exit" presetSubtype="4" fill="hold" grpId="1" nodeType="clickEffect">
                                  <p:stCondLst>
                                    <p:cond delay="0"/>
                                  </p:stCondLst>
                                  <p:childTnLst>
                                    <p:animEffect transition="out" filter="wipe(down)">
                                      <p:cBhvr>
                                        <p:cTn id="97" dur="500"/>
                                        <p:tgtEl>
                                          <p:spTgt spid="19"/>
                                        </p:tgtEl>
                                      </p:cBhvr>
                                    </p:animEffect>
                                    <p:set>
                                      <p:cBhvr>
                                        <p:cTn id="98"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8" grpId="0" animBg="1"/>
      <p:bldP spid="19" grpId="0" animBg="1"/>
      <p:bldP spid="19" grpId="1" animBg="1"/>
      <p:bldP spid="20" grpId="0"/>
      <p:bldP spid="20" grpId="1"/>
      <p:bldP spid="21" grpId="0"/>
      <p:bldP spid="22" grpId="0"/>
      <p:bldP spid="22" grpId="1"/>
      <p:bldP spid="23" grpId="0"/>
      <p:bldP spid="24" grpId="0"/>
      <p:bldP spid="25" grpId="0"/>
      <p:bldP spid="26" grpId="0"/>
      <p:bldP spid="27" grpId="0"/>
      <p:bldP spid="28" grpId="0"/>
      <p:bldP spid="29" grpId="0"/>
      <p:bldP spid="30" grpId="0" animBg="1"/>
      <p:bldP spid="30"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normAutofit/>
          </a:bodyPr>
          <a:lstStyle/>
          <a:p>
            <a:r>
              <a:rPr lang="en-US" dirty="0"/>
              <a:t>Why </a:t>
            </a:r>
          </a:p>
        </p:txBody>
      </p:sp>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0" y="863444"/>
            <a:ext cx="11742372" cy="3080759"/>
          </a:xfrm>
        </p:spPr>
        <p:txBody>
          <a:bodyPr/>
          <a:lstStyle/>
          <a:p>
            <a:pPr lvl="0">
              <a:lnSpc>
                <a:spcPct val="150000"/>
              </a:lnSpc>
            </a:pPr>
            <a:r>
              <a:rPr lang="en-US" dirty="0"/>
              <a:t>Every edge of a tree is a cut-edge (cut-set of size 1)</a:t>
            </a:r>
          </a:p>
          <a:p>
            <a:pPr lvl="1">
              <a:lnSpc>
                <a:spcPct val="150000"/>
              </a:lnSpc>
            </a:pPr>
            <a:r>
              <a:rPr lang="en-US" dirty="0"/>
              <a:t>Tree is </a:t>
            </a:r>
            <a:r>
              <a:rPr lang="en-US" b="1" dirty="0"/>
              <a:t>minimally connected</a:t>
            </a:r>
          </a:p>
          <a:p>
            <a:pPr lvl="0">
              <a:lnSpc>
                <a:spcPct val="150000"/>
              </a:lnSpc>
            </a:pPr>
            <a:r>
              <a:rPr lang="en-US" dirty="0"/>
              <a:t>A cut-set always divides a graph into two components</a:t>
            </a:r>
          </a:p>
          <a:p>
            <a:pPr lvl="1">
              <a:lnSpc>
                <a:spcPct val="150000"/>
              </a:lnSpc>
            </a:pPr>
            <a:r>
              <a:rPr lang="en-US" dirty="0"/>
              <a:t>Removing it “cuts” the graph into </a:t>
            </a:r>
            <a:r>
              <a:rPr lang="en-US" b="1" dirty="0"/>
              <a:t>two parts</a:t>
            </a:r>
            <a:endParaRPr lang="en-US" dirty="0"/>
          </a:p>
        </p:txBody>
      </p:sp>
    </p:spTree>
    <p:extLst>
      <p:ext uri="{BB962C8B-B14F-4D97-AF65-F5344CB8AC3E}">
        <p14:creationId xmlns:p14="http://schemas.microsoft.com/office/powerpoint/2010/main" val="487906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dirty="0"/>
              <a:t>Verification: Cut-set reduces rank by 1</a:t>
            </a:r>
          </a:p>
        </p:txBody>
      </p:sp>
      <mc:AlternateContent xmlns:mc="http://schemas.openxmlformats.org/markup-compatibility/2006" xmlns:a14="http://schemas.microsoft.com/office/drawing/2010/main">
        <mc:Choice Requires="a14">
          <p:sp>
            <p:nvSpPr>
              <p:cNvPr id="6" name="Content Placeholder 5"/>
              <p:cNvSpPr>
                <a:spLocks noGrp="1"/>
              </p:cNvSpPr>
              <p:nvPr>
                <p:ph idx="1"/>
              </p:nvPr>
            </p:nvSpPr>
            <p:spPr>
              <a:xfrm>
                <a:off x="131180" y="863445"/>
                <a:ext cx="11929641" cy="4172580"/>
              </a:xfrm>
            </p:spPr>
            <p:txBody>
              <a:bodyPr/>
              <a:lstStyle/>
              <a:p>
                <a:r>
                  <a:rPr lang="en-US" dirty="0"/>
                  <a:t>Consider any connected graph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G</m:t>
                    </m:r>
                  </m:oMath>
                </a14:m>
                <a:r>
                  <a:rPr lang="en-US" dirty="0"/>
                  <a:t> with 5 vertices</a:t>
                </a:r>
              </a:p>
              <a:p>
                <a:r>
                  <a:rPr lang="en-US" dirty="0"/>
                  <a:t>Rank of a graph: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r</m:t>
                    </m:r>
                    <m:r>
                      <a:rPr lang="en-US" i="0" dirty="0" smtClean="0">
                        <a:latin typeface="Cambria Math" panose="02040503050406030204" pitchFamily="18" charset="0"/>
                      </a:rPr>
                      <m:t>=</m:t>
                    </m:r>
                    <m:r>
                      <m:rPr>
                        <m:sty m:val="p"/>
                      </m:rPr>
                      <a:rPr lang="en-US" i="0" dirty="0" smtClean="0">
                        <a:latin typeface="Cambria Math" panose="02040503050406030204" pitchFamily="18" charset="0"/>
                      </a:rPr>
                      <m:t>n</m:t>
                    </m:r>
                    <m:r>
                      <a:rPr lang="en-US" i="0" dirty="0" smtClean="0">
                        <a:latin typeface="Cambria Math" panose="02040503050406030204" pitchFamily="18" charset="0"/>
                      </a:rPr>
                      <m:t>−</m:t>
                    </m:r>
                    <m:r>
                      <m:rPr>
                        <m:sty m:val="p"/>
                      </m:rPr>
                      <a:rPr lang="en-US" i="0" dirty="0" smtClean="0">
                        <a:latin typeface="Cambria Math" panose="02040503050406030204" pitchFamily="18" charset="0"/>
                      </a:rPr>
                      <m:t>k</m:t>
                    </m:r>
                  </m:oMath>
                </a14:m>
                <a:r>
                  <a:rPr lang="en-US" dirty="0"/>
                  <a:t>, where</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oMath>
                </a14:m>
                <a:r>
                  <a:rPr lang="en-US" dirty="0"/>
                  <a:t> is order and</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k</m:t>
                    </m:r>
                  </m:oMath>
                </a14:m>
                <a:r>
                  <a:rPr lang="en-US" dirty="0"/>
                  <a:t> is number of connected components.</a:t>
                </a:r>
              </a:p>
              <a:p>
                <a:r>
                  <a:rPr lang="en-US" dirty="0"/>
                  <a:t>Since graph is connected:</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i="0" dirty="0" smtClean="0">
                        <a:latin typeface="Cambria Math" panose="02040503050406030204" pitchFamily="18" charset="0"/>
                      </a:rPr>
                      <m:t>=5</m:t>
                    </m:r>
                  </m:oMath>
                </a14:m>
                <a:r>
                  <a:rPr lang="en-US" dirty="0"/>
                  <a:t> and</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k</m:t>
                    </m:r>
                    <m:r>
                      <a:rPr lang="en-US" i="0" dirty="0" smtClean="0">
                        <a:latin typeface="Cambria Math" panose="02040503050406030204" pitchFamily="18" charset="0"/>
                      </a:rPr>
                      <m:t>=1</m:t>
                    </m:r>
                  </m:oMath>
                </a14:m>
                <a:r>
                  <a:rPr lang="en-US" dirty="0"/>
                  <a:t>.</a:t>
                </a:r>
              </a:p>
              <a:p>
                <a:r>
                  <a:rPr lang="en-US" dirty="0"/>
                  <a:t>So, rank </a:t>
                </a:r>
                <a14:m>
                  <m:oMath xmlns:m="http://schemas.openxmlformats.org/officeDocument/2006/math">
                    <m:r>
                      <a:rPr lang="en-US" i="0" dirty="0" smtClean="0">
                        <a:latin typeface="Cambria Math" panose="02040503050406030204" pitchFamily="18" charset="0"/>
                      </a:rPr>
                      <m:t>=5−1=4</m:t>
                    </m:r>
                  </m:oMath>
                </a14:m>
                <a:r>
                  <a:rPr lang="en-US" dirty="0"/>
                  <a:t>.</a:t>
                </a:r>
              </a:p>
              <a:p>
                <a:r>
                  <a:rPr lang="en-US" dirty="0"/>
                  <a:t>Remove a cut-set from the graph.</a:t>
                </a:r>
              </a:p>
              <a:p>
                <a:r>
                  <a:rPr lang="en-US" dirty="0"/>
                  <a:t>A cut-set always divides a graph into two components.(As per property)</a:t>
                </a:r>
              </a:p>
              <a:p>
                <a:r>
                  <a:rPr lang="en-US" dirty="0"/>
                  <a:t>Therefore,</a:t>
                </a:r>
                <a14:m>
                  <m:oMath xmlns:m="http://schemas.openxmlformats.org/officeDocument/2006/math">
                    <m:r>
                      <a:rPr lang="en-US" i="0" dirty="0" smtClean="0">
                        <a:latin typeface="Cambria Math" panose="02040503050406030204" pitchFamily="18" charset="0"/>
                      </a:rPr>
                      <m:t> </m:t>
                    </m:r>
                    <m:r>
                      <a:rPr lang="en-US" b="0"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i="0" dirty="0" smtClean="0">
                        <a:latin typeface="Cambria Math" panose="02040503050406030204" pitchFamily="18" charset="0"/>
                      </a:rPr>
                      <m:t>=5</m:t>
                    </m:r>
                  </m:oMath>
                </a14:m>
                <a:r>
                  <a:rPr lang="en-US" dirty="0"/>
                  <a:t> and</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k</m:t>
                    </m:r>
                    <m:r>
                      <a:rPr lang="en-US" i="0" dirty="0" smtClean="0">
                        <a:latin typeface="Cambria Math" panose="02040503050406030204" pitchFamily="18" charset="0"/>
                      </a:rPr>
                      <m:t>=2</m:t>
                    </m:r>
                  </m:oMath>
                </a14:m>
                <a:r>
                  <a:rPr lang="en-US" dirty="0"/>
                  <a:t>.</a:t>
                </a:r>
              </a:p>
              <a:p>
                <a:r>
                  <a:rPr lang="en-US" dirty="0"/>
                  <a:t>So, new rank </a:t>
                </a:r>
                <a14:m>
                  <m:oMath xmlns:m="http://schemas.openxmlformats.org/officeDocument/2006/math">
                    <m:r>
                      <a:rPr lang="en-US" i="0" dirty="0" smtClean="0">
                        <a:latin typeface="Cambria Math" panose="02040503050406030204" pitchFamily="18" charset="0"/>
                      </a:rPr>
                      <m:t>=5−2=3</m:t>
                    </m:r>
                  </m:oMath>
                </a14:m>
                <a:r>
                  <a:rPr lang="en-US" dirty="0"/>
                  <a:t>.</a:t>
                </a:r>
              </a:p>
              <a:p>
                <a:pPr marL="0" indent="0">
                  <a:buNone/>
                </a:pPr>
                <a:endParaRPr lang="en-US" dirty="0"/>
              </a:p>
            </p:txBody>
          </p:sp>
        </mc:Choice>
        <mc:Fallback xmlns="">
          <p:sp>
            <p:nvSpPr>
              <p:cNvPr id="6" name="Content Placeholder 5"/>
              <p:cNvSpPr>
                <a:spLocks noGrp="1" noRot="1" noChangeAspect="1" noMove="1" noResize="1" noEditPoints="1" noAdjustHandles="1" noChangeArrowheads="1" noChangeShapeType="1" noTextEdit="1"/>
              </p:cNvSpPr>
              <p:nvPr>
                <p:ph idx="1"/>
              </p:nvPr>
            </p:nvSpPr>
            <p:spPr>
              <a:xfrm>
                <a:off x="131180" y="863445"/>
                <a:ext cx="11929641" cy="4172580"/>
              </a:xfrm>
              <a:blipFill rotWithShape="0">
                <a:blip r:embed="rId2"/>
                <a:stretch>
                  <a:fillRect l="-971" t="-2632" r="-1074" b="-10526"/>
                </a:stretch>
              </a:blipFill>
            </p:spPr>
            <p:txBody>
              <a:bodyPr/>
              <a:lstStyle/>
              <a:p>
                <a:r>
                  <a:rPr lang="en-US">
                    <a:noFill/>
                  </a:rPr>
                  <a:t> </a:t>
                </a:r>
              </a:p>
            </p:txBody>
          </p:sp>
        </mc:Fallback>
      </mc:AlternateContent>
    </p:spTree>
    <p:extLst>
      <p:ext uri="{BB962C8B-B14F-4D97-AF65-F5344CB8AC3E}">
        <p14:creationId xmlns:p14="http://schemas.microsoft.com/office/powerpoint/2010/main" val="1958905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Method-1</a:t>
            </a:r>
          </a:p>
        </p:txBody>
      </p:sp>
    </p:spTree>
    <p:extLst>
      <p:ext uri="{BB962C8B-B14F-4D97-AF65-F5344CB8AC3E}">
        <p14:creationId xmlns:p14="http://schemas.microsoft.com/office/powerpoint/2010/main" val="3743723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53595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a:solidFill>
                  <a:schemeClr val="bg1"/>
                </a:solidFill>
              </a:rPr>
              <a:t>Find cut-set of the following graphs</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1</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295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47" name="Rectangle 46"/>
          <p:cNvSpPr/>
          <p:nvPr/>
        </p:nvSpPr>
        <p:spPr>
          <a:xfrm>
            <a:off x="16409" y="2363519"/>
            <a:ext cx="12175591" cy="666849"/>
          </a:xfrm>
          <a:prstGeom prst="rect">
            <a:avLst/>
          </a:prstGeom>
        </p:spPr>
        <p:txBody>
          <a:bodyPr wrap="square">
            <a:spAutoFit/>
          </a:bodyPr>
          <a:lstStyle/>
          <a:p>
            <a:pPr marL="265113" indent="-265113" algn="just">
              <a:lnSpc>
                <a:spcPct val="150000"/>
              </a:lnSpc>
              <a:spcBef>
                <a:spcPts val="1000"/>
              </a:spcBef>
              <a:buClr>
                <a:srgbClr val="B84742"/>
              </a:buClr>
              <a:buFont typeface="Wingdings 3" panose="05040102010807070707" pitchFamily="18" charset="2"/>
              <a:buChar char=""/>
            </a:pPr>
            <a:endParaRPr lang="en-US" sz="2800" dirty="0">
              <a:solidFill>
                <a:srgbClr val="002060"/>
              </a:solidFill>
            </a:endParaRP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312BEC8-2E62-D0D8-8C7D-06F857F9507C}"/>
                  </a:ext>
                </a:extLst>
              </p:cNvPr>
              <p:cNvSpPr txBox="1"/>
              <p:nvPr/>
            </p:nvSpPr>
            <p:spPr>
              <a:xfrm>
                <a:off x="4552693" y="5003732"/>
                <a:ext cx="612000" cy="576000"/>
              </a:xfrm>
              <a:prstGeom prst="rect">
                <a:avLst/>
              </a:prstGeom>
              <a:noFill/>
              <a:ln w="19050">
                <a:solidFill>
                  <a:srgbClr val="005E6A"/>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600" b="1" i="1" smtClean="0">
                              <a:solidFill>
                                <a:srgbClr val="002060"/>
                              </a:solidFill>
                              <a:latin typeface="Cambria Math" panose="02040503050406030204" pitchFamily="18" charset="0"/>
                            </a:rPr>
                          </m:ctrlPr>
                        </m:sSubPr>
                        <m:e>
                          <m:r>
                            <a:rPr lang="en-IN" sz="2600" b="1" i="0" smtClean="0">
                              <a:solidFill>
                                <a:srgbClr val="002060"/>
                              </a:solidFill>
                              <a:latin typeface="Cambria Math" panose="02040503050406030204" pitchFamily="18" charset="0"/>
                            </a:rPr>
                            <m:t>𝐆</m:t>
                          </m:r>
                        </m:e>
                        <m:sub>
                          <m:r>
                            <a:rPr lang="en-IN" sz="2600" b="1" i="0" smtClean="0">
                              <a:solidFill>
                                <a:srgbClr val="002060"/>
                              </a:solidFill>
                              <a:latin typeface="Cambria Math" panose="02040503050406030204" pitchFamily="18" charset="0"/>
                            </a:rPr>
                            <m:t>𝟏</m:t>
                          </m:r>
                        </m:sub>
                      </m:sSub>
                    </m:oMath>
                  </m:oMathPara>
                </a14:m>
                <a:endParaRPr lang="en-US" sz="2600" b="1" dirty="0">
                  <a:solidFill>
                    <a:srgbClr val="002060"/>
                  </a:solidFill>
                </a:endParaRPr>
              </a:p>
            </p:txBody>
          </p:sp>
        </mc:Choice>
        <mc:Fallback xmlns="">
          <p:sp>
            <p:nvSpPr>
              <p:cNvPr id="31" name="TextBox 30">
                <a:extLst>
                  <a:ext uri="{FF2B5EF4-FFF2-40B4-BE49-F238E27FC236}">
                    <a16:creationId xmlns:a16="http://schemas.microsoft.com/office/drawing/2014/main" xmlns:a14="http://schemas.microsoft.com/office/drawing/2010/main" xmlns="" id="{6312BEC8-2E62-D0D8-8C7D-06F857F9507C}"/>
                  </a:ext>
                </a:extLst>
              </p:cNvPr>
              <p:cNvSpPr txBox="1">
                <a:spLocks noRot="1" noChangeAspect="1" noMove="1" noResize="1" noEditPoints="1" noAdjustHandles="1" noChangeArrowheads="1" noChangeShapeType="1" noTextEdit="1"/>
              </p:cNvSpPr>
              <p:nvPr/>
            </p:nvSpPr>
            <p:spPr>
              <a:xfrm>
                <a:off x="4552693" y="5003732"/>
                <a:ext cx="612000" cy="576000"/>
              </a:xfrm>
              <a:prstGeom prst="rect">
                <a:avLst/>
              </a:prstGeom>
              <a:blipFill rotWithShape="0">
                <a:blip r:embed="rId3"/>
                <a:stretch>
                  <a:fillRect/>
                </a:stretch>
              </a:blipFill>
              <a:ln w="19050">
                <a:solidFill>
                  <a:srgbClr val="005E6A"/>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99F11789-AF3B-361A-90FE-BCDD0AFB6E36}"/>
                  </a:ext>
                </a:extLst>
              </p:cNvPr>
              <p:cNvSpPr txBox="1"/>
              <p:nvPr/>
            </p:nvSpPr>
            <p:spPr>
              <a:xfrm>
                <a:off x="7006753" y="5003732"/>
                <a:ext cx="612000" cy="576000"/>
              </a:xfrm>
              <a:prstGeom prst="rect">
                <a:avLst/>
              </a:prstGeom>
              <a:noFill/>
              <a:ln w="19050">
                <a:solidFill>
                  <a:srgbClr val="005E6A"/>
                </a:solidFill>
              </a:ln>
            </p:spPr>
            <p:txBody>
              <a:bodyPr wrap="square" rtlCol="0">
                <a:spAutoFit/>
              </a:bodyPr>
              <a:lstStyle>
                <a:defPPr>
                  <a:defRPr lang="en-US"/>
                </a:defPPr>
                <a:lvl1pPr>
                  <a:defRPr sz="2600" b="1">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𝐆</m:t>
                          </m:r>
                        </m:e>
                        <m:sub>
                          <m:r>
                            <a:rPr lang="en-IN">
                              <a:latin typeface="Cambria Math" panose="02040503050406030204" pitchFamily="18" charset="0"/>
                            </a:rPr>
                            <m:t>𝟐</m:t>
                          </m:r>
                        </m:sub>
                      </m:sSub>
                    </m:oMath>
                  </m:oMathPara>
                </a14:m>
                <a:endParaRPr lang="en-US" dirty="0"/>
              </a:p>
            </p:txBody>
          </p:sp>
        </mc:Choice>
        <mc:Fallback xmlns="">
          <p:sp>
            <p:nvSpPr>
              <p:cNvPr id="58" name="TextBox 57">
                <a:extLst>
                  <a:ext uri="{FF2B5EF4-FFF2-40B4-BE49-F238E27FC236}">
                    <a16:creationId xmlns:a16="http://schemas.microsoft.com/office/drawing/2014/main" xmlns:a14="http://schemas.microsoft.com/office/drawing/2010/main" xmlns="" id="{99F11789-AF3B-361A-90FE-BCDD0AFB6E36}"/>
                  </a:ext>
                </a:extLst>
              </p:cNvPr>
              <p:cNvSpPr txBox="1">
                <a:spLocks noRot="1" noChangeAspect="1" noMove="1" noResize="1" noEditPoints="1" noAdjustHandles="1" noChangeArrowheads="1" noChangeShapeType="1" noTextEdit="1"/>
              </p:cNvSpPr>
              <p:nvPr/>
            </p:nvSpPr>
            <p:spPr>
              <a:xfrm>
                <a:off x="7006753" y="5003732"/>
                <a:ext cx="612000" cy="576000"/>
              </a:xfrm>
              <a:prstGeom prst="rect">
                <a:avLst/>
              </a:prstGeom>
              <a:blipFill rotWithShape="0">
                <a:blip r:embed="rId4"/>
                <a:stretch>
                  <a:fillRect/>
                </a:stretch>
              </a:blipFill>
              <a:ln w="19050">
                <a:solidFill>
                  <a:srgbClr val="005E6A"/>
                </a:solidFill>
              </a:ln>
            </p:spPr>
            <p:txBody>
              <a:bodyPr/>
              <a:lstStyle/>
              <a:p>
                <a:r>
                  <a:rPr lang="en-US">
                    <a:noFill/>
                  </a:rPr>
                  <a:t> </a:t>
                </a:r>
              </a:p>
            </p:txBody>
          </p:sp>
        </mc:Fallback>
      </mc:AlternateContent>
      <p:pic>
        <p:nvPicPr>
          <p:cNvPr id="3" name="Picture 2"/>
          <p:cNvPicPr>
            <a:picLocks noChangeAspect="1"/>
          </p:cNvPicPr>
          <p:nvPr/>
        </p:nvPicPr>
        <p:blipFill>
          <a:blip r:embed="rId5"/>
          <a:stretch>
            <a:fillRect/>
          </a:stretch>
        </p:blipFill>
        <p:spPr>
          <a:xfrm>
            <a:off x="3751885" y="2130439"/>
            <a:ext cx="4688230" cy="2597121"/>
          </a:xfrm>
          <a:prstGeom prst="rect">
            <a:avLst/>
          </a:prstGeom>
        </p:spPr>
      </p:pic>
    </p:spTree>
    <p:extLst>
      <p:ext uri="{BB962C8B-B14F-4D97-AF65-F5344CB8AC3E}">
        <p14:creationId xmlns:p14="http://schemas.microsoft.com/office/powerpoint/2010/main" val="244076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53595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a:solidFill>
                  <a:schemeClr val="bg1"/>
                </a:solidFill>
              </a:rPr>
              <a:t>Find cut-set of the following graphs</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1(Cont.)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295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7" name="Rectangle 6"/>
              <p:cNvSpPr/>
              <p:nvPr/>
            </p:nvSpPr>
            <p:spPr>
              <a:xfrm>
                <a:off x="131175" y="1948727"/>
                <a:ext cx="7319957" cy="4355038"/>
              </a:xfrm>
              <a:prstGeom prst="rect">
                <a:avLst/>
              </a:prstGeom>
            </p:spPr>
            <p:txBody>
              <a:bodyPr wrap="square">
                <a:spAutoFit/>
              </a:bodyPr>
              <a:lstStyle/>
              <a:p>
                <a:pPr marL="265113" indent="-265113" algn="just">
                  <a:lnSpc>
                    <a:spcPct val="150000"/>
                  </a:lnSpc>
                  <a:spcBef>
                    <a:spcPts val="1000"/>
                  </a:spcBef>
                  <a:buClr>
                    <a:srgbClr val="B84742"/>
                  </a:buClr>
                  <a:buFont typeface="Wingdings 3" panose="05040102010807070707" pitchFamily="18" charset="2"/>
                  <a:buChar char=""/>
                </a:pPr>
                <a:r>
                  <a:rPr lang="en-US" sz="2800" dirty="0">
                    <a:solidFill>
                      <a:srgbClr val="002060"/>
                    </a:solidFill>
                  </a:rPr>
                  <a:t>For</a:t>
                </a:r>
                <a14:m>
                  <m:oMath xmlns:m="http://schemas.openxmlformats.org/officeDocument/2006/math">
                    <m:r>
                      <a:rPr lang="en-US" sz="2800" b="0" i="0" smtClean="0">
                        <a:solidFill>
                          <a:srgbClr val="002060"/>
                        </a:solidFill>
                        <a:latin typeface="Cambria Math" panose="02040503050406030204" pitchFamily="18" charset="0"/>
                      </a:rPr>
                      <m:t> </m:t>
                    </m:r>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G</m:t>
                        </m:r>
                      </m:e>
                      <m:sub>
                        <m:r>
                          <a:rPr lang="en-US" sz="2800" b="0" i="0" smtClean="0">
                            <a:solidFill>
                              <a:srgbClr val="002060"/>
                            </a:solidFill>
                            <a:latin typeface="Cambria Math" panose="02040503050406030204" pitchFamily="18" charset="0"/>
                          </a:rPr>
                          <m:t>1</m:t>
                        </m:r>
                      </m:sub>
                    </m:sSub>
                  </m:oMath>
                </a14:m>
                <a:endParaRPr lang="en-IN" sz="2800" b="1" dirty="0">
                  <a:solidFill>
                    <a:srgbClr val="002060"/>
                  </a:solidFill>
                </a:endParaRPr>
              </a:p>
              <a:p>
                <a:pPr marL="265113" indent="-265113" algn="just">
                  <a:lnSpc>
                    <a:spcPct val="150000"/>
                  </a:lnSpc>
                  <a:spcBef>
                    <a:spcPts val="1000"/>
                  </a:spcBef>
                  <a:buClr>
                    <a:srgbClr val="B84742"/>
                  </a:buClr>
                  <a:buFont typeface="Wingdings 3" panose="05040102010807070707" pitchFamily="18" charset="2"/>
                  <a:buChar char=""/>
                </a:pPr>
                <a:r>
                  <a:rPr lang="en-IN" sz="2800" dirty="0">
                    <a:solidFill>
                      <a:srgbClr val="002060"/>
                    </a:solidFill>
                  </a:rPr>
                  <a:t>If we remove the set of edges</a:t>
                </a:r>
                <a14:m>
                  <m:oMath xmlns:m="http://schemas.openxmlformats.org/officeDocument/2006/math">
                    <m:r>
                      <a:rPr lang="en-US" sz="2800" b="0" i="0" dirty="0" smtClean="0">
                        <a:solidFill>
                          <a:srgbClr val="002060"/>
                        </a:solidFill>
                        <a:latin typeface="Cambria Math" panose="02040503050406030204" pitchFamily="18" charset="0"/>
                      </a:rPr>
                      <m:t> </m:t>
                    </m:r>
                    <m:d>
                      <m:dPr>
                        <m:begChr m:val="{"/>
                        <m:endChr m:val="}"/>
                        <m:ctrlPr>
                          <a:rPr lang="en-US" sz="2800" i="1" smtClean="0">
                            <a:solidFill>
                              <a:srgbClr val="002060"/>
                            </a:solidFill>
                            <a:latin typeface="Cambria Math" panose="02040503050406030204" pitchFamily="18" charset="0"/>
                          </a:rPr>
                        </m:ctrlPr>
                      </m:dPr>
                      <m:e>
                        <m:sSub>
                          <m:sSubPr>
                            <m:ctrlPr>
                              <a:rPr lang="en-US"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e</m:t>
                            </m:r>
                          </m:e>
                          <m:sub>
                            <m:r>
                              <a:rPr lang="en-US" sz="2800" b="0" i="0" smtClean="0">
                                <a:solidFill>
                                  <a:srgbClr val="002060"/>
                                </a:solidFill>
                                <a:latin typeface="Cambria Math" panose="02040503050406030204" pitchFamily="18" charset="0"/>
                              </a:rPr>
                              <m:t>6</m:t>
                            </m:r>
                          </m:sub>
                        </m:sSub>
                        <m:r>
                          <a:rPr lang="en-US" sz="2800" b="0" i="0" smtClean="0">
                            <a:solidFill>
                              <a:srgbClr val="002060"/>
                            </a:solidFill>
                            <a:latin typeface="Cambria Math" panose="02040503050406030204" pitchFamily="18" charset="0"/>
                          </a:rPr>
                          <m:t>,</m:t>
                        </m:r>
                        <m:sSub>
                          <m:sSubPr>
                            <m:ctrlPr>
                              <a:rPr lang="en-US"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e</m:t>
                            </m:r>
                          </m:e>
                          <m:sub>
                            <m:r>
                              <a:rPr lang="en-US" sz="2800" b="0" i="0" smtClean="0">
                                <a:solidFill>
                                  <a:srgbClr val="002060"/>
                                </a:solidFill>
                                <a:latin typeface="Cambria Math" panose="02040503050406030204" pitchFamily="18" charset="0"/>
                              </a:rPr>
                              <m:t>2</m:t>
                            </m:r>
                          </m:sub>
                        </m:sSub>
                      </m:e>
                    </m:d>
                  </m:oMath>
                </a14:m>
                <a:r>
                  <a:rPr lang="en-IN" sz="2800" dirty="0">
                    <a:solidFill>
                      <a:srgbClr val="002060"/>
                    </a:solidFill>
                  </a:rPr>
                  <a:t> from</a:t>
                </a:r>
                <a14:m>
                  <m:oMath xmlns:m="http://schemas.openxmlformats.org/officeDocument/2006/math">
                    <m:r>
                      <a:rPr lang="en-US" sz="2800" b="0" i="0" smtClean="0">
                        <a:solidFill>
                          <a:srgbClr val="002060"/>
                        </a:solidFill>
                        <a:latin typeface="Cambria Math" panose="02040503050406030204" pitchFamily="18" charset="0"/>
                      </a:rPr>
                      <m:t> </m:t>
                    </m:r>
                    <m:sSub>
                      <m:sSubPr>
                        <m:ctrlPr>
                          <a:rPr lang="en-US"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G</m:t>
                        </m:r>
                      </m:e>
                      <m:sub>
                        <m:r>
                          <a:rPr lang="en-US" sz="2800" b="0" i="0" smtClean="0">
                            <a:solidFill>
                              <a:srgbClr val="002060"/>
                            </a:solidFill>
                            <a:latin typeface="Cambria Math" panose="02040503050406030204" pitchFamily="18" charset="0"/>
                          </a:rPr>
                          <m:t>1</m:t>
                        </m:r>
                      </m:sub>
                    </m:sSub>
                    <m:r>
                      <a:rPr lang="en-US" sz="2800" b="0" i="1" smtClean="0">
                        <a:solidFill>
                          <a:srgbClr val="002060"/>
                        </a:solidFill>
                        <a:latin typeface="Cambria Math" panose="02040503050406030204" pitchFamily="18" charset="0"/>
                      </a:rPr>
                      <m:t>,</m:t>
                    </m:r>
                  </m:oMath>
                </a14:m>
                <a:r>
                  <a:rPr lang="en-IN" sz="2800" dirty="0">
                    <a:solidFill>
                      <a:srgbClr val="002060"/>
                    </a:solidFill>
                  </a:rPr>
                  <a:t> we get disconnected graph.</a:t>
                </a:r>
              </a:p>
              <a:p>
                <a:pPr marL="265113" indent="-265113" algn="just">
                  <a:lnSpc>
                    <a:spcPct val="150000"/>
                  </a:lnSpc>
                  <a:spcBef>
                    <a:spcPts val="1000"/>
                  </a:spcBef>
                  <a:buClr>
                    <a:srgbClr val="B84742"/>
                  </a:buClr>
                  <a:buFont typeface="Wingdings 3" panose="05040102010807070707" pitchFamily="18" charset="2"/>
                  <a:buChar char=""/>
                </a:pPr>
                <a:r>
                  <a:rPr lang="en-IN" sz="2800" dirty="0">
                    <a:solidFill>
                      <a:srgbClr val="002060"/>
                    </a:solidFill>
                  </a:rPr>
                  <a:t>Also proper subset of the edge set can not disconnect the graph. </a:t>
                </a:r>
              </a:p>
              <a:p>
                <a:pPr marL="265113" indent="-265113" algn="just">
                  <a:lnSpc>
                    <a:spcPct val="150000"/>
                  </a:lnSpc>
                  <a:spcBef>
                    <a:spcPts val="1000"/>
                  </a:spcBef>
                  <a:buClr>
                    <a:srgbClr val="B84742"/>
                  </a:buClr>
                  <a:buFont typeface="Wingdings 3" panose="05040102010807070707" pitchFamily="18" charset="2"/>
                  <a:buChar char=""/>
                </a:pPr>
                <a:r>
                  <a:rPr lang="en-IN" sz="2800" dirty="0">
                    <a:solidFill>
                      <a:srgbClr val="002060"/>
                    </a:solidFill>
                  </a:rPr>
                  <a:t>That means </a:t>
                </a:r>
                <a:r>
                  <a:rPr lang="en-IN" sz="2800" b="1" dirty="0">
                    <a:solidFill>
                      <a:srgbClr val="002060"/>
                    </a:solidFill>
                  </a:rPr>
                  <a:t>the edge set</a:t>
                </a:r>
                <a14:m>
                  <m:oMath xmlns:m="http://schemas.openxmlformats.org/officeDocument/2006/math">
                    <m:r>
                      <a:rPr lang="en-US" sz="2800" b="1" i="1" smtClean="0">
                        <a:solidFill>
                          <a:srgbClr val="002060"/>
                        </a:solidFill>
                        <a:latin typeface="Cambria Math" panose="02040503050406030204" pitchFamily="18" charset="0"/>
                      </a:rPr>
                      <m:t> </m:t>
                    </m:r>
                    <m:d>
                      <m:dPr>
                        <m:begChr m:val="{"/>
                        <m:endChr m:val="}"/>
                        <m:ctrlPr>
                          <a:rPr lang="en-US" sz="2800" b="1" i="1" smtClean="0">
                            <a:solidFill>
                              <a:srgbClr val="002060"/>
                            </a:solidFill>
                            <a:latin typeface="Cambria Math" panose="02040503050406030204" pitchFamily="18" charset="0"/>
                          </a:rPr>
                        </m:ctrlPr>
                      </m:dPr>
                      <m:e>
                        <m:sSub>
                          <m:sSubPr>
                            <m:ctrlPr>
                              <a:rPr lang="en-US" sz="2800" b="1" i="1" smtClean="0">
                                <a:solidFill>
                                  <a:srgbClr val="002060"/>
                                </a:solidFill>
                                <a:latin typeface="Cambria Math" panose="02040503050406030204" pitchFamily="18" charset="0"/>
                              </a:rPr>
                            </m:ctrlPr>
                          </m:sSubPr>
                          <m:e>
                            <m:r>
                              <a:rPr lang="en-US" sz="2800" b="1" i="0" smtClean="0">
                                <a:solidFill>
                                  <a:srgbClr val="002060"/>
                                </a:solidFill>
                                <a:latin typeface="Cambria Math" panose="02040503050406030204" pitchFamily="18" charset="0"/>
                              </a:rPr>
                              <m:t>𝐞</m:t>
                            </m:r>
                          </m:e>
                          <m:sub>
                            <m:r>
                              <a:rPr lang="en-US" sz="2800" b="1" i="0" smtClean="0">
                                <a:solidFill>
                                  <a:srgbClr val="002060"/>
                                </a:solidFill>
                                <a:latin typeface="Cambria Math" panose="02040503050406030204" pitchFamily="18" charset="0"/>
                              </a:rPr>
                              <m:t>𝟔</m:t>
                            </m:r>
                          </m:sub>
                        </m:sSub>
                        <m:r>
                          <a:rPr lang="en-US" sz="2800" b="1" i="0" smtClean="0">
                            <a:solidFill>
                              <a:srgbClr val="002060"/>
                            </a:solidFill>
                            <a:latin typeface="Cambria Math" panose="02040503050406030204" pitchFamily="18" charset="0"/>
                          </a:rPr>
                          <m:t>,</m:t>
                        </m:r>
                        <m:sSub>
                          <m:sSubPr>
                            <m:ctrlPr>
                              <a:rPr lang="en-US" sz="2800" b="1" i="1" smtClean="0">
                                <a:solidFill>
                                  <a:srgbClr val="002060"/>
                                </a:solidFill>
                                <a:latin typeface="Cambria Math" panose="02040503050406030204" pitchFamily="18" charset="0"/>
                              </a:rPr>
                            </m:ctrlPr>
                          </m:sSubPr>
                          <m:e>
                            <m:r>
                              <a:rPr lang="en-US" sz="2800" b="1" i="0" smtClean="0">
                                <a:solidFill>
                                  <a:srgbClr val="002060"/>
                                </a:solidFill>
                                <a:latin typeface="Cambria Math" panose="02040503050406030204" pitchFamily="18" charset="0"/>
                              </a:rPr>
                              <m:t>𝐞</m:t>
                            </m:r>
                          </m:e>
                          <m:sub>
                            <m:r>
                              <a:rPr lang="en-US" sz="2800" b="1" i="0" smtClean="0">
                                <a:solidFill>
                                  <a:srgbClr val="002060"/>
                                </a:solidFill>
                                <a:latin typeface="Cambria Math" panose="02040503050406030204" pitchFamily="18" charset="0"/>
                              </a:rPr>
                              <m:t>𝟐</m:t>
                            </m:r>
                          </m:sub>
                        </m:sSub>
                      </m:e>
                    </m:d>
                  </m:oMath>
                </a14:m>
                <a:r>
                  <a:rPr lang="en-IN" sz="2800" b="1" dirty="0">
                    <a:solidFill>
                      <a:srgbClr val="002060"/>
                    </a:solidFill>
                  </a:rPr>
                  <a:t> is cut-set</a:t>
                </a:r>
                <a:r>
                  <a:rPr lang="en-IN" sz="2800" dirty="0">
                    <a:solidFill>
                      <a:srgbClr val="002060"/>
                    </a:solidFill>
                  </a:rPr>
                  <a:t>.</a:t>
                </a:r>
              </a:p>
            </p:txBody>
          </p:sp>
        </mc:Choice>
        <mc:Fallback xmlns="">
          <p:sp>
            <p:nvSpPr>
              <p:cNvPr id="7" name="Rectangle 6"/>
              <p:cNvSpPr>
                <a:spLocks noRot="1" noChangeAspect="1" noMove="1" noResize="1" noEditPoints="1" noAdjustHandles="1" noChangeArrowheads="1" noChangeShapeType="1" noTextEdit="1"/>
              </p:cNvSpPr>
              <p:nvPr/>
            </p:nvSpPr>
            <p:spPr>
              <a:xfrm>
                <a:off x="131175" y="1948727"/>
                <a:ext cx="7319957" cy="4355038"/>
              </a:xfrm>
              <a:prstGeom prst="rect">
                <a:avLst/>
              </a:prstGeom>
              <a:blipFill rotWithShape="0">
                <a:blip r:embed="rId2"/>
                <a:stretch>
                  <a:fillRect l="-1583" r="-1750" b="-140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E01AE90D-F30D-C36A-3E6B-E9BD22C8E113}"/>
                  </a:ext>
                </a:extLst>
              </p:cNvPr>
              <p:cNvSpPr txBox="1"/>
              <p:nvPr/>
            </p:nvSpPr>
            <p:spPr>
              <a:xfrm>
                <a:off x="7760276" y="2710520"/>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𝟏</m:t>
                          </m:r>
                        </m:sub>
                      </m:sSub>
                    </m:oMath>
                  </m:oMathPara>
                </a14:m>
                <a:endParaRPr lang="en-US" sz="2200" b="1" dirty="0">
                  <a:solidFill>
                    <a:srgbClr val="002060"/>
                  </a:solidFill>
                </a:endParaRPr>
              </a:p>
            </p:txBody>
          </p:sp>
        </mc:Choice>
        <mc:Fallback xmlns="">
          <p:sp>
            <p:nvSpPr>
              <p:cNvPr id="59" name="TextBox 58">
                <a:extLst>
                  <a:ext uri="{FF2B5EF4-FFF2-40B4-BE49-F238E27FC236}">
                    <a16:creationId xmlns:a16="http://schemas.microsoft.com/office/drawing/2014/main" xmlns:a14="http://schemas.microsoft.com/office/drawing/2010/main" xmlns="" id="{E01AE90D-F30D-C36A-3E6B-E9BD22C8E113}"/>
                  </a:ext>
                </a:extLst>
              </p:cNvPr>
              <p:cNvSpPr txBox="1">
                <a:spLocks noRot="1" noChangeAspect="1" noMove="1" noResize="1" noEditPoints="1" noAdjustHandles="1" noChangeArrowheads="1" noChangeShapeType="1" noTextEdit="1"/>
              </p:cNvSpPr>
              <p:nvPr/>
            </p:nvSpPr>
            <p:spPr>
              <a:xfrm>
                <a:off x="7760276" y="2710520"/>
                <a:ext cx="512677" cy="430887"/>
              </a:xfrm>
              <a:prstGeom prst="rect">
                <a:avLst/>
              </a:prstGeom>
              <a:blipFill rotWithShape="0">
                <a:blip r:embed="rId4"/>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4C65D84-88DC-78EB-756D-685F33D915C0}"/>
                  </a:ext>
                </a:extLst>
              </p:cNvPr>
              <p:cNvSpPr txBox="1"/>
              <p:nvPr/>
            </p:nvSpPr>
            <p:spPr>
              <a:xfrm>
                <a:off x="9199529" y="2722073"/>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𝟐</m:t>
                          </m:r>
                        </m:sub>
                      </m:sSub>
                    </m:oMath>
                  </m:oMathPara>
                </a14:m>
                <a:endParaRPr lang="en-US" sz="2200" b="1" dirty="0">
                  <a:solidFill>
                    <a:srgbClr val="002060"/>
                  </a:solidFill>
                </a:endParaRPr>
              </a:p>
            </p:txBody>
          </p:sp>
        </mc:Choice>
        <mc:Fallback xmlns="">
          <p:sp>
            <p:nvSpPr>
              <p:cNvPr id="60" name="TextBox 59">
                <a:extLst>
                  <a:ext uri="{FF2B5EF4-FFF2-40B4-BE49-F238E27FC236}">
                    <a16:creationId xmlns:a16="http://schemas.microsoft.com/office/drawing/2014/main" xmlns:a14="http://schemas.microsoft.com/office/drawing/2010/main" xmlns="" id="{54C65D84-88DC-78EB-756D-685F33D915C0}"/>
                  </a:ext>
                </a:extLst>
              </p:cNvPr>
              <p:cNvSpPr txBox="1">
                <a:spLocks noRot="1" noChangeAspect="1" noMove="1" noResize="1" noEditPoints="1" noAdjustHandles="1" noChangeArrowheads="1" noChangeShapeType="1" noTextEdit="1"/>
              </p:cNvSpPr>
              <p:nvPr/>
            </p:nvSpPr>
            <p:spPr>
              <a:xfrm>
                <a:off x="9199529" y="2722073"/>
                <a:ext cx="512677" cy="430887"/>
              </a:xfrm>
              <a:prstGeom prst="rect">
                <a:avLst/>
              </a:prstGeom>
              <a:blipFill rotWithShape="0">
                <a:blip r:embed="rId5"/>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5FD825F-4019-BBDF-A62D-B8AD72F44054}"/>
                  </a:ext>
                </a:extLst>
              </p:cNvPr>
              <p:cNvSpPr txBox="1"/>
              <p:nvPr/>
            </p:nvSpPr>
            <p:spPr>
              <a:xfrm>
                <a:off x="8724908" y="3810879"/>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𝟑</m:t>
                          </m:r>
                        </m:sub>
                      </m:sSub>
                    </m:oMath>
                  </m:oMathPara>
                </a14:m>
                <a:endParaRPr lang="en-US" sz="2200" b="1" dirty="0">
                  <a:solidFill>
                    <a:srgbClr val="002060"/>
                  </a:solidFill>
                </a:endParaRPr>
              </a:p>
            </p:txBody>
          </p:sp>
        </mc:Choice>
        <mc:Fallback xmlns="">
          <p:sp>
            <p:nvSpPr>
              <p:cNvPr id="61" name="TextBox 60">
                <a:extLst>
                  <a:ext uri="{FF2B5EF4-FFF2-40B4-BE49-F238E27FC236}">
                    <a16:creationId xmlns:a16="http://schemas.microsoft.com/office/drawing/2014/main" xmlns:a14="http://schemas.microsoft.com/office/drawing/2010/main" xmlns="" id="{85FD825F-4019-BBDF-A62D-B8AD72F44054}"/>
                  </a:ext>
                </a:extLst>
              </p:cNvPr>
              <p:cNvSpPr txBox="1">
                <a:spLocks noRot="1" noChangeAspect="1" noMove="1" noResize="1" noEditPoints="1" noAdjustHandles="1" noChangeArrowheads="1" noChangeShapeType="1" noTextEdit="1"/>
              </p:cNvSpPr>
              <p:nvPr/>
            </p:nvSpPr>
            <p:spPr>
              <a:xfrm>
                <a:off x="8724908" y="3810879"/>
                <a:ext cx="512677" cy="430887"/>
              </a:xfrm>
              <a:prstGeom prst="rect">
                <a:avLst/>
              </a:prstGeom>
              <a:blipFill rotWithShape="0">
                <a:blip r:embed="rId6"/>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FDF82BA1-CB88-59CA-F8D5-985BF925C026}"/>
                  </a:ext>
                </a:extLst>
              </p:cNvPr>
              <p:cNvSpPr txBox="1"/>
              <p:nvPr/>
            </p:nvSpPr>
            <p:spPr>
              <a:xfrm>
                <a:off x="7755749" y="4862669"/>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𝟓</m:t>
                          </m:r>
                        </m:sub>
                      </m:sSub>
                    </m:oMath>
                  </m:oMathPara>
                </a14:m>
                <a:endParaRPr lang="en-US" sz="2200" b="1" dirty="0">
                  <a:solidFill>
                    <a:srgbClr val="002060"/>
                  </a:solidFill>
                </a:endParaRPr>
              </a:p>
            </p:txBody>
          </p:sp>
        </mc:Choice>
        <mc:Fallback xmlns="">
          <p:sp>
            <p:nvSpPr>
              <p:cNvPr id="62" name="TextBox 61">
                <a:extLst>
                  <a:ext uri="{FF2B5EF4-FFF2-40B4-BE49-F238E27FC236}">
                    <a16:creationId xmlns:a16="http://schemas.microsoft.com/office/drawing/2014/main" xmlns:a14="http://schemas.microsoft.com/office/drawing/2010/main" xmlns="" id="{FDF82BA1-CB88-59CA-F8D5-985BF925C026}"/>
                  </a:ext>
                </a:extLst>
              </p:cNvPr>
              <p:cNvSpPr txBox="1">
                <a:spLocks noRot="1" noChangeAspect="1" noMove="1" noResize="1" noEditPoints="1" noAdjustHandles="1" noChangeArrowheads="1" noChangeShapeType="1" noTextEdit="1"/>
              </p:cNvSpPr>
              <p:nvPr/>
            </p:nvSpPr>
            <p:spPr>
              <a:xfrm>
                <a:off x="7755749" y="4862669"/>
                <a:ext cx="512677" cy="430887"/>
              </a:xfrm>
              <a:prstGeom prst="rect">
                <a:avLst/>
              </a:prstGeom>
              <a:blipFill rotWithShape="0">
                <a:blip r:embed="rId7"/>
                <a:stretch>
                  <a:fillRect b="-4286"/>
                </a:stretch>
              </a:blipFill>
            </p:spPr>
            <p:txBody>
              <a:bodyPr/>
              <a:lstStyle/>
              <a:p>
                <a:r>
                  <a:rPr lang="en-US">
                    <a:noFill/>
                  </a:rPr>
                  <a:t> </a:t>
                </a:r>
              </a:p>
            </p:txBody>
          </p:sp>
        </mc:Fallback>
      </mc:AlternateContent>
      <p:cxnSp>
        <p:nvCxnSpPr>
          <p:cNvPr id="65" name="Straight Connector 64">
            <a:extLst>
              <a:ext uri="{FF2B5EF4-FFF2-40B4-BE49-F238E27FC236}">
                <a16:creationId xmlns:a16="http://schemas.microsoft.com/office/drawing/2014/main" id="{CDDADDE6-D91E-ECD4-8820-F9B8E17CA932}"/>
              </a:ext>
            </a:extLst>
          </p:cNvPr>
          <p:cNvCxnSpPr>
            <a:cxnSpLocks/>
          </p:cNvCxnSpPr>
          <p:nvPr/>
        </p:nvCxnSpPr>
        <p:spPr>
          <a:xfrm rot="10800000">
            <a:off x="8024220" y="4897209"/>
            <a:ext cx="13939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BB48155F-B6E8-A341-532F-1352CD2B98CA}"/>
              </a:ext>
            </a:extLst>
          </p:cNvPr>
          <p:cNvCxnSpPr>
            <a:cxnSpLocks/>
            <a:stCxn id="67" idx="4"/>
            <a:endCxn id="69" idx="0"/>
          </p:cNvCxnSpPr>
          <p:nvPr/>
        </p:nvCxnSpPr>
        <p:spPr>
          <a:xfrm flipH="1">
            <a:off x="8088615" y="3185793"/>
            <a:ext cx="1293238"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7" name="Oval 66">
            <a:extLst>
              <a:ext uri="{FF2B5EF4-FFF2-40B4-BE49-F238E27FC236}">
                <a16:creationId xmlns:a16="http://schemas.microsoft.com/office/drawing/2014/main" id="{71518894-8AA9-1006-9F82-09B89F69EDF3}"/>
              </a:ext>
            </a:extLst>
          </p:cNvPr>
          <p:cNvSpPr/>
          <p:nvPr/>
        </p:nvSpPr>
        <p:spPr>
          <a:xfrm rot="5400000">
            <a:off x="9381853" y="31137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8" name="Oval 67">
            <a:extLst>
              <a:ext uri="{FF2B5EF4-FFF2-40B4-BE49-F238E27FC236}">
                <a16:creationId xmlns:a16="http://schemas.microsoft.com/office/drawing/2014/main" id="{E31C1FB8-F25F-E34D-5DF1-60A0C41F7B96}"/>
              </a:ext>
            </a:extLst>
          </p:cNvPr>
          <p:cNvSpPr/>
          <p:nvPr/>
        </p:nvSpPr>
        <p:spPr>
          <a:xfrm rot="5400000">
            <a:off x="9381853" y="48245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9" name="Oval 68">
            <a:extLst>
              <a:ext uri="{FF2B5EF4-FFF2-40B4-BE49-F238E27FC236}">
                <a16:creationId xmlns:a16="http://schemas.microsoft.com/office/drawing/2014/main" id="{C9184580-BF4E-40DE-5B49-050132834AF4}"/>
              </a:ext>
            </a:extLst>
          </p:cNvPr>
          <p:cNvSpPr/>
          <p:nvPr/>
        </p:nvSpPr>
        <p:spPr>
          <a:xfrm rot="5400000">
            <a:off x="7944615" y="31137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0" name="Oval 69">
            <a:extLst>
              <a:ext uri="{FF2B5EF4-FFF2-40B4-BE49-F238E27FC236}">
                <a16:creationId xmlns:a16="http://schemas.microsoft.com/office/drawing/2014/main" id="{BF0F7580-F28C-6E1D-F1BC-2E9848ABE247}"/>
              </a:ext>
            </a:extLst>
          </p:cNvPr>
          <p:cNvSpPr/>
          <p:nvPr/>
        </p:nvSpPr>
        <p:spPr>
          <a:xfrm rot="5400000">
            <a:off x="7944615" y="48245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1" name="Oval 70">
            <a:extLst>
              <a:ext uri="{FF2B5EF4-FFF2-40B4-BE49-F238E27FC236}">
                <a16:creationId xmlns:a16="http://schemas.microsoft.com/office/drawing/2014/main" id="{6D577F47-9375-7C69-1B9E-DF71574E118F}"/>
              </a:ext>
            </a:extLst>
          </p:cNvPr>
          <p:cNvSpPr/>
          <p:nvPr/>
        </p:nvSpPr>
        <p:spPr>
          <a:xfrm rot="5400000">
            <a:off x="8653885" y="39616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9FE0547B-E36A-2762-00AC-DC26B3ED7429}"/>
                  </a:ext>
                </a:extLst>
              </p:cNvPr>
              <p:cNvSpPr txBox="1"/>
              <p:nvPr/>
            </p:nvSpPr>
            <p:spPr>
              <a:xfrm>
                <a:off x="9226101" y="4845624"/>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𝟒</m:t>
                          </m:r>
                        </m:sub>
                      </m:sSub>
                    </m:oMath>
                  </m:oMathPara>
                </a14:m>
                <a:endParaRPr lang="en-US" sz="2200" b="1" dirty="0">
                  <a:solidFill>
                    <a:srgbClr val="002060"/>
                  </a:solidFill>
                </a:endParaRPr>
              </a:p>
            </p:txBody>
          </p:sp>
        </mc:Choice>
        <mc:Fallback xmlns="">
          <p:sp>
            <p:nvSpPr>
              <p:cNvPr id="72" name="TextBox 71">
                <a:extLst>
                  <a:ext uri="{FF2B5EF4-FFF2-40B4-BE49-F238E27FC236}">
                    <a16:creationId xmlns:a16="http://schemas.microsoft.com/office/drawing/2014/main" xmlns:a14="http://schemas.microsoft.com/office/drawing/2010/main" xmlns="" id="{9FE0547B-E36A-2762-00AC-DC26B3ED7429}"/>
                  </a:ext>
                </a:extLst>
              </p:cNvPr>
              <p:cNvSpPr txBox="1">
                <a:spLocks noRot="1" noChangeAspect="1" noMove="1" noResize="1" noEditPoints="1" noAdjustHandles="1" noChangeArrowheads="1" noChangeShapeType="1" noTextEdit="1"/>
              </p:cNvSpPr>
              <p:nvPr/>
            </p:nvSpPr>
            <p:spPr>
              <a:xfrm>
                <a:off x="9226101" y="4845624"/>
                <a:ext cx="512677" cy="430887"/>
              </a:xfrm>
              <a:prstGeom prst="rect">
                <a:avLst/>
              </a:prstGeom>
              <a:blipFill rotWithShape="0">
                <a:blip r:embed="rId8"/>
                <a:stretch>
                  <a:fillRect b="-14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F8A805CE-FA40-E734-86BA-0CC41D84729B}"/>
                  </a:ext>
                </a:extLst>
              </p:cNvPr>
              <p:cNvSpPr txBox="1"/>
              <p:nvPr/>
            </p:nvSpPr>
            <p:spPr>
              <a:xfrm>
                <a:off x="8481285" y="2795646"/>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𝟏</m:t>
                          </m:r>
                        </m:sub>
                      </m:sSub>
                    </m:oMath>
                  </m:oMathPara>
                </a14:m>
                <a:endParaRPr lang="en-US" sz="2000" b="1" dirty="0">
                  <a:solidFill>
                    <a:srgbClr val="002060"/>
                  </a:solidFill>
                </a:endParaRPr>
              </a:p>
            </p:txBody>
          </p:sp>
        </mc:Choice>
        <mc:Fallback xmlns="">
          <p:sp>
            <p:nvSpPr>
              <p:cNvPr id="73" name="TextBox 72">
                <a:extLst>
                  <a:ext uri="{FF2B5EF4-FFF2-40B4-BE49-F238E27FC236}">
                    <a16:creationId xmlns:a16="http://schemas.microsoft.com/office/drawing/2014/main" xmlns:a14="http://schemas.microsoft.com/office/drawing/2010/main" xmlns="" id="{F8A805CE-FA40-E734-86BA-0CC41D84729B}"/>
                  </a:ext>
                </a:extLst>
              </p:cNvPr>
              <p:cNvSpPr txBox="1">
                <a:spLocks noRot="1" noChangeAspect="1" noMove="1" noResize="1" noEditPoints="1" noAdjustHandles="1" noChangeArrowheads="1" noChangeShapeType="1" noTextEdit="1"/>
              </p:cNvSpPr>
              <p:nvPr/>
            </p:nvSpPr>
            <p:spPr>
              <a:xfrm>
                <a:off x="8481285" y="2795646"/>
                <a:ext cx="512677" cy="400110"/>
              </a:xfrm>
              <a:prstGeom prst="rect">
                <a:avLst/>
              </a:prstGeom>
              <a:blipFill rotWithShape="0">
                <a:blip r:embed="rId9"/>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06CD39EC-960E-26EF-257E-41215208D35E}"/>
                  </a:ext>
                </a:extLst>
              </p:cNvPr>
              <p:cNvSpPr txBox="1"/>
              <p:nvPr/>
            </p:nvSpPr>
            <p:spPr>
              <a:xfrm>
                <a:off x="8997757" y="3441112"/>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𝟐</m:t>
                          </m:r>
                        </m:sub>
                      </m:sSub>
                    </m:oMath>
                  </m:oMathPara>
                </a14:m>
                <a:endParaRPr lang="en-US" sz="2000" b="1" dirty="0">
                  <a:solidFill>
                    <a:srgbClr val="002060"/>
                  </a:solidFill>
                </a:endParaRPr>
              </a:p>
            </p:txBody>
          </p:sp>
        </mc:Choice>
        <mc:Fallback xmlns="">
          <p:sp>
            <p:nvSpPr>
              <p:cNvPr id="74" name="TextBox 73">
                <a:extLst>
                  <a:ext uri="{FF2B5EF4-FFF2-40B4-BE49-F238E27FC236}">
                    <a16:creationId xmlns:a16="http://schemas.microsoft.com/office/drawing/2014/main" xmlns:a14="http://schemas.microsoft.com/office/drawing/2010/main" xmlns="" id="{06CD39EC-960E-26EF-257E-41215208D35E}"/>
                  </a:ext>
                </a:extLst>
              </p:cNvPr>
              <p:cNvSpPr txBox="1">
                <a:spLocks noRot="1" noChangeAspect="1" noMove="1" noResize="1" noEditPoints="1" noAdjustHandles="1" noChangeArrowheads="1" noChangeShapeType="1" noTextEdit="1"/>
              </p:cNvSpPr>
              <p:nvPr/>
            </p:nvSpPr>
            <p:spPr>
              <a:xfrm>
                <a:off x="8997757" y="3441112"/>
                <a:ext cx="512677" cy="400110"/>
              </a:xfrm>
              <a:prstGeom prst="rect">
                <a:avLst/>
              </a:prstGeom>
              <a:blipFill rotWithShape="0">
                <a:blip r:embed="rId10"/>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FD69A8B0-19ED-9159-E3C9-FB1241D4B6D1}"/>
                  </a:ext>
                </a:extLst>
              </p:cNvPr>
              <p:cNvSpPr txBox="1"/>
              <p:nvPr/>
            </p:nvSpPr>
            <p:spPr>
              <a:xfrm>
                <a:off x="9001966" y="4187276"/>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𝟑</m:t>
                          </m:r>
                        </m:sub>
                      </m:sSub>
                    </m:oMath>
                  </m:oMathPara>
                </a14:m>
                <a:endParaRPr lang="en-US" sz="2000" b="1" dirty="0">
                  <a:solidFill>
                    <a:srgbClr val="002060"/>
                  </a:solidFill>
                </a:endParaRPr>
              </a:p>
            </p:txBody>
          </p:sp>
        </mc:Choice>
        <mc:Fallback xmlns="">
          <p:sp>
            <p:nvSpPr>
              <p:cNvPr id="75" name="TextBox 74">
                <a:extLst>
                  <a:ext uri="{FF2B5EF4-FFF2-40B4-BE49-F238E27FC236}">
                    <a16:creationId xmlns:a16="http://schemas.microsoft.com/office/drawing/2014/main" xmlns:a14="http://schemas.microsoft.com/office/drawing/2010/main" xmlns="" id="{FD69A8B0-19ED-9159-E3C9-FB1241D4B6D1}"/>
                  </a:ext>
                </a:extLst>
              </p:cNvPr>
              <p:cNvSpPr txBox="1">
                <a:spLocks noRot="1" noChangeAspect="1" noMove="1" noResize="1" noEditPoints="1" noAdjustHandles="1" noChangeArrowheads="1" noChangeShapeType="1" noTextEdit="1"/>
              </p:cNvSpPr>
              <p:nvPr/>
            </p:nvSpPr>
            <p:spPr>
              <a:xfrm>
                <a:off x="9001966" y="4187276"/>
                <a:ext cx="512677" cy="400110"/>
              </a:xfrm>
              <a:prstGeom prst="rect">
                <a:avLst/>
              </a:prstGeom>
              <a:blipFill rotWithShape="0">
                <a:blip r:embed="rId11"/>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221CD650-B2FC-1759-BA35-17A30D745849}"/>
                  </a:ext>
                </a:extLst>
              </p:cNvPr>
              <p:cNvSpPr txBox="1"/>
              <p:nvPr/>
            </p:nvSpPr>
            <p:spPr>
              <a:xfrm>
                <a:off x="8481811" y="4815940"/>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𝟒</m:t>
                          </m:r>
                        </m:sub>
                      </m:sSub>
                    </m:oMath>
                  </m:oMathPara>
                </a14:m>
                <a:endParaRPr lang="en-US" sz="2000" b="1" dirty="0">
                  <a:solidFill>
                    <a:srgbClr val="002060"/>
                  </a:solidFill>
                </a:endParaRPr>
              </a:p>
            </p:txBody>
          </p:sp>
        </mc:Choice>
        <mc:Fallback xmlns="">
          <p:sp>
            <p:nvSpPr>
              <p:cNvPr id="76" name="TextBox 75">
                <a:extLst>
                  <a:ext uri="{FF2B5EF4-FFF2-40B4-BE49-F238E27FC236}">
                    <a16:creationId xmlns:a16="http://schemas.microsoft.com/office/drawing/2014/main" xmlns:a14="http://schemas.microsoft.com/office/drawing/2010/main" xmlns="" id="{221CD650-B2FC-1759-BA35-17A30D745849}"/>
                  </a:ext>
                </a:extLst>
              </p:cNvPr>
              <p:cNvSpPr txBox="1">
                <a:spLocks noRot="1" noChangeAspect="1" noMove="1" noResize="1" noEditPoints="1" noAdjustHandles="1" noChangeArrowheads="1" noChangeShapeType="1" noTextEdit="1"/>
              </p:cNvSpPr>
              <p:nvPr/>
            </p:nvSpPr>
            <p:spPr>
              <a:xfrm>
                <a:off x="8481811" y="4815940"/>
                <a:ext cx="512677" cy="400110"/>
              </a:xfrm>
              <a:prstGeom prst="rect">
                <a:avLst/>
              </a:prstGeom>
              <a:blipFill rotWithShape="0">
                <a:blip r:embed="rId12"/>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10E7219F-2FA2-0017-DC21-90B3A4FAC3CD}"/>
                  </a:ext>
                </a:extLst>
              </p:cNvPr>
              <p:cNvSpPr txBox="1"/>
              <p:nvPr/>
            </p:nvSpPr>
            <p:spPr>
              <a:xfrm>
                <a:off x="8003192" y="4153836"/>
                <a:ext cx="41710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𝟓</m:t>
                          </m:r>
                        </m:sub>
                      </m:sSub>
                    </m:oMath>
                  </m:oMathPara>
                </a14:m>
                <a:endParaRPr lang="en-US" sz="2000" b="1" dirty="0">
                  <a:solidFill>
                    <a:srgbClr val="002060"/>
                  </a:solidFill>
                </a:endParaRPr>
              </a:p>
            </p:txBody>
          </p:sp>
        </mc:Choice>
        <mc:Fallback xmlns="">
          <p:sp>
            <p:nvSpPr>
              <p:cNvPr id="77" name="TextBox 76">
                <a:extLst>
                  <a:ext uri="{FF2B5EF4-FFF2-40B4-BE49-F238E27FC236}">
                    <a16:creationId xmlns:a16="http://schemas.microsoft.com/office/drawing/2014/main" xmlns:a14="http://schemas.microsoft.com/office/drawing/2010/main" xmlns="" id="{10E7219F-2FA2-0017-DC21-90B3A4FAC3CD}"/>
                  </a:ext>
                </a:extLst>
              </p:cNvPr>
              <p:cNvSpPr txBox="1">
                <a:spLocks noRot="1" noChangeAspect="1" noMove="1" noResize="1" noEditPoints="1" noAdjustHandles="1" noChangeArrowheads="1" noChangeShapeType="1" noTextEdit="1"/>
              </p:cNvSpPr>
              <p:nvPr/>
            </p:nvSpPr>
            <p:spPr>
              <a:xfrm>
                <a:off x="8003192" y="4153836"/>
                <a:ext cx="417100" cy="400110"/>
              </a:xfrm>
              <a:prstGeom prst="rect">
                <a:avLst/>
              </a:prstGeom>
              <a:blipFill rotWithShape="0">
                <a:blip r:embed="rId13"/>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C570AD1B-5207-9D08-71F4-ED1B16CC53D7}"/>
                  </a:ext>
                </a:extLst>
              </p:cNvPr>
              <p:cNvSpPr txBox="1"/>
              <p:nvPr/>
            </p:nvSpPr>
            <p:spPr>
              <a:xfrm>
                <a:off x="7969321" y="3411998"/>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𝟔</m:t>
                          </m:r>
                        </m:sub>
                      </m:sSub>
                    </m:oMath>
                  </m:oMathPara>
                </a14:m>
                <a:endParaRPr lang="en-US" sz="2000" b="1" dirty="0">
                  <a:solidFill>
                    <a:srgbClr val="002060"/>
                  </a:solidFill>
                </a:endParaRPr>
              </a:p>
            </p:txBody>
          </p:sp>
        </mc:Choice>
        <mc:Fallback xmlns="">
          <p:sp>
            <p:nvSpPr>
              <p:cNvPr id="78" name="TextBox 77">
                <a:extLst>
                  <a:ext uri="{FF2B5EF4-FFF2-40B4-BE49-F238E27FC236}">
                    <a16:creationId xmlns:a16="http://schemas.microsoft.com/office/drawing/2014/main" xmlns:a14="http://schemas.microsoft.com/office/drawing/2010/main" xmlns="" id="{C570AD1B-5207-9D08-71F4-ED1B16CC53D7}"/>
                  </a:ext>
                </a:extLst>
              </p:cNvPr>
              <p:cNvSpPr txBox="1">
                <a:spLocks noRot="1" noChangeAspect="1" noMove="1" noResize="1" noEditPoints="1" noAdjustHandles="1" noChangeArrowheads="1" noChangeShapeType="1" noTextEdit="1"/>
              </p:cNvSpPr>
              <p:nvPr/>
            </p:nvSpPr>
            <p:spPr>
              <a:xfrm>
                <a:off x="7969321" y="3411998"/>
                <a:ext cx="512677" cy="400110"/>
              </a:xfrm>
              <a:prstGeom prst="rect">
                <a:avLst/>
              </a:prstGeom>
              <a:blipFill rotWithShape="0">
                <a:blip r:embed="rId14"/>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6312BEC8-2E62-D0D8-8C7D-06F857F9507C}"/>
                  </a:ext>
                </a:extLst>
              </p:cNvPr>
              <p:cNvSpPr txBox="1"/>
              <p:nvPr/>
            </p:nvSpPr>
            <p:spPr>
              <a:xfrm>
                <a:off x="8480750" y="5281046"/>
                <a:ext cx="612000" cy="576000"/>
              </a:xfrm>
              <a:prstGeom prst="rect">
                <a:avLst/>
              </a:prstGeom>
              <a:noFill/>
              <a:ln w="19050">
                <a:solidFill>
                  <a:srgbClr val="005E6A"/>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600" b="1" i="1" smtClean="0">
                              <a:solidFill>
                                <a:srgbClr val="002060"/>
                              </a:solidFill>
                              <a:latin typeface="Cambria Math" panose="02040503050406030204" pitchFamily="18" charset="0"/>
                            </a:rPr>
                          </m:ctrlPr>
                        </m:sSubPr>
                        <m:e>
                          <m:r>
                            <a:rPr lang="en-IN" sz="2600" b="1" i="0" smtClean="0">
                              <a:solidFill>
                                <a:srgbClr val="002060"/>
                              </a:solidFill>
                              <a:latin typeface="Cambria Math" panose="02040503050406030204" pitchFamily="18" charset="0"/>
                            </a:rPr>
                            <m:t>𝐆</m:t>
                          </m:r>
                        </m:e>
                        <m:sub>
                          <m:r>
                            <a:rPr lang="en-IN" sz="2600" b="1" i="0" smtClean="0">
                              <a:solidFill>
                                <a:srgbClr val="002060"/>
                              </a:solidFill>
                              <a:latin typeface="Cambria Math" panose="02040503050406030204" pitchFamily="18" charset="0"/>
                            </a:rPr>
                            <m:t>𝟏</m:t>
                          </m:r>
                        </m:sub>
                      </m:sSub>
                    </m:oMath>
                  </m:oMathPara>
                </a14:m>
                <a:endParaRPr lang="en-US" sz="2600" b="1" dirty="0">
                  <a:solidFill>
                    <a:srgbClr val="002060"/>
                  </a:solidFill>
                </a:endParaRPr>
              </a:p>
            </p:txBody>
          </p:sp>
        </mc:Choice>
        <mc:Fallback xmlns="">
          <p:sp>
            <p:nvSpPr>
              <p:cNvPr id="79" name="TextBox 78">
                <a:extLst>
                  <a:ext uri="{FF2B5EF4-FFF2-40B4-BE49-F238E27FC236}">
                    <a16:creationId xmlns="" xmlns:a16="http://schemas.microsoft.com/office/drawing/2014/main" xmlns:a14="http://schemas.microsoft.com/office/drawing/2010/main" id="{6312BEC8-2E62-D0D8-8C7D-06F857F9507C}"/>
                  </a:ext>
                </a:extLst>
              </p:cNvPr>
              <p:cNvSpPr txBox="1">
                <a:spLocks noRot="1" noChangeAspect="1" noMove="1" noResize="1" noEditPoints="1" noAdjustHandles="1" noChangeArrowheads="1" noChangeShapeType="1" noTextEdit="1"/>
              </p:cNvSpPr>
              <p:nvPr/>
            </p:nvSpPr>
            <p:spPr>
              <a:xfrm>
                <a:off x="8480750" y="5281046"/>
                <a:ext cx="612000" cy="576000"/>
              </a:xfrm>
              <a:prstGeom prst="rect">
                <a:avLst/>
              </a:prstGeom>
              <a:blipFill rotWithShape="0">
                <a:blip r:embed="rId15"/>
                <a:stretch>
                  <a:fillRect/>
                </a:stretch>
              </a:blipFill>
              <a:ln w="19050">
                <a:solidFill>
                  <a:srgbClr val="005E6A"/>
                </a:solidFill>
              </a:ln>
            </p:spPr>
            <p:txBody>
              <a:bodyPr/>
              <a:lstStyle/>
              <a:p>
                <a:r>
                  <a:rPr lang="en-US">
                    <a:noFill/>
                  </a:rPr>
                  <a:t> </a:t>
                </a:r>
              </a:p>
            </p:txBody>
          </p:sp>
        </mc:Fallback>
      </mc:AlternateContent>
      <p:cxnSp>
        <p:nvCxnSpPr>
          <p:cNvPr id="80" name="Straight Connector 79">
            <a:extLst>
              <a:ext uri="{FF2B5EF4-FFF2-40B4-BE49-F238E27FC236}">
                <a16:creationId xmlns:a16="http://schemas.microsoft.com/office/drawing/2014/main" id="{BB48155F-B6E8-A341-532F-1352CD2B98CA}"/>
              </a:ext>
            </a:extLst>
          </p:cNvPr>
          <p:cNvCxnSpPr>
            <a:cxnSpLocks/>
            <a:stCxn id="71" idx="3"/>
            <a:endCxn id="69" idx="7"/>
          </p:cNvCxnSpPr>
          <p:nvPr/>
        </p:nvCxnSpPr>
        <p:spPr>
          <a:xfrm flipH="1" flipV="1">
            <a:off x="8067527" y="3236705"/>
            <a:ext cx="607446" cy="74603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BB48155F-B6E8-A341-532F-1352CD2B98CA}"/>
              </a:ext>
            </a:extLst>
          </p:cNvPr>
          <p:cNvCxnSpPr>
            <a:cxnSpLocks/>
            <a:stCxn id="68" idx="3"/>
            <a:endCxn id="71" idx="7"/>
          </p:cNvCxnSpPr>
          <p:nvPr/>
        </p:nvCxnSpPr>
        <p:spPr>
          <a:xfrm flipH="1" flipV="1">
            <a:off x="8776797" y="4084564"/>
            <a:ext cx="626144" cy="76106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Straight Connector 81">
            <a:extLst>
              <a:ext uri="{FF2B5EF4-FFF2-40B4-BE49-F238E27FC236}">
                <a16:creationId xmlns:a16="http://schemas.microsoft.com/office/drawing/2014/main" id="{BB48155F-B6E8-A341-532F-1352CD2B98CA}"/>
              </a:ext>
            </a:extLst>
          </p:cNvPr>
          <p:cNvCxnSpPr>
            <a:cxnSpLocks/>
            <a:stCxn id="70" idx="1"/>
            <a:endCxn id="71" idx="5"/>
          </p:cNvCxnSpPr>
          <p:nvPr/>
        </p:nvCxnSpPr>
        <p:spPr>
          <a:xfrm flipV="1">
            <a:off x="8067527" y="4084564"/>
            <a:ext cx="607446" cy="76106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BB48155F-B6E8-A341-532F-1352CD2B98CA}"/>
              </a:ext>
            </a:extLst>
          </p:cNvPr>
          <p:cNvCxnSpPr>
            <a:cxnSpLocks/>
            <a:stCxn id="71" idx="1"/>
            <a:endCxn id="67" idx="5"/>
          </p:cNvCxnSpPr>
          <p:nvPr/>
        </p:nvCxnSpPr>
        <p:spPr>
          <a:xfrm flipV="1">
            <a:off x="8776797" y="3236705"/>
            <a:ext cx="626144" cy="74603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07824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78"/>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80"/>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83"/>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74"/>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1"/>
      <p:bldP spid="78"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53595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a:solidFill>
                  <a:schemeClr val="bg1"/>
                </a:solidFill>
              </a:rPr>
              <a:t>Find cut-set of the following graphs</a:t>
            </a:r>
            <a:endParaRPr lang="en-US" sz="2800" dirty="0">
              <a:solidFill>
                <a:schemeClr val="bg1"/>
              </a:solidFill>
            </a:endParaRP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1(Cont.)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4295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7" name="Rectangle 6"/>
              <p:cNvSpPr/>
              <p:nvPr/>
            </p:nvSpPr>
            <p:spPr>
              <a:xfrm>
                <a:off x="131175" y="1948727"/>
                <a:ext cx="7869188" cy="4355038"/>
              </a:xfrm>
              <a:prstGeom prst="rect">
                <a:avLst/>
              </a:prstGeom>
            </p:spPr>
            <p:txBody>
              <a:bodyPr wrap="square">
                <a:spAutoFit/>
              </a:bodyPr>
              <a:lstStyle/>
              <a:p>
                <a:pPr marL="265113" indent="-265113" algn="just">
                  <a:lnSpc>
                    <a:spcPct val="150000"/>
                  </a:lnSpc>
                  <a:spcBef>
                    <a:spcPts val="1000"/>
                  </a:spcBef>
                  <a:buClr>
                    <a:srgbClr val="B84742"/>
                  </a:buClr>
                  <a:buFont typeface="Wingdings 3" panose="05040102010807070707" pitchFamily="18" charset="2"/>
                  <a:buChar char=""/>
                </a:pPr>
                <a:r>
                  <a:rPr lang="en-US" sz="2800" dirty="0">
                    <a:solidFill>
                      <a:srgbClr val="002060"/>
                    </a:solidFill>
                  </a:rPr>
                  <a:t>For</a:t>
                </a:r>
                <a14:m>
                  <m:oMath xmlns:m="http://schemas.openxmlformats.org/officeDocument/2006/math">
                    <m:r>
                      <a:rPr lang="en-US" sz="2800" b="0" i="0" smtClean="0">
                        <a:solidFill>
                          <a:srgbClr val="002060"/>
                        </a:solidFill>
                        <a:latin typeface="Cambria Math" panose="02040503050406030204" pitchFamily="18" charset="0"/>
                      </a:rPr>
                      <m:t> </m:t>
                    </m:r>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G</m:t>
                        </m:r>
                      </m:e>
                      <m:sub>
                        <m:r>
                          <a:rPr lang="en-US" sz="2800" b="0" i="0" smtClean="0">
                            <a:solidFill>
                              <a:srgbClr val="002060"/>
                            </a:solidFill>
                            <a:latin typeface="Cambria Math" panose="02040503050406030204" pitchFamily="18" charset="0"/>
                          </a:rPr>
                          <m:t>2</m:t>
                        </m:r>
                      </m:sub>
                    </m:sSub>
                  </m:oMath>
                </a14:m>
                <a:endParaRPr lang="en-IN" sz="2800" b="1" dirty="0">
                  <a:solidFill>
                    <a:srgbClr val="002060"/>
                  </a:solidFill>
                </a:endParaRPr>
              </a:p>
              <a:p>
                <a:pPr marL="265113" indent="-265113" algn="just">
                  <a:lnSpc>
                    <a:spcPct val="150000"/>
                  </a:lnSpc>
                  <a:spcBef>
                    <a:spcPts val="1000"/>
                  </a:spcBef>
                  <a:buClr>
                    <a:srgbClr val="B84742"/>
                  </a:buClr>
                  <a:buFont typeface="Wingdings 3" panose="05040102010807070707" pitchFamily="18" charset="2"/>
                  <a:buChar char=""/>
                </a:pPr>
                <a:r>
                  <a:rPr lang="en-IN" sz="2800" dirty="0">
                    <a:solidFill>
                      <a:srgbClr val="002060"/>
                    </a:solidFill>
                  </a:rPr>
                  <a:t>If we remove the set of edges</a:t>
                </a:r>
                <a14:m>
                  <m:oMath xmlns:m="http://schemas.openxmlformats.org/officeDocument/2006/math">
                    <m:r>
                      <a:rPr lang="en-US" sz="2800" b="0" i="0" dirty="0" smtClean="0">
                        <a:solidFill>
                          <a:srgbClr val="002060"/>
                        </a:solidFill>
                        <a:latin typeface="Cambria Math" panose="02040503050406030204" pitchFamily="18" charset="0"/>
                      </a:rPr>
                      <m:t> </m:t>
                    </m:r>
                    <m:d>
                      <m:dPr>
                        <m:begChr m:val="{"/>
                        <m:endChr m:val="}"/>
                        <m:ctrlPr>
                          <a:rPr lang="en-US" sz="2800" i="1" smtClean="0">
                            <a:solidFill>
                              <a:srgbClr val="002060"/>
                            </a:solidFill>
                            <a:latin typeface="Cambria Math" panose="02040503050406030204" pitchFamily="18" charset="0"/>
                          </a:rPr>
                        </m:ctrlPr>
                      </m:dPr>
                      <m:e>
                        <m:sSub>
                          <m:sSubPr>
                            <m:ctrlPr>
                              <a:rPr lang="en-US" sz="2800" i="1" smtClean="0">
                                <a:solidFill>
                                  <a:srgbClr val="002060"/>
                                </a:solidFill>
                                <a:latin typeface="Cambria Math" panose="02040503050406030204" pitchFamily="18" charset="0"/>
                              </a:rPr>
                            </m:ctrlPr>
                          </m:sSubPr>
                          <m:e>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e</m:t>
                                </m:r>
                              </m:e>
                              <m:sub>
                                <m:r>
                                  <a:rPr lang="en-US" sz="2800" b="0" i="0" smtClean="0">
                                    <a:solidFill>
                                      <a:srgbClr val="002060"/>
                                    </a:solidFill>
                                    <a:latin typeface="Cambria Math" panose="02040503050406030204" pitchFamily="18" charset="0"/>
                                  </a:rPr>
                                  <m:t>4</m:t>
                                </m:r>
                              </m:sub>
                            </m:sSub>
                            <m:r>
                              <a:rPr lang="en-US" sz="2800" b="0" i="0" smtClean="0">
                                <a:solidFill>
                                  <a:srgbClr val="002060"/>
                                </a:solidFill>
                                <a:latin typeface="Cambria Math" panose="02040503050406030204" pitchFamily="18" charset="0"/>
                              </a:rPr>
                              <m:t>, </m:t>
                            </m:r>
                            <m:sSub>
                              <m:sSubPr>
                                <m:ctrlPr>
                                  <a:rPr lang="en-US" sz="2800" b="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e</m:t>
                                </m:r>
                              </m:e>
                              <m:sub>
                                <m:r>
                                  <a:rPr lang="en-US" sz="2800" b="0" i="0" smtClean="0">
                                    <a:solidFill>
                                      <a:srgbClr val="002060"/>
                                    </a:solidFill>
                                    <a:latin typeface="Cambria Math" panose="02040503050406030204" pitchFamily="18" charset="0"/>
                                  </a:rPr>
                                  <m:t>5</m:t>
                                </m:r>
                              </m:sub>
                            </m:sSub>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e</m:t>
                            </m:r>
                          </m:e>
                          <m:sub>
                            <m:r>
                              <a:rPr lang="en-US" sz="2800" b="0" i="0" smtClean="0">
                                <a:solidFill>
                                  <a:srgbClr val="002060"/>
                                </a:solidFill>
                                <a:latin typeface="Cambria Math" panose="02040503050406030204" pitchFamily="18" charset="0"/>
                              </a:rPr>
                              <m:t>6</m:t>
                            </m:r>
                          </m:sub>
                        </m:sSub>
                        <m:r>
                          <a:rPr lang="en-US" sz="2800" b="0" i="0" smtClean="0">
                            <a:solidFill>
                              <a:srgbClr val="002060"/>
                            </a:solidFill>
                            <a:latin typeface="Cambria Math" panose="02040503050406030204" pitchFamily="18" charset="0"/>
                          </a:rPr>
                          <m:t>,</m:t>
                        </m:r>
                        <m:sSub>
                          <m:sSubPr>
                            <m:ctrlPr>
                              <a:rPr lang="en-US"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e</m:t>
                            </m:r>
                          </m:e>
                          <m:sub>
                            <m:r>
                              <a:rPr lang="en-US" sz="2800" b="0" i="0" smtClean="0">
                                <a:solidFill>
                                  <a:srgbClr val="002060"/>
                                </a:solidFill>
                                <a:latin typeface="Cambria Math" panose="02040503050406030204" pitchFamily="18" charset="0"/>
                              </a:rPr>
                              <m:t>2</m:t>
                            </m:r>
                          </m:sub>
                        </m:sSub>
                      </m:e>
                    </m:d>
                  </m:oMath>
                </a14:m>
                <a:r>
                  <a:rPr lang="en-IN" sz="2800" dirty="0">
                    <a:solidFill>
                      <a:srgbClr val="002060"/>
                    </a:solidFill>
                  </a:rPr>
                  <a:t> from</a:t>
                </a:r>
                <a14:m>
                  <m:oMath xmlns:m="http://schemas.openxmlformats.org/officeDocument/2006/math">
                    <m:r>
                      <a:rPr lang="en-US" sz="2800" b="0" i="0" smtClean="0">
                        <a:solidFill>
                          <a:srgbClr val="002060"/>
                        </a:solidFill>
                        <a:latin typeface="Cambria Math" panose="02040503050406030204" pitchFamily="18" charset="0"/>
                      </a:rPr>
                      <m:t> </m:t>
                    </m:r>
                    <m:sSub>
                      <m:sSubPr>
                        <m:ctrlPr>
                          <a:rPr lang="en-US" sz="2800" i="1" smtClean="0">
                            <a:solidFill>
                              <a:srgbClr val="002060"/>
                            </a:solidFill>
                            <a:latin typeface="Cambria Math" panose="02040503050406030204" pitchFamily="18" charset="0"/>
                          </a:rPr>
                        </m:ctrlPr>
                      </m:sSubPr>
                      <m:e>
                        <m:r>
                          <m:rPr>
                            <m:sty m:val="p"/>
                          </m:rPr>
                          <a:rPr lang="en-US" sz="2800" b="0" i="0" smtClean="0">
                            <a:solidFill>
                              <a:srgbClr val="002060"/>
                            </a:solidFill>
                            <a:latin typeface="Cambria Math" panose="02040503050406030204" pitchFamily="18" charset="0"/>
                          </a:rPr>
                          <m:t>G</m:t>
                        </m:r>
                      </m:e>
                      <m:sub>
                        <m:r>
                          <a:rPr lang="en-US" sz="2800" b="0" i="0" smtClean="0">
                            <a:solidFill>
                              <a:srgbClr val="002060"/>
                            </a:solidFill>
                            <a:latin typeface="Cambria Math" panose="02040503050406030204" pitchFamily="18" charset="0"/>
                          </a:rPr>
                          <m:t>2</m:t>
                        </m:r>
                      </m:sub>
                    </m:sSub>
                    <m:r>
                      <a:rPr lang="en-US" sz="2800" b="0" i="1" smtClean="0">
                        <a:solidFill>
                          <a:srgbClr val="002060"/>
                        </a:solidFill>
                        <a:latin typeface="Cambria Math" panose="02040503050406030204" pitchFamily="18" charset="0"/>
                      </a:rPr>
                      <m:t>,</m:t>
                    </m:r>
                  </m:oMath>
                </a14:m>
                <a:r>
                  <a:rPr lang="en-IN" sz="2800" dirty="0">
                    <a:solidFill>
                      <a:srgbClr val="002060"/>
                    </a:solidFill>
                  </a:rPr>
                  <a:t> we get disconnected graph.</a:t>
                </a:r>
              </a:p>
              <a:p>
                <a:pPr marL="265113" indent="-265113" algn="just">
                  <a:lnSpc>
                    <a:spcPct val="150000"/>
                  </a:lnSpc>
                  <a:spcBef>
                    <a:spcPts val="1000"/>
                  </a:spcBef>
                  <a:buClr>
                    <a:srgbClr val="B84742"/>
                  </a:buClr>
                  <a:buFont typeface="Wingdings 3" panose="05040102010807070707" pitchFamily="18" charset="2"/>
                  <a:buChar char=""/>
                </a:pPr>
                <a:r>
                  <a:rPr lang="en-IN" sz="2800" dirty="0">
                    <a:solidFill>
                      <a:srgbClr val="002060"/>
                    </a:solidFill>
                  </a:rPr>
                  <a:t>Also, proper subset of the edge set can not disconnect the graph. </a:t>
                </a:r>
              </a:p>
              <a:p>
                <a:pPr marL="265113" indent="-265113" algn="just">
                  <a:lnSpc>
                    <a:spcPct val="150000"/>
                  </a:lnSpc>
                  <a:spcBef>
                    <a:spcPts val="1000"/>
                  </a:spcBef>
                  <a:buClr>
                    <a:srgbClr val="B84742"/>
                  </a:buClr>
                  <a:buFont typeface="Wingdings 3" panose="05040102010807070707" pitchFamily="18" charset="2"/>
                  <a:buChar char=""/>
                </a:pPr>
                <a:r>
                  <a:rPr lang="en-IN" sz="2800" dirty="0">
                    <a:solidFill>
                      <a:srgbClr val="002060"/>
                    </a:solidFill>
                  </a:rPr>
                  <a:t>That means </a:t>
                </a:r>
                <a:r>
                  <a:rPr lang="en-IN" sz="2800" b="1" dirty="0">
                    <a:solidFill>
                      <a:srgbClr val="002060"/>
                    </a:solidFill>
                  </a:rPr>
                  <a:t>the edge set</a:t>
                </a:r>
                <a14:m>
                  <m:oMath xmlns:m="http://schemas.openxmlformats.org/officeDocument/2006/math">
                    <m:r>
                      <a:rPr lang="en-US" sz="2800" b="1" i="0" smtClean="0">
                        <a:solidFill>
                          <a:srgbClr val="002060"/>
                        </a:solidFill>
                        <a:latin typeface="Cambria Math" panose="02040503050406030204" pitchFamily="18" charset="0"/>
                      </a:rPr>
                      <m:t> </m:t>
                    </m:r>
                    <m:d>
                      <m:dPr>
                        <m:begChr m:val="{"/>
                        <m:endChr m:val="}"/>
                        <m:ctrlPr>
                          <a:rPr lang="en-US" sz="2800" b="1" i="1">
                            <a:solidFill>
                              <a:srgbClr val="002060"/>
                            </a:solidFill>
                            <a:latin typeface="Cambria Math" panose="02040503050406030204" pitchFamily="18" charset="0"/>
                          </a:rPr>
                        </m:ctrlPr>
                      </m:dPr>
                      <m:e>
                        <m:sSub>
                          <m:sSubPr>
                            <m:ctrlPr>
                              <a:rPr lang="en-US" sz="2800" b="1" i="1">
                                <a:solidFill>
                                  <a:srgbClr val="002060"/>
                                </a:solidFill>
                                <a:latin typeface="Cambria Math" panose="02040503050406030204" pitchFamily="18" charset="0"/>
                              </a:rPr>
                            </m:ctrlPr>
                          </m:sSubPr>
                          <m:e>
                            <m:sSub>
                              <m:sSubPr>
                                <m:ctrlPr>
                                  <a:rPr lang="en-US" sz="2800" b="1" i="1">
                                    <a:solidFill>
                                      <a:srgbClr val="002060"/>
                                    </a:solidFill>
                                    <a:latin typeface="Cambria Math" panose="02040503050406030204" pitchFamily="18" charset="0"/>
                                  </a:rPr>
                                </m:ctrlPr>
                              </m:sSubPr>
                              <m:e>
                                <m:r>
                                  <a:rPr lang="en-US" sz="2800" b="1" i="0">
                                    <a:solidFill>
                                      <a:srgbClr val="002060"/>
                                    </a:solidFill>
                                    <a:latin typeface="Cambria Math" panose="02040503050406030204" pitchFamily="18" charset="0"/>
                                  </a:rPr>
                                  <m:t>𝐞</m:t>
                                </m:r>
                              </m:e>
                              <m:sub>
                                <m:r>
                                  <a:rPr lang="en-US" sz="2800" b="1" i="0">
                                    <a:solidFill>
                                      <a:srgbClr val="002060"/>
                                    </a:solidFill>
                                    <a:latin typeface="Cambria Math" panose="02040503050406030204" pitchFamily="18" charset="0"/>
                                  </a:rPr>
                                  <m:t>𝟒</m:t>
                                </m:r>
                              </m:sub>
                            </m:sSub>
                            <m:r>
                              <a:rPr lang="en-US" sz="2800" b="1" i="0">
                                <a:solidFill>
                                  <a:srgbClr val="002060"/>
                                </a:solidFill>
                                <a:latin typeface="Cambria Math" panose="02040503050406030204" pitchFamily="18" charset="0"/>
                              </a:rPr>
                              <m:t>, </m:t>
                            </m:r>
                            <m:sSub>
                              <m:sSubPr>
                                <m:ctrlPr>
                                  <a:rPr lang="en-US" sz="2800" b="1" i="1">
                                    <a:solidFill>
                                      <a:srgbClr val="002060"/>
                                    </a:solidFill>
                                    <a:latin typeface="Cambria Math" panose="02040503050406030204" pitchFamily="18" charset="0"/>
                                  </a:rPr>
                                </m:ctrlPr>
                              </m:sSubPr>
                              <m:e>
                                <m:r>
                                  <a:rPr lang="en-US" sz="2800" b="1" i="0">
                                    <a:solidFill>
                                      <a:srgbClr val="002060"/>
                                    </a:solidFill>
                                    <a:latin typeface="Cambria Math" panose="02040503050406030204" pitchFamily="18" charset="0"/>
                                  </a:rPr>
                                  <m:t>𝐞</m:t>
                                </m:r>
                              </m:e>
                              <m:sub>
                                <m:r>
                                  <a:rPr lang="en-US" sz="2800" b="1" i="0">
                                    <a:solidFill>
                                      <a:srgbClr val="002060"/>
                                    </a:solidFill>
                                    <a:latin typeface="Cambria Math" panose="02040503050406030204" pitchFamily="18" charset="0"/>
                                  </a:rPr>
                                  <m:t>𝟓</m:t>
                                </m:r>
                              </m:sub>
                            </m:sSub>
                            <m:r>
                              <a:rPr lang="en-US" sz="2800" b="1" i="0">
                                <a:solidFill>
                                  <a:srgbClr val="002060"/>
                                </a:solidFill>
                                <a:latin typeface="Cambria Math" panose="02040503050406030204" pitchFamily="18" charset="0"/>
                              </a:rPr>
                              <m:t>, </m:t>
                            </m:r>
                            <m:r>
                              <a:rPr lang="en-US" sz="2800" b="1" i="0">
                                <a:solidFill>
                                  <a:srgbClr val="002060"/>
                                </a:solidFill>
                                <a:latin typeface="Cambria Math" panose="02040503050406030204" pitchFamily="18" charset="0"/>
                              </a:rPr>
                              <m:t>𝐞</m:t>
                            </m:r>
                          </m:e>
                          <m:sub>
                            <m:r>
                              <a:rPr lang="en-US" sz="2800" b="1" i="0">
                                <a:solidFill>
                                  <a:srgbClr val="002060"/>
                                </a:solidFill>
                                <a:latin typeface="Cambria Math" panose="02040503050406030204" pitchFamily="18" charset="0"/>
                              </a:rPr>
                              <m:t>𝟔</m:t>
                            </m:r>
                          </m:sub>
                        </m:sSub>
                        <m:r>
                          <a:rPr lang="en-US" sz="2800" b="1" i="0">
                            <a:solidFill>
                              <a:srgbClr val="002060"/>
                            </a:solidFill>
                            <a:latin typeface="Cambria Math" panose="02040503050406030204" pitchFamily="18" charset="0"/>
                          </a:rPr>
                          <m:t>,</m:t>
                        </m:r>
                        <m:sSub>
                          <m:sSubPr>
                            <m:ctrlPr>
                              <a:rPr lang="en-US" sz="2800" b="1" i="1">
                                <a:solidFill>
                                  <a:srgbClr val="002060"/>
                                </a:solidFill>
                                <a:latin typeface="Cambria Math" panose="02040503050406030204" pitchFamily="18" charset="0"/>
                              </a:rPr>
                            </m:ctrlPr>
                          </m:sSubPr>
                          <m:e>
                            <m:r>
                              <a:rPr lang="en-US" sz="2800" b="1" i="0">
                                <a:solidFill>
                                  <a:srgbClr val="002060"/>
                                </a:solidFill>
                                <a:latin typeface="Cambria Math" panose="02040503050406030204" pitchFamily="18" charset="0"/>
                              </a:rPr>
                              <m:t>𝐞</m:t>
                            </m:r>
                          </m:e>
                          <m:sub>
                            <m:r>
                              <a:rPr lang="en-US" sz="2800" b="1" i="0">
                                <a:solidFill>
                                  <a:srgbClr val="002060"/>
                                </a:solidFill>
                                <a:latin typeface="Cambria Math" panose="02040503050406030204" pitchFamily="18" charset="0"/>
                              </a:rPr>
                              <m:t>𝟐</m:t>
                            </m:r>
                          </m:sub>
                        </m:sSub>
                      </m:e>
                    </m:d>
                  </m:oMath>
                </a14:m>
                <a:r>
                  <a:rPr lang="en-IN" sz="2800" b="1" dirty="0">
                    <a:solidFill>
                      <a:srgbClr val="002060"/>
                    </a:solidFill>
                  </a:rPr>
                  <a:t> is cut-set</a:t>
                </a:r>
                <a:r>
                  <a:rPr lang="en-IN" sz="2800" dirty="0">
                    <a:solidFill>
                      <a:srgbClr val="002060"/>
                    </a:solidFill>
                  </a:rPr>
                  <a:t>.</a:t>
                </a:r>
              </a:p>
            </p:txBody>
          </p:sp>
        </mc:Choice>
        <mc:Fallback xmlns="">
          <p:sp>
            <p:nvSpPr>
              <p:cNvPr id="7" name="Rectangle 6"/>
              <p:cNvSpPr>
                <a:spLocks noRot="1" noChangeAspect="1" noMove="1" noResize="1" noEditPoints="1" noAdjustHandles="1" noChangeArrowheads="1" noChangeShapeType="1" noTextEdit="1"/>
              </p:cNvSpPr>
              <p:nvPr/>
            </p:nvSpPr>
            <p:spPr>
              <a:xfrm>
                <a:off x="131175" y="1948727"/>
                <a:ext cx="7869188" cy="4355038"/>
              </a:xfrm>
              <a:prstGeom prst="rect">
                <a:avLst/>
              </a:prstGeom>
              <a:blipFill rotWithShape="0">
                <a:blip r:embed="rId2"/>
                <a:stretch>
                  <a:fillRect l="-1473" r="-1628" b="-1401"/>
                </a:stretch>
              </a:blipFill>
            </p:spPr>
            <p:txBody>
              <a:bodyPr/>
              <a:lstStyle/>
              <a:p>
                <a:r>
                  <a:rPr lang="en-US">
                    <a:noFill/>
                  </a:rPr>
                  <a:t> </a:t>
                </a:r>
              </a:p>
            </p:txBody>
          </p:sp>
        </mc:Fallback>
      </mc:AlternateContent>
      <p:cxnSp>
        <p:nvCxnSpPr>
          <p:cNvPr id="57" name="Straight Connector 56">
            <a:extLst>
              <a:ext uri="{FF2B5EF4-FFF2-40B4-BE49-F238E27FC236}">
                <a16:creationId xmlns:a16="http://schemas.microsoft.com/office/drawing/2014/main" id="{B45D2155-7A03-7E0E-8EC0-574B9411189C}"/>
              </a:ext>
            </a:extLst>
          </p:cNvPr>
          <p:cNvCxnSpPr>
            <a:cxnSpLocks/>
          </p:cNvCxnSpPr>
          <p:nvPr/>
        </p:nvCxnSpPr>
        <p:spPr>
          <a:xfrm>
            <a:off x="8581868" y="4472550"/>
            <a:ext cx="168664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46244C31-A767-7727-711D-D611C45577EB}"/>
              </a:ext>
            </a:extLst>
          </p:cNvPr>
          <p:cNvCxnSpPr>
            <a:cxnSpLocks/>
          </p:cNvCxnSpPr>
          <p:nvPr/>
        </p:nvCxnSpPr>
        <p:spPr>
          <a:xfrm>
            <a:off x="8581869" y="2758525"/>
            <a:ext cx="168664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D9837AC8-F25A-0AC2-E182-9A19C6B4F8CE}"/>
              </a:ext>
            </a:extLst>
          </p:cNvPr>
          <p:cNvCxnSpPr>
            <a:cxnSpLocks/>
            <a:stCxn id="86" idx="4"/>
            <a:endCxn id="88" idx="0"/>
          </p:cNvCxnSpPr>
          <p:nvPr/>
        </p:nvCxnSpPr>
        <p:spPr>
          <a:xfrm>
            <a:off x="10284426" y="2821176"/>
            <a:ext cx="0" cy="15793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8C0E86D8-548E-1599-FD77-D179C9BC8A47}"/>
              </a:ext>
            </a:extLst>
          </p:cNvPr>
          <p:cNvCxnSpPr>
            <a:cxnSpLocks/>
            <a:stCxn id="84" idx="4"/>
            <a:endCxn id="87" idx="0"/>
          </p:cNvCxnSpPr>
          <p:nvPr/>
        </p:nvCxnSpPr>
        <p:spPr>
          <a:xfrm>
            <a:off x="8573682" y="2821176"/>
            <a:ext cx="0" cy="15793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4" name="Oval 83">
            <a:extLst>
              <a:ext uri="{FF2B5EF4-FFF2-40B4-BE49-F238E27FC236}">
                <a16:creationId xmlns:a16="http://schemas.microsoft.com/office/drawing/2014/main" id="{84C19D85-018F-7360-44B0-CC8A0776460A}"/>
              </a:ext>
            </a:extLst>
          </p:cNvPr>
          <p:cNvSpPr/>
          <p:nvPr/>
        </p:nvSpPr>
        <p:spPr>
          <a:xfrm>
            <a:off x="8501682" y="267717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5E6BF1A7-8B33-D481-DBDD-F503D9269221}"/>
                  </a:ext>
                </a:extLst>
              </p:cNvPr>
              <p:cNvSpPr txBox="1"/>
              <p:nvPr/>
            </p:nvSpPr>
            <p:spPr>
              <a:xfrm>
                <a:off x="8322922" y="2274257"/>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𝟏</m:t>
                          </m:r>
                        </m:sub>
                      </m:sSub>
                    </m:oMath>
                  </m:oMathPara>
                </a14:m>
                <a:endParaRPr lang="en-US" sz="2200" b="1" dirty="0">
                  <a:solidFill>
                    <a:srgbClr val="002060"/>
                  </a:solidFill>
                </a:endParaRPr>
              </a:p>
            </p:txBody>
          </p:sp>
        </mc:Choice>
        <mc:Fallback xmlns="">
          <p:sp>
            <p:nvSpPr>
              <p:cNvPr id="85" name="TextBox 84">
                <a:extLst>
                  <a:ext uri="{FF2B5EF4-FFF2-40B4-BE49-F238E27FC236}">
                    <a16:creationId xmlns:a16="http://schemas.microsoft.com/office/drawing/2014/main" xmlns:a14="http://schemas.microsoft.com/office/drawing/2010/main" xmlns="" id="{5E6BF1A7-8B33-D481-DBDD-F503D9269221}"/>
                  </a:ext>
                </a:extLst>
              </p:cNvPr>
              <p:cNvSpPr txBox="1">
                <a:spLocks noRot="1" noChangeAspect="1" noMove="1" noResize="1" noEditPoints="1" noAdjustHandles="1" noChangeArrowheads="1" noChangeShapeType="1" noTextEdit="1"/>
              </p:cNvSpPr>
              <p:nvPr/>
            </p:nvSpPr>
            <p:spPr>
              <a:xfrm>
                <a:off x="8322922" y="2274257"/>
                <a:ext cx="512677" cy="430887"/>
              </a:xfrm>
              <a:prstGeom prst="rect">
                <a:avLst/>
              </a:prstGeom>
              <a:blipFill rotWithShape="0">
                <a:blip r:embed="rId4"/>
                <a:stretch>
                  <a:fillRect b="-2817"/>
                </a:stretch>
              </a:blipFill>
            </p:spPr>
            <p:txBody>
              <a:bodyPr/>
              <a:lstStyle/>
              <a:p>
                <a:r>
                  <a:rPr lang="en-US">
                    <a:noFill/>
                  </a:rPr>
                  <a:t> </a:t>
                </a:r>
              </a:p>
            </p:txBody>
          </p:sp>
        </mc:Fallback>
      </mc:AlternateContent>
      <p:sp>
        <p:nvSpPr>
          <p:cNvPr id="86" name="Oval 85">
            <a:extLst>
              <a:ext uri="{FF2B5EF4-FFF2-40B4-BE49-F238E27FC236}">
                <a16:creationId xmlns:a16="http://schemas.microsoft.com/office/drawing/2014/main" id="{F5B2D70A-571A-6E65-622E-009592E75734}"/>
              </a:ext>
            </a:extLst>
          </p:cNvPr>
          <p:cNvSpPr/>
          <p:nvPr/>
        </p:nvSpPr>
        <p:spPr>
          <a:xfrm>
            <a:off x="10212426" y="267717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7" name="Oval 86">
            <a:extLst>
              <a:ext uri="{FF2B5EF4-FFF2-40B4-BE49-F238E27FC236}">
                <a16:creationId xmlns:a16="http://schemas.microsoft.com/office/drawing/2014/main" id="{F0BD0CB5-5604-F6A2-6E5E-15506858817E}"/>
              </a:ext>
            </a:extLst>
          </p:cNvPr>
          <p:cNvSpPr/>
          <p:nvPr/>
        </p:nvSpPr>
        <p:spPr>
          <a:xfrm>
            <a:off x="8501682" y="44005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8" name="Oval 87">
            <a:extLst>
              <a:ext uri="{FF2B5EF4-FFF2-40B4-BE49-F238E27FC236}">
                <a16:creationId xmlns:a16="http://schemas.microsoft.com/office/drawing/2014/main" id="{A9FA7A9D-6F04-7C33-8974-BA3BBAB0F409}"/>
              </a:ext>
            </a:extLst>
          </p:cNvPr>
          <p:cNvSpPr/>
          <p:nvPr/>
        </p:nvSpPr>
        <p:spPr>
          <a:xfrm>
            <a:off x="10212426" y="44005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B4D4D449-B48B-218C-9BC9-A59CF5355BF2}"/>
                  </a:ext>
                </a:extLst>
              </p:cNvPr>
              <p:cNvSpPr txBox="1"/>
              <p:nvPr/>
            </p:nvSpPr>
            <p:spPr>
              <a:xfrm>
                <a:off x="8336412" y="4426406"/>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𝟒</m:t>
                          </m:r>
                        </m:sub>
                      </m:sSub>
                    </m:oMath>
                  </m:oMathPara>
                </a14:m>
                <a:endParaRPr lang="en-US" sz="2200" b="1" dirty="0">
                  <a:solidFill>
                    <a:srgbClr val="002060"/>
                  </a:solidFill>
                </a:endParaRPr>
              </a:p>
            </p:txBody>
          </p:sp>
        </mc:Choice>
        <mc:Fallback xmlns="">
          <p:sp>
            <p:nvSpPr>
              <p:cNvPr id="89" name="TextBox 88">
                <a:extLst>
                  <a:ext uri="{FF2B5EF4-FFF2-40B4-BE49-F238E27FC236}">
                    <a16:creationId xmlns:a16="http://schemas.microsoft.com/office/drawing/2014/main" xmlns:a14="http://schemas.microsoft.com/office/drawing/2010/main" xmlns="" id="{B4D4D449-B48B-218C-9BC9-A59CF5355BF2}"/>
                  </a:ext>
                </a:extLst>
              </p:cNvPr>
              <p:cNvSpPr txBox="1">
                <a:spLocks noRot="1" noChangeAspect="1" noMove="1" noResize="1" noEditPoints="1" noAdjustHandles="1" noChangeArrowheads="1" noChangeShapeType="1" noTextEdit="1"/>
              </p:cNvSpPr>
              <p:nvPr/>
            </p:nvSpPr>
            <p:spPr>
              <a:xfrm>
                <a:off x="8336412" y="4426406"/>
                <a:ext cx="512677" cy="430887"/>
              </a:xfrm>
              <a:prstGeom prst="rect">
                <a:avLst/>
              </a:prstGeom>
              <a:blipFill rotWithShape="0">
                <a:blip r:embed="rId5"/>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9AF4BBAD-BDFB-18AE-D0AE-7F8D9D000DCD}"/>
                  </a:ext>
                </a:extLst>
              </p:cNvPr>
              <p:cNvSpPr txBox="1"/>
              <p:nvPr/>
            </p:nvSpPr>
            <p:spPr>
              <a:xfrm>
                <a:off x="10056130" y="4426406"/>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𝟑</m:t>
                          </m:r>
                        </m:sub>
                      </m:sSub>
                    </m:oMath>
                  </m:oMathPara>
                </a14:m>
                <a:endParaRPr lang="en-US" sz="2200" b="1" dirty="0">
                  <a:solidFill>
                    <a:srgbClr val="002060"/>
                  </a:solidFill>
                </a:endParaRPr>
              </a:p>
            </p:txBody>
          </p:sp>
        </mc:Choice>
        <mc:Fallback xmlns="">
          <p:sp>
            <p:nvSpPr>
              <p:cNvPr id="90" name="TextBox 89">
                <a:extLst>
                  <a:ext uri="{FF2B5EF4-FFF2-40B4-BE49-F238E27FC236}">
                    <a16:creationId xmlns:a16="http://schemas.microsoft.com/office/drawing/2014/main" xmlns:a14="http://schemas.microsoft.com/office/drawing/2010/main" xmlns="" id="{9AF4BBAD-BDFB-18AE-D0AE-7F8D9D000DCD}"/>
                  </a:ext>
                </a:extLst>
              </p:cNvPr>
              <p:cNvSpPr txBox="1">
                <a:spLocks noRot="1" noChangeAspect="1" noMove="1" noResize="1" noEditPoints="1" noAdjustHandles="1" noChangeArrowheads="1" noChangeShapeType="1" noTextEdit="1"/>
              </p:cNvSpPr>
              <p:nvPr/>
            </p:nvSpPr>
            <p:spPr>
              <a:xfrm>
                <a:off x="10056130" y="4426406"/>
                <a:ext cx="512677" cy="430887"/>
              </a:xfrm>
              <a:prstGeom prst="rect">
                <a:avLst/>
              </a:prstGeom>
              <a:blipFill rotWithShape="0">
                <a:blip r:embed="rId6"/>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900285EA-DC4C-9F46-A37C-F74ED81F4990}"/>
                  </a:ext>
                </a:extLst>
              </p:cNvPr>
              <p:cNvSpPr txBox="1"/>
              <p:nvPr/>
            </p:nvSpPr>
            <p:spPr>
              <a:xfrm>
                <a:off x="10028087" y="2287373"/>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𝟐</m:t>
                          </m:r>
                        </m:sub>
                      </m:sSub>
                    </m:oMath>
                  </m:oMathPara>
                </a14:m>
                <a:endParaRPr lang="en-US" sz="2200" b="1" dirty="0">
                  <a:solidFill>
                    <a:srgbClr val="002060"/>
                  </a:solidFill>
                </a:endParaRPr>
              </a:p>
            </p:txBody>
          </p:sp>
        </mc:Choice>
        <mc:Fallback xmlns="">
          <p:sp>
            <p:nvSpPr>
              <p:cNvPr id="91" name="TextBox 90">
                <a:extLst>
                  <a:ext uri="{FF2B5EF4-FFF2-40B4-BE49-F238E27FC236}">
                    <a16:creationId xmlns:a16="http://schemas.microsoft.com/office/drawing/2014/main" xmlns:a14="http://schemas.microsoft.com/office/drawing/2010/main" xmlns="" id="{900285EA-DC4C-9F46-A37C-F74ED81F4990}"/>
                  </a:ext>
                </a:extLst>
              </p:cNvPr>
              <p:cNvSpPr txBox="1">
                <a:spLocks noRot="1" noChangeAspect="1" noMove="1" noResize="1" noEditPoints="1" noAdjustHandles="1" noChangeArrowheads="1" noChangeShapeType="1" noTextEdit="1"/>
              </p:cNvSpPr>
              <p:nvPr/>
            </p:nvSpPr>
            <p:spPr>
              <a:xfrm>
                <a:off x="10028087" y="2287373"/>
                <a:ext cx="512677" cy="430887"/>
              </a:xfrm>
              <a:prstGeom prst="rect">
                <a:avLst/>
              </a:prstGeom>
              <a:blipFill rotWithShape="0">
                <a:blip r:embed="rId7"/>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F414AB82-01C4-C728-FDC5-361E48BED5DA}"/>
                  </a:ext>
                </a:extLst>
              </p:cNvPr>
              <p:cNvSpPr txBox="1"/>
              <p:nvPr/>
            </p:nvSpPr>
            <p:spPr>
              <a:xfrm>
                <a:off x="10233514" y="3424720"/>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𝟐</m:t>
                          </m:r>
                        </m:sub>
                      </m:sSub>
                    </m:oMath>
                  </m:oMathPara>
                </a14:m>
                <a:endParaRPr lang="en-US" sz="2000" b="1" dirty="0">
                  <a:solidFill>
                    <a:srgbClr val="002060"/>
                  </a:solidFill>
                </a:endParaRPr>
              </a:p>
            </p:txBody>
          </p:sp>
        </mc:Choice>
        <mc:Fallback xmlns="">
          <p:sp>
            <p:nvSpPr>
              <p:cNvPr id="92" name="TextBox 91">
                <a:extLst>
                  <a:ext uri="{FF2B5EF4-FFF2-40B4-BE49-F238E27FC236}">
                    <a16:creationId xmlns:a16="http://schemas.microsoft.com/office/drawing/2014/main" xmlns:a14="http://schemas.microsoft.com/office/drawing/2010/main" xmlns="" id="{F414AB82-01C4-C728-FDC5-361E48BED5DA}"/>
                  </a:ext>
                </a:extLst>
              </p:cNvPr>
              <p:cNvSpPr txBox="1">
                <a:spLocks noRot="1" noChangeAspect="1" noMove="1" noResize="1" noEditPoints="1" noAdjustHandles="1" noChangeArrowheads="1" noChangeShapeType="1" noTextEdit="1"/>
              </p:cNvSpPr>
              <p:nvPr/>
            </p:nvSpPr>
            <p:spPr>
              <a:xfrm>
                <a:off x="10233514" y="3424720"/>
                <a:ext cx="439044" cy="400110"/>
              </a:xfrm>
              <a:prstGeom prst="rect">
                <a:avLst/>
              </a:prstGeom>
              <a:blipFill rotWithShape="0">
                <a:blip r:embed="rId8"/>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FC162AEF-7967-5791-D53C-FE09AAB12296}"/>
                  </a:ext>
                </a:extLst>
              </p:cNvPr>
              <p:cNvSpPr txBox="1"/>
              <p:nvPr/>
            </p:nvSpPr>
            <p:spPr>
              <a:xfrm>
                <a:off x="9187297" y="2344005"/>
                <a:ext cx="46731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1" dirty="0" smtClean="0">
                              <a:solidFill>
                                <a:srgbClr val="0070C0"/>
                              </a:solidFill>
                              <a:latin typeface="Cambria Math" panose="02040503050406030204" pitchFamily="18" charset="0"/>
                            </a:rPr>
                            <m:t>𝟏</m:t>
                          </m:r>
                        </m:sub>
                      </m:sSub>
                    </m:oMath>
                  </m:oMathPara>
                </a14:m>
                <a:endParaRPr lang="en-US" sz="2200" b="1" dirty="0">
                  <a:solidFill>
                    <a:srgbClr val="002060"/>
                  </a:solidFill>
                </a:endParaRPr>
              </a:p>
            </p:txBody>
          </p:sp>
        </mc:Choice>
        <mc:Fallback xmlns="">
          <p:sp>
            <p:nvSpPr>
              <p:cNvPr id="93" name="TextBox 92">
                <a:extLst>
                  <a:ext uri="{FF2B5EF4-FFF2-40B4-BE49-F238E27FC236}">
                    <a16:creationId xmlns:a16="http://schemas.microsoft.com/office/drawing/2014/main" xmlns:a14="http://schemas.microsoft.com/office/drawing/2010/main" xmlns="" id="{FC162AEF-7967-5791-D53C-FE09AAB12296}"/>
                  </a:ext>
                </a:extLst>
              </p:cNvPr>
              <p:cNvSpPr txBox="1">
                <a:spLocks noRot="1" noChangeAspect="1" noMove="1" noResize="1" noEditPoints="1" noAdjustHandles="1" noChangeArrowheads="1" noChangeShapeType="1" noTextEdit="1"/>
              </p:cNvSpPr>
              <p:nvPr/>
            </p:nvSpPr>
            <p:spPr>
              <a:xfrm>
                <a:off x="9187297" y="2344005"/>
                <a:ext cx="467312" cy="400110"/>
              </a:xfrm>
              <a:prstGeom prst="rect">
                <a:avLst/>
              </a:prstGeom>
              <a:blipFill rotWithShape="0">
                <a:blip r:embed="rId9"/>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EB81F67D-5BCF-7028-1F4F-0CFD0767D165}"/>
                  </a:ext>
                </a:extLst>
              </p:cNvPr>
              <p:cNvSpPr txBox="1"/>
              <p:nvPr/>
            </p:nvSpPr>
            <p:spPr>
              <a:xfrm>
                <a:off x="8644314" y="3042812"/>
                <a:ext cx="49402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𝟓</m:t>
                          </m:r>
                        </m:sub>
                      </m:sSub>
                    </m:oMath>
                  </m:oMathPara>
                </a14:m>
                <a:endParaRPr lang="en-US" sz="2000" b="1" dirty="0">
                  <a:solidFill>
                    <a:srgbClr val="002060"/>
                  </a:solidFill>
                </a:endParaRPr>
              </a:p>
            </p:txBody>
          </p:sp>
        </mc:Choice>
        <mc:Fallback xmlns="">
          <p:sp>
            <p:nvSpPr>
              <p:cNvPr id="94" name="TextBox 93">
                <a:extLst>
                  <a:ext uri="{FF2B5EF4-FFF2-40B4-BE49-F238E27FC236}">
                    <a16:creationId xmlns:a16="http://schemas.microsoft.com/office/drawing/2014/main" xmlns:a14="http://schemas.microsoft.com/office/drawing/2010/main" xmlns="" id="{EB81F67D-5BCF-7028-1F4F-0CFD0767D165}"/>
                  </a:ext>
                </a:extLst>
              </p:cNvPr>
              <p:cNvSpPr txBox="1">
                <a:spLocks noRot="1" noChangeAspect="1" noMove="1" noResize="1" noEditPoints="1" noAdjustHandles="1" noChangeArrowheads="1" noChangeShapeType="1" noTextEdit="1"/>
              </p:cNvSpPr>
              <p:nvPr/>
            </p:nvSpPr>
            <p:spPr>
              <a:xfrm>
                <a:off x="8644314" y="3042812"/>
                <a:ext cx="494020" cy="400110"/>
              </a:xfrm>
              <a:prstGeom prst="rect">
                <a:avLst/>
              </a:prstGeom>
              <a:blipFill rotWithShape="0">
                <a:blip r:embed="rId10"/>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D2259344-49F1-78EB-7457-280509CFC664}"/>
                  </a:ext>
                </a:extLst>
              </p:cNvPr>
              <p:cNvSpPr txBox="1"/>
              <p:nvPr/>
            </p:nvSpPr>
            <p:spPr>
              <a:xfrm>
                <a:off x="9717359" y="3065827"/>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𝟔</m:t>
                          </m:r>
                        </m:sub>
                      </m:sSub>
                    </m:oMath>
                  </m:oMathPara>
                </a14:m>
                <a:endParaRPr lang="en-US" sz="2000" b="1" dirty="0">
                  <a:solidFill>
                    <a:srgbClr val="002060"/>
                  </a:solidFill>
                </a:endParaRPr>
              </a:p>
            </p:txBody>
          </p:sp>
        </mc:Choice>
        <mc:Fallback xmlns="">
          <p:sp>
            <p:nvSpPr>
              <p:cNvPr id="95" name="TextBox 94">
                <a:extLst>
                  <a:ext uri="{FF2B5EF4-FFF2-40B4-BE49-F238E27FC236}">
                    <a16:creationId xmlns:a16="http://schemas.microsoft.com/office/drawing/2014/main" xmlns:a14="http://schemas.microsoft.com/office/drawing/2010/main" xmlns="" id="{D2259344-49F1-78EB-7457-280509CFC664}"/>
                  </a:ext>
                </a:extLst>
              </p:cNvPr>
              <p:cNvSpPr txBox="1">
                <a:spLocks noRot="1" noChangeAspect="1" noMove="1" noResize="1" noEditPoints="1" noAdjustHandles="1" noChangeArrowheads="1" noChangeShapeType="1" noTextEdit="1"/>
              </p:cNvSpPr>
              <p:nvPr/>
            </p:nvSpPr>
            <p:spPr>
              <a:xfrm>
                <a:off x="9717359" y="3065827"/>
                <a:ext cx="512677" cy="400110"/>
              </a:xfrm>
              <a:prstGeom prst="rect">
                <a:avLst/>
              </a:prstGeom>
              <a:blipFill rotWithShape="0">
                <a:blip r:embed="rId11"/>
                <a:stretch>
                  <a:fillRect b="-1515"/>
                </a:stretch>
              </a:blipFill>
            </p:spPr>
            <p:txBody>
              <a:bodyPr/>
              <a:lstStyle/>
              <a:p>
                <a:r>
                  <a:rPr lang="en-US">
                    <a:noFill/>
                  </a:rPr>
                  <a:t> </a:t>
                </a:r>
              </a:p>
            </p:txBody>
          </p:sp>
        </mc:Fallback>
      </mc:AlternateContent>
      <p:sp>
        <p:nvSpPr>
          <p:cNvPr id="96" name="Oval 95">
            <a:extLst>
              <a:ext uri="{FF2B5EF4-FFF2-40B4-BE49-F238E27FC236}">
                <a16:creationId xmlns:a16="http://schemas.microsoft.com/office/drawing/2014/main" id="{76E57F0C-185D-0CB1-762D-8A8246EF8B3F}"/>
              </a:ext>
            </a:extLst>
          </p:cNvPr>
          <p:cNvSpPr/>
          <p:nvPr/>
        </p:nvSpPr>
        <p:spPr>
          <a:xfrm rot="5400000">
            <a:off x="9363616" y="35329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A425BB28-C9C9-2771-F309-B253D2E0489F}"/>
                  </a:ext>
                </a:extLst>
              </p:cNvPr>
              <p:cNvSpPr txBox="1"/>
              <p:nvPr/>
            </p:nvSpPr>
            <p:spPr>
              <a:xfrm>
                <a:off x="9242137" y="4393896"/>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𝟑</m:t>
                          </m:r>
                        </m:sub>
                      </m:sSub>
                    </m:oMath>
                  </m:oMathPara>
                </a14:m>
                <a:endParaRPr lang="en-US" sz="2000" b="1" dirty="0">
                  <a:solidFill>
                    <a:srgbClr val="002060"/>
                  </a:solidFill>
                </a:endParaRPr>
              </a:p>
            </p:txBody>
          </p:sp>
        </mc:Choice>
        <mc:Fallback xmlns="">
          <p:sp>
            <p:nvSpPr>
              <p:cNvPr id="97" name="TextBox 96">
                <a:extLst>
                  <a:ext uri="{FF2B5EF4-FFF2-40B4-BE49-F238E27FC236}">
                    <a16:creationId xmlns:a16="http://schemas.microsoft.com/office/drawing/2014/main" xmlns:a14="http://schemas.microsoft.com/office/drawing/2010/main" xmlns="" id="{A425BB28-C9C9-2771-F309-B253D2E0489F}"/>
                  </a:ext>
                </a:extLst>
              </p:cNvPr>
              <p:cNvSpPr txBox="1">
                <a:spLocks noRot="1" noChangeAspect="1" noMove="1" noResize="1" noEditPoints="1" noAdjustHandles="1" noChangeArrowheads="1" noChangeShapeType="1" noTextEdit="1"/>
              </p:cNvSpPr>
              <p:nvPr/>
            </p:nvSpPr>
            <p:spPr>
              <a:xfrm>
                <a:off x="9242137" y="4393896"/>
                <a:ext cx="439044" cy="400110"/>
              </a:xfrm>
              <a:prstGeom prst="rect">
                <a:avLst/>
              </a:prstGeom>
              <a:blipFill rotWithShape="0">
                <a:blip r:embed="rId12"/>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F68A7ADE-ED54-F1D0-7341-DB15BE6AEDD7}"/>
                  </a:ext>
                </a:extLst>
              </p:cNvPr>
              <p:cNvSpPr txBox="1"/>
              <p:nvPr/>
            </p:nvSpPr>
            <p:spPr>
              <a:xfrm>
                <a:off x="8196908" y="3415142"/>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𝟒</m:t>
                          </m:r>
                        </m:sub>
                      </m:sSub>
                    </m:oMath>
                  </m:oMathPara>
                </a14:m>
                <a:endParaRPr lang="en-US" sz="2000" b="1" dirty="0">
                  <a:solidFill>
                    <a:srgbClr val="002060"/>
                  </a:solidFill>
                </a:endParaRPr>
              </a:p>
            </p:txBody>
          </p:sp>
        </mc:Choice>
        <mc:Fallback xmlns="">
          <p:sp>
            <p:nvSpPr>
              <p:cNvPr id="98" name="TextBox 97">
                <a:extLst>
                  <a:ext uri="{FF2B5EF4-FFF2-40B4-BE49-F238E27FC236}">
                    <a16:creationId xmlns:a16="http://schemas.microsoft.com/office/drawing/2014/main" xmlns:a14="http://schemas.microsoft.com/office/drawing/2010/main" xmlns="" id="{F68A7ADE-ED54-F1D0-7341-DB15BE6AEDD7}"/>
                  </a:ext>
                </a:extLst>
              </p:cNvPr>
              <p:cNvSpPr txBox="1">
                <a:spLocks noRot="1" noChangeAspect="1" noMove="1" noResize="1" noEditPoints="1" noAdjustHandles="1" noChangeArrowheads="1" noChangeShapeType="1" noTextEdit="1"/>
              </p:cNvSpPr>
              <p:nvPr/>
            </p:nvSpPr>
            <p:spPr>
              <a:xfrm>
                <a:off x="8196908" y="3415142"/>
                <a:ext cx="439044" cy="400110"/>
              </a:xfrm>
              <a:prstGeom prst="rect">
                <a:avLst/>
              </a:prstGeom>
              <a:blipFill rotWithShape="0">
                <a:blip r:embed="rId13"/>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B5E0C061-5B68-E688-CAAE-2F4EEBC2108E}"/>
                  </a:ext>
                </a:extLst>
              </p:cNvPr>
              <p:cNvSpPr txBox="1"/>
              <p:nvPr/>
            </p:nvSpPr>
            <p:spPr>
              <a:xfrm>
                <a:off x="9699749" y="3679207"/>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𝟕</m:t>
                          </m:r>
                        </m:sub>
                      </m:sSub>
                    </m:oMath>
                  </m:oMathPara>
                </a14:m>
                <a:endParaRPr lang="en-US" sz="2000" b="1" dirty="0">
                  <a:solidFill>
                    <a:srgbClr val="002060"/>
                  </a:solidFill>
                </a:endParaRPr>
              </a:p>
            </p:txBody>
          </p:sp>
        </mc:Choice>
        <mc:Fallback xmlns="">
          <p:sp>
            <p:nvSpPr>
              <p:cNvPr id="99" name="TextBox 98">
                <a:extLst>
                  <a:ext uri="{FF2B5EF4-FFF2-40B4-BE49-F238E27FC236}">
                    <a16:creationId xmlns:a16="http://schemas.microsoft.com/office/drawing/2014/main" xmlns:a14="http://schemas.microsoft.com/office/drawing/2010/main" xmlns="" id="{B5E0C061-5B68-E688-CAAE-2F4EEBC2108E}"/>
                  </a:ext>
                </a:extLst>
              </p:cNvPr>
              <p:cNvSpPr txBox="1">
                <a:spLocks noRot="1" noChangeAspect="1" noMove="1" noResize="1" noEditPoints="1" noAdjustHandles="1" noChangeArrowheads="1" noChangeShapeType="1" noTextEdit="1"/>
              </p:cNvSpPr>
              <p:nvPr/>
            </p:nvSpPr>
            <p:spPr>
              <a:xfrm>
                <a:off x="9699749" y="3679207"/>
                <a:ext cx="512677" cy="400110"/>
              </a:xfrm>
              <a:prstGeom prst="rect">
                <a:avLst/>
              </a:prstGeom>
              <a:blipFill rotWithShape="0">
                <a:blip r:embed="rId14"/>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EECCBFD5-8182-7653-8AC9-5D5F3D2EFF83}"/>
                  </a:ext>
                </a:extLst>
              </p:cNvPr>
              <p:cNvSpPr txBox="1"/>
              <p:nvPr/>
            </p:nvSpPr>
            <p:spPr>
              <a:xfrm>
                <a:off x="8644314" y="3653966"/>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𝟖</m:t>
                          </m:r>
                        </m:sub>
                      </m:sSub>
                    </m:oMath>
                  </m:oMathPara>
                </a14:m>
                <a:endParaRPr lang="en-US" sz="2000" b="1" dirty="0">
                  <a:solidFill>
                    <a:srgbClr val="002060"/>
                  </a:solidFill>
                </a:endParaRPr>
              </a:p>
            </p:txBody>
          </p:sp>
        </mc:Choice>
        <mc:Fallback xmlns="">
          <p:sp>
            <p:nvSpPr>
              <p:cNvPr id="100" name="TextBox 99">
                <a:extLst>
                  <a:ext uri="{FF2B5EF4-FFF2-40B4-BE49-F238E27FC236}">
                    <a16:creationId xmlns:a16="http://schemas.microsoft.com/office/drawing/2014/main" xmlns:a14="http://schemas.microsoft.com/office/drawing/2010/main" xmlns="" id="{EECCBFD5-8182-7653-8AC9-5D5F3D2EFF83}"/>
                  </a:ext>
                </a:extLst>
              </p:cNvPr>
              <p:cNvSpPr txBox="1">
                <a:spLocks noRot="1" noChangeAspect="1" noMove="1" noResize="1" noEditPoints="1" noAdjustHandles="1" noChangeArrowheads="1" noChangeShapeType="1" noTextEdit="1"/>
              </p:cNvSpPr>
              <p:nvPr/>
            </p:nvSpPr>
            <p:spPr>
              <a:xfrm>
                <a:off x="8644314" y="3653966"/>
                <a:ext cx="512677" cy="400110"/>
              </a:xfrm>
              <a:prstGeom prst="rect">
                <a:avLst/>
              </a:prstGeom>
              <a:blipFill rotWithShape="0">
                <a:blip r:embed="rId15"/>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06190D09-8924-77D4-5106-360B77A0352D}"/>
                  </a:ext>
                </a:extLst>
              </p:cNvPr>
              <p:cNvSpPr txBox="1"/>
              <p:nvPr/>
            </p:nvSpPr>
            <p:spPr>
              <a:xfrm>
                <a:off x="9194190" y="3592100"/>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𝟓</m:t>
                          </m:r>
                        </m:sub>
                      </m:sSub>
                    </m:oMath>
                  </m:oMathPara>
                </a14:m>
                <a:endParaRPr lang="en-US" sz="2200" b="1" dirty="0">
                  <a:solidFill>
                    <a:srgbClr val="002060"/>
                  </a:solidFill>
                </a:endParaRPr>
              </a:p>
            </p:txBody>
          </p:sp>
        </mc:Choice>
        <mc:Fallback xmlns="">
          <p:sp>
            <p:nvSpPr>
              <p:cNvPr id="101" name="TextBox 100">
                <a:extLst>
                  <a:ext uri="{FF2B5EF4-FFF2-40B4-BE49-F238E27FC236}">
                    <a16:creationId xmlns:a16="http://schemas.microsoft.com/office/drawing/2014/main" xmlns:a14="http://schemas.microsoft.com/office/drawing/2010/main" xmlns="" id="{06190D09-8924-77D4-5106-360B77A0352D}"/>
                  </a:ext>
                </a:extLst>
              </p:cNvPr>
              <p:cNvSpPr txBox="1">
                <a:spLocks noRot="1" noChangeAspect="1" noMove="1" noResize="1" noEditPoints="1" noAdjustHandles="1" noChangeArrowheads="1" noChangeShapeType="1" noTextEdit="1"/>
              </p:cNvSpPr>
              <p:nvPr/>
            </p:nvSpPr>
            <p:spPr>
              <a:xfrm>
                <a:off x="9194190" y="3592100"/>
                <a:ext cx="512677" cy="430887"/>
              </a:xfrm>
              <a:prstGeom prst="rect">
                <a:avLst/>
              </a:prstGeom>
              <a:blipFill rotWithShape="0">
                <a:blip r:embed="rId16"/>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99F11789-AF3B-361A-90FE-BCDD0AFB6E36}"/>
                  </a:ext>
                </a:extLst>
              </p:cNvPr>
              <p:cNvSpPr txBox="1"/>
              <p:nvPr/>
            </p:nvSpPr>
            <p:spPr>
              <a:xfrm>
                <a:off x="9114953" y="4870540"/>
                <a:ext cx="612000" cy="576000"/>
              </a:xfrm>
              <a:prstGeom prst="rect">
                <a:avLst/>
              </a:prstGeom>
              <a:noFill/>
              <a:ln w="19050">
                <a:solidFill>
                  <a:srgbClr val="005E6A"/>
                </a:solidFill>
              </a:ln>
            </p:spPr>
            <p:txBody>
              <a:bodyPr wrap="square" rtlCol="0">
                <a:spAutoFit/>
              </a:bodyPr>
              <a:lstStyle>
                <a:defPPr>
                  <a:defRPr lang="en-US"/>
                </a:defPPr>
                <a:lvl1pPr>
                  <a:defRPr sz="2600" b="1">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IN" i="1">
                              <a:latin typeface="Cambria Math" panose="02040503050406030204" pitchFamily="18" charset="0"/>
                            </a:rPr>
                          </m:ctrlPr>
                        </m:sSubPr>
                        <m:e>
                          <m:r>
                            <a:rPr lang="en-IN">
                              <a:latin typeface="Cambria Math" panose="02040503050406030204" pitchFamily="18" charset="0"/>
                            </a:rPr>
                            <m:t>𝐆</m:t>
                          </m:r>
                        </m:e>
                        <m:sub>
                          <m:r>
                            <a:rPr lang="en-IN">
                              <a:latin typeface="Cambria Math" panose="02040503050406030204" pitchFamily="18" charset="0"/>
                            </a:rPr>
                            <m:t>𝟐</m:t>
                          </m:r>
                        </m:sub>
                      </m:sSub>
                    </m:oMath>
                  </m:oMathPara>
                </a14:m>
                <a:endParaRPr lang="en-US" dirty="0"/>
              </a:p>
            </p:txBody>
          </p:sp>
        </mc:Choice>
        <mc:Fallback xmlns="">
          <p:sp>
            <p:nvSpPr>
              <p:cNvPr id="102" name="TextBox 101">
                <a:extLst>
                  <a:ext uri="{FF2B5EF4-FFF2-40B4-BE49-F238E27FC236}">
                    <a16:creationId xmlns="" xmlns:a16="http://schemas.microsoft.com/office/drawing/2014/main" xmlns:a14="http://schemas.microsoft.com/office/drawing/2010/main" id="{99F11789-AF3B-361A-90FE-BCDD0AFB6E36}"/>
                  </a:ext>
                </a:extLst>
              </p:cNvPr>
              <p:cNvSpPr txBox="1">
                <a:spLocks noRot="1" noChangeAspect="1" noMove="1" noResize="1" noEditPoints="1" noAdjustHandles="1" noChangeArrowheads="1" noChangeShapeType="1" noTextEdit="1"/>
              </p:cNvSpPr>
              <p:nvPr/>
            </p:nvSpPr>
            <p:spPr>
              <a:xfrm>
                <a:off x="9114953" y="4870540"/>
                <a:ext cx="612000" cy="576000"/>
              </a:xfrm>
              <a:prstGeom prst="rect">
                <a:avLst/>
              </a:prstGeom>
              <a:blipFill rotWithShape="0">
                <a:blip r:embed="rId17"/>
                <a:stretch>
                  <a:fillRect/>
                </a:stretch>
              </a:blipFill>
              <a:ln w="19050">
                <a:solidFill>
                  <a:srgbClr val="005E6A"/>
                </a:solidFill>
              </a:ln>
            </p:spPr>
            <p:txBody>
              <a:bodyPr/>
              <a:lstStyle/>
              <a:p>
                <a:r>
                  <a:rPr lang="en-US">
                    <a:noFill/>
                  </a:rPr>
                  <a:t> </a:t>
                </a:r>
              </a:p>
            </p:txBody>
          </p:sp>
        </mc:Fallback>
      </mc:AlternateContent>
      <p:cxnSp>
        <p:nvCxnSpPr>
          <p:cNvPr id="103" name="Straight Connector 102">
            <a:extLst>
              <a:ext uri="{FF2B5EF4-FFF2-40B4-BE49-F238E27FC236}">
                <a16:creationId xmlns:a16="http://schemas.microsoft.com/office/drawing/2014/main" id="{B45D2155-7A03-7E0E-8EC0-574B9411189C}"/>
              </a:ext>
            </a:extLst>
          </p:cNvPr>
          <p:cNvCxnSpPr>
            <a:cxnSpLocks/>
            <a:stCxn id="84" idx="5"/>
            <a:endCxn id="96" idx="3"/>
          </p:cNvCxnSpPr>
          <p:nvPr/>
        </p:nvCxnSpPr>
        <p:spPr>
          <a:xfrm>
            <a:off x="8624594" y="2800088"/>
            <a:ext cx="760110" cy="75390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4" name="Straight Connector 103">
            <a:extLst>
              <a:ext uri="{FF2B5EF4-FFF2-40B4-BE49-F238E27FC236}">
                <a16:creationId xmlns:a16="http://schemas.microsoft.com/office/drawing/2014/main" id="{B45D2155-7A03-7E0E-8EC0-574B9411189C}"/>
              </a:ext>
            </a:extLst>
          </p:cNvPr>
          <p:cNvCxnSpPr>
            <a:cxnSpLocks/>
            <a:stCxn id="96" idx="7"/>
            <a:endCxn id="88" idx="1"/>
          </p:cNvCxnSpPr>
          <p:nvPr/>
        </p:nvCxnSpPr>
        <p:spPr>
          <a:xfrm>
            <a:off x="9486528" y="3655814"/>
            <a:ext cx="746986" cy="7658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5" name="Straight Connector 104">
            <a:extLst>
              <a:ext uri="{FF2B5EF4-FFF2-40B4-BE49-F238E27FC236}">
                <a16:creationId xmlns:a16="http://schemas.microsoft.com/office/drawing/2014/main" id="{B45D2155-7A03-7E0E-8EC0-574B9411189C}"/>
              </a:ext>
            </a:extLst>
          </p:cNvPr>
          <p:cNvCxnSpPr>
            <a:cxnSpLocks/>
            <a:stCxn id="87" idx="7"/>
            <a:endCxn id="96" idx="5"/>
          </p:cNvCxnSpPr>
          <p:nvPr/>
        </p:nvCxnSpPr>
        <p:spPr>
          <a:xfrm flipV="1">
            <a:off x="8624594" y="3655814"/>
            <a:ext cx="760110" cy="7658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6" name="Straight Connector 105">
            <a:extLst>
              <a:ext uri="{FF2B5EF4-FFF2-40B4-BE49-F238E27FC236}">
                <a16:creationId xmlns:a16="http://schemas.microsoft.com/office/drawing/2014/main" id="{B45D2155-7A03-7E0E-8EC0-574B9411189C}"/>
              </a:ext>
            </a:extLst>
          </p:cNvPr>
          <p:cNvCxnSpPr>
            <a:cxnSpLocks/>
            <a:stCxn id="96" idx="1"/>
            <a:endCxn id="86" idx="3"/>
          </p:cNvCxnSpPr>
          <p:nvPr/>
        </p:nvCxnSpPr>
        <p:spPr>
          <a:xfrm flipV="1">
            <a:off x="9486528" y="2800088"/>
            <a:ext cx="746986" cy="75390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61472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92"/>
                                        </p:tgtEl>
                                        <p:attrNameLst>
                                          <p:attrName>style.visibility</p:attrName>
                                        </p:attrNameLst>
                                      </p:cBhvr>
                                      <p:to>
                                        <p:strVal val="hidden"/>
                                      </p:to>
                                    </p:set>
                                  </p:childTnLst>
                                </p:cTn>
                              </p:par>
                              <p:par>
                                <p:cTn id="11" presetID="1" presetClass="exit" presetSubtype="0" fill="hold" grpId="1" nodeType="withEffect">
                                  <p:stCondLst>
                                    <p:cond delay="0"/>
                                  </p:stCondLst>
                                  <p:childTnLst>
                                    <p:set>
                                      <p:cBhvr>
                                        <p:cTn id="12" dur="1" fill="hold">
                                          <p:stCondLst>
                                            <p:cond delay="0"/>
                                          </p:stCondLst>
                                        </p:cTn>
                                        <p:tgtEl>
                                          <p:spTgt spid="94"/>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95"/>
                                        </p:tgtEl>
                                        <p:attrNameLst>
                                          <p:attrName>style.visibility</p:attrName>
                                        </p:attrNameLst>
                                      </p:cBhvr>
                                      <p:to>
                                        <p:strVal val="hidden"/>
                                      </p:to>
                                    </p:set>
                                  </p:childTnLst>
                                </p:cTn>
                              </p:par>
                              <p:par>
                                <p:cTn id="15" presetID="1" presetClass="exit" presetSubtype="0" fill="hold" grpId="1" nodeType="withEffect">
                                  <p:stCondLst>
                                    <p:cond delay="0"/>
                                  </p:stCondLst>
                                  <p:childTnLst>
                                    <p:set>
                                      <p:cBhvr>
                                        <p:cTn id="16" dur="1" fill="hold">
                                          <p:stCondLst>
                                            <p:cond delay="0"/>
                                          </p:stCondLst>
                                        </p:cTn>
                                        <p:tgtEl>
                                          <p:spTgt spid="98"/>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03"/>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64"/>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06"/>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63"/>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1"/>
      <p:bldP spid="94" grpId="1"/>
      <p:bldP spid="95" grpId="1"/>
      <p:bldP spid="98"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0"/>
                <a:ext cx="12024000" cy="187536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For the given graph, determine whether the following set of edges forms a cut-set.</a:t>
                </a:r>
              </a:p>
              <a:p>
                <a:pPr marL="514350" indent="-514350">
                  <a:buFont typeface="Arial" panose="020B0604020202020204" pitchFamily="34" charset="0"/>
                  <a:buChar char="•"/>
                </a:pPr>
                <a14:m>
                  <m:oMath xmlns:m="http://schemas.openxmlformats.org/officeDocument/2006/math">
                    <m:r>
                      <a:rPr lang="en-US" sz="2800" dirty="0">
                        <a:solidFill>
                          <a:schemeClr val="bg1"/>
                        </a:solidFill>
                        <a:latin typeface="Cambria Math" panose="02040503050406030204" pitchFamily="18" charset="0"/>
                      </a:rPr>
                      <m:t>{</m:t>
                    </m:r>
                    <m:sSub>
                      <m:sSubPr>
                        <m:ctrlPr>
                          <a:rPr lang="en-US" sz="2800" i="1" dirty="0">
                            <a:solidFill>
                              <a:schemeClr val="bg1"/>
                            </a:solidFill>
                            <a:latin typeface="Cambria Math" panose="02040503050406030204" pitchFamily="18" charset="0"/>
                          </a:rPr>
                        </m:ctrlPr>
                      </m:sSubPr>
                      <m:e>
                        <m:r>
                          <m:rPr>
                            <m:sty m:val="p"/>
                          </m:rPr>
                          <a:rPr lang="en-US" sz="2800" dirty="0">
                            <a:solidFill>
                              <a:schemeClr val="bg1"/>
                            </a:solidFill>
                            <a:latin typeface="Cambria Math" panose="02040503050406030204" pitchFamily="18" charset="0"/>
                          </a:rPr>
                          <m:t>e</m:t>
                        </m:r>
                      </m:e>
                      <m:sub>
                        <m:r>
                          <a:rPr lang="en-US" sz="2800" dirty="0">
                            <a:solidFill>
                              <a:schemeClr val="bg1"/>
                            </a:solidFill>
                            <a:latin typeface="Cambria Math" panose="02040503050406030204" pitchFamily="18" charset="0"/>
                          </a:rPr>
                          <m:t>4</m:t>
                        </m:r>
                      </m:sub>
                    </m:sSub>
                    <m:r>
                      <a:rPr lang="en-US" sz="2800" dirty="0">
                        <a:solidFill>
                          <a:schemeClr val="bg1"/>
                        </a:solidFill>
                        <a:latin typeface="Cambria Math" panose="02040503050406030204" pitchFamily="18" charset="0"/>
                      </a:rPr>
                      <m:t>, </m:t>
                    </m:r>
                    <m:sSub>
                      <m:sSubPr>
                        <m:ctrlPr>
                          <a:rPr lang="en-US" sz="2800" i="1" dirty="0">
                            <a:solidFill>
                              <a:schemeClr val="bg1"/>
                            </a:solidFill>
                            <a:latin typeface="Cambria Math" panose="02040503050406030204" pitchFamily="18" charset="0"/>
                          </a:rPr>
                        </m:ctrlPr>
                      </m:sSubPr>
                      <m:e>
                        <m:r>
                          <m:rPr>
                            <m:sty m:val="p"/>
                          </m:rPr>
                          <a:rPr lang="en-US" sz="2800" dirty="0">
                            <a:solidFill>
                              <a:schemeClr val="bg1"/>
                            </a:solidFill>
                            <a:latin typeface="Cambria Math" panose="02040503050406030204" pitchFamily="18" charset="0"/>
                          </a:rPr>
                          <m:t>e</m:t>
                        </m:r>
                      </m:e>
                      <m:sub>
                        <m:r>
                          <a:rPr lang="en-US" sz="2800" dirty="0">
                            <a:solidFill>
                              <a:schemeClr val="bg1"/>
                            </a:solidFill>
                            <a:latin typeface="Cambria Math" panose="02040503050406030204" pitchFamily="18" charset="0"/>
                          </a:rPr>
                          <m:t>1</m:t>
                        </m:r>
                      </m:sub>
                    </m:sSub>
                    <m:r>
                      <a:rPr lang="en-US" sz="2800" dirty="0">
                        <a:solidFill>
                          <a:schemeClr val="bg1"/>
                        </a:solidFill>
                        <a:latin typeface="Cambria Math" panose="02040503050406030204" pitchFamily="18" charset="0"/>
                      </a:rPr>
                      <m:t>,</m:t>
                    </m:r>
                    <m:sSub>
                      <m:sSubPr>
                        <m:ctrlPr>
                          <a:rPr lang="en-US" sz="2800" i="1" dirty="0">
                            <a:solidFill>
                              <a:schemeClr val="bg1"/>
                            </a:solidFill>
                            <a:latin typeface="Cambria Math" panose="02040503050406030204" pitchFamily="18" charset="0"/>
                          </a:rPr>
                        </m:ctrlPr>
                      </m:sSubPr>
                      <m:e>
                        <m:r>
                          <m:rPr>
                            <m:sty m:val="p"/>
                          </m:rPr>
                          <a:rPr lang="en-US" sz="2800" dirty="0">
                            <a:solidFill>
                              <a:schemeClr val="bg1"/>
                            </a:solidFill>
                            <a:latin typeface="Cambria Math" panose="02040503050406030204" pitchFamily="18" charset="0"/>
                          </a:rPr>
                          <m:t>e</m:t>
                        </m:r>
                      </m:e>
                      <m:sub>
                        <m:r>
                          <a:rPr lang="en-US" sz="2800" dirty="0">
                            <a:solidFill>
                              <a:schemeClr val="bg1"/>
                            </a:solidFill>
                            <a:latin typeface="Cambria Math" panose="02040503050406030204" pitchFamily="18" charset="0"/>
                          </a:rPr>
                          <m:t>2</m:t>
                        </m:r>
                      </m:sub>
                    </m:sSub>
                    <m:r>
                      <a:rPr lang="en-US" sz="2800" dirty="0">
                        <a:solidFill>
                          <a:schemeClr val="bg1"/>
                        </a:solidFill>
                        <a:latin typeface="Cambria Math" panose="02040503050406030204" pitchFamily="18" charset="0"/>
                      </a:rPr>
                      <m:t>}</m:t>
                    </m:r>
                  </m:oMath>
                </a14:m>
                <a:endParaRPr lang="en-US" sz="2800" dirty="0">
                  <a:solidFill>
                    <a:schemeClr val="bg1"/>
                  </a:solidFill>
                </a:endParaRPr>
              </a:p>
              <a:p>
                <a:pPr marL="514350" indent="-514350">
                  <a:buFont typeface="Arial" panose="020B0604020202020204" pitchFamily="34" charset="0"/>
                  <a:buChar char="•"/>
                </a:pPr>
                <a14:m>
                  <m:oMath xmlns:m="http://schemas.openxmlformats.org/officeDocument/2006/math">
                    <m:d>
                      <m:dPr>
                        <m:begChr m:val="{"/>
                        <m:endChr m:val="}"/>
                        <m:ctrlPr>
                          <a:rPr lang="en-US" sz="2800" i="1" dirty="0" smtClean="0">
                            <a:solidFill>
                              <a:schemeClr val="bg1"/>
                            </a:solidFill>
                            <a:latin typeface="Cambria Math" panose="02040503050406030204" pitchFamily="18" charset="0"/>
                          </a:rPr>
                        </m:ctrlPr>
                      </m:dPr>
                      <m:e>
                        <m:sSub>
                          <m:sSubPr>
                            <m:ctrlPr>
                              <a:rPr lang="en-US" sz="2800" i="1" dirty="0">
                                <a:solidFill>
                                  <a:schemeClr val="bg1"/>
                                </a:solidFill>
                                <a:latin typeface="Cambria Math" panose="02040503050406030204" pitchFamily="18" charset="0"/>
                              </a:rPr>
                            </m:ctrlPr>
                          </m:sSubPr>
                          <m:e>
                            <m:r>
                              <m:rPr>
                                <m:sty m:val="p"/>
                              </m:rPr>
                              <a:rPr lang="en-US" sz="2800" dirty="0">
                                <a:solidFill>
                                  <a:schemeClr val="bg1"/>
                                </a:solidFill>
                                <a:latin typeface="Cambria Math" panose="02040503050406030204" pitchFamily="18" charset="0"/>
                              </a:rPr>
                              <m:t>e</m:t>
                            </m:r>
                          </m:e>
                          <m:sub>
                            <m:r>
                              <a:rPr lang="en-US" sz="2800" dirty="0">
                                <a:solidFill>
                                  <a:schemeClr val="bg1"/>
                                </a:solidFill>
                                <a:latin typeface="Cambria Math" panose="02040503050406030204" pitchFamily="18" charset="0"/>
                              </a:rPr>
                              <m:t>6</m:t>
                            </m:r>
                          </m:sub>
                        </m:sSub>
                        <m:r>
                          <a:rPr lang="en-US" sz="2800" dirty="0">
                            <a:solidFill>
                              <a:schemeClr val="bg1"/>
                            </a:solidFill>
                            <a:latin typeface="Cambria Math" panose="02040503050406030204" pitchFamily="18" charset="0"/>
                          </a:rPr>
                          <m:t>, </m:t>
                        </m:r>
                        <m:sSub>
                          <m:sSubPr>
                            <m:ctrlPr>
                              <a:rPr lang="en-US" sz="2800" i="1" dirty="0">
                                <a:solidFill>
                                  <a:schemeClr val="bg1"/>
                                </a:solidFill>
                                <a:latin typeface="Cambria Math" panose="02040503050406030204" pitchFamily="18" charset="0"/>
                              </a:rPr>
                            </m:ctrlPr>
                          </m:sSubPr>
                          <m:e>
                            <m:r>
                              <m:rPr>
                                <m:sty m:val="p"/>
                              </m:rPr>
                              <a:rPr lang="en-US" sz="2800" dirty="0">
                                <a:solidFill>
                                  <a:schemeClr val="bg1"/>
                                </a:solidFill>
                                <a:latin typeface="Cambria Math" panose="02040503050406030204" pitchFamily="18" charset="0"/>
                              </a:rPr>
                              <m:t>e</m:t>
                            </m:r>
                          </m:e>
                          <m:sub>
                            <m:r>
                              <a:rPr lang="en-US" sz="2800" dirty="0">
                                <a:solidFill>
                                  <a:schemeClr val="bg1"/>
                                </a:solidFill>
                                <a:latin typeface="Cambria Math" panose="02040503050406030204" pitchFamily="18" charset="0"/>
                              </a:rPr>
                              <m:t>2</m:t>
                            </m:r>
                          </m:sub>
                        </m:sSub>
                        <m:r>
                          <a:rPr lang="en-US" sz="2800" dirty="0">
                            <a:solidFill>
                              <a:schemeClr val="bg1"/>
                            </a:solidFill>
                            <a:latin typeface="Cambria Math" panose="02040503050406030204" pitchFamily="18" charset="0"/>
                          </a:rPr>
                          <m:t>, </m:t>
                        </m:r>
                        <m:sSub>
                          <m:sSubPr>
                            <m:ctrlPr>
                              <a:rPr lang="en-US" sz="2800" i="1" dirty="0">
                                <a:solidFill>
                                  <a:schemeClr val="bg1"/>
                                </a:solidFill>
                                <a:latin typeface="Cambria Math" panose="02040503050406030204" pitchFamily="18" charset="0"/>
                              </a:rPr>
                            </m:ctrlPr>
                          </m:sSubPr>
                          <m:e>
                            <m:r>
                              <m:rPr>
                                <m:sty m:val="p"/>
                              </m:rPr>
                              <a:rPr lang="en-US" sz="2800" dirty="0">
                                <a:solidFill>
                                  <a:schemeClr val="bg1"/>
                                </a:solidFill>
                                <a:latin typeface="Cambria Math" panose="02040503050406030204" pitchFamily="18" charset="0"/>
                              </a:rPr>
                              <m:t>e</m:t>
                            </m:r>
                          </m:e>
                          <m:sub>
                            <m:r>
                              <a:rPr lang="en-US" sz="2800" dirty="0">
                                <a:solidFill>
                                  <a:schemeClr val="bg1"/>
                                </a:solidFill>
                                <a:latin typeface="Cambria Math" panose="02040503050406030204" pitchFamily="18" charset="0"/>
                              </a:rPr>
                              <m:t>5</m:t>
                            </m:r>
                          </m:sub>
                        </m:sSub>
                        <m:r>
                          <a:rPr lang="en-US" sz="2800" dirty="0">
                            <a:solidFill>
                              <a:schemeClr val="bg1"/>
                            </a:solidFill>
                            <a:latin typeface="Cambria Math" panose="02040503050406030204" pitchFamily="18" charset="0"/>
                          </a:rPr>
                          <m:t>,</m:t>
                        </m:r>
                        <m:sSub>
                          <m:sSubPr>
                            <m:ctrlPr>
                              <a:rPr lang="en-US" sz="2800" i="1" dirty="0">
                                <a:solidFill>
                                  <a:schemeClr val="bg1"/>
                                </a:solidFill>
                                <a:latin typeface="Cambria Math" panose="02040503050406030204" pitchFamily="18" charset="0"/>
                              </a:rPr>
                            </m:ctrlPr>
                          </m:sSubPr>
                          <m:e>
                            <m:r>
                              <m:rPr>
                                <m:sty m:val="p"/>
                              </m:rPr>
                              <a:rPr lang="en-US" sz="2800" dirty="0">
                                <a:solidFill>
                                  <a:schemeClr val="bg1"/>
                                </a:solidFill>
                                <a:latin typeface="Cambria Math" panose="02040503050406030204" pitchFamily="18" charset="0"/>
                              </a:rPr>
                              <m:t>e</m:t>
                            </m:r>
                          </m:e>
                          <m:sub>
                            <m:r>
                              <a:rPr lang="en-US" sz="2800" dirty="0">
                                <a:solidFill>
                                  <a:schemeClr val="bg1"/>
                                </a:solidFill>
                                <a:latin typeface="Cambria Math" panose="02040503050406030204" pitchFamily="18" charset="0"/>
                              </a:rPr>
                              <m:t>4</m:t>
                            </m:r>
                          </m:sub>
                        </m:sSub>
                      </m:e>
                    </m:d>
                  </m:oMath>
                </a14:m>
                <a:endParaRPr lang="en-US" sz="2800" dirty="0">
                  <a:solidFill>
                    <a:schemeClr val="bg1"/>
                  </a:solidFill>
                </a:endParaRPr>
              </a:p>
              <a:p>
                <a:pPr marL="514350" indent="-514350">
                  <a:buFont typeface="Arial" panose="020B0604020202020204" pitchFamily="34" charset="0"/>
                  <a:buChar char="•"/>
                </a:pPr>
                <a14:m>
                  <m:oMath xmlns:m="http://schemas.openxmlformats.org/officeDocument/2006/math">
                    <m:d>
                      <m:dPr>
                        <m:begChr m:val="{"/>
                        <m:endChr m:val="}"/>
                        <m:ctrlPr>
                          <a:rPr lang="en-US" sz="2800" i="1" smtClean="0">
                            <a:solidFill>
                              <a:schemeClr val="bg1"/>
                            </a:solidFill>
                            <a:latin typeface="Cambria Math" panose="02040503050406030204" pitchFamily="18" charset="0"/>
                          </a:rPr>
                        </m:ctrlPr>
                      </m:dPr>
                      <m:e>
                        <m:sSub>
                          <m:sSubPr>
                            <m:ctrlPr>
                              <a:rPr lang="en-US" sz="2800" i="1">
                                <a:solidFill>
                                  <a:schemeClr val="bg1"/>
                                </a:solidFill>
                                <a:latin typeface="Cambria Math" panose="02040503050406030204" pitchFamily="18" charset="0"/>
                              </a:rPr>
                            </m:ctrlPr>
                          </m:sSubPr>
                          <m:e>
                            <m:r>
                              <m:rPr>
                                <m:sty m:val="p"/>
                              </m:rPr>
                              <a:rPr lang="en-US" sz="2800">
                                <a:solidFill>
                                  <a:schemeClr val="bg1"/>
                                </a:solidFill>
                                <a:latin typeface="Cambria Math" panose="02040503050406030204" pitchFamily="18" charset="0"/>
                              </a:rPr>
                              <m:t>e</m:t>
                            </m:r>
                          </m:e>
                          <m:sub>
                            <m:r>
                              <a:rPr lang="en-US" sz="2800">
                                <a:solidFill>
                                  <a:schemeClr val="bg1"/>
                                </a:solidFill>
                                <a:latin typeface="Cambria Math" panose="02040503050406030204" pitchFamily="18" charset="0"/>
                              </a:rPr>
                              <m:t>1</m:t>
                            </m:r>
                          </m:sub>
                        </m:sSub>
                        <m:r>
                          <a:rPr lang="en-US" sz="2800">
                            <a:solidFill>
                              <a:schemeClr val="bg1"/>
                            </a:solidFill>
                            <a:latin typeface="Cambria Math" panose="02040503050406030204" pitchFamily="18" charset="0"/>
                          </a:rPr>
                          <m:t>,</m:t>
                        </m:r>
                        <m:sSub>
                          <m:sSubPr>
                            <m:ctrlPr>
                              <a:rPr lang="en-US" sz="2800" i="1">
                                <a:solidFill>
                                  <a:schemeClr val="bg1"/>
                                </a:solidFill>
                                <a:latin typeface="Cambria Math" panose="02040503050406030204" pitchFamily="18" charset="0"/>
                              </a:rPr>
                            </m:ctrlPr>
                          </m:sSubPr>
                          <m:e>
                            <m:r>
                              <m:rPr>
                                <m:sty m:val="p"/>
                              </m:rPr>
                              <a:rPr lang="en-US" sz="2800">
                                <a:solidFill>
                                  <a:schemeClr val="bg1"/>
                                </a:solidFill>
                                <a:latin typeface="Cambria Math" panose="02040503050406030204" pitchFamily="18" charset="0"/>
                              </a:rPr>
                              <m:t>e</m:t>
                            </m:r>
                          </m:e>
                          <m:sub>
                            <m:r>
                              <a:rPr lang="en-US" sz="2800">
                                <a:solidFill>
                                  <a:schemeClr val="bg1"/>
                                </a:solidFill>
                                <a:latin typeface="Cambria Math" panose="02040503050406030204" pitchFamily="18" charset="0"/>
                              </a:rPr>
                              <m:t>2</m:t>
                            </m:r>
                          </m:sub>
                        </m:sSub>
                        <m:r>
                          <a:rPr lang="en-US" sz="2800">
                            <a:solidFill>
                              <a:schemeClr val="bg1"/>
                            </a:solidFill>
                            <a:latin typeface="Cambria Math" panose="02040503050406030204" pitchFamily="18" charset="0"/>
                          </a:rPr>
                          <m:t>, </m:t>
                        </m:r>
                        <m:sSub>
                          <m:sSubPr>
                            <m:ctrlPr>
                              <a:rPr lang="en-US" sz="2800" i="1">
                                <a:solidFill>
                                  <a:schemeClr val="bg1"/>
                                </a:solidFill>
                                <a:latin typeface="Cambria Math" panose="02040503050406030204" pitchFamily="18" charset="0"/>
                              </a:rPr>
                            </m:ctrlPr>
                          </m:sSubPr>
                          <m:e>
                            <m:r>
                              <m:rPr>
                                <m:sty m:val="p"/>
                              </m:rPr>
                              <a:rPr lang="en-US" sz="2800">
                                <a:solidFill>
                                  <a:schemeClr val="bg1"/>
                                </a:solidFill>
                                <a:latin typeface="Cambria Math" panose="02040503050406030204" pitchFamily="18" charset="0"/>
                              </a:rPr>
                              <m:t>e</m:t>
                            </m:r>
                          </m:e>
                          <m:sub>
                            <m:r>
                              <a:rPr lang="en-US" sz="2800">
                                <a:solidFill>
                                  <a:schemeClr val="bg1"/>
                                </a:solidFill>
                                <a:latin typeface="Cambria Math" panose="02040503050406030204" pitchFamily="18" charset="0"/>
                              </a:rPr>
                              <m:t>7</m:t>
                            </m:r>
                          </m:sub>
                        </m:sSub>
                      </m:e>
                    </m:d>
                  </m:oMath>
                </a14:m>
                <a:endParaRPr lang="en-US" sz="2800" dirty="0">
                  <a:solidFill>
                    <a:schemeClr val="bg1"/>
                  </a:solidFill>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0"/>
                <a:ext cx="12024000" cy="1875360"/>
              </a:xfrm>
              <a:prstGeom prst="rect">
                <a:avLst/>
              </a:prstGeom>
              <a:blipFill rotWithShape="0">
                <a:blip r:embed="rId2"/>
                <a:stretch>
                  <a:fillRect l="-1065" t="-3247"/>
                </a:stretch>
              </a:blipFill>
              <a:ln>
                <a:noFill/>
              </a:ln>
            </p:spPr>
            <p:txBody>
              <a:bodyPr/>
              <a:lstStyle/>
              <a:p>
                <a:r>
                  <a:rPr lang="en-US">
                    <a:noFill/>
                  </a:rPr>
                  <a:t> </a:t>
                </a:r>
              </a:p>
            </p:txBody>
          </p:sp>
        </mc:Fallback>
      </mc:AlternateContent>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2</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276641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2" name="Rectangle 2"/>
          <p:cNvSpPr>
            <a:spLocks noChangeArrowheads="1"/>
          </p:cNvSpPr>
          <p:nvPr/>
        </p:nvSpPr>
        <p:spPr bwMode="auto">
          <a:xfrm>
            <a:off x="3477296" y="3178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06B921-0155-1173-B956-D5340E37D7CA}"/>
                  </a:ext>
                </a:extLst>
              </p:cNvPr>
              <p:cNvSpPr txBox="1"/>
              <p:nvPr/>
            </p:nvSpPr>
            <p:spPr>
              <a:xfrm>
                <a:off x="9381652" y="5321323"/>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𝟑</m:t>
                          </m:r>
                        </m:sub>
                      </m:sSub>
                    </m:oMath>
                  </m:oMathPara>
                </a14:m>
                <a:endParaRPr lang="en-US" sz="2200" b="1" dirty="0">
                  <a:solidFill>
                    <a:srgbClr val="002060"/>
                  </a:solidFill>
                </a:endParaRPr>
              </a:p>
            </p:txBody>
          </p:sp>
        </mc:Choice>
        <mc:Fallback xmlns="">
          <p:sp>
            <p:nvSpPr>
              <p:cNvPr id="7" name="TextBox 6">
                <a:extLst>
                  <a:ext uri="{FF2B5EF4-FFF2-40B4-BE49-F238E27FC236}">
                    <a16:creationId xmlns:a16="http://schemas.microsoft.com/office/drawing/2014/main" xmlns:a14="http://schemas.microsoft.com/office/drawing/2010/main" xmlns="" id="{EE06B921-0155-1173-B956-D5340E37D7CA}"/>
                  </a:ext>
                </a:extLst>
              </p:cNvPr>
              <p:cNvSpPr txBox="1">
                <a:spLocks noRot="1" noChangeAspect="1" noMove="1" noResize="1" noEditPoints="1" noAdjustHandles="1" noChangeArrowheads="1" noChangeShapeType="1" noTextEdit="1"/>
              </p:cNvSpPr>
              <p:nvPr/>
            </p:nvSpPr>
            <p:spPr>
              <a:xfrm>
                <a:off x="9381652" y="5321323"/>
                <a:ext cx="512677" cy="430887"/>
              </a:xfrm>
              <a:prstGeom prst="rect">
                <a:avLst/>
              </a:prstGeom>
              <a:blipFill rotWithShape="0">
                <a:blip r:embed="rId3"/>
                <a:stretch>
                  <a:fillRect b="-1408"/>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43424608-83D6-4CDE-97C1-D7104661F021}"/>
              </a:ext>
            </a:extLst>
          </p:cNvPr>
          <p:cNvCxnSpPr>
            <a:cxnSpLocks/>
            <a:stCxn id="14" idx="5"/>
            <a:endCxn id="17" idx="1"/>
          </p:cNvCxnSpPr>
          <p:nvPr/>
        </p:nvCxnSpPr>
        <p:spPr>
          <a:xfrm>
            <a:off x="7927487" y="3678557"/>
            <a:ext cx="1608920" cy="16215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951FCFAB-4398-A09F-F506-49A4E31798BC}"/>
              </a:ext>
            </a:extLst>
          </p:cNvPr>
          <p:cNvCxnSpPr>
            <a:cxnSpLocks/>
          </p:cNvCxnSpPr>
          <p:nvPr/>
        </p:nvCxnSpPr>
        <p:spPr>
          <a:xfrm>
            <a:off x="7884761" y="5351019"/>
            <a:ext cx="168664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C38D8CAB-EA84-7ED5-ED61-6B775E72DC2F}"/>
              </a:ext>
            </a:extLst>
          </p:cNvPr>
          <p:cNvCxnSpPr>
            <a:cxnSpLocks/>
          </p:cNvCxnSpPr>
          <p:nvPr/>
        </p:nvCxnSpPr>
        <p:spPr>
          <a:xfrm>
            <a:off x="7884762" y="3636994"/>
            <a:ext cx="168664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AB5C5319-860B-38BD-1282-40E765D32D50}"/>
              </a:ext>
            </a:extLst>
          </p:cNvPr>
          <p:cNvCxnSpPr>
            <a:cxnSpLocks/>
            <a:stCxn id="15" idx="4"/>
            <a:endCxn id="17" idx="0"/>
          </p:cNvCxnSpPr>
          <p:nvPr/>
        </p:nvCxnSpPr>
        <p:spPr>
          <a:xfrm>
            <a:off x="9587319" y="3699645"/>
            <a:ext cx="0" cy="15793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ADE44A87-C860-1BCF-EAB4-53D64F8A9109}"/>
              </a:ext>
            </a:extLst>
          </p:cNvPr>
          <p:cNvCxnSpPr>
            <a:cxnSpLocks/>
            <a:stCxn id="14" idx="4"/>
            <a:endCxn id="16" idx="0"/>
          </p:cNvCxnSpPr>
          <p:nvPr/>
        </p:nvCxnSpPr>
        <p:spPr>
          <a:xfrm>
            <a:off x="7876575" y="3699645"/>
            <a:ext cx="0" cy="15793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 name="Oval 13">
            <a:extLst>
              <a:ext uri="{FF2B5EF4-FFF2-40B4-BE49-F238E27FC236}">
                <a16:creationId xmlns:a16="http://schemas.microsoft.com/office/drawing/2014/main" id="{15AAC5B9-A477-EF6E-EB75-CFCA4C726D46}"/>
              </a:ext>
            </a:extLst>
          </p:cNvPr>
          <p:cNvSpPr/>
          <p:nvPr/>
        </p:nvSpPr>
        <p:spPr>
          <a:xfrm>
            <a:off x="7804575" y="35556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2E2867F6-BE3C-F07A-24CF-7441F769CB63}"/>
              </a:ext>
            </a:extLst>
          </p:cNvPr>
          <p:cNvSpPr/>
          <p:nvPr/>
        </p:nvSpPr>
        <p:spPr>
          <a:xfrm>
            <a:off x="9515319" y="35556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 name="Oval 15">
            <a:extLst>
              <a:ext uri="{FF2B5EF4-FFF2-40B4-BE49-F238E27FC236}">
                <a16:creationId xmlns:a16="http://schemas.microsoft.com/office/drawing/2014/main" id="{E52C4B82-ECFC-6D2E-1D09-A9FF6C9377ED}"/>
              </a:ext>
            </a:extLst>
          </p:cNvPr>
          <p:cNvSpPr/>
          <p:nvPr/>
        </p:nvSpPr>
        <p:spPr>
          <a:xfrm>
            <a:off x="7804575" y="5279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Oval 16">
            <a:extLst>
              <a:ext uri="{FF2B5EF4-FFF2-40B4-BE49-F238E27FC236}">
                <a16:creationId xmlns:a16="http://schemas.microsoft.com/office/drawing/2014/main" id="{D7C3888D-7FFF-43F9-FB95-7207EF450274}"/>
              </a:ext>
            </a:extLst>
          </p:cNvPr>
          <p:cNvSpPr/>
          <p:nvPr/>
        </p:nvSpPr>
        <p:spPr>
          <a:xfrm>
            <a:off x="9515319" y="5279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DCB6E99-6EE4-D368-F59C-0D4EA76E665B}"/>
                  </a:ext>
                </a:extLst>
              </p:cNvPr>
              <p:cNvSpPr txBox="1"/>
              <p:nvPr/>
            </p:nvSpPr>
            <p:spPr>
              <a:xfrm>
                <a:off x="7639305" y="5304875"/>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𝟒</m:t>
                          </m:r>
                        </m:sub>
                      </m:sSub>
                    </m:oMath>
                  </m:oMathPara>
                </a14:m>
                <a:endParaRPr lang="en-US" sz="2200" b="1" dirty="0">
                  <a:solidFill>
                    <a:srgbClr val="002060"/>
                  </a:solidFill>
                </a:endParaRPr>
              </a:p>
            </p:txBody>
          </p:sp>
        </mc:Choice>
        <mc:Fallback xmlns="">
          <p:sp>
            <p:nvSpPr>
              <p:cNvPr id="18" name="TextBox 17">
                <a:extLst>
                  <a:ext uri="{FF2B5EF4-FFF2-40B4-BE49-F238E27FC236}">
                    <a16:creationId xmlns:a16="http://schemas.microsoft.com/office/drawing/2014/main" xmlns:a14="http://schemas.microsoft.com/office/drawing/2010/main" xmlns="" id="{3DCB6E99-6EE4-D368-F59C-0D4EA76E665B}"/>
                  </a:ext>
                </a:extLst>
              </p:cNvPr>
              <p:cNvSpPr txBox="1">
                <a:spLocks noRot="1" noChangeAspect="1" noMove="1" noResize="1" noEditPoints="1" noAdjustHandles="1" noChangeArrowheads="1" noChangeShapeType="1" noTextEdit="1"/>
              </p:cNvSpPr>
              <p:nvPr/>
            </p:nvSpPr>
            <p:spPr>
              <a:xfrm>
                <a:off x="7639305" y="5304875"/>
                <a:ext cx="512677" cy="430887"/>
              </a:xfrm>
              <a:prstGeom prst="rect">
                <a:avLst/>
              </a:prstGeom>
              <a:blipFill rotWithShape="0">
                <a:blip r:embed="rId4"/>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04B116E-A312-6E9F-B3FA-8A28CB060F62}"/>
                  </a:ext>
                </a:extLst>
              </p:cNvPr>
              <p:cNvSpPr txBox="1"/>
              <p:nvPr/>
            </p:nvSpPr>
            <p:spPr>
              <a:xfrm>
                <a:off x="9536407" y="4303189"/>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𝟐</m:t>
                          </m:r>
                        </m:sub>
                      </m:sSub>
                    </m:oMath>
                  </m:oMathPara>
                </a14:m>
                <a:endParaRPr lang="en-US" sz="2000" b="1" dirty="0">
                  <a:solidFill>
                    <a:srgbClr val="002060"/>
                  </a:solidFill>
                </a:endParaRPr>
              </a:p>
            </p:txBody>
          </p:sp>
        </mc:Choice>
        <mc:Fallback xmlns="">
          <p:sp>
            <p:nvSpPr>
              <p:cNvPr id="20" name="TextBox 19">
                <a:extLst>
                  <a:ext uri="{FF2B5EF4-FFF2-40B4-BE49-F238E27FC236}">
                    <a16:creationId xmlns:a16="http://schemas.microsoft.com/office/drawing/2014/main" xmlns:a14="http://schemas.microsoft.com/office/drawing/2010/main" xmlns="" id="{704B116E-A312-6E9F-B3FA-8A28CB060F62}"/>
                  </a:ext>
                </a:extLst>
              </p:cNvPr>
              <p:cNvSpPr txBox="1">
                <a:spLocks noRot="1" noChangeAspect="1" noMove="1" noResize="1" noEditPoints="1" noAdjustHandles="1" noChangeArrowheads="1" noChangeShapeType="1" noTextEdit="1"/>
              </p:cNvSpPr>
              <p:nvPr/>
            </p:nvSpPr>
            <p:spPr>
              <a:xfrm>
                <a:off x="9536407" y="4303189"/>
                <a:ext cx="439044" cy="400110"/>
              </a:xfrm>
              <a:prstGeom prst="rect">
                <a:avLst/>
              </a:prstGeom>
              <a:blipFill rotWithShape="0">
                <a:blip r:embed="rId5"/>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B36342A-C413-D4D6-9D8E-7D89F46C658E}"/>
                  </a:ext>
                </a:extLst>
              </p:cNvPr>
              <p:cNvSpPr txBox="1"/>
              <p:nvPr/>
            </p:nvSpPr>
            <p:spPr>
              <a:xfrm>
                <a:off x="8490190" y="3222474"/>
                <a:ext cx="46731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1" dirty="0" smtClean="0">
                              <a:solidFill>
                                <a:srgbClr val="0070C0"/>
                              </a:solidFill>
                              <a:latin typeface="Cambria Math" panose="02040503050406030204" pitchFamily="18" charset="0"/>
                            </a:rPr>
                            <m:t>𝟏</m:t>
                          </m:r>
                        </m:sub>
                      </m:sSub>
                    </m:oMath>
                  </m:oMathPara>
                </a14:m>
                <a:endParaRPr lang="en-US" sz="2200" b="1" dirty="0">
                  <a:solidFill>
                    <a:srgbClr val="002060"/>
                  </a:solidFill>
                </a:endParaRPr>
              </a:p>
            </p:txBody>
          </p:sp>
        </mc:Choice>
        <mc:Fallback xmlns="">
          <p:sp>
            <p:nvSpPr>
              <p:cNvPr id="21" name="TextBox 20">
                <a:extLst>
                  <a:ext uri="{FF2B5EF4-FFF2-40B4-BE49-F238E27FC236}">
                    <a16:creationId xmlns:a16="http://schemas.microsoft.com/office/drawing/2014/main" xmlns:a14="http://schemas.microsoft.com/office/drawing/2010/main" xmlns="" id="{8B36342A-C413-D4D6-9D8E-7D89F46C658E}"/>
                  </a:ext>
                </a:extLst>
              </p:cNvPr>
              <p:cNvSpPr txBox="1">
                <a:spLocks noRot="1" noChangeAspect="1" noMove="1" noResize="1" noEditPoints="1" noAdjustHandles="1" noChangeArrowheads="1" noChangeShapeType="1" noTextEdit="1"/>
              </p:cNvSpPr>
              <p:nvPr/>
            </p:nvSpPr>
            <p:spPr>
              <a:xfrm>
                <a:off x="8490190" y="3222474"/>
                <a:ext cx="467312" cy="400110"/>
              </a:xfrm>
              <a:prstGeom prst="rect">
                <a:avLst/>
              </a:prstGeom>
              <a:blipFill rotWithShape="0">
                <a:blip r:embed="rId6"/>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291DCFB-7499-B557-4271-614CB20F31F9}"/>
                  </a:ext>
                </a:extLst>
              </p:cNvPr>
              <p:cNvSpPr txBox="1"/>
              <p:nvPr/>
            </p:nvSpPr>
            <p:spPr>
              <a:xfrm>
                <a:off x="8406798" y="4359312"/>
                <a:ext cx="49402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𝟓</m:t>
                          </m:r>
                        </m:sub>
                      </m:sSub>
                    </m:oMath>
                  </m:oMathPara>
                </a14:m>
                <a:endParaRPr lang="en-US" sz="2000" b="1" dirty="0">
                  <a:solidFill>
                    <a:srgbClr val="002060"/>
                  </a:solidFill>
                </a:endParaRPr>
              </a:p>
            </p:txBody>
          </p:sp>
        </mc:Choice>
        <mc:Fallback xmlns="">
          <p:sp>
            <p:nvSpPr>
              <p:cNvPr id="22" name="TextBox 21">
                <a:extLst>
                  <a:ext uri="{FF2B5EF4-FFF2-40B4-BE49-F238E27FC236}">
                    <a16:creationId xmlns:a16="http://schemas.microsoft.com/office/drawing/2014/main" xmlns:a14="http://schemas.microsoft.com/office/drawing/2010/main" xmlns="" id="{4291DCFB-7499-B557-4271-614CB20F31F9}"/>
                  </a:ext>
                </a:extLst>
              </p:cNvPr>
              <p:cNvSpPr txBox="1">
                <a:spLocks noRot="1" noChangeAspect="1" noMove="1" noResize="1" noEditPoints="1" noAdjustHandles="1" noChangeArrowheads="1" noChangeShapeType="1" noTextEdit="1"/>
              </p:cNvSpPr>
              <p:nvPr/>
            </p:nvSpPr>
            <p:spPr>
              <a:xfrm>
                <a:off x="8406798" y="4359312"/>
                <a:ext cx="494020" cy="400110"/>
              </a:xfrm>
              <a:prstGeom prst="rect">
                <a:avLst/>
              </a:prstGeom>
              <a:blipFill rotWithShape="0">
                <a:blip r:embed="rId7"/>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4538219-EB69-0495-D2B3-A0D2BE145464}"/>
                  </a:ext>
                </a:extLst>
              </p:cNvPr>
              <p:cNvSpPr txBox="1"/>
              <p:nvPr/>
            </p:nvSpPr>
            <p:spPr>
              <a:xfrm>
                <a:off x="8545030" y="5272365"/>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𝟑</m:t>
                          </m:r>
                        </m:sub>
                      </m:sSub>
                    </m:oMath>
                  </m:oMathPara>
                </a14:m>
                <a:endParaRPr lang="en-US" sz="2000" b="1" dirty="0">
                  <a:solidFill>
                    <a:srgbClr val="002060"/>
                  </a:solidFill>
                </a:endParaRPr>
              </a:p>
            </p:txBody>
          </p:sp>
        </mc:Choice>
        <mc:Fallback xmlns="">
          <p:sp>
            <p:nvSpPr>
              <p:cNvPr id="23" name="TextBox 22">
                <a:extLst>
                  <a:ext uri="{FF2B5EF4-FFF2-40B4-BE49-F238E27FC236}">
                    <a16:creationId xmlns:a16="http://schemas.microsoft.com/office/drawing/2014/main" xmlns:a14="http://schemas.microsoft.com/office/drawing/2010/main" xmlns="" id="{34538219-EB69-0495-D2B3-A0D2BE145464}"/>
                  </a:ext>
                </a:extLst>
              </p:cNvPr>
              <p:cNvSpPr txBox="1">
                <a:spLocks noRot="1" noChangeAspect="1" noMove="1" noResize="1" noEditPoints="1" noAdjustHandles="1" noChangeArrowheads="1" noChangeShapeType="1" noTextEdit="1"/>
              </p:cNvSpPr>
              <p:nvPr/>
            </p:nvSpPr>
            <p:spPr>
              <a:xfrm>
                <a:off x="8545030" y="5272365"/>
                <a:ext cx="439044" cy="400110"/>
              </a:xfrm>
              <a:prstGeom prst="rect">
                <a:avLst/>
              </a:prstGeom>
              <a:blipFill rotWithShape="0">
                <a:blip r:embed="rId8"/>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83DD679-FE74-2498-3BF9-79B65F1E3400}"/>
                  </a:ext>
                </a:extLst>
              </p:cNvPr>
              <p:cNvSpPr txBox="1"/>
              <p:nvPr/>
            </p:nvSpPr>
            <p:spPr>
              <a:xfrm>
                <a:off x="7499801" y="4293611"/>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𝟒</m:t>
                          </m:r>
                        </m:sub>
                      </m:sSub>
                    </m:oMath>
                  </m:oMathPara>
                </a14:m>
                <a:endParaRPr lang="en-US" sz="2000" b="1" dirty="0">
                  <a:solidFill>
                    <a:srgbClr val="002060"/>
                  </a:solidFill>
                </a:endParaRPr>
              </a:p>
            </p:txBody>
          </p:sp>
        </mc:Choice>
        <mc:Fallback xmlns="">
          <p:sp>
            <p:nvSpPr>
              <p:cNvPr id="24" name="TextBox 23">
                <a:extLst>
                  <a:ext uri="{FF2B5EF4-FFF2-40B4-BE49-F238E27FC236}">
                    <a16:creationId xmlns:a16="http://schemas.microsoft.com/office/drawing/2014/main" xmlns:a14="http://schemas.microsoft.com/office/drawing/2010/main" xmlns="" id="{983DD679-FE74-2498-3BF9-79B65F1E3400}"/>
                  </a:ext>
                </a:extLst>
              </p:cNvPr>
              <p:cNvSpPr txBox="1">
                <a:spLocks noRot="1" noChangeAspect="1" noMove="1" noResize="1" noEditPoints="1" noAdjustHandles="1" noChangeArrowheads="1" noChangeShapeType="1" noTextEdit="1"/>
              </p:cNvSpPr>
              <p:nvPr/>
            </p:nvSpPr>
            <p:spPr>
              <a:xfrm>
                <a:off x="7499801" y="4293611"/>
                <a:ext cx="439044" cy="400110"/>
              </a:xfrm>
              <a:prstGeom prst="rect">
                <a:avLst/>
              </a:prstGeom>
              <a:blipFill rotWithShape="0">
                <a:blip r:embed="rId9"/>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25FF9EC-FC0B-1B7B-7A14-5261EB9D6C24}"/>
                  </a:ext>
                </a:extLst>
              </p:cNvPr>
              <p:cNvSpPr txBox="1"/>
              <p:nvPr/>
            </p:nvSpPr>
            <p:spPr>
              <a:xfrm>
                <a:off x="10106103" y="5258146"/>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𝟕</m:t>
                          </m:r>
                        </m:sub>
                      </m:sSub>
                    </m:oMath>
                  </m:oMathPara>
                </a14:m>
                <a:endParaRPr lang="en-US" sz="2000" b="1" dirty="0">
                  <a:solidFill>
                    <a:srgbClr val="002060"/>
                  </a:solidFill>
                </a:endParaRPr>
              </a:p>
            </p:txBody>
          </p:sp>
        </mc:Choice>
        <mc:Fallback xmlns="">
          <p:sp>
            <p:nvSpPr>
              <p:cNvPr id="25" name="TextBox 24">
                <a:extLst>
                  <a:ext uri="{FF2B5EF4-FFF2-40B4-BE49-F238E27FC236}">
                    <a16:creationId xmlns:a16="http://schemas.microsoft.com/office/drawing/2014/main" xmlns:a14="http://schemas.microsoft.com/office/drawing/2010/main" xmlns="" id="{325FF9EC-FC0B-1B7B-7A14-5261EB9D6C24}"/>
                  </a:ext>
                </a:extLst>
              </p:cNvPr>
              <p:cNvSpPr txBox="1">
                <a:spLocks noRot="1" noChangeAspect="1" noMove="1" noResize="1" noEditPoints="1" noAdjustHandles="1" noChangeArrowheads="1" noChangeShapeType="1" noTextEdit="1"/>
              </p:cNvSpPr>
              <p:nvPr/>
            </p:nvSpPr>
            <p:spPr>
              <a:xfrm>
                <a:off x="10106103" y="5258146"/>
                <a:ext cx="512677" cy="400110"/>
              </a:xfrm>
              <a:prstGeom prst="rect">
                <a:avLst/>
              </a:prstGeom>
              <a:blipFill rotWithShape="0">
                <a:blip r:embed="rId10"/>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7E387E6-4B55-9883-DB36-81B9751E7B84}"/>
                  </a:ext>
                </a:extLst>
              </p:cNvPr>
              <p:cNvSpPr txBox="1"/>
              <p:nvPr/>
            </p:nvSpPr>
            <p:spPr>
              <a:xfrm>
                <a:off x="10334135" y="4229372"/>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𝟔</m:t>
                          </m:r>
                        </m:sub>
                      </m:sSub>
                    </m:oMath>
                  </m:oMathPara>
                </a14:m>
                <a:endParaRPr lang="en-US" sz="2000" b="1" dirty="0">
                  <a:solidFill>
                    <a:srgbClr val="002060"/>
                  </a:solidFill>
                </a:endParaRPr>
              </a:p>
            </p:txBody>
          </p:sp>
        </mc:Choice>
        <mc:Fallback xmlns="">
          <p:sp>
            <p:nvSpPr>
              <p:cNvPr id="26" name="TextBox 25">
                <a:extLst>
                  <a:ext uri="{FF2B5EF4-FFF2-40B4-BE49-F238E27FC236}">
                    <a16:creationId xmlns:a16="http://schemas.microsoft.com/office/drawing/2014/main" xmlns:a14="http://schemas.microsoft.com/office/drawing/2010/main" xmlns="" id="{C7E387E6-4B55-9883-DB36-81B9751E7B84}"/>
                  </a:ext>
                </a:extLst>
              </p:cNvPr>
              <p:cNvSpPr txBox="1">
                <a:spLocks noRot="1" noChangeAspect="1" noMove="1" noResize="1" noEditPoints="1" noAdjustHandles="1" noChangeArrowheads="1" noChangeShapeType="1" noTextEdit="1"/>
              </p:cNvSpPr>
              <p:nvPr/>
            </p:nvSpPr>
            <p:spPr>
              <a:xfrm>
                <a:off x="10334135" y="4229372"/>
                <a:ext cx="512677" cy="400110"/>
              </a:xfrm>
              <a:prstGeom prst="rect">
                <a:avLst/>
              </a:prstGeom>
              <a:blipFill rotWithShape="0">
                <a:blip r:embed="rId11"/>
                <a:stretch>
                  <a:fillRect b="-3077"/>
                </a:stretch>
              </a:blipFill>
            </p:spPr>
            <p:txBody>
              <a:bodyPr/>
              <a:lstStyle/>
              <a:p>
                <a:r>
                  <a:rPr lang="en-US">
                    <a:noFill/>
                  </a:rPr>
                  <a:t> </a:t>
                </a:r>
              </a:p>
            </p:txBody>
          </p:sp>
        </mc:Fallback>
      </mc:AlternateContent>
      <p:sp>
        <p:nvSpPr>
          <p:cNvPr id="27" name="Oval 26">
            <a:extLst>
              <a:ext uri="{FF2B5EF4-FFF2-40B4-BE49-F238E27FC236}">
                <a16:creationId xmlns:a16="http://schemas.microsoft.com/office/drawing/2014/main" id="{4BB232B5-7DBC-F98C-1927-03C5B27BC669}"/>
              </a:ext>
            </a:extLst>
          </p:cNvPr>
          <p:cNvSpPr/>
          <p:nvPr/>
        </p:nvSpPr>
        <p:spPr>
          <a:xfrm>
            <a:off x="11078695" y="52638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8" name="Straight Connector 27">
            <a:extLst>
              <a:ext uri="{FF2B5EF4-FFF2-40B4-BE49-F238E27FC236}">
                <a16:creationId xmlns:a16="http://schemas.microsoft.com/office/drawing/2014/main" id="{643CA3E7-F40D-2160-E510-66D36D371176}"/>
              </a:ext>
            </a:extLst>
          </p:cNvPr>
          <p:cNvCxnSpPr>
            <a:cxnSpLocks/>
            <a:stCxn id="15" idx="5"/>
            <a:endCxn id="27" idx="1"/>
          </p:cNvCxnSpPr>
          <p:nvPr/>
        </p:nvCxnSpPr>
        <p:spPr>
          <a:xfrm>
            <a:off x="9638231" y="3678557"/>
            <a:ext cx="1461552" cy="16063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a:extLst>
              <a:ext uri="{FF2B5EF4-FFF2-40B4-BE49-F238E27FC236}">
                <a16:creationId xmlns:a16="http://schemas.microsoft.com/office/drawing/2014/main" id="{CE32D3DB-E818-E04A-5B7E-29EE343BC6D2}"/>
              </a:ext>
            </a:extLst>
          </p:cNvPr>
          <p:cNvCxnSpPr>
            <a:cxnSpLocks/>
            <a:stCxn id="17" idx="6"/>
            <a:endCxn id="27" idx="2"/>
          </p:cNvCxnSpPr>
          <p:nvPr/>
        </p:nvCxnSpPr>
        <p:spPr>
          <a:xfrm flipV="1">
            <a:off x="9659319" y="5335816"/>
            <a:ext cx="1419376" cy="1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71531E4-BF9F-3403-298D-4DE26B0DD0DD}"/>
                  </a:ext>
                </a:extLst>
              </p:cNvPr>
              <p:cNvSpPr txBox="1"/>
              <p:nvPr/>
            </p:nvSpPr>
            <p:spPr>
              <a:xfrm>
                <a:off x="10966356" y="5300107"/>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𝟓</m:t>
                          </m:r>
                        </m:sub>
                      </m:sSub>
                    </m:oMath>
                  </m:oMathPara>
                </a14:m>
                <a:endParaRPr lang="en-US" sz="2200" b="1" dirty="0">
                  <a:solidFill>
                    <a:srgbClr val="002060"/>
                  </a:solidFill>
                </a:endParaRPr>
              </a:p>
            </p:txBody>
          </p:sp>
        </mc:Choice>
        <mc:Fallback xmlns="">
          <p:sp>
            <p:nvSpPr>
              <p:cNvPr id="30" name="TextBox 29">
                <a:extLst>
                  <a:ext uri="{FF2B5EF4-FFF2-40B4-BE49-F238E27FC236}">
                    <a16:creationId xmlns:a16="http://schemas.microsoft.com/office/drawing/2014/main" xmlns:a14="http://schemas.microsoft.com/office/drawing/2010/main" xmlns="" id="{271531E4-BF9F-3403-298D-4DE26B0DD0DD}"/>
                  </a:ext>
                </a:extLst>
              </p:cNvPr>
              <p:cNvSpPr txBox="1">
                <a:spLocks noRot="1" noChangeAspect="1" noMove="1" noResize="1" noEditPoints="1" noAdjustHandles="1" noChangeArrowheads="1" noChangeShapeType="1" noTextEdit="1"/>
              </p:cNvSpPr>
              <p:nvPr/>
            </p:nvSpPr>
            <p:spPr>
              <a:xfrm>
                <a:off x="10966356" y="5300107"/>
                <a:ext cx="512677" cy="430887"/>
              </a:xfrm>
              <a:prstGeom prst="rect">
                <a:avLst/>
              </a:prstGeom>
              <a:blipFill rotWithShape="0">
                <a:blip r:embed="rId12"/>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BB2FFD4-082C-E47F-43E2-829697397EB7}"/>
                  </a:ext>
                </a:extLst>
              </p:cNvPr>
              <p:cNvSpPr txBox="1"/>
              <p:nvPr/>
            </p:nvSpPr>
            <p:spPr>
              <a:xfrm>
                <a:off x="7620903" y="3178625"/>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𝟏</m:t>
                          </m:r>
                        </m:sub>
                      </m:sSub>
                    </m:oMath>
                  </m:oMathPara>
                </a14:m>
                <a:endParaRPr lang="en-US" sz="2200" b="1" dirty="0">
                  <a:solidFill>
                    <a:srgbClr val="002060"/>
                  </a:solidFill>
                </a:endParaRPr>
              </a:p>
            </p:txBody>
          </p:sp>
        </mc:Choice>
        <mc:Fallback xmlns="">
          <p:sp>
            <p:nvSpPr>
              <p:cNvPr id="31" name="TextBox 30">
                <a:extLst>
                  <a:ext uri="{FF2B5EF4-FFF2-40B4-BE49-F238E27FC236}">
                    <a16:creationId xmlns:a16="http://schemas.microsoft.com/office/drawing/2014/main" xmlns:a14="http://schemas.microsoft.com/office/drawing/2010/main" xmlns="" id="{6BB2FFD4-082C-E47F-43E2-829697397EB7}"/>
                  </a:ext>
                </a:extLst>
              </p:cNvPr>
              <p:cNvSpPr txBox="1">
                <a:spLocks noRot="1" noChangeAspect="1" noMove="1" noResize="1" noEditPoints="1" noAdjustHandles="1" noChangeArrowheads="1" noChangeShapeType="1" noTextEdit="1"/>
              </p:cNvSpPr>
              <p:nvPr/>
            </p:nvSpPr>
            <p:spPr>
              <a:xfrm>
                <a:off x="7620903" y="3178625"/>
                <a:ext cx="512677" cy="430887"/>
              </a:xfrm>
              <a:prstGeom prst="rect">
                <a:avLst/>
              </a:prstGeom>
              <a:blipFill rotWithShape="0">
                <a:blip r:embed="rId13"/>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F9D9A9B-263E-1888-2063-ECE1A8FCE748}"/>
                  </a:ext>
                </a:extLst>
              </p:cNvPr>
              <p:cNvSpPr txBox="1"/>
              <p:nvPr/>
            </p:nvSpPr>
            <p:spPr>
              <a:xfrm>
                <a:off x="9314112" y="3162123"/>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𝟐</m:t>
                          </m:r>
                        </m:sub>
                      </m:sSub>
                    </m:oMath>
                  </m:oMathPara>
                </a14:m>
                <a:endParaRPr lang="en-US" sz="2200" b="1" dirty="0">
                  <a:solidFill>
                    <a:srgbClr val="002060"/>
                  </a:solidFill>
                </a:endParaRPr>
              </a:p>
            </p:txBody>
          </p:sp>
        </mc:Choice>
        <mc:Fallback xmlns="">
          <p:sp>
            <p:nvSpPr>
              <p:cNvPr id="32" name="TextBox 31">
                <a:extLst>
                  <a:ext uri="{FF2B5EF4-FFF2-40B4-BE49-F238E27FC236}">
                    <a16:creationId xmlns:a16="http://schemas.microsoft.com/office/drawing/2014/main" xmlns:a14="http://schemas.microsoft.com/office/drawing/2010/main" xmlns="" id="{9F9D9A9B-263E-1888-2063-ECE1A8FCE748}"/>
                  </a:ext>
                </a:extLst>
              </p:cNvPr>
              <p:cNvSpPr txBox="1">
                <a:spLocks noRot="1" noChangeAspect="1" noMove="1" noResize="1" noEditPoints="1" noAdjustHandles="1" noChangeArrowheads="1" noChangeShapeType="1" noTextEdit="1"/>
              </p:cNvSpPr>
              <p:nvPr/>
            </p:nvSpPr>
            <p:spPr>
              <a:xfrm>
                <a:off x="9314112" y="3162123"/>
                <a:ext cx="512677" cy="430887"/>
              </a:xfrm>
              <a:prstGeom prst="rect">
                <a:avLst/>
              </a:prstGeom>
              <a:blipFill rotWithShape="0">
                <a:blip r:embed="rId14"/>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127439" y="3422529"/>
                <a:ext cx="6830747" cy="2631490"/>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For</a:t>
                </a:r>
                <a14:m>
                  <m:oMath xmlns:m="http://schemas.openxmlformats.org/officeDocument/2006/math">
                    <m:r>
                      <a:rPr lang="en-US" sz="2800" i="1" dirty="0" smtClean="0">
                        <a:solidFill>
                          <a:srgbClr val="002060"/>
                        </a:solidFill>
                        <a:latin typeface="Cambria Math" panose="02040503050406030204" pitchFamily="18" charset="0"/>
                      </a:rPr>
                      <m:t> </m:t>
                    </m:r>
                    <m:d>
                      <m:dPr>
                        <m:begChr m:val="{"/>
                        <m:endChr m:val="}"/>
                        <m:ctrlPr>
                          <a:rPr lang="en-US" sz="2800" i="1" dirty="0" smtClean="0">
                            <a:solidFill>
                              <a:srgbClr val="002060"/>
                            </a:solidFill>
                            <a:latin typeface="Cambria Math" panose="02040503050406030204" pitchFamily="18" charset="0"/>
                          </a:rPr>
                        </m:ctrlPr>
                      </m:dPr>
                      <m:e>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e</m:t>
                            </m:r>
                          </m:e>
                          <m:sub>
                            <m:r>
                              <a:rPr lang="en-US" sz="2800" i="0" dirty="0" smtClean="0">
                                <a:solidFill>
                                  <a:srgbClr val="002060"/>
                                </a:solidFill>
                                <a:latin typeface="Cambria Math" panose="02040503050406030204" pitchFamily="18" charset="0"/>
                              </a:rPr>
                              <m:t>4</m:t>
                            </m:r>
                          </m:sub>
                        </m:sSub>
                        <m:r>
                          <a:rPr lang="en-US" sz="2800" i="0" dirty="0" smtClean="0">
                            <a:solidFill>
                              <a:srgbClr val="002060"/>
                            </a:solidFill>
                            <a:latin typeface="Cambria Math" panose="02040503050406030204" pitchFamily="18" charset="0"/>
                          </a:rPr>
                          <m:t>, </m:t>
                        </m:r>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e</m:t>
                            </m:r>
                          </m:e>
                          <m:sub>
                            <m:r>
                              <a:rPr lang="en-US" sz="2800" i="0" dirty="0" smtClean="0">
                                <a:solidFill>
                                  <a:srgbClr val="002060"/>
                                </a:solidFill>
                                <a:latin typeface="Cambria Math" panose="02040503050406030204" pitchFamily="18" charset="0"/>
                              </a:rPr>
                              <m:t>1</m:t>
                            </m:r>
                          </m:sub>
                        </m:sSub>
                        <m:r>
                          <a:rPr lang="en-US" sz="2800" i="0" dirty="0" smtClean="0">
                            <a:solidFill>
                              <a:srgbClr val="002060"/>
                            </a:solidFill>
                            <a:latin typeface="Cambria Math" panose="02040503050406030204" pitchFamily="18" charset="0"/>
                          </a:rPr>
                          <m:t>,</m:t>
                        </m:r>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e</m:t>
                            </m:r>
                          </m:e>
                          <m:sub>
                            <m:r>
                              <a:rPr lang="en-US" sz="2800" i="0" dirty="0" smtClean="0">
                                <a:solidFill>
                                  <a:srgbClr val="002060"/>
                                </a:solidFill>
                                <a:latin typeface="Cambria Math" panose="02040503050406030204" pitchFamily="18" charset="0"/>
                              </a:rPr>
                              <m:t>2</m:t>
                            </m:r>
                          </m:sub>
                        </m:sSub>
                      </m:e>
                    </m:d>
                  </m:oMath>
                </a14:m>
                <a:r>
                  <a:rPr lang="en-US" sz="2800" dirty="0">
                    <a:solidFill>
                      <a:srgbClr val="002060"/>
                    </a:solidFill>
                  </a:rPr>
                  <a:t>,</a:t>
                </a:r>
              </a:p>
              <a:p>
                <a:pPr marL="265113" indent="-265113" algn="just">
                  <a:spcBef>
                    <a:spcPts val="1000"/>
                  </a:spcBef>
                  <a:buClr>
                    <a:srgbClr val="B84742"/>
                  </a:buClr>
                  <a:buFont typeface="Wingdings 3" panose="05040102010807070707" pitchFamily="18" charset="2"/>
                  <a:buChar char=""/>
                </a:pPr>
                <a:r>
                  <a:rPr lang="en-IN" sz="2800" dirty="0">
                    <a:solidFill>
                      <a:srgbClr val="002060"/>
                    </a:solidFill>
                  </a:rPr>
                  <a:t>First we remove above set of edges from the graph.</a:t>
                </a:r>
              </a:p>
              <a:p>
                <a:pPr marL="265113" indent="-265113" algn="just">
                  <a:spcBef>
                    <a:spcPts val="1000"/>
                  </a:spcBef>
                  <a:buClr>
                    <a:srgbClr val="B84742"/>
                  </a:buClr>
                  <a:buFont typeface="Wingdings 3" panose="05040102010807070707" pitchFamily="18" charset="2"/>
                  <a:buChar char=""/>
                </a:pPr>
                <a:r>
                  <a:rPr lang="en-IN" sz="2800" dirty="0">
                    <a:solidFill>
                      <a:srgbClr val="002060"/>
                    </a:solidFill>
                  </a:rPr>
                  <a:t>Graph is still connected. </a:t>
                </a:r>
              </a:p>
              <a:p>
                <a:pPr marL="265113" indent="-265113" algn="just">
                  <a:spcBef>
                    <a:spcPts val="1000"/>
                  </a:spcBef>
                  <a:buClr>
                    <a:srgbClr val="B84742"/>
                  </a:buClr>
                  <a:buFont typeface="Wingdings 3" panose="05040102010807070707" pitchFamily="18" charset="2"/>
                  <a:buChar char=""/>
                </a:pPr>
                <a:r>
                  <a:rPr lang="en-IN" sz="2800" dirty="0">
                    <a:solidFill>
                      <a:srgbClr val="002060"/>
                    </a:solidFill>
                  </a:rPr>
                  <a:t>So </a:t>
                </a:r>
                <a14:m>
                  <m:oMath xmlns:m="http://schemas.openxmlformats.org/officeDocument/2006/math">
                    <m:r>
                      <a:rPr lang="en-US" sz="2800" b="0" i="0" dirty="0" smtClean="0">
                        <a:solidFill>
                          <a:srgbClr val="FF0000"/>
                        </a:solidFill>
                        <a:latin typeface="Cambria Math" panose="02040503050406030204" pitchFamily="18" charset="0"/>
                      </a:rPr>
                      <m:t>{</m:t>
                    </m:r>
                    <m:sSub>
                      <m:sSubPr>
                        <m:ctrlPr>
                          <a:rPr lang="en-US" sz="2800" i="1" dirty="0">
                            <a:solidFill>
                              <a:srgbClr val="FF0000"/>
                            </a:solidFill>
                            <a:latin typeface="Cambria Math" panose="02040503050406030204" pitchFamily="18" charset="0"/>
                          </a:rPr>
                        </m:ctrlPr>
                      </m:sSubPr>
                      <m:e>
                        <m:r>
                          <m:rPr>
                            <m:sty m:val="p"/>
                          </m:rPr>
                          <a:rPr lang="en-US" sz="2800" b="0" i="0" dirty="0">
                            <a:solidFill>
                              <a:srgbClr val="FF0000"/>
                            </a:solidFill>
                            <a:latin typeface="Cambria Math" panose="02040503050406030204" pitchFamily="18" charset="0"/>
                          </a:rPr>
                          <m:t>e</m:t>
                        </m:r>
                      </m:e>
                      <m:sub>
                        <m:r>
                          <a:rPr lang="en-US" sz="2800" b="0" i="0" dirty="0">
                            <a:solidFill>
                              <a:srgbClr val="FF0000"/>
                            </a:solidFill>
                            <a:latin typeface="Cambria Math" panose="02040503050406030204" pitchFamily="18" charset="0"/>
                          </a:rPr>
                          <m:t>4</m:t>
                        </m:r>
                      </m:sub>
                    </m:sSub>
                    <m:r>
                      <a:rPr lang="en-US" sz="2800" b="0" i="0" dirty="0">
                        <a:solidFill>
                          <a:srgbClr val="FF0000"/>
                        </a:solidFill>
                        <a:latin typeface="Cambria Math" panose="02040503050406030204" pitchFamily="18" charset="0"/>
                      </a:rPr>
                      <m:t>, </m:t>
                    </m:r>
                    <m:sSub>
                      <m:sSubPr>
                        <m:ctrlPr>
                          <a:rPr lang="en-US" sz="2800" i="1" dirty="0">
                            <a:solidFill>
                              <a:srgbClr val="FF0000"/>
                            </a:solidFill>
                            <a:latin typeface="Cambria Math" panose="02040503050406030204" pitchFamily="18" charset="0"/>
                          </a:rPr>
                        </m:ctrlPr>
                      </m:sSubPr>
                      <m:e>
                        <m:r>
                          <m:rPr>
                            <m:sty m:val="p"/>
                          </m:rPr>
                          <a:rPr lang="en-US" sz="2800" b="0" i="0" dirty="0">
                            <a:solidFill>
                              <a:srgbClr val="FF0000"/>
                            </a:solidFill>
                            <a:latin typeface="Cambria Math" panose="02040503050406030204" pitchFamily="18" charset="0"/>
                          </a:rPr>
                          <m:t>e</m:t>
                        </m:r>
                      </m:e>
                      <m:sub>
                        <m:r>
                          <a:rPr lang="en-US" sz="2800" b="0" i="0" dirty="0">
                            <a:solidFill>
                              <a:srgbClr val="FF0000"/>
                            </a:solidFill>
                            <a:latin typeface="Cambria Math" panose="02040503050406030204" pitchFamily="18" charset="0"/>
                          </a:rPr>
                          <m:t>1</m:t>
                        </m:r>
                      </m:sub>
                    </m:sSub>
                    <m:r>
                      <a:rPr lang="en-US" sz="2800" b="0" i="0" dirty="0">
                        <a:solidFill>
                          <a:srgbClr val="FF0000"/>
                        </a:solidFill>
                        <a:latin typeface="Cambria Math" panose="02040503050406030204" pitchFamily="18" charset="0"/>
                      </a:rPr>
                      <m:t>,</m:t>
                    </m:r>
                    <m:sSub>
                      <m:sSubPr>
                        <m:ctrlPr>
                          <a:rPr lang="en-US" sz="2800" i="1" dirty="0">
                            <a:solidFill>
                              <a:srgbClr val="FF0000"/>
                            </a:solidFill>
                            <a:latin typeface="Cambria Math" panose="02040503050406030204" pitchFamily="18" charset="0"/>
                          </a:rPr>
                        </m:ctrlPr>
                      </m:sSubPr>
                      <m:e>
                        <m:r>
                          <m:rPr>
                            <m:sty m:val="p"/>
                          </m:rPr>
                          <a:rPr lang="en-US" sz="2800" b="0" i="0" dirty="0">
                            <a:solidFill>
                              <a:srgbClr val="FF0000"/>
                            </a:solidFill>
                            <a:latin typeface="Cambria Math" panose="02040503050406030204" pitchFamily="18" charset="0"/>
                          </a:rPr>
                          <m:t>e</m:t>
                        </m:r>
                      </m:e>
                      <m:sub>
                        <m:r>
                          <a:rPr lang="en-US" sz="2800" b="0" i="0" dirty="0">
                            <a:solidFill>
                              <a:srgbClr val="FF0000"/>
                            </a:solidFill>
                            <a:latin typeface="Cambria Math" panose="02040503050406030204" pitchFamily="18" charset="0"/>
                          </a:rPr>
                          <m:t>2</m:t>
                        </m:r>
                      </m:sub>
                    </m:sSub>
                    <m:r>
                      <a:rPr lang="en-US" sz="2800" b="0" i="0" dirty="0">
                        <a:solidFill>
                          <a:srgbClr val="FF0000"/>
                        </a:solidFill>
                        <a:latin typeface="Cambria Math" panose="02040503050406030204" pitchFamily="18" charset="0"/>
                      </a:rPr>
                      <m:t>}</m:t>
                    </m:r>
                  </m:oMath>
                </a14:m>
                <a:r>
                  <a:rPr lang="en-US" sz="2800" dirty="0">
                    <a:solidFill>
                      <a:srgbClr val="FF0000"/>
                    </a:solidFill>
                  </a:rPr>
                  <a:t> is not cut set</a:t>
                </a:r>
                <a:r>
                  <a:rPr lang="en-US" sz="2800" b="1" dirty="0">
                    <a:solidFill>
                      <a:srgbClr val="002060"/>
                    </a:solidFill>
                  </a:rPr>
                  <a:t>.</a:t>
                </a:r>
              </a:p>
            </p:txBody>
          </p:sp>
        </mc:Choice>
        <mc:Fallback xmlns="">
          <p:sp>
            <p:nvSpPr>
              <p:cNvPr id="34" name="Rectangle 33"/>
              <p:cNvSpPr>
                <a:spLocks noRot="1" noChangeAspect="1" noMove="1" noResize="1" noEditPoints="1" noAdjustHandles="1" noChangeArrowheads="1" noChangeShapeType="1" noTextEdit="1"/>
              </p:cNvSpPr>
              <p:nvPr/>
            </p:nvSpPr>
            <p:spPr>
              <a:xfrm>
                <a:off x="127439" y="3422529"/>
                <a:ext cx="6830747" cy="2631490"/>
              </a:xfrm>
              <a:prstGeom prst="rect">
                <a:avLst/>
              </a:prstGeom>
              <a:blipFill rotWithShape="0">
                <a:blip r:embed="rId15"/>
                <a:stretch>
                  <a:fillRect l="-1696" t="-2315" r="-1786" b="-5556"/>
                </a:stretch>
              </a:blipFill>
            </p:spPr>
            <p:txBody>
              <a:bodyPr/>
              <a:lstStyle/>
              <a:p>
                <a:r>
                  <a:rPr lang="en-US">
                    <a:noFill/>
                  </a:rPr>
                  <a:t> </a:t>
                </a:r>
              </a:p>
            </p:txBody>
          </p:sp>
        </mc:Fallback>
      </mc:AlternateContent>
    </p:spTree>
    <p:extLst>
      <p:ext uri="{BB962C8B-B14F-4D97-AF65-F5344CB8AC3E}">
        <p14:creationId xmlns:p14="http://schemas.microsoft.com/office/powerpoint/2010/main" val="276100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grpId="0" nodeType="clickEffect">
                                  <p:stCondLst>
                                    <p:cond delay="0"/>
                                  </p:stCondLst>
                                  <p:childTnLst>
                                    <p:animEffect transition="out" filter="wipe(down)">
                                      <p:cBhvr>
                                        <p:cTn id="14" dur="500"/>
                                        <p:tgtEl>
                                          <p:spTgt spid="21"/>
                                        </p:tgtEl>
                                      </p:cBhvr>
                                    </p:animEffect>
                                    <p:set>
                                      <p:cBhvr>
                                        <p:cTn id="15" dur="1" fill="hold">
                                          <p:stCondLst>
                                            <p:cond delay="499"/>
                                          </p:stCondLst>
                                        </p:cTn>
                                        <p:tgtEl>
                                          <p:spTgt spid="21"/>
                                        </p:tgtEl>
                                        <p:attrNameLst>
                                          <p:attrName>style.visibility</p:attrName>
                                        </p:attrNameLst>
                                      </p:cBhvr>
                                      <p:to>
                                        <p:strVal val="hidden"/>
                                      </p:to>
                                    </p:set>
                                  </p:childTnLst>
                                </p:cTn>
                              </p:par>
                              <p:par>
                                <p:cTn id="16" presetID="22" presetClass="exit" presetSubtype="4" fill="hold" nodeType="withEffect">
                                  <p:stCondLst>
                                    <p:cond delay="0"/>
                                  </p:stCondLst>
                                  <p:childTnLst>
                                    <p:animEffect transition="out" filter="wipe(down)">
                                      <p:cBhvr>
                                        <p:cTn id="17" dur="500"/>
                                        <p:tgtEl>
                                          <p:spTgt spid="12"/>
                                        </p:tgtEl>
                                      </p:cBhvr>
                                    </p:animEffect>
                                    <p:set>
                                      <p:cBhvr>
                                        <p:cTn id="18" dur="1" fill="hold">
                                          <p:stCondLst>
                                            <p:cond delay="499"/>
                                          </p:stCondLst>
                                        </p:cTn>
                                        <p:tgtEl>
                                          <p:spTgt spid="12"/>
                                        </p:tgtEl>
                                        <p:attrNameLst>
                                          <p:attrName>style.visibility</p:attrName>
                                        </p:attrNameLst>
                                      </p:cBhvr>
                                      <p:to>
                                        <p:strVal val="hidden"/>
                                      </p:to>
                                    </p:set>
                                  </p:childTnLst>
                                </p:cTn>
                              </p:par>
                              <p:par>
                                <p:cTn id="19" presetID="22" presetClass="exit" presetSubtype="4" fill="hold" nodeType="withEffect">
                                  <p:stCondLst>
                                    <p:cond delay="0"/>
                                  </p:stCondLst>
                                  <p:childTnLst>
                                    <p:animEffect transition="out" filter="wipe(down)">
                                      <p:cBhvr>
                                        <p:cTn id="20" dur="500"/>
                                        <p:tgtEl>
                                          <p:spTgt spid="13"/>
                                        </p:tgtEl>
                                      </p:cBhvr>
                                    </p:animEffect>
                                    <p:set>
                                      <p:cBhvr>
                                        <p:cTn id="21" dur="1" fill="hold">
                                          <p:stCondLst>
                                            <p:cond delay="499"/>
                                          </p:stCondLst>
                                        </p:cTn>
                                        <p:tgtEl>
                                          <p:spTgt spid="13"/>
                                        </p:tgtEl>
                                        <p:attrNameLst>
                                          <p:attrName>style.visibility</p:attrName>
                                        </p:attrNameLst>
                                      </p:cBhvr>
                                      <p:to>
                                        <p:strVal val="hidden"/>
                                      </p:to>
                                    </p:set>
                                  </p:childTnLst>
                                </p:cTn>
                              </p:par>
                              <p:par>
                                <p:cTn id="22" presetID="22" presetClass="exit" presetSubtype="4" fill="hold" grpId="0" nodeType="withEffect">
                                  <p:stCondLst>
                                    <p:cond delay="0"/>
                                  </p:stCondLst>
                                  <p:childTnLst>
                                    <p:animEffect transition="out" filter="wipe(down)">
                                      <p:cBhvr>
                                        <p:cTn id="23" dur="500"/>
                                        <p:tgtEl>
                                          <p:spTgt spid="24"/>
                                        </p:tgtEl>
                                      </p:cBhvr>
                                    </p:animEffect>
                                    <p:set>
                                      <p:cBhvr>
                                        <p:cTn id="24" dur="1" fill="hold">
                                          <p:stCondLst>
                                            <p:cond delay="499"/>
                                          </p:stCondLst>
                                        </p:cTn>
                                        <p:tgtEl>
                                          <p:spTgt spid="24"/>
                                        </p:tgtEl>
                                        <p:attrNameLst>
                                          <p:attrName>style.visibility</p:attrName>
                                        </p:attrNameLst>
                                      </p:cBhvr>
                                      <p:to>
                                        <p:strVal val="hidden"/>
                                      </p:to>
                                    </p:set>
                                  </p:childTnLst>
                                </p:cTn>
                              </p:par>
                              <p:par>
                                <p:cTn id="25" presetID="22" presetClass="exit" presetSubtype="4" fill="hold" grpId="0" nodeType="withEffect">
                                  <p:stCondLst>
                                    <p:cond delay="0"/>
                                  </p:stCondLst>
                                  <p:childTnLst>
                                    <p:animEffect transition="out" filter="wipe(down)">
                                      <p:cBhvr>
                                        <p:cTn id="26" dur="500"/>
                                        <p:tgtEl>
                                          <p:spTgt spid="20"/>
                                        </p:tgtEl>
                                      </p:cBhvr>
                                    </p:animEffect>
                                    <p:set>
                                      <p:cBhvr>
                                        <p:cTn id="27" dur="1" fill="hold">
                                          <p:stCondLst>
                                            <p:cond delay="499"/>
                                          </p:stCondLst>
                                        </p:cTn>
                                        <p:tgtEl>
                                          <p:spTgt spid="20"/>
                                        </p:tgtEl>
                                        <p:attrNameLst>
                                          <p:attrName>style.visibility</p:attrName>
                                        </p:attrNameLst>
                                      </p:cBhvr>
                                      <p:to>
                                        <p:strVal val="hidden"/>
                                      </p:to>
                                    </p:set>
                                  </p:childTnLst>
                                </p:cTn>
                              </p:par>
                              <p:par>
                                <p:cTn id="28" presetID="22" presetClass="exit" presetSubtype="4" fill="hold" nodeType="withEffect">
                                  <p:stCondLst>
                                    <p:cond delay="0"/>
                                  </p:stCondLst>
                                  <p:childTnLst>
                                    <p:animEffect transition="out" filter="wipe(down)">
                                      <p:cBhvr>
                                        <p:cTn id="29" dur="500"/>
                                        <p:tgtEl>
                                          <p:spTgt spid="11"/>
                                        </p:tgtEl>
                                      </p:cBhvr>
                                    </p:animEffect>
                                    <p:set>
                                      <p:cBhvr>
                                        <p:cTn id="30" dur="1" fill="hold">
                                          <p:stCondLst>
                                            <p:cond delay="499"/>
                                          </p:stCondLst>
                                        </p:cTn>
                                        <p:tgtEl>
                                          <p:spTgt spid="1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0"/>
                <a:ext cx="12024000" cy="187536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For the given graph, determine whether the following set of edges forms a cut-set.</a:t>
                </a:r>
              </a:p>
              <a:p>
                <a:pPr marL="514350" indent="-514350">
                  <a:buFont typeface="Arial" panose="020B0604020202020204" pitchFamily="34" charset="0"/>
                  <a:buChar char="•"/>
                </a:pPr>
                <a14:m>
                  <m:oMath xmlns:m="http://schemas.openxmlformats.org/officeDocument/2006/math">
                    <m:r>
                      <a:rPr lang="en-US" sz="2800" b="0" i="0" dirty="0" smtClean="0">
                        <a:solidFill>
                          <a:schemeClr val="bg1"/>
                        </a:solidFill>
                        <a:latin typeface="Cambria Math" panose="02040503050406030204" pitchFamily="18" charset="0"/>
                      </a:rPr>
                      <m:t>{</m:t>
                    </m:r>
                    <m:sSub>
                      <m:sSubPr>
                        <m:ctrlPr>
                          <a:rPr lang="en-US" sz="2800" i="1" dirty="0" smtClean="0">
                            <a:solidFill>
                              <a:schemeClr val="bg1"/>
                            </a:solidFill>
                            <a:latin typeface="Cambria Math" panose="02040503050406030204" pitchFamily="18" charset="0"/>
                          </a:rPr>
                        </m:ctrlPr>
                      </m:sSubPr>
                      <m:e>
                        <m:r>
                          <m:rPr>
                            <m:sty m:val="p"/>
                          </m:rPr>
                          <a:rPr lang="en-US" sz="2800" i="0" dirty="0" smtClean="0">
                            <a:solidFill>
                              <a:schemeClr val="bg1"/>
                            </a:solidFill>
                            <a:latin typeface="Cambria Math" panose="02040503050406030204" pitchFamily="18" charset="0"/>
                          </a:rPr>
                          <m:t>e</m:t>
                        </m:r>
                      </m:e>
                      <m:sub>
                        <m:r>
                          <a:rPr lang="en-US" sz="2800" i="0" dirty="0" smtClean="0">
                            <a:solidFill>
                              <a:schemeClr val="bg1"/>
                            </a:solidFill>
                            <a:latin typeface="Cambria Math" panose="02040503050406030204" pitchFamily="18" charset="0"/>
                          </a:rPr>
                          <m:t>4</m:t>
                        </m:r>
                      </m:sub>
                    </m:sSub>
                    <m:r>
                      <a:rPr lang="en-US" sz="2800" i="0" dirty="0">
                        <a:solidFill>
                          <a:schemeClr val="bg1"/>
                        </a:solidFill>
                        <a:latin typeface="Cambria Math" panose="02040503050406030204" pitchFamily="18" charset="0"/>
                      </a:rPr>
                      <m:t>, </m:t>
                    </m:r>
                    <m:sSub>
                      <m:sSubPr>
                        <m:ctrlPr>
                          <a:rPr lang="en-US" sz="2800" i="1" dirty="0" smtClean="0">
                            <a:solidFill>
                              <a:schemeClr val="bg1"/>
                            </a:solidFill>
                            <a:latin typeface="Cambria Math" panose="02040503050406030204" pitchFamily="18" charset="0"/>
                          </a:rPr>
                        </m:ctrlPr>
                      </m:sSubPr>
                      <m:e>
                        <m:r>
                          <m:rPr>
                            <m:sty m:val="p"/>
                          </m:rPr>
                          <a:rPr lang="en-US" sz="2800" i="0" dirty="0" smtClean="0">
                            <a:solidFill>
                              <a:schemeClr val="bg1"/>
                            </a:solidFill>
                            <a:latin typeface="Cambria Math" panose="02040503050406030204" pitchFamily="18" charset="0"/>
                          </a:rPr>
                          <m:t>e</m:t>
                        </m:r>
                      </m:e>
                      <m:sub>
                        <m:r>
                          <a:rPr lang="en-US" sz="2800" i="0" dirty="0" smtClean="0">
                            <a:solidFill>
                              <a:schemeClr val="bg1"/>
                            </a:solidFill>
                            <a:latin typeface="Cambria Math" panose="02040503050406030204" pitchFamily="18" charset="0"/>
                          </a:rPr>
                          <m:t>1</m:t>
                        </m:r>
                      </m:sub>
                    </m:sSub>
                    <m:r>
                      <a:rPr lang="en-US" sz="2800" i="0" dirty="0" smtClean="0">
                        <a:solidFill>
                          <a:schemeClr val="bg1"/>
                        </a:solidFill>
                        <a:latin typeface="Cambria Math" panose="02040503050406030204" pitchFamily="18" charset="0"/>
                      </a:rPr>
                      <m:t>,</m:t>
                    </m:r>
                    <m:sSub>
                      <m:sSubPr>
                        <m:ctrlPr>
                          <a:rPr lang="en-US" sz="2800" i="1" dirty="0" smtClean="0">
                            <a:solidFill>
                              <a:schemeClr val="bg1"/>
                            </a:solidFill>
                            <a:latin typeface="Cambria Math" panose="02040503050406030204" pitchFamily="18" charset="0"/>
                          </a:rPr>
                        </m:ctrlPr>
                      </m:sSubPr>
                      <m:e>
                        <m:r>
                          <m:rPr>
                            <m:sty m:val="p"/>
                          </m:rPr>
                          <a:rPr lang="en-US" sz="2800" i="0" dirty="0" smtClean="0">
                            <a:solidFill>
                              <a:schemeClr val="bg1"/>
                            </a:solidFill>
                            <a:latin typeface="Cambria Math" panose="02040503050406030204" pitchFamily="18" charset="0"/>
                          </a:rPr>
                          <m:t>e</m:t>
                        </m:r>
                      </m:e>
                      <m:sub>
                        <m:r>
                          <a:rPr lang="en-US" sz="2800" i="0" dirty="0" smtClean="0">
                            <a:solidFill>
                              <a:schemeClr val="bg1"/>
                            </a:solidFill>
                            <a:latin typeface="Cambria Math" panose="02040503050406030204" pitchFamily="18" charset="0"/>
                          </a:rPr>
                          <m:t>2</m:t>
                        </m:r>
                      </m:sub>
                    </m:sSub>
                    <m:r>
                      <a:rPr lang="en-US" sz="2800" b="0" i="0" dirty="0" smtClean="0">
                        <a:solidFill>
                          <a:schemeClr val="bg1"/>
                        </a:solidFill>
                        <a:latin typeface="Cambria Math" panose="02040503050406030204" pitchFamily="18" charset="0"/>
                      </a:rPr>
                      <m:t>}</m:t>
                    </m:r>
                  </m:oMath>
                </a14:m>
                <a:endParaRPr lang="en-US" sz="2800" dirty="0">
                  <a:solidFill>
                    <a:schemeClr val="bg1"/>
                  </a:solidFill>
                </a:endParaRPr>
              </a:p>
              <a:p>
                <a:pPr marL="514350" indent="-514350">
                  <a:buFont typeface="Arial" panose="020B0604020202020204" pitchFamily="34" charset="0"/>
                  <a:buChar char="•"/>
                </a:pPr>
                <a14:m>
                  <m:oMath xmlns:m="http://schemas.openxmlformats.org/officeDocument/2006/math">
                    <m:d>
                      <m:dPr>
                        <m:begChr m:val="{"/>
                        <m:endChr m:val="}"/>
                        <m:ctrlPr>
                          <a:rPr lang="en-US" sz="2800" b="0" i="1" dirty="0" smtClean="0">
                            <a:solidFill>
                              <a:schemeClr val="bg1"/>
                            </a:solidFill>
                            <a:latin typeface="Cambria Math" panose="02040503050406030204" pitchFamily="18" charset="0"/>
                          </a:rPr>
                        </m:ctrlPr>
                      </m:dPr>
                      <m:e>
                        <m:sSub>
                          <m:sSubPr>
                            <m:ctrlPr>
                              <a:rPr lang="en-US" sz="2800" b="0" i="1" dirty="0" smtClean="0">
                                <a:solidFill>
                                  <a:schemeClr val="bg1"/>
                                </a:solidFill>
                                <a:latin typeface="Cambria Math" panose="02040503050406030204" pitchFamily="18" charset="0"/>
                              </a:rPr>
                            </m:ctrlPr>
                          </m:sSubPr>
                          <m:e>
                            <m:r>
                              <m:rPr>
                                <m:sty m:val="p"/>
                              </m:rPr>
                              <a:rPr lang="en-US" sz="2800" b="0" i="0" dirty="0" smtClean="0">
                                <a:solidFill>
                                  <a:schemeClr val="bg1"/>
                                </a:solidFill>
                                <a:latin typeface="Cambria Math" panose="02040503050406030204" pitchFamily="18" charset="0"/>
                              </a:rPr>
                              <m:t>e</m:t>
                            </m:r>
                          </m:e>
                          <m:sub>
                            <m:r>
                              <a:rPr lang="en-US" sz="2800" b="0" i="0" dirty="0" smtClean="0">
                                <a:solidFill>
                                  <a:schemeClr val="bg1"/>
                                </a:solidFill>
                                <a:latin typeface="Cambria Math" panose="02040503050406030204" pitchFamily="18" charset="0"/>
                              </a:rPr>
                              <m:t>6</m:t>
                            </m:r>
                          </m:sub>
                        </m:sSub>
                        <m:r>
                          <a:rPr lang="en-US" sz="2800" b="0" i="0" dirty="0" smtClean="0">
                            <a:solidFill>
                              <a:schemeClr val="bg1"/>
                            </a:solidFill>
                            <a:latin typeface="Cambria Math" panose="02040503050406030204" pitchFamily="18" charset="0"/>
                          </a:rPr>
                          <m:t>, </m:t>
                        </m:r>
                        <m:sSub>
                          <m:sSubPr>
                            <m:ctrlPr>
                              <a:rPr lang="en-US" sz="2800" b="0" i="1" dirty="0" smtClean="0">
                                <a:solidFill>
                                  <a:schemeClr val="bg1"/>
                                </a:solidFill>
                                <a:latin typeface="Cambria Math" panose="02040503050406030204" pitchFamily="18" charset="0"/>
                              </a:rPr>
                            </m:ctrlPr>
                          </m:sSubPr>
                          <m:e>
                            <m:r>
                              <m:rPr>
                                <m:sty m:val="p"/>
                              </m:rPr>
                              <a:rPr lang="en-US" sz="2800" b="0" i="0" dirty="0" smtClean="0">
                                <a:solidFill>
                                  <a:schemeClr val="bg1"/>
                                </a:solidFill>
                                <a:latin typeface="Cambria Math" panose="02040503050406030204" pitchFamily="18" charset="0"/>
                              </a:rPr>
                              <m:t>e</m:t>
                            </m:r>
                          </m:e>
                          <m:sub>
                            <m:r>
                              <a:rPr lang="en-US" sz="2800" b="0" i="0" dirty="0" smtClean="0">
                                <a:solidFill>
                                  <a:schemeClr val="bg1"/>
                                </a:solidFill>
                                <a:latin typeface="Cambria Math" panose="02040503050406030204" pitchFamily="18" charset="0"/>
                              </a:rPr>
                              <m:t>2</m:t>
                            </m:r>
                          </m:sub>
                        </m:sSub>
                        <m:r>
                          <a:rPr lang="en-US" sz="2800" b="0" i="0" dirty="0" smtClean="0">
                            <a:solidFill>
                              <a:schemeClr val="bg1"/>
                            </a:solidFill>
                            <a:latin typeface="Cambria Math" panose="02040503050406030204" pitchFamily="18" charset="0"/>
                          </a:rPr>
                          <m:t>, </m:t>
                        </m:r>
                        <m:sSub>
                          <m:sSubPr>
                            <m:ctrlPr>
                              <a:rPr lang="en-US" sz="2800" b="0" i="1" dirty="0" smtClean="0">
                                <a:solidFill>
                                  <a:schemeClr val="bg1"/>
                                </a:solidFill>
                                <a:latin typeface="Cambria Math" panose="02040503050406030204" pitchFamily="18" charset="0"/>
                              </a:rPr>
                            </m:ctrlPr>
                          </m:sSubPr>
                          <m:e>
                            <m:r>
                              <m:rPr>
                                <m:sty m:val="p"/>
                              </m:rPr>
                              <a:rPr lang="en-US" sz="2800" b="0" i="0" dirty="0" smtClean="0">
                                <a:solidFill>
                                  <a:schemeClr val="bg1"/>
                                </a:solidFill>
                                <a:latin typeface="Cambria Math" panose="02040503050406030204" pitchFamily="18" charset="0"/>
                              </a:rPr>
                              <m:t>e</m:t>
                            </m:r>
                          </m:e>
                          <m:sub>
                            <m:r>
                              <a:rPr lang="en-US" sz="2800" b="0" i="0" dirty="0" smtClean="0">
                                <a:solidFill>
                                  <a:schemeClr val="bg1"/>
                                </a:solidFill>
                                <a:latin typeface="Cambria Math" panose="02040503050406030204" pitchFamily="18" charset="0"/>
                              </a:rPr>
                              <m:t>5</m:t>
                            </m:r>
                          </m:sub>
                        </m:sSub>
                        <m:r>
                          <a:rPr lang="en-US" sz="2800" b="0" i="0" dirty="0" smtClean="0">
                            <a:solidFill>
                              <a:schemeClr val="bg1"/>
                            </a:solidFill>
                            <a:latin typeface="Cambria Math" panose="02040503050406030204" pitchFamily="18" charset="0"/>
                          </a:rPr>
                          <m:t>,</m:t>
                        </m:r>
                        <m:sSub>
                          <m:sSubPr>
                            <m:ctrlPr>
                              <a:rPr lang="en-US" sz="2800" b="0" i="1" dirty="0" smtClean="0">
                                <a:solidFill>
                                  <a:schemeClr val="bg1"/>
                                </a:solidFill>
                                <a:latin typeface="Cambria Math" panose="02040503050406030204" pitchFamily="18" charset="0"/>
                              </a:rPr>
                            </m:ctrlPr>
                          </m:sSubPr>
                          <m:e>
                            <m:r>
                              <m:rPr>
                                <m:sty m:val="p"/>
                              </m:rPr>
                              <a:rPr lang="en-US" sz="2800" b="0" i="0" dirty="0" smtClean="0">
                                <a:solidFill>
                                  <a:schemeClr val="bg1"/>
                                </a:solidFill>
                                <a:latin typeface="Cambria Math" panose="02040503050406030204" pitchFamily="18" charset="0"/>
                              </a:rPr>
                              <m:t>e</m:t>
                            </m:r>
                          </m:e>
                          <m:sub>
                            <m:r>
                              <a:rPr lang="en-US" sz="2800" b="0" i="0" dirty="0" smtClean="0">
                                <a:solidFill>
                                  <a:schemeClr val="bg1"/>
                                </a:solidFill>
                                <a:latin typeface="Cambria Math" panose="02040503050406030204" pitchFamily="18" charset="0"/>
                              </a:rPr>
                              <m:t>4</m:t>
                            </m:r>
                          </m:sub>
                        </m:sSub>
                      </m:e>
                    </m:d>
                  </m:oMath>
                </a14:m>
                <a:endParaRPr lang="en-US" sz="2800" dirty="0">
                  <a:solidFill>
                    <a:schemeClr val="bg1"/>
                  </a:solidFill>
                </a:endParaRPr>
              </a:p>
              <a:p>
                <a:pPr marL="514350" indent="-514350">
                  <a:buFont typeface="Arial" panose="020B0604020202020204" pitchFamily="34" charset="0"/>
                  <a:buChar char="•"/>
                </a:pPr>
                <a14:m>
                  <m:oMath xmlns:m="http://schemas.openxmlformats.org/officeDocument/2006/math">
                    <m:d>
                      <m:dPr>
                        <m:begChr m:val="{"/>
                        <m:endChr m:val="}"/>
                        <m:ctrlPr>
                          <a:rPr lang="en-US" sz="2800" b="0" i="1" smtClean="0">
                            <a:solidFill>
                              <a:schemeClr val="bg1"/>
                            </a:solidFill>
                            <a:latin typeface="Cambria Math" panose="02040503050406030204" pitchFamily="18" charset="0"/>
                          </a:rPr>
                        </m:ctrlPr>
                      </m:dPr>
                      <m:e>
                        <m:sSub>
                          <m:sSubPr>
                            <m:ctrlPr>
                              <a:rPr lang="en-US" sz="2800" b="0" i="1" smtClean="0">
                                <a:solidFill>
                                  <a:schemeClr val="bg1"/>
                                </a:solidFill>
                                <a:latin typeface="Cambria Math" panose="02040503050406030204" pitchFamily="18" charset="0"/>
                              </a:rPr>
                            </m:ctrlPr>
                          </m:sSubPr>
                          <m:e>
                            <m:r>
                              <m:rPr>
                                <m:sty m:val="p"/>
                              </m:rPr>
                              <a:rPr lang="en-US" sz="2800" b="0" i="0" smtClean="0">
                                <a:solidFill>
                                  <a:schemeClr val="bg1"/>
                                </a:solidFill>
                                <a:latin typeface="Cambria Math" panose="02040503050406030204" pitchFamily="18" charset="0"/>
                              </a:rPr>
                              <m:t>e</m:t>
                            </m:r>
                          </m:e>
                          <m:sub>
                            <m:r>
                              <a:rPr lang="en-US" sz="2800" b="0" i="0" smtClean="0">
                                <a:solidFill>
                                  <a:schemeClr val="bg1"/>
                                </a:solidFill>
                                <a:latin typeface="Cambria Math" panose="02040503050406030204" pitchFamily="18" charset="0"/>
                              </a:rPr>
                              <m:t>1</m:t>
                            </m:r>
                          </m:sub>
                        </m:sSub>
                        <m:r>
                          <a:rPr lang="en-US" sz="2800" b="0" i="0" smtClean="0">
                            <a:solidFill>
                              <a:schemeClr val="bg1"/>
                            </a:solidFill>
                            <a:latin typeface="Cambria Math" panose="02040503050406030204" pitchFamily="18" charset="0"/>
                          </a:rPr>
                          <m:t>,</m:t>
                        </m:r>
                        <m:sSub>
                          <m:sSubPr>
                            <m:ctrlPr>
                              <a:rPr lang="en-US" sz="2800" b="0" i="1" smtClean="0">
                                <a:solidFill>
                                  <a:schemeClr val="bg1"/>
                                </a:solidFill>
                                <a:latin typeface="Cambria Math" panose="02040503050406030204" pitchFamily="18" charset="0"/>
                              </a:rPr>
                            </m:ctrlPr>
                          </m:sSubPr>
                          <m:e>
                            <m:r>
                              <m:rPr>
                                <m:sty m:val="p"/>
                              </m:rPr>
                              <a:rPr lang="en-US" sz="2800" b="0" i="0" smtClean="0">
                                <a:solidFill>
                                  <a:schemeClr val="bg1"/>
                                </a:solidFill>
                                <a:latin typeface="Cambria Math" panose="02040503050406030204" pitchFamily="18" charset="0"/>
                              </a:rPr>
                              <m:t>e</m:t>
                            </m:r>
                          </m:e>
                          <m:sub>
                            <m:r>
                              <a:rPr lang="en-US" sz="2800" b="0" i="0" smtClean="0">
                                <a:solidFill>
                                  <a:schemeClr val="bg1"/>
                                </a:solidFill>
                                <a:latin typeface="Cambria Math" panose="02040503050406030204" pitchFamily="18" charset="0"/>
                              </a:rPr>
                              <m:t>2</m:t>
                            </m:r>
                          </m:sub>
                        </m:sSub>
                        <m:r>
                          <a:rPr lang="en-US" sz="2800" b="0" i="0" smtClean="0">
                            <a:solidFill>
                              <a:schemeClr val="bg1"/>
                            </a:solidFill>
                            <a:latin typeface="Cambria Math" panose="02040503050406030204" pitchFamily="18" charset="0"/>
                          </a:rPr>
                          <m:t>, </m:t>
                        </m:r>
                        <m:sSub>
                          <m:sSubPr>
                            <m:ctrlPr>
                              <a:rPr lang="en-US" sz="2800" b="0" i="1" smtClean="0">
                                <a:solidFill>
                                  <a:schemeClr val="bg1"/>
                                </a:solidFill>
                                <a:latin typeface="Cambria Math" panose="02040503050406030204" pitchFamily="18" charset="0"/>
                              </a:rPr>
                            </m:ctrlPr>
                          </m:sSubPr>
                          <m:e>
                            <m:r>
                              <m:rPr>
                                <m:sty m:val="p"/>
                              </m:rPr>
                              <a:rPr lang="en-US" sz="2800" b="0" i="0" smtClean="0">
                                <a:solidFill>
                                  <a:schemeClr val="bg1"/>
                                </a:solidFill>
                                <a:latin typeface="Cambria Math" panose="02040503050406030204" pitchFamily="18" charset="0"/>
                              </a:rPr>
                              <m:t>e</m:t>
                            </m:r>
                          </m:e>
                          <m:sub>
                            <m:r>
                              <a:rPr lang="en-US" sz="2800" b="0" i="0" smtClean="0">
                                <a:solidFill>
                                  <a:schemeClr val="bg1"/>
                                </a:solidFill>
                                <a:latin typeface="Cambria Math" panose="02040503050406030204" pitchFamily="18" charset="0"/>
                              </a:rPr>
                              <m:t>7</m:t>
                            </m:r>
                          </m:sub>
                        </m:sSub>
                      </m:e>
                    </m:d>
                  </m:oMath>
                </a14:m>
                <a:endParaRPr lang="en-US" sz="2800" dirty="0">
                  <a:solidFill>
                    <a:schemeClr val="bg1"/>
                  </a:solidFill>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0"/>
                <a:ext cx="12024000" cy="1875360"/>
              </a:xfrm>
              <a:prstGeom prst="rect">
                <a:avLst/>
              </a:prstGeom>
              <a:blipFill rotWithShape="0">
                <a:blip r:embed="rId2"/>
                <a:stretch>
                  <a:fillRect l="-1065" t="-3247"/>
                </a:stretch>
              </a:blipFill>
              <a:ln>
                <a:noFill/>
              </a:ln>
            </p:spPr>
            <p:txBody>
              <a:bodyPr/>
              <a:lstStyle/>
              <a:p>
                <a:r>
                  <a:rPr lang="en-US">
                    <a:noFill/>
                  </a:rPr>
                  <a:t> </a:t>
                </a:r>
              </a:p>
            </p:txBody>
          </p:sp>
        </mc:Fallback>
      </mc:AlternateContent>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2(Cont.)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276641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2" name="Rectangle 2"/>
          <p:cNvSpPr>
            <a:spLocks noChangeArrowheads="1"/>
          </p:cNvSpPr>
          <p:nvPr/>
        </p:nvSpPr>
        <p:spPr bwMode="auto">
          <a:xfrm>
            <a:off x="3477296" y="3178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06B921-0155-1173-B956-D5340E37D7CA}"/>
                  </a:ext>
                </a:extLst>
              </p:cNvPr>
              <p:cNvSpPr txBox="1"/>
              <p:nvPr/>
            </p:nvSpPr>
            <p:spPr>
              <a:xfrm>
                <a:off x="9381652" y="5321323"/>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𝟑</m:t>
                          </m:r>
                        </m:sub>
                      </m:sSub>
                    </m:oMath>
                  </m:oMathPara>
                </a14:m>
                <a:endParaRPr lang="en-US" sz="2200" b="1" dirty="0">
                  <a:solidFill>
                    <a:srgbClr val="002060"/>
                  </a:solidFill>
                </a:endParaRPr>
              </a:p>
            </p:txBody>
          </p:sp>
        </mc:Choice>
        <mc:Fallback xmlns="">
          <p:sp>
            <p:nvSpPr>
              <p:cNvPr id="7" name="TextBox 6">
                <a:extLst>
                  <a:ext uri="{FF2B5EF4-FFF2-40B4-BE49-F238E27FC236}">
                    <a16:creationId xmlns:a16="http://schemas.microsoft.com/office/drawing/2014/main" xmlns:a14="http://schemas.microsoft.com/office/drawing/2010/main" xmlns="" id="{EE06B921-0155-1173-B956-D5340E37D7CA}"/>
                  </a:ext>
                </a:extLst>
              </p:cNvPr>
              <p:cNvSpPr txBox="1">
                <a:spLocks noRot="1" noChangeAspect="1" noMove="1" noResize="1" noEditPoints="1" noAdjustHandles="1" noChangeArrowheads="1" noChangeShapeType="1" noTextEdit="1"/>
              </p:cNvSpPr>
              <p:nvPr/>
            </p:nvSpPr>
            <p:spPr>
              <a:xfrm>
                <a:off x="9381652" y="5321323"/>
                <a:ext cx="512677" cy="430887"/>
              </a:xfrm>
              <a:prstGeom prst="rect">
                <a:avLst/>
              </a:prstGeom>
              <a:blipFill rotWithShape="0">
                <a:blip r:embed="rId3"/>
                <a:stretch>
                  <a:fillRect b="-1408"/>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43424608-83D6-4CDE-97C1-D7104661F021}"/>
              </a:ext>
            </a:extLst>
          </p:cNvPr>
          <p:cNvCxnSpPr>
            <a:cxnSpLocks/>
            <a:stCxn id="14" idx="5"/>
            <a:endCxn id="17" idx="1"/>
          </p:cNvCxnSpPr>
          <p:nvPr/>
        </p:nvCxnSpPr>
        <p:spPr>
          <a:xfrm>
            <a:off x="7927487" y="3678557"/>
            <a:ext cx="1608920" cy="16215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951FCFAB-4398-A09F-F506-49A4E31798BC}"/>
              </a:ext>
            </a:extLst>
          </p:cNvPr>
          <p:cNvCxnSpPr>
            <a:cxnSpLocks/>
          </p:cNvCxnSpPr>
          <p:nvPr/>
        </p:nvCxnSpPr>
        <p:spPr>
          <a:xfrm>
            <a:off x="7884761" y="5351019"/>
            <a:ext cx="168664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C38D8CAB-EA84-7ED5-ED61-6B775E72DC2F}"/>
              </a:ext>
            </a:extLst>
          </p:cNvPr>
          <p:cNvCxnSpPr>
            <a:cxnSpLocks/>
          </p:cNvCxnSpPr>
          <p:nvPr/>
        </p:nvCxnSpPr>
        <p:spPr>
          <a:xfrm>
            <a:off x="7884762" y="3636994"/>
            <a:ext cx="168664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AB5C5319-860B-38BD-1282-40E765D32D50}"/>
              </a:ext>
            </a:extLst>
          </p:cNvPr>
          <p:cNvCxnSpPr>
            <a:cxnSpLocks/>
            <a:stCxn id="15" idx="4"/>
            <a:endCxn id="17" idx="0"/>
          </p:cNvCxnSpPr>
          <p:nvPr/>
        </p:nvCxnSpPr>
        <p:spPr>
          <a:xfrm>
            <a:off x="9587319" y="3699645"/>
            <a:ext cx="0" cy="15793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ADE44A87-C860-1BCF-EAB4-53D64F8A9109}"/>
              </a:ext>
            </a:extLst>
          </p:cNvPr>
          <p:cNvCxnSpPr>
            <a:cxnSpLocks/>
            <a:stCxn id="14" idx="4"/>
            <a:endCxn id="16" idx="0"/>
          </p:cNvCxnSpPr>
          <p:nvPr/>
        </p:nvCxnSpPr>
        <p:spPr>
          <a:xfrm>
            <a:off x="7876575" y="3699645"/>
            <a:ext cx="0" cy="15793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 name="Oval 13">
            <a:extLst>
              <a:ext uri="{FF2B5EF4-FFF2-40B4-BE49-F238E27FC236}">
                <a16:creationId xmlns:a16="http://schemas.microsoft.com/office/drawing/2014/main" id="{15AAC5B9-A477-EF6E-EB75-CFCA4C726D46}"/>
              </a:ext>
            </a:extLst>
          </p:cNvPr>
          <p:cNvSpPr/>
          <p:nvPr/>
        </p:nvSpPr>
        <p:spPr>
          <a:xfrm>
            <a:off x="7804575" y="35556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2E2867F6-BE3C-F07A-24CF-7441F769CB63}"/>
              </a:ext>
            </a:extLst>
          </p:cNvPr>
          <p:cNvSpPr/>
          <p:nvPr/>
        </p:nvSpPr>
        <p:spPr>
          <a:xfrm>
            <a:off x="9515319" y="35556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 name="Oval 15">
            <a:extLst>
              <a:ext uri="{FF2B5EF4-FFF2-40B4-BE49-F238E27FC236}">
                <a16:creationId xmlns:a16="http://schemas.microsoft.com/office/drawing/2014/main" id="{E52C4B82-ECFC-6D2E-1D09-A9FF6C9377ED}"/>
              </a:ext>
            </a:extLst>
          </p:cNvPr>
          <p:cNvSpPr/>
          <p:nvPr/>
        </p:nvSpPr>
        <p:spPr>
          <a:xfrm>
            <a:off x="7804575" y="5279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Oval 16">
            <a:extLst>
              <a:ext uri="{FF2B5EF4-FFF2-40B4-BE49-F238E27FC236}">
                <a16:creationId xmlns:a16="http://schemas.microsoft.com/office/drawing/2014/main" id="{D7C3888D-7FFF-43F9-FB95-7207EF450274}"/>
              </a:ext>
            </a:extLst>
          </p:cNvPr>
          <p:cNvSpPr/>
          <p:nvPr/>
        </p:nvSpPr>
        <p:spPr>
          <a:xfrm>
            <a:off x="9515319" y="5279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DCB6E99-6EE4-D368-F59C-0D4EA76E665B}"/>
                  </a:ext>
                </a:extLst>
              </p:cNvPr>
              <p:cNvSpPr txBox="1"/>
              <p:nvPr/>
            </p:nvSpPr>
            <p:spPr>
              <a:xfrm>
                <a:off x="7639305" y="5304875"/>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𝟒</m:t>
                          </m:r>
                        </m:sub>
                      </m:sSub>
                    </m:oMath>
                  </m:oMathPara>
                </a14:m>
                <a:endParaRPr lang="en-US" sz="2200" b="1" dirty="0">
                  <a:solidFill>
                    <a:srgbClr val="002060"/>
                  </a:solidFill>
                </a:endParaRPr>
              </a:p>
            </p:txBody>
          </p:sp>
        </mc:Choice>
        <mc:Fallback xmlns="">
          <p:sp>
            <p:nvSpPr>
              <p:cNvPr id="18" name="TextBox 17">
                <a:extLst>
                  <a:ext uri="{FF2B5EF4-FFF2-40B4-BE49-F238E27FC236}">
                    <a16:creationId xmlns:a16="http://schemas.microsoft.com/office/drawing/2014/main" xmlns:a14="http://schemas.microsoft.com/office/drawing/2010/main" xmlns="" id="{3DCB6E99-6EE4-D368-F59C-0D4EA76E665B}"/>
                  </a:ext>
                </a:extLst>
              </p:cNvPr>
              <p:cNvSpPr txBox="1">
                <a:spLocks noRot="1" noChangeAspect="1" noMove="1" noResize="1" noEditPoints="1" noAdjustHandles="1" noChangeArrowheads="1" noChangeShapeType="1" noTextEdit="1"/>
              </p:cNvSpPr>
              <p:nvPr/>
            </p:nvSpPr>
            <p:spPr>
              <a:xfrm>
                <a:off x="7639305" y="5304875"/>
                <a:ext cx="512677" cy="430887"/>
              </a:xfrm>
              <a:prstGeom prst="rect">
                <a:avLst/>
              </a:prstGeom>
              <a:blipFill rotWithShape="0">
                <a:blip r:embed="rId4"/>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04B116E-A312-6E9F-B3FA-8A28CB060F62}"/>
                  </a:ext>
                </a:extLst>
              </p:cNvPr>
              <p:cNvSpPr txBox="1"/>
              <p:nvPr/>
            </p:nvSpPr>
            <p:spPr>
              <a:xfrm>
                <a:off x="9536407" y="4303189"/>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𝟐</m:t>
                          </m:r>
                        </m:sub>
                      </m:sSub>
                    </m:oMath>
                  </m:oMathPara>
                </a14:m>
                <a:endParaRPr lang="en-US" sz="2000" b="1" dirty="0">
                  <a:solidFill>
                    <a:srgbClr val="002060"/>
                  </a:solidFill>
                </a:endParaRPr>
              </a:p>
            </p:txBody>
          </p:sp>
        </mc:Choice>
        <mc:Fallback xmlns="">
          <p:sp>
            <p:nvSpPr>
              <p:cNvPr id="20" name="TextBox 19">
                <a:extLst>
                  <a:ext uri="{FF2B5EF4-FFF2-40B4-BE49-F238E27FC236}">
                    <a16:creationId xmlns:a16="http://schemas.microsoft.com/office/drawing/2014/main" xmlns:a14="http://schemas.microsoft.com/office/drawing/2010/main" xmlns="" id="{704B116E-A312-6E9F-B3FA-8A28CB060F62}"/>
                  </a:ext>
                </a:extLst>
              </p:cNvPr>
              <p:cNvSpPr txBox="1">
                <a:spLocks noRot="1" noChangeAspect="1" noMove="1" noResize="1" noEditPoints="1" noAdjustHandles="1" noChangeArrowheads="1" noChangeShapeType="1" noTextEdit="1"/>
              </p:cNvSpPr>
              <p:nvPr/>
            </p:nvSpPr>
            <p:spPr>
              <a:xfrm>
                <a:off x="9536407" y="4303189"/>
                <a:ext cx="439044" cy="400110"/>
              </a:xfrm>
              <a:prstGeom prst="rect">
                <a:avLst/>
              </a:prstGeom>
              <a:blipFill rotWithShape="0">
                <a:blip r:embed="rId5"/>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B36342A-C413-D4D6-9D8E-7D89F46C658E}"/>
                  </a:ext>
                </a:extLst>
              </p:cNvPr>
              <p:cNvSpPr txBox="1"/>
              <p:nvPr/>
            </p:nvSpPr>
            <p:spPr>
              <a:xfrm>
                <a:off x="8490190" y="3222474"/>
                <a:ext cx="46731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1" dirty="0" smtClean="0">
                              <a:solidFill>
                                <a:srgbClr val="0070C0"/>
                              </a:solidFill>
                              <a:latin typeface="Cambria Math" panose="02040503050406030204" pitchFamily="18" charset="0"/>
                            </a:rPr>
                            <m:t>𝟏</m:t>
                          </m:r>
                        </m:sub>
                      </m:sSub>
                    </m:oMath>
                  </m:oMathPara>
                </a14:m>
                <a:endParaRPr lang="en-US" sz="2200" b="1" dirty="0">
                  <a:solidFill>
                    <a:srgbClr val="002060"/>
                  </a:solidFill>
                </a:endParaRPr>
              </a:p>
            </p:txBody>
          </p:sp>
        </mc:Choice>
        <mc:Fallback xmlns="">
          <p:sp>
            <p:nvSpPr>
              <p:cNvPr id="21" name="TextBox 20">
                <a:extLst>
                  <a:ext uri="{FF2B5EF4-FFF2-40B4-BE49-F238E27FC236}">
                    <a16:creationId xmlns:a16="http://schemas.microsoft.com/office/drawing/2014/main" xmlns:a14="http://schemas.microsoft.com/office/drawing/2010/main" xmlns="" id="{8B36342A-C413-D4D6-9D8E-7D89F46C658E}"/>
                  </a:ext>
                </a:extLst>
              </p:cNvPr>
              <p:cNvSpPr txBox="1">
                <a:spLocks noRot="1" noChangeAspect="1" noMove="1" noResize="1" noEditPoints="1" noAdjustHandles="1" noChangeArrowheads="1" noChangeShapeType="1" noTextEdit="1"/>
              </p:cNvSpPr>
              <p:nvPr/>
            </p:nvSpPr>
            <p:spPr>
              <a:xfrm>
                <a:off x="8490190" y="3222474"/>
                <a:ext cx="467312" cy="400110"/>
              </a:xfrm>
              <a:prstGeom prst="rect">
                <a:avLst/>
              </a:prstGeom>
              <a:blipFill rotWithShape="0">
                <a:blip r:embed="rId6"/>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291DCFB-7499-B557-4271-614CB20F31F9}"/>
                  </a:ext>
                </a:extLst>
              </p:cNvPr>
              <p:cNvSpPr txBox="1"/>
              <p:nvPr/>
            </p:nvSpPr>
            <p:spPr>
              <a:xfrm>
                <a:off x="8406798" y="4359312"/>
                <a:ext cx="49402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𝟓</m:t>
                          </m:r>
                        </m:sub>
                      </m:sSub>
                    </m:oMath>
                  </m:oMathPara>
                </a14:m>
                <a:endParaRPr lang="en-US" sz="2000" b="1" dirty="0">
                  <a:solidFill>
                    <a:srgbClr val="002060"/>
                  </a:solidFill>
                </a:endParaRPr>
              </a:p>
            </p:txBody>
          </p:sp>
        </mc:Choice>
        <mc:Fallback xmlns="">
          <p:sp>
            <p:nvSpPr>
              <p:cNvPr id="22" name="TextBox 21">
                <a:extLst>
                  <a:ext uri="{FF2B5EF4-FFF2-40B4-BE49-F238E27FC236}">
                    <a16:creationId xmlns:a16="http://schemas.microsoft.com/office/drawing/2014/main" xmlns:a14="http://schemas.microsoft.com/office/drawing/2010/main" xmlns="" id="{4291DCFB-7499-B557-4271-614CB20F31F9}"/>
                  </a:ext>
                </a:extLst>
              </p:cNvPr>
              <p:cNvSpPr txBox="1">
                <a:spLocks noRot="1" noChangeAspect="1" noMove="1" noResize="1" noEditPoints="1" noAdjustHandles="1" noChangeArrowheads="1" noChangeShapeType="1" noTextEdit="1"/>
              </p:cNvSpPr>
              <p:nvPr/>
            </p:nvSpPr>
            <p:spPr>
              <a:xfrm>
                <a:off x="8406798" y="4359312"/>
                <a:ext cx="494020" cy="400110"/>
              </a:xfrm>
              <a:prstGeom prst="rect">
                <a:avLst/>
              </a:prstGeom>
              <a:blipFill rotWithShape="0">
                <a:blip r:embed="rId7"/>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4538219-EB69-0495-D2B3-A0D2BE145464}"/>
                  </a:ext>
                </a:extLst>
              </p:cNvPr>
              <p:cNvSpPr txBox="1"/>
              <p:nvPr/>
            </p:nvSpPr>
            <p:spPr>
              <a:xfrm>
                <a:off x="8545030" y="5272365"/>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𝟑</m:t>
                          </m:r>
                        </m:sub>
                      </m:sSub>
                    </m:oMath>
                  </m:oMathPara>
                </a14:m>
                <a:endParaRPr lang="en-US" sz="2000" b="1" dirty="0">
                  <a:solidFill>
                    <a:srgbClr val="002060"/>
                  </a:solidFill>
                </a:endParaRPr>
              </a:p>
            </p:txBody>
          </p:sp>
        </mc:Choice>
        <mc:Fallback xmlns="">
          <p:sp>
            <p:nvSpPr>
              <p:cNvPr id="23" name="TextBox 22">
                <a:extLst>
                  <a:ext uri="{FF2B5EF4-FFF2-40B4-BE49-F238E27FC236}">
                    <a16:creationId xmlns:a16="http://schemas.microsoft.com/office/drawing/2014/main" xmlns:a14="http://schemas.microsoft.com/office/drawing/2010/main" xmlns="" id="{34538219-EB69-0495-D2B3-A0D2BE145464}"/>
                  </a:ext>
                </a:extLst>
              </p:cNvPr>
              <p:cNvSpPr txBox="1">
                <a:spLocks noRot="1" noChangeAspect="1" noMove="1" noResize="1" noEditPoints="1" noAdjustHandles="1" noChangeArrowheads="1" noChangeShapeType="1" noTextEdit="1"/>
              </p:cNvSpPr>
              <p:nvPr/>
            </p:nvSpPr>
            <p:spPr>
              <a:xfrm>
                <a:off x="8545030" y="5272365"/>
                <a:ext cx="439044" cy="400110"/>
              </a:xfrm>
              <a:prstGeom prst="rect">
                <a:avLst/>
              </a:prstGeom>
              <a:blipFill rotWithShape="0">
                <a:blip r:embed="rId8"/>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83DD679-FE74-2498-3BF9-79B65F1E3400}"/>
                  </a:ext>
                </a:extLst>
              </p:cNvPr>
              <p:cNvSpPr txBox="1"/>
              <p:nvPr/>
            </p:nvSpPr>
            <p:spPr>
              <a:xfrm>
                <a:off x="7499801" y="4293611"/>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𝟒</m:t>
                          </m:r>
                        </m:sub>
                      </m:sSub>
                    </m:oMath>
                  </m:oMathPara>
                </a14:m>
                <a:endParaRPr lang="en-US" sz="2000" b="1" dirty="0">
                  <a:solidFill>
                    <a:srgbClr val="002060"/>
                  </a:solidFill>
                </a:endParaRPr>
              </a:p>
            </p:txBody>
          </p:sp>
        </mc:Choice>
        <mc:Fallback xmlns="">
          <p:sp>
            <p:nvSpPr>
              <p:cNvPr id="24" name="TextBox 23">
                <a:extLst>
                  <a:ext uri="{FF2B5EF4-FFF2-40B4-BE49-F238E27FC236}">
                    <a16:creationId xmlns:a16="http://schemas.microsoft.com/office/drawing/2014/main" xmlns:a14="http://schemas.microsoft.com/office/drawing/2010/main" xmlns="" id="{983DD679-FE74-2498-3BF9-79B65F1E3400}"/>
                  </a:ext>
                </a:extLst>
              </p:cNvPr>
              <p:cNvSpPr txBox="1">
                <a:spLocks noRot="1" noChangeAspect="1" noMove="1" noResize="1" noEditPoints="1" noAdjustHandles="1" noChangeArrowheads="1" noChangeShapeType="1" noTextEdit="1"/>
              </p:cNvSpPr>
              <p:nvPr/>
            </p:nvSpPr>
            <p:spPr>
              <a:xfrm>
                <a:off x="7499801" y="4293611"/>
                <a:ext cx="439044" cy="400110"/>
              </a:xfrm>
              <a:prstGeom prst="rect">
                <a:avLst/>
              </a:prstGeom>
              <a:blipFill rotWithShape="0">
                <a:blip r:embed="rId9"/>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25FF9EC-FC0B-1B7B-7A14-5261EB9D6C24}"/>
                  </a:ext>
                </a:extLst>
              </p:cNvPr>
              <p:cNvSpPr txBox="1"/>
              <p:nvPr/>
            </p:nvSpPr>
            <p:spPr>
              <a:xfrm>
                <a:off x="10106103" y="5258146"/>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𝟕</m:t>
                          </m:r>
                        </m:sub>
                      </m:sSub>
                    </m:oMath>
                  </m:oMathPara>
                </a14:m>
                <a:endParaRPr lang="en-US" sz="2000" b="1" dirty="0">
                  <a:solidFill>
                    <a:srgbClr val="002060"/>
                  </a:solidFill>
                </a:endParaRPr>
              </a:p>
            </p:txBody>
          </p:sp>
        </mc:Choice>
        <mc:Fallback xmlns="">
          <p:sp>
            <p:nvSpPr>
              <p:cNvPr id="25" name="TextBox 24">
                <a:extLst>
                  <a:ext uri="{FF2B5EF4-FFF2-40B4-BE49-F238E27FC236}">
                    <a16:creationId xmlns:a16="http://schemas.microsoft.com/office/drawing/2014/main" xmlns:a14="http://schemas.microsoft.com/office/drawing/2010/main" xmlns="" id="{325FF9EC-FC0B-1B7B-7A14-5261EB9D6C24}"/>
                  </a:ext>
                </a:extLst>
              </p:cNvPr>
              <p:cNvSpPr txBox="1">
                <a:spLocks noRot="1" noChangeAspect="1" noMove="1" noResize="1" noEditPoints="1" noAdjustHandles="1" noChangeArrowheads="1" noChangeShapeType="1" noTextEdit="1"/>
              </p:cNvSpPr>
              <p:nvPr/>
            </p:nvSpPr>
            <p:spPr>
              <a:xfrm>
                <a:off x="10106103" y="5258146"/>
                <a:ext cx="512677" cy="400110"/>
              </a:xfrm>
              <a:prstGeom prst="rect">
                <a:avLst/>
              </a:prstGeom>
              <a:blipFill rotWithShape="0">
                <a:blip r:embed="rId10"/>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7E387E6-4B55-9883-DB36-81B9751E7B84}"/>
                  </a:ext>
                </a:extLst>
              </p:cNvPr>
              <p:cNvSpPr txBox="1"/>
              <p:nvPr/>
            </p:nvSpPr>
            <p:spPr>
              <a:xfrm>
                <a:off x="10334135" y="4229372"/>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𝟔</m:t>
                          </m:r>
                        </m:sub>
                      </m:sSub>
                    </m:oMath>
                  </m:oMathPara>
                </a14:m>
                <a:endParaRPr lang="en-US" sz="2000" b="1" dirty="0">
                  <a:solidFill>
                    <a:srgbClr val="002060"/>
                  </a:solidFill>
                </a:endParaRPr>
              </a:p>
            </p:txBody>
          </p:sp>
        </mc:Choice>
        <mc:Fallback xmlns="">
          <p:sp>
            <p:nvSpPr>
              <p:cNvPr id="26" name="TextBox 25">
                <a:extLst>
                  <a:ext uri="{FF2B5EF4-FFF2-40B4-BE49-F238E27FC236}">
                    <a16:creationId xmlns:a16="http://schemas.microsoft.com/office/drawing/2014/main" xmlns:a14="http://schemas.microsoft.com/office/drawing/2010/main" xmlns="" id="{C7E387E6-4B55-9883-DB36-81B9751E7B84}"/>
                  </a:ext>
                </a:extLst>
              </p:cNvPr>
              <p:cNvSpPr txBox="1">
                <a:spLocks noRot="1" noChangeAspect="1" noMove="1" noResize="1" noEditPoints="1" noAdjustHandles="1" noChangeArrowheads="1" noChangeShapeType="1" noTextEdit="1"/>
              </p:cNvSpPr>
              <p:nvPr/>
            </p:nvSpPr>
            <p:spPr>
              <a:xfrm>
                <a:off x="10334135" y="4229372"/>
                <a:ext cx="512677" cy="400110"/>
              </a:xfrm>
              <a:prstGeom prst="rect">
                <a:avLst/>
              </a:prstGeom>
              <a:blipFill rotWithShape="0">
                <a:blip r:embed="rId11"/>
                <a:stretch>
                  <a:fillRect b="-3077"/>
                </a:stretch>
              </a:blipFill>
            </p:spPr>
            <p:txBody>
              <a:bodyPr/>
              <a:lstStyle/>
              <a:p>
                <a:r>
                  <a:rPr lang="en-US">
                    <a:noFill/>
                  </a:rPr>
                  <a:t> </a:t>
                </a:r>
              </a:p>
            </p:txBody>
          </p:sp>
        </mc:Fallback>
      </mc:AlternateContent>
      <p:sp>
        <p:nvSpPr>
          <p:cNvPr id="27" name="Oval 26">
            <a:extLst>
              <a:ext uri="{FF2B5EF4-FFF2-40B4-BE49-F238E27FC236}">
                <a16:creationId xmlns:a16="http://schemas.microsoft.com/office/drawing/2014/main" id="{4BB232B5-7DBC-F98C-1927-03C5B27BC669}"/>
              </a:ext>
            </a:extLst>
          </p:cNvPr>
          <p:cNvSpPr/>
          <p:nvPr/>
        </p:nvSpPr>
        <p:spPr>
          <a:xfrm>
            <a:off x="11078695" y="52638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8" name="Straight Connector 27">
            <a:extLst>
              <a:ext uri="{FF2B5EF4-FFF2-40B4-BE49-F238E27FC236}">
                <a16:creationId xmlns:a16="http://schemas.microsoft.com/office/drawing/2014/main" id="{643CA3E7-F40D-2160-E510-66D36D371176}"/>
              </a:ext>
            </a:extLst>
          </p:cNvPr>
          <p:cNvCxnSpPr>
            <a:cxnSpLocks/>
            <a:stCxn id="15" idx="5"/>
            <a:endCxn id="27" idx="1"/>
          </p:cNvCxnSpPr>
          <p:nvPr/>
        </p:nvCxnSpPr>
        <p:spPr>
          <a:xfrm>
            <a:off x="9638231" y="3678557"/>
            <a:ext cx="1461552" cy="16063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a:extLst>
              <a:ext uri="{FF2B5EF4-FFF2-40B4-BE49-F238E27FC236}">
                <a16:creationId xmlns:a16="http://schemas.microsoft.com/office/drawing/2014/main" id="{CE32D3DB-E818-E04A-5B7E-29EE343BC6D2}"/>
              </a:ext>
            </a:extLst>
          </p:cNvPr>
          <p:cNvCxnSpPr>
            <a:cxnSpLocks/>
            <a:stCxn id="17" idx="6"/>
            <a:endCxn id="27" idx="2"/>
          </p:cNvCxnSpPr>
          <p:nvPr/>
        </p:nvCxnSpPr>
        <p:spPr>
          <a:xfrm flipV="1">
            <a:off x="9659319" y="5335816"/>
            <a:ext cx="1419376" cy="1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71531E4-BF9F-3403-298D-4DE26B0DD0DD}"/>
                  </a:ext>
                </a:extLst>
              </p:cNvPr>
              <p:cNvSpPr txBox="1"/>
              <p:nvPr/>
            </p:nvSpPr>
            <p:spPr>
              <a:xfrm>
                <a:off x="10966356" y="5300107"/>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𝟓</m:t>
                          </m:r>
                        </m:sub>
                      </m:sSub>
                    </m:oMath>
                  </m:oMathPara>
                </a14:m>
                <a:endParaRPr lang="en-US" sz="2200" b="1" dirty="0">
                  <a:solidFill>
                    <a:srgbClr val="002060"/>
                  </a:solidFill>
                </a:endParaRPr>
              </a:p>
            </p:txBody>
          </p:sp>
        </mc:Choice>
        <mc:Fallback xmlns="">
          <p:sp>
            <p:nvSpPr>
              <p:cNvPr id="30" name="TextBox 29">
                <a:extLst>
                  <a:ext uri="{FF2B5EF4-FFF2-40B4-BE49-F238E27FC236}">
                    <a16:creationId xmlns:a16="http://schemas.microsoft.com/office/drawing/2014/main" xmlns:a14="http://schemas.microsoft.com/office/drawing/2010/main" xmlns="" id="{271531E4-BF9F-3403-298D-4DE26B0DD0DD}"/>
                  </a:ext>
                </a:extLst>
              </p:cNvPr>
              <p:cNvSpPr txBox="1">
                <a:spLocks noRot="1" noChangeAspect="1" noMove="1" noResize="1" noEditPoints="1" noAdjustHandles="1" noChangeArrowheads="1" noChangeShapeType="1" noTextEdit="1"/>
              </p:cNvSpPr>
              <p:nvPr/>
            </p:nvSpPr>
            <p:spPr>
              <a:xfrm>
                <a:off x="10966356" y="5300107"/>
                <a:ext cx="512677" cy="430887"/>
              </a:xfrm>
              <a:prstGeom prst="rect">
                <a:avLst/>
              </a:prstGeom>
              <a:blipFill rotWithShape="0">
                <a:blip r:embed="rId12"/>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BB2FFD4-082C-E47F-43E2-829697397EB7}"/>
                  </a:ext>
                </a:extLst>
              </p:cNvPr>
              <p:cNvSpPr txBox="1"/>
              <p:nvPr/>
            </p:nvSpPr>
            <p:spPr>
              <a:xfrm>
                <a:off x="7620903" y="3178625"/>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𝟏</m:t>
                          </m:r>
                        </m:sub>
                      </m:sSub>
                    </m:oMath>
                  </m:oMathPara>
                </a14:m>
                <a:endParaRPr lang="en-US" sz="2200" b="1" dirty="0">
                  <a:solidFill>
                    <a:srgbClr val="002060"/>
                  </a:solidFill>
                </a:endParaRPr>
              </a:p>
            </p:txBody>
          </p:sp>
        </mc:Choice>
        <mc:Fallback xmlns="">
          <p:sp>
            <p:nvSpPr>
              <p:cNvPr id="31" name="TextBox 30">
                <a:extLst>
                  <a:ext uri="{FF2B5EF4-FFF2-40B4-BE49-F238E27FC236}">
                    <a16:creationId xmlns:a16="http://schemas.microsoft.com/office/drawing/2014/main" xmlns:a14="http://schemas.microsoft.com/office/drawing/2010/main" xmlns="" id="{6BB2FFD4-082C-E47F-43E2-829697397EB7}"/>
                  </a:ext>
                </a:extLst>
              </p:cNvPr>
              <p:cNvSpPr txBox="1">
                <a:spLocks noRot="1" noChangeAspect="1" noMove="1" noResize="1" noEditPoints="1" noAdjustHandles="1" noChangeArrowheads="1" noChangeShapeType="1" noTextEdit="1"/>
              </p:cNvSpPr>
              <p:nvPr/>
            </p:nvSpPr>
            <p:spPr>
              <a:xfrm>
                <a:off x="7620903" y="3178625"/>
                <a:ext cx="512677" cy="430887"/>
              </a:xfrm>
              <a:prstGeom prst="rect">
                <a:avLst/>
              </a:prstGeom>
              <a:blipFill rotWithShape="0">
                <a:blip r:embed="rId13"/>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F9D9A9B-263E-1888-2063-ECE1A8FCE748}"/>
                  </a:ext>
                </a:extLst>
              </p:cNvPr>
              <p:cNvSpPr txBox="1"/>
              <p:nvPr/>
            </p:nvSpPr>
            <p:spPr>
              <a:xfrm>
                <a:off x="9314112" y="3162123"/>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𝟐</m:t>
                          </m:r>
                        </m:sub>
                      </m:sSub>
                    </m:oMath>
                  </m:oMathPara>
                </a14:m>
                <a:endParaRPr lang="en-US" sz="2200" b="1" dirty="0">
                  <a:solidFill>
                    <a:srgbClr val="002060"/>
                  </a:solidFill>
                </a:endParaRPr>
              </a:p>
            </p:txBody>
          </p:sp>
        </mc:Choice>
        <mc:Fallback xmlns="">
          <p:sp>
            <p:nvSpPr>
              <p:cNvPr id="32" name="TextBox 31">
                <a:extLst>
                  <a:ext uri="{FF2B5EF4-FFF2-40B4-BE49-F238E27FC236}">
                    <a16:creationId xmlns:a16="http://schemas.microsoft.com/office/drawing/2014/main" xmlns:a14="http://schemas.microsoft.com/office/drawing/2010/main" xmlns="" id="{9F9D9A9B-263E-1888-2063-ECE1A8FCE748}"/>
                  </a:ext>
                </a:extLst>
              </p:cNvPr>
              <p:cNvSpPr txBox="1">
                <a:spLocks noRot="1" noChangeAspect="1" noMove="1" noResize="1" noEditPoints="1" noAdjustHandles="1" noChangeArrowheads="1" noChangeShapeType="1" noTextEdit="1"/>
              </p:cNvSpPr>
              <p:nvPr/>
            </p:nvSpPr>
            <p:spPr>
              <a:xfrm>
                <a:off x="9314112" y="3162123"/>
                <a:ext cx="512677" cy="430887"/>
              </a:xfrm>
              <a:prstGeom prst="rect">
                <a:avLst/>
              </a:prstGeom>
              <a:blipFill rotWithShape="0">
                <a:blip r:embed="rId14"/>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127439" y="3422529"/>
                <a:ext cx="7545570" cy="3062377"/>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For </a:t>
                </a:r>
                <a14:m>
                  <m:oMath xmlns:m="http://schemas.openxmlformats.org/officeDocument/2006/math">
                    <m:d>
                      <m:dPr>
                        <m:begChr m:val="{"/>
                        <m:endChr m:val="}"/>
                        <m:ctrlPr>
                          <a:rPr lang="en-US" sz="2800" i="1" dirty="0">
                            <a:solidFill>
                              <a:srgbClr val="002060"/>
                            </a:solidFill>
                            <a:latin typeface="Cambria Math" panose="02040503050406030204" pitchFamily="18" charset="0"/>
                          </a:rPr>
                        </m:ctrlPr>
                      </m:dPr>
                      <m:e>
                        <m:sSub>
                          <m:sSubPr>
                            <m:ctrlPr>
                              <a:rPr lang="en-US" sz="2800" i="1" dirty="0">
                                <a:solidFill>
                                  <a:srgbClr val="002060"/>
                                </a:solidFill>
                                <a:latin typeface="Cambria Math" panose="02040503050406030204" pitchFamily="18" charset="0"/>
                              </a:rPr>
                            </m:ctrlPr>
                          </m:sSubPr>
                          <m:e>
                            <m:r>
                              <m:rPr>
                                <m:sty m:val="p"/>
                              </m:rPr>
                              <a:rPr lang="en-US" sz="2800" i="0" dirty="0">
                                <a:solidFill>
                                  <a:srgbClr val="002060"/>
                                </a:solidFill>
                                <a:latin typeface="Cambria Math" panose="02040503050406030204" pitchFamily="18" charset="0"/>
                              </a:rPr>
                              <m:t>e</m:t>
                            </m:r>
                          </m:e>
                          <m:sub>
                            <m:r>
                              <a:rPr lang="en-US" sz="2800" i="0" dirty="0">
                                <a:solidFill>
                                  <a:srgbClr val="002060"/>
                                </a:solidFill>
                                <a:latin typeface="Cambria Math" panose="02040503050406030204" pitchFamily="18" charset="0"/>
                              </a:rPr>
                              <m:t>6</m:t>
                            </m:r>
                          </m:sub>
                        </m:sSub>
                        <m:r>
                          <a:rPr lang="en-US" sz="2800" i="0" dirty="0">
                            <a:solidFill>
                              <a:srgbClr val="002060"/>
                            </a:solidFill>
                            <a:latin typeface="Cambria Math" panose="02040503050406030204" pitchFamily="18" charset="0"/>
                          </a:rPr>
                          <m:t>, </m:t>
                        </m:r>
                        <m:sSub>
                          <m:sSubPr>
                            <m:ctrlPr>
                              <a:rPr lang="en-US" sz="2800" i="1" dirty="0">
                                <a:solidFill>
                                  <a:srgbClr val="002060"/>
                                </a:solidFill>
                                <a:latin typeface="Cambria Math" panose="02040503050406030204" pitchFamily="18" charset="0"/>
                              </a:rPr>
                            </m:ctrlPr>
                          </m:sSubPr>
                          <m:e>
                            <m:r>
                              <m:rPr>
                                <m:sty m:val="p"/>
                              </m:rPr>
                              <a:rPr lang="en-US" sz="2800" i="0" dirty="0">
                                <a:solidFill>
                                  <a:srgbClr val="002060"/>
                                </a:solidFill>
                                <a:latin typeface="Cambria Math" panose="02040503050406030204" pitchFamily="18" charset="0"/>
                              </a:rPr>
                              <m:t>e</m:t>
                            </m:r>
                          </m:e>
                          <m:sub>
                            <m:r>
                              <a:rPr lang="en-US" sz="2800" i="0" dirty="0">
                                <a:solidFill>
                                  <a:srgbClr val="002060"/>
                                </a:solidFill>
                                <a:latin typeface="Cambria Math" panose="02040503050406030204" pitchFamily="18" charset="0"/>
                              </a:rPr>
                              <m:t>2</m:t>
                            </m:r>
                          </m:sub>
                        </m:sSub>
                        <m:r>
                          <a:rPr lang="en-US" sz="2800" i="0" dirty="0">
                            <a:solidFill>
                              <a:srgbClr val="002060"/>
                            </a:solidFill>
                            <a:latin typeface="Cambria Math" panose="02040503050406030204" pitchFamily="18" charset="0"/>
                          </a:rPr>
                          <m:t>, </m:t>
                        </m:r>
                        <m:sSub>
                          <m:sSubPr>
                            <m:ctrlPr>
                              <a:rPr lang="en-US" sz="2800" i="1" dirty="0">
                                <a:solidFill>
                                  <a:srgbClr val="002060"/>
                                </a:solidFill>
                                <a:latin typeface="Cambria Math" panose="02040503050406030204" pitchFamily="18" charset="0"/>
                              </a:rPr>
                            </m:ctrlPr>
                          </m:sSubPr>
                          <m:e>
                            <m:r>
                              <m:rPr>
                                <m:sty m:val="p"/>
                              </m:rPr>
                              <a:rPr lang="en-US" sz="2800" i="0" dirty="0">
                                <a:solidFill>
                                  <a:srgbClr val="002060"/>
                                </a:solidFill>
                                <a:latin typeface="Cambria Math" panose="02040503050406030204" pitchFamily="18" charset="0"/>
                              </a:rPr>
                              <m:t>e</m:t>
                            </m:r>
                          </m:e>
                          <m:sub>
                            <m:r>
                              <a:rPr lang="en-US" sz="2800" i="0" dirty="0">
                                <a:solidFill>
                                  <a:srgbClr val="002060"/>
                                </a:solidFill>
                                <a:latin typeface="Cambria Math" panose="02040503050406030204" pitchFamily="18" charset="0"/>
                              </a:rPr>
                              <m:t>5</m:t>
                            </m:r>
                          </m:sub>
                        </m:sSub>
                        <m:r>
                          <a:rPr lang="en-US" sz="2800" i="0" dirty="0">
                            <a:solidFill>
                              <a:srgbClr val="002060"/>
                            </a:solidFill>
                            <a:latin typeface="Cambria Math" panose="02040503050406030204" pitchFamily="18" charset="0"/>
                          </a:rPr>
                          <m:t>,</m:t>
                        </m:r>
                        <m:sSub>
                          <m:sSubPr>
                            <m:ctrlPr>
                              <a:rPr lang="en-US" sz="2800" i="1" dirty="0">
                                <a:solidFill>
                                  <a:srgbClr val="002060"/>
                                </a:solidFill>
                                <a:latin typeface="Cambria Math" panose="02040503050406030204" pitchFamily="18" charset="0"/>
                              </a:rPr>
                            </m:ctrlPr>
                          </m:sSubPr>
                          <m:e>
                            <m:r>
                              <m:rPr>
                                <m:sty m:val="p"/>
                              </m:rPr>
                              <a:rPr lang="en-US" sz="2800" i="0" dirty="0">
                                <a:solidFill>
                                  <a:srgbClr val="002060"/>
                                </a:solidFill>
                                <a:latin typeface="Cambria Math" panose="02040503050406030204" pitchFamily="18" charset="0"/>
                              </a:rPr>
                              <m:t>e</m:t>
                            </m:r>
                          </m:e>
                          <m:sub>
                            <m:r>
                              <a:rPr lang="en-US" sz="2800" i="0" dirty="0">
                                <a:solidFill>
                                  <a:srgbClr val="002060"/>
                                </a:solidFill>
                                <a:latin typeface="Cambria Math" panose="02040503050406030204" pitchFamily="18" charset="0"/>
                              </a:rPr>
                              <m:t>4</m:t>
                            </m:r>
                          </m:sub>
                        </m:sSub>
                      </m:e>
                    </m:d>
                    <m:r>
                      <a:rPr lang="en-US" sz="2800" b="0" i="1" dirty="0" smtClean="0">
                        <a:solidFill>
                          <a:srgbClr val="002060"/>
                        </a:solidFill>
                        <a:latin typeface="Cambria Math" panose="02040503050406030204" pitchFamily="18" charset="0"/>
                      </a:rPr>
                      <m:t>,</m:t>
                    </m:r>
                  </m:oMath>
                </a14:m>
                <a:endParaRPr lang="en-US" sz="2800" b="0" dirty="0">
                  <a:solidFill>
                    <a:srgbClr val="002060"/>
                  </a:solidFill>
                </a:endParaRP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If we remove the above set of edges from the graph, then the graph will become disconnected</a:t>
                </a:r>
                <a:r>
                  <a:rPr lang="en-IN" sz="2800" dirty="0">
                    <a:solidFill>
                      <a:srgbClr val="002060"/>
                    </a:solidFill>
                  </a:rPr>
                  <a:t>.</a:t>
                </a:r>
              </a:p>
              <a:p>
                <a:pPr marL="265113" indent="-265113" algn="just">
                  <a:spcBef>
                    <a:spcPts val="1000"/>
                  </a:spcBef>
                  <a:buClr>
                    <a:srgbClr val="B84742"/>
                  </a:buClr>
                  <a:buFont typeface="Wingdings 3" panose="05040102010807070707" pitchFamily="18" charset="2"/>
                  <a:buChar char=""/>
                </a:pPr>
                <a:r>
                  <a:rPr lang="en-IN" sz="2800" dirty="0">
                    <a:solidFill>
                      <a:srgbClr val="002060"/>
                    </a:solidFill>
                  </a:rPr>
                  <a:t>Also removal of proper subset of given edge set will not disconnect graph. </a:t>
                </a:r>
              </a:p>
              <a:p>
                <a:pPr marL="265113" indent="-265113" algn="just">
                  <a:spcBef>
                    <a:spcPts val="1000"/>
                  </a:spcBef>
                  <a:buClr>
                    <a:srgbClr val="B84742"/>
                  </a:buClr>
                  <a:buFont typeface="Wingdings 3" panose="05040102010807070707" pitchFamily="18" charset="2"/>
                  <a:buChar char=""/>
                </a:pPr>
                <a:r>
                  <a:rPr lang="en-IN" sz="2800" dirty="0">
                    <a:solidFill>
                      <a:srgbClr val="002060"/>
                    </a:solidFill>
                  </a:rPr>
                  <a:t>So</a:t>
                </a:r>
                <a14:m>
                  <m:oMath xmlns:m="http://schemas.openxmlformats.org/officeDocument/2006/math">
                    <m:r>
                      <a:rPr lang="en-US" sz="2800" b="0" i="0" dirty="0" smtClean="0">
                        <a:solidFill>
                          <a:srgbClr val="002060"/>
                        </a:solidFill>
                        <a:latin typeface="Cambria Math" panose="02040503050406030204" pitchFamily="18" charset="0"/>
                      </a:rPr>
                      <m:t> </m:t>
                    </m:r>
                    <m:d>
                      <m:dPr>
                        <m:begChr m:val="{"/>
                        <m:endChr m:val="}"/>
                        <m:ctrlPr>
                          <a:rPr lang="en-US" sz="2800" i="1" dirty="0" smtClean="0">
                            <a:solidFill>
                              <a:srgbClr val="FF0000"/>
                            </a:solidFill>
                            <a:latin typeface="Cambria Math" panose="02040503050406030204" pitchFamily="18" charset="0"/>
                          </a:rPr>
                        </m:ctrlPr>
                      </m:dPr>
                      <m:e>
                        <m:sSub>
                          <m:sSubPr>
                            <m:ctrlPr>
                              <a:rPr lang="en-US" sz="2800" i="1" dirty="0">
                                <a:solidFill>
                                  <a:srgbClr val="FF0000"/>
                                </a:solidFill>
                                <a:latin typeface="Cambria Math" panose="02040503050406030204" pitchFamily="18" charset="0"/>
                              </a:rPr>
                            </m:ctrlPr>
                          </m:sSubPr>
                          <m:e>
                            <m:r>
                              <m:rPr>
                                <m:sty m:val="p"/>
                              </m:rPr>
                              <a:rPr lang="en-US" sz="2800" b="0" i="0" dirty="0">
                                <a:solidFill>
                                  <a:srgbClr val="FF0000"/>
                                </a:solidFill>
                                <a:latin typeface="Cambria Math" panose="02040503050406030204" pitchFamily="18" charset="0"/>
                              </a:rPr>
                              <m:t>e</m:t>
                            </m:r>
                          </m:e>
                          <m:sub>
                            <m:r>
                              <a:rPr lang="en-US" sz="2800" b="0" i="0" dirty="0">
                                <a:solidFill>
                                  <a:srgbClr val="FF0000"/>
                                </a:solidFill>
                                <a:latin typeface="Cambria Math" panose="02040503050406030204" pitchFamily="18" charset="0"/>
                              </a:rPr>
                              <m:t>6</m:t>
                            </m:r>
                          </m:sub>
                        </m:sSub>
                        <m:r>
                          <a:rPr lang="en-US" sz="2800" b="0" i="0" dirty="0">
                            <a:solidFill>
                              <a:srgbClr val="FF0000"/>
                            </a:solidFill>
                            <a:latin typeface="Cambria Math" panose="02040503050406030204" pitchFamily="18" charset="0"/>
                          </a:rPr>
                          <m:t>, </m:t>
                        </m:r>
                        <m:sSub>
                          <m:sSubPr>
                            <m:ctrlPr>
                              <a:rPr lang="en-US" sz="2800" i="1" dirty="0">
                                <a:solidFill>
                                  <a:srgbClr val="FF0000"/>
                                </a:solidFill>
                                <a:latin typeface="Cambria Math" panose="02040503050406030204" pitchFamily="18" charset="0"/>
                              </a:rPr>
                            </m:ctrlPr>
                          </m:sSubPr>
                          <m:e>
                            <m:r>
                              <m:rPr>
                                <m:sty m:val="p"/>
                              </m:rPr>
                              <a:rPr lang="en-US" sz="2800" b="0" i="0" dirty="0">
                                <a:solidFill>
                                  <a:srgbClr val="FF0000"/>
                                </a:solidFill>
                                <a:latin typeface="Cambria Math" panose="02040503050406030204" pitchFamily="18" charset="0"/>
                              </a:rPr>
                              <m:t>e</m:t>
                            </m:r>
                          </m:e>
                          <m:sub>
                            <m:r>
                              <a:rPr lang="en-US" sz="2800" b="0" i="0" dirty="0">
                                <a:solidFill>
                                  <a:srgbClr val="FF0000"/>
                                </a:solidFill>
                                <a:latin typeface="Cambria Math" panose="02040503050406030204" pitchFamily="18" charset="0"/>
                              </a:rPr>
                              <m:t>2</m:t>
                            </m:r>
                          </m:sub>
                        </m:sSub>
                        <m:r>
                          <a:rPr lang="en-US" sz="2800" b="0" i="0" dirty="0">
                            <a:solidFill>
                              <a:srgbClr val="FF0000"/>
                            </a:solidFill>
                            <a:latin typeface="Cambria Math" panose="02040503050406030204" pitchFamily="18" charset="0"/>
                          </a:rPr>
                          <m:t>, </m:t>
                        </m:r>
                        <m:sSub>
                          <m:sSubPr>
                            <m:ctrlPr>
                              <a:rPr lang="en-US" sz="2800" i="1" dirty="0">
                                <a:solidFill>
                                  <a:srgbClr val="FF0000"/>
                                </a:solidFill>
                                <a:latin typeface="Cambria Math" panose="02040503050406030204" pitchFamily="18" charset="0"/>
                              </a:rPr>
                            </m:ctrlPr>
                          </m:sSubPr>
                          <m:e>
                            <m:r>
                              <m:rPr>
                                <m:sty m:val="p"/>
                              </m:rPr>
                              <a:rPr lang="en-US" sz="2800" b="0" i="0" dirty="0">
                                <a:solidFill>
                                  <a:srgbClr val="FF0000"/>
                                </a:solidFill>
                                <a:latin typeface="Cambria Math" panose="02040503050406030204" pitchFamily="18" charset="0"/>
                              </a:rPr>
                              <m:t>e</m:t>
                            </m:r>
                          </m:e>
                          <m:sub>
                            <m:r>
                              <a:rPr lang="en-US" sz="2800" b="0" i="0" dirty="0">
                                <a:solidFill>
                                  <a:srgbClr val="FF0000"/>
                                </a:solidFill>
                                <a:latin typeface="Cambria Math" panose="02040503050406030204" pitchFamily="18" charset="0"/>
                              </a:rPr>
                              <m:t>5</m:t>
                            </m:r>
                          </m:sub>
                        </m:sSub>
                        <m:r>
                          <a:rPr lang="en-US" sz="2800" b="0" i="0" dirty="0">
                            <a:solidFill>
                              <a:srgbClr val="FF0000"/>
                            </a:solidFill>
                            <a:latin typeface="Cambria Math" panose="02040503050406030204" pitchFamily="18" charset="0"/>
                          </a:rPr>
                          <m:t>,</m:t>
                        </m:r>
                        <m:sSub>
                          <m:sSubPr>
                            <m:ctrlPr>
                              <a:rPr lang="en-US" sz="2800" i="1" dirty="0">
                                <a:solidFill>
                                  <a:srgbClr val="FF0000"/>
                                </a:solidFill>
                                <a:latin typeface="Cambria Math" panose="02040503050406030204" pitchFamily="18" charset="0"/>
                              </a:rPr>
                            </m:ctrlPr>
                          </m:sSubPr>
                          <m:e>
                            <m:r>
                              <m:rPr>
                                <m:sty m:val="p"/>
                              </m:rPr>
                              <a:rPr lang="en-US" sz="2800" b="0" i="0" dirty="0">
                                <a:solidFill>
                                  <a:srgbClr val="FF0000"/>
                                </a:solidFill>
                                <a:latin typeface="Cambria Math" panose="02040503050406030204" pitchFamily="18" charset="0"/>
                              </a:rPr>
                              <m:t>e</m:t>
                            </m:r>
                          </m:e>
                          <m:sub>
                            <m:r>
                              <a:rPr lang="en-US" sz="2800" b="0" i="0" dirty="0">
                                <a:solidFill>
                                  <a:srgbClr val="FF0000"/>
                                </a:solidFill>
                                <a:latin typeface="Cambria Math" panose="02040503050406030204" pitchFamily="18" charset="0"/>
                              </a:rPr>
                              <m:t>4</m:t>
                            </m:r>
                          </m:sub>
                        </m:sSub>
                      </m:e>
                    </m:d>
                  </m:oMath>
                </a14:m>
                <a:r>
                  <a:rPr lang="en-US" sz="2800" dirty="0">
                    <a:solidFill>
                      <a:srgbClr val="FF0000"/>
                    </a:solidFill>
                  </a:rPr>
                  <a:t> is cut set</a:t>
                </a:r>
                <a:r>
                  <a:rPr lang="en-US" sz="2800" b="1" dirty="0">
                    <a:solidFill>
                      <a:srgbClr val="002060"/>
                    </a:solidFill>
                  </a:rPr>
                  <a:t>.</a:t>
                </a:r>
              </a:p>
            </p:txBody>
          </p:sp>
        </mc:Choice>
        <mc:Fallback xmlns="">
          <p:sp>
            <p:nvSpPr>
              <p:cNvPr id="34" name="Rectangle 33"/>
              <p:cNvSpPr>
                <a:spLocks noRot="1" noChangeAspect="1" noMove="1" noResize="1" noEditPoints="1" noAdjustHandles="1" noChangeArrowheads="1" noChangeShapeType="1" noTextEdit="1"/>
              </p:cNvSpPr>
              <p:nvPr/>
            </p:nvSpPr>
            <p:spPr>
              <a:xfrm>
                <a:off x="127439" y="3422529"/>
                <a:ext cx="7545570" cy="3062377"/>
              </a:xfrm>
              <a:prstGeom prst="rect">
                <a:avLst/>
              </a:prstGeom>
              <a:blipFill rotWithShape="0">
                <a:blip r:embed="rId15"/>
                <a:stretch>
                  <a:fillRect l="-1535" t="-1988" r="-1616" b="-4573"/>
                </a:stretch>
              </a:blipFill>
            </p:spPr>
            <p:txBody>
              <a:bodyPr/>
              <a:lstStyle/>
              <a:p>
                <a:r>
                  <a:rPr lang="en-US">
                    <a:noFill/>
                  </a:rPr>
                  <a:t> </a:t>
                </a:r>
              </a:p>
            </p:txBody>
          </p:sp>
        </mc:Fallback>
      </mc:AlternateContent>
    </p:spTree>
    <p:extLst>
      <p:ext uri="{BB962C8B-B14F-4D97-AF65-F5344CB8AC3E}">
        <p14:creationId xmlns:p14="http://schemas.microsoft.com/office/powerpoint/2010/main" val="3577890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grpId="0" nodeType="clickEffect">
                                  <p:stCondLst>
                                    <p:cond delay="0"/>
                                  </p:stCondLst>
                                  <p:childTnLst>
                                    <p:animEffect transition="out" filter="wipe(down)">
                                      <p:cBhvr>
                                        <p:cTn id="14" dur="500"/>
                                        <p:tgtEl>
                                          <p:spTgt spid="24"/>
                                        </p:tgtEl>
                                      </p:cBhvr>
                                    </p:animEffect>
                                    <p:set>
                                      <p:cBhvr>
                                        <p:cTn id="15" dur="1" fill="hold">
                                          <p:stCondLst>
                                            <p:cond delay="499"/>
                                          </p:stCondLst>
                                        </p:cTn>
                                        <p:tgtEl>
                                          <p:spTgt spid="24"/>
                                        </p:tgtEl>
                                        <p:attrNameLst>
                                          <p:attrName>style.visibility</p:attrName>
                                        </p:attrNameLst>
                                      </p:cBhvr>
                                      <p:to>
                                        <p:strVal val="hidden"/>
                                      </p:to>
                                    </p:set>
                                  </p:childTnLst>
                                </p:cTn>
                              </p:par>
                              <p:par>
                                <p:cTn id="16" presetID="22" presetClass="exit" presetSubtype="4" fill="hold" nodeType="withEffect">
                                  <p:stCondLst>
                                    <p:cond delay="0"/>
                                  </p:stCondLst>
                                  <p:childTnLst>
                                    <p:animEffect transition="out" filter="wipe(down)">
                                      <p:cBhvr>
                                        <p:cTn id="17" dur="500"/>
                                        <p:tgtEl>
                                          <p:spTgt spid="13"/>
                                        </p:tgtEl>
                                      </p:cBhvr>
                                    </p:animEffect>
                                    <p:set>
                                      <p:cBhvr>
                                        <p:cTn id="18" dur="1" fill="hold">
                                          <p:stCondLst>
                                            <p:cond delay="499"/>
                                          </p:stCondLst>
                                        </p:cTn>
                                        <p:tgtEl>
                                          <p:spTgt spid="13"/>
                                        </p:tgtEl>
                                        <p:attrNameLst>
                                          <p:attrName>style.visibility</p:attrName>
                                        </p:attrNameLst>
                                      </p:cBhvr>
                                      <p:to>
                                        <p:strVal val="hidden"/>
                                      </p:to>
                                    </p:set>
                                  </p:childTnLst>
                                </p:cTn>
                              </p:par>
                              <p:par>
                                <p:cTn id="19" presetID="22" presetClass="exit" presetSubtype="4" fill="hold" grpId="0" nodeType="withEffect">
                                  <p:stCondLst>
                                    <p:cond delay="0"/>
                                  </p:stCondLst>
                                  <p:childTnLst>
                                    <p:animEffect transition="out" filter="wipe(down)">
                                      <p:cBhvr>
                                        <p:cTn id="20" dur="500"/>
                                        <p:tgtEl>
                                          <p:spTgt spid="22"/>
                                        </p:tgtEl>
                                      </p:cBhvr>
                                    </p:animEffect>
                                    <p:set>
                                      <p:cBhvr>
                                        <p:cTn id="21" dur="1" fill="hold">
                                          <p:stCondLst>
                                            <p:cond delay="499"/>
                                          </p:stCondLst>
                                        </p:cTn>
                                        <p:tgtEl>
                                          <p:spTgt spid="22"/>
                                        </p:tgtEl>
                                        <p:attrNameLst>
                                          <p:attrName>style.visibility</p:attrName>
                                        </p:attrNameLst>
                                      </p:cBhvr>
                                      <p:to>
                                        <p:strVal val="hidden"/>
                                      </p:to>
                                    </p:set>
                                  </p:childTnLst>
                                </p:cTn>
                              </p:par>
                              <p:par>
                                <p:cTn id="22" presetID="22" presetClass="exit" presetSubtype="4" fill="hold" nodeType="withEffect">
                                  <p:stCondLst>
                                    <p:cond delay="0"/>
                                  </p:stCondLst>
                                  <p:childTnLst>
                                    <p:animEffect transition="out" filter="wipe(down)">
                                      <p:cBhvr>
                                        <p:cTn id="23" dur="500"/>
                                        <p:tgtEl>
                                          <p:spTgt spid="8"/>
                                        </p:tgtEl>
                                      </p:cBhvr>
                                    </p:animEffect>
                                    <p:set>
                                      <p:cBhvr>
                                        <p:cTn id="24" dur="1" fill="hold">
                                          <p:stCondLst>
                                            <p:cond delay="499"/>
                                          </p:stCondLst>
                                        </p:cTn>
                                        <p:tgtEl>
                                          <p:spTgt spid="8"/>
                                        </p:tgtEl>
                                        <p:attrNameLst>
                                          <p:attrName>style.visibility</p:attrName>
                                        </p:attrNameLst>
                                      </p:cBhvr>
                                      <p:to>
                                        <p:strVal val="hidden"/>
                                      </p:to>
                                    </p:set>
                                  </p:childTnLst>
                                </p:cTn>
                              </p:par>
                              <p:par>
                                <p:cTn id="25" presetID="22" presetClass="exit" presetSubtype="4" fill="hold" grpId="0" nodeType="withEffect">
                                  <p:stCondLst>
                                    <p:cond delay="0"/>
                                  </p:stCondLst>
                                  <p:childTnLst>
                                    <p:animEffect transition="out" filter="wipe(down)">
                                      <p:cBhvr>
                                        <p:cTn id="26" dur="500"/>
                                        <p:tgtEl>
                                          <p:spTgt spid="20"/>
                                        </p:tgtEl>
                                      </p:cBhvr>
                                    </p:animEffect>
                                    <p:set>
                                      <p:cBhvr>
                                        <p:cTn id="27" dur="1" fill="hold">
                                          <p:stCondLst>
                                            <p:cond delay="499"/>
                                          </p:stCondLst>
                                        </p:cTn>
                                        <p:tgtEl>
                                          <p:spTgt spid="20"/>
                                        </p:tgtEl>
                                        <p:attrNameLst>
                                          <p:attrName>style.visibility</p:attrName>
                                        </p:attrNameLst>
                                      </p:cBhvr>
                                      <p:to>
                                        <p:strVal val="hidden"/>
                                      </p:to>
                                    </p:set>
                                  </p:childTnLst>
                                </p:cTn>
                              </p:par>
                              <p:par>
                                <p:cTn id="28" presetID="22" presetClass="exit" presetSubtype="4" fill="hold" nodeType="withEffect">
                                  <p:stCondLst>
                                    <p:cond delay="0"/>
                                  </p:stCondLst>
                                  <p:childTnLst>
                                    <p:animEffect transition="out" filter="wipe(down)">
                                      <p:cBhvr>
                                        <p:cTn id="29" dur="500"/>
                                        <p:tgtEl>
                                          <p:spTgt spid="12"/>
                                        </p:tgtEl>
                                      </p:cBhvr>
                                    </p:animEffect>
                                    <p:set>
                                      <p:cBhvr>
                                        <p:cTn id="30" dur="1" fill="hold">
                                          <p:stCondLst>
                                            <p:cond delay="499"/>
                                          </p:stCondLst>
                                        </p:cTn>
                                        <p:tgtEl>
                                          <p:spTgt spid="12"/>
                                        </p:tgtEl>
                                        <p:attrNameLst>
                                          <p:attrName>style.visibility</p:attrName>
                                        </p:attrNameLst>
                                      </p:cBhvr>
                                      <p:to>
                                        <p:strVal val="hidden"/>
                                      </p:to>
                                    </p:set>
                                  </p:childTnLst>
                                </p:cTn>
                              </p:par>
                              <p:par>
                                <p:cTn id="31" presetID="22" presetClass="exit" presetSubtype="4" fill="hold" grpId="0" nodeType="withEffect">
                                  <p:stCondLst>
                                    <p:cond delay="0"/>
                                  </p:stCondLst>
                                  <p:childTnLst>
                                    <p:animEffect transition="out" filter="wipe(down)">
                                      <p:cBhvr>
                                        <p:cTn id="32" dur="500"/>
                                        <p:tgtEl>
                                          <p:spTgt spid="26"/>
                                        </p:tgtEl>
                                      </p:cBhvr>
                                    </p:animEffect>
                                    <p:set>
                                      <p:cBhvr>
                                        <p:cTn id="33" dur="1" fill="hold">
                                          <p:stCondLst>
                                            <p:cond delay="499"/>
                                          </p:stCondLst>
                                        </p:cTn>
                                        <p:tgtEl>
                                          <p:spTgt spid="26"/>
                                        </p:tgtEl>
                                        <p:attrNameLst>
                                          <p:attrName>style.visibility</p:attrName>
                                        </p:attrNameLst>
                                      </p:cBhvr>
                                      <p:to>
                                        <p:strVal val="hidden"/>
                                      </p:to>
                                    </p:set>
                                  </p:childTnLst>
                                </p:cTn>
                              </p:par>
                              <p:par>
                                <p:cTn id="34" presetID="22" presetClass="exit" presetSubtype="4" fill="hold" nodeType="withEffect">
                                  <p:stCondLst>
                                    <p:cond delay="0"/>
                                  </p:stCondLst>
                                  <p:childTnLst>
                                    <p:animEffect transition="out" filter="wipe(down)">
                                      <p:cBhvr>
                                        <p:cTn id="35" dur="500"/>
                                        <p:tgtEl>
                                          <p:spTgt spid="28"/>
                                        </p:tgtEl>
                                      </p:cBhvr>
                                    </p:animEffect>
                                    <p:set>
                                      <p:cBhvr>
                                        <p:cTn id="36" dur="1" fill="hold">
                                          <p:stCondLst>
                                            <p:cond delay="499"/>
                                          </p:stCondLst>
                                        </p:cTn>
                                        <p:tgtEl>
                                          <p:spTgt spid="28"/>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2" grpId="0"/>
      <p:bldP spid="24" grpId="0"/>
      <p:bldP spid="2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0"/>
                <a:ext cx="12024000" cy="187536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For the given graph, determine whether the following set of edges forms a cut-set.</a:t>
                </a:r>
              </a:p>
              <a:p>
                <a:pPr marL="514350" indent="-514350">
                  <a:buFont typeface="Arial" panose="020B0604020202020204" pitchFamily="34" charset="0"/>
                  <a:buChar char="•"/>
                </a:pPr>
                <a14:m>
                  <m:oMath xmlns:m="http://schemas.openxmlformats.org/officeDocument/2006/math">
                    <m:r>
                      <a:rPr lang="en-US" sz="2800" b="0" i="0" dirty="0" smtClean="0">
                        <a:solidFill>
                          <a:schemeClr val="bg1"/>
                        </a:solidFill>
                        <a:latin typeface="Cambria Math" panose="02040503050406030204" pitchFamily="18" charset="0"/>
                      </a:rPr>
                      <m:t>{</m:t>
                    </m:r>
                    <m:sSub>
                      <m:sSubPr>
                        <m:ctrlPr>
                          <a:rPr lang="en-US" sz="2800" i="1" dirty="0" smtClean="0">
                            <a:solidFill>
                              <a:schemeClr val="bg1"/>
                            </a:solidFill>
                            <a:latin typeface="Cambria Math" panose="02040503050406030204" pitchFamily="18" charset="0"/>
                          </a:rPr>
                        </m:ctrlPr>
                      </m:sSubPr>
                      <m:e>
                        <m:r>
                          <m:rPr>
                            <m:sty m:val="p"/>
                          </m:rPr>
                          <a:rPr lang="en-US" sz="2800" i="0" dirty="0" smtClean="0">
                            <a:solidFill>
                              <a:schemeClr val="bg1"/>
                            </a:solidFill>
                            <a:latin typeface="Cambria Math" panose="02040503050406030204" pitchFamily="18" charset="0"/>
                          </a:rPr>
                          <m:t>e</m:t>
                        </m:r>
                      </m:e>
                      <m:sub>
                        <m:r>
                          <a:rPr lang="en-US" sz="2800" i="0" dirty="0" smtClean="0">
                            <a:solidFill>
                              <a:schemeClr val="bg1"/>
                            </a:solidFill>
                            <a:latin typeface="Cambria Math" panose="02040503050406030204" pitchFamily="18" charset="0"/>
                          </a:rPr>
                          <m:t>4</m:t>
                        </m:r>
                      </m:sub>
                    </m:sSub>
                    <m:r>
                      <a:rPr lang="en-US" sz="2800" i="0" dirty="0">
                        <a:solidFill>
                          <a:schemeClr val="bg1"/>
                        </a:solidFill>
                        <a:latin typeface="Cambria Math" panose="02040503050406030204" pitchFamily="18" charset="0"/>
                      </a:rPr>
                      <m:t>, </m:t>
                    </m:r>
                    <m:sSub>
                      <m:sSubPr>
                        <m:ctrlPr>
                          <a:rPr lang="en-US" sz="2800" i="1" dirty="0" smtClean="0">
                            <a:solidFill>
                              <a:schemeClr val="bg1"/>
                            </a:solidFill>
                            <a:latin typeface="Cambria Math" panose="02040503050406030204" pitchFamily="18" charset="0"/>
                          </a:rPr>
                        </m:ctrlPr>
                      </m:sSubPr>
                      <m:e>
                        <m:r>
                          <m:rPr>
                            <m:sty m:val="p"/>
                          </m:rPr>
                          <a:rPr lang="en-US" sz="2800" i="0" dirty="0" smtClean="0">
                            <a:solidFill>
                              <a:schemeClr val="bg1"/>
                            </a:solidFill>
                            <a:latin typeface="Cambria Math" panose="02040503050406030204" pitchFamily="18" charset="0"/>
                          </a:rPr>
                          <m:t>e</m:t>
                        </m:r>
                      </m:e>
                      <m:sub>
                        <m:r>
                          <a:rPr lang="en-US" sz="2800" i="0" dirty="0" smtClean="0">
                            <a:solidFill>
                              <a:schemeClr val="bg1"/>
                            </a:solidFill>
                            <a:latin typeface="Cambria Math" panose="02040503050406030204" pitchFamily="18" charset="0"/>
                          </a:rPr>
                          <m:t>1</m:t>
                        </m:r>
                      </m:sub>
                    </m:sSub>
                    <m:r>
                      <a:rPr lang="en-US" sz="2800" i="0" dirty="0" smtClean="0">
                        <a:solidFill>
                          <a:schemeClr val="bg1"/>
                        </a:solidFill>
                        <a:latin typeface="Cambria Math" panose="02040503050406030204" pitchFamily="18" charset="0"/>
                      </a:rPr>
                      <m:t>,</m:t>
                    </m:r>
                    <m:sSub>
                      <m:sSubPr>
                        <m:ctrlPr>
                          <a:rPr lang="en-US" sz="2800" i="1" dirty="0" smtClean="0">
                            <a:solidFill>
                              <a:schemeClr val="bg1"/>
                            </a:solidFill>
                            <a:latin typeface="Cambria Math" panose="02040503050406030204" pitchFamily="18" charset="0"/>
                          </a:rPr>
                        </m:ctrlPr>
                      </m:sSubPr>
                      <m:e>
                        <m:r>
                          <m:rPr>
                            <m:sty m:val="p"/>
                          </m:rPr>
                          <a:rPr lang="en-US" sz="2800" i="0" dirty="0" smtClean="0">
                            <a:solidFill>
                              <a:schemeClr val="bg1"/>
                            </a:solidFill>
                            <a:latin typeface="Cambria Math" panose="02040503050406030204" pitchFamily="18" charset="0"/>
                          </a:rPr>
                          <m:t>e</m:t>
                        </m:r>
                      </m:e>
                      <m:sub>
                        <m:r>
                          <a:rPr lang="en-US" sz="2800" i="0" dirty="0" smtClean="0">
                            <a:solidFill>
                              <a:schemeClr val="bg1"/>
                            </a:solidFill>
                            <a:latin typeface="Cambria Math" panose="02040503050406030204" pitchFamily="18" charset="0"/>
                          </a:rPr>
                          <m:t>2</m:t>
                        </m:r>
                      </m:sub>
                    </m:sSub>
                    <m:r>
                      <a:rPr lang="en-US" sz="2800" b="0" i="0" dirty="0" smtClean="0">
                        <a:solidFill>
                          <a:schemeClr val="bg1"/>
                        </a:solidFill>
                        <a:latin typeface="Cambria Math" panose="02040503050406030204" pitchFamily="18" charset="0"/>
                      </a:rPr>
                      <m:t>}</m:t>
                    </m:r>
                  </m:oMath>
                </a14:m>
                <a:endParaRPr lang="en-US" sz="2800" dirty="0">
                  <a:solidFill>
                    <a:schemeClr val="bg1"/>
                  </a:solidFill>
                </a:endParaRPr>
              </a:p>
              <a:p>
                <a:pPr marL="514350" indent="-514350">
                  <a:buFont typeface="Arial" panose="020B0604020202020204" pitchFamily="34" charset="0"/>
                  <a:buChar char="•"/>
                </a:pPr>
                <a14:m>
                  <m:oMath xmlns:m="http://schemas.openxmlformats.org/officeDocument/2006/math">
                    <m:d>
                      <m:dPr>
                        <m:begChr m:val="{"/>
                        <m:endChr m:val="}"/>
                        <m:ctrlPr>
                          <a:rPr lang="en-US" sz="2800" b="0" i="1" dirty="0" smtClean="0">
                            <a:solidFill>
                              <a:schemeClr val="bg1"/>
                            </a:solidFill>
                            <a:latin typeface="Cambria Math" panose="02040503050406030204" pitchFamily="18" charset="0"/>
                          </a:rPr>
                        </m:ctrlPr>
                      </m:dPr>
                      <m:e>
                        <m:sSub>
                          <m:sSubPr>
                            <m:ctrlPr>
                              <a:rPr lang="en-US" sz="2800" b="0" i="1" dirty="0" smtClean="0">
                                <a:solidFill>
                                  <a:schemeClr val="bg1"/>
                                </a:solidFill>
                                <a:latin typeface="Cambria Math" panose="02040503050406030204" pitchFamily="18" charset="0"/>
                              </a:rPr>
                            </m:ctrlPr>
                          </m:sSubPr>
                          <m:e>
                            <m:r>
                              <m:rPr>
                                <m:sty m:val="p"/>
                              </m:rPr>
                              <a:rPr lang="en-US" sz="2800" b="0" i="0" dirty="0" smtClean="0">
                                <a:solidFill>
                                  <a:schemeClr val="bg1"/>
                                </a:solidFill>
                                <a:latin typeface="Cambria Math" panose="02040503050406030204" pitchFamily="18" charset="0"/>
                              </a:rPr>
                              <m:t>e</m:t>
                            </m:r>
                          </m:e>
                          <m:sub>
                            <m:r>
                              <a:rPr lang="en-US" sz="2800" b="0" i="0" dirty="0" smtClean="0">
                                <a:solidFill>
                                  <a:schemeClr val="bg1"/>
                                </a:solidFill>
                                <a:latin typeface="Cambria Math" panose="02040503050406030204" pitchFamily="18" charset="0"/>
                              </a:rPr>
                              <m:t>6</m:t>
                            </m:r>
                          </m:sub>
                        </m:sSub>
                        <m:r>
                          <a:rPr lang="en-US" sz="2800" b="0" i="0" dirty="0" smtClean="0">
                            <a:solidFill>
                              <a:schemeClr val="bg1"/>
                            </a:solidFill>
                            <a:latin typeface="Cambria Math" panose="02040503050406030204" pitchFamily="18" charset="0"/>
                          </a:rPr>
                          <m:t>, </m:t>
                        </m:r>
                        <m:sSub>
                          <m:sSubPr>
                            <m:ctrlPr>
                              <a:rPr lang="en-US" sz="2800" b="0" i="1" dirty="0" smtClean="0">
                                <a:solidFill>
                                  <a:schemeClr val="bg1"/>
                                </a:solidFill>
                                <a:latin typeface="Cambria Math" panose="02040503050406030204" pitchFamily="18" charset="0"/>
                              </a:rPr>
                            </m:ctrlPr>
                          </m:sSubPr>
                          <m:e>
                            <m:r>
                              <m:rPr>
                                <m:sty m:val="p"/>
                              </m:rPr>
                              <a:rPr lang="en-US" sz="2800" b="0" i="0" dirty="0" smtClean="0">
                                <a:solidFill>
                                  <a:schemeClr val="bg1"/>
                                </a:solidFill>
                                <a:latin typeface="Cambria Math" panose="02040503050406030204" pitchFamily="18" charset="0"/>
                              </a:rPr>
                              <m:t>e</m:t>
                            </m:r>
                          </m:e>
                          <m:sub>
                            <m:r>
                              <a:rPr lang="en-US" sz="2800" b="0" i="0" dirty="0" smtClean="0">
                                <a:solidFill>
                                  <a:schemeClr val="bg1"/>
                                </a:solidFill>
                                <a:latin typeface="Cambria Math" panose="02040503050406030204" pitchFamily="18" charset="0"/>
                              </a:rPr>
                              <m:t>2</m:t>
                            </m:r>
                          </m:sub>
                        </m:sSub>
                        <m:r>
                          <a:rPr lang="en-US" sz="2800" b="0" i="0" dirty="0" smtClean="0">
                            <a:solidFill>
                              <a:schemeClr val="bg1"/>
                            </a:solidFill>
                            <a:latin typeface="Cambria Math" panose="02040503050406030204" pitchFamily="18" charset="0"/>
                          </a:rPr>
                          <m:t>, </m:t>
                        </m:r>
                        <m:sSub>
                          <m:sSubPr>
                            <m:ctrlPr>
                              <a:rPr lang="en-US" sz="2800" b="0" i="1" dirty="0" smtClean="0">
                                <a:solidFill>
                                  <a:schemeClr val="bg1"/>
                                </a:solidFill>
                                <a:latin typeface="Cambria Math" panose="02040503050406030204" pitchFamily="18" charset="0"/>
                              </a:rPr>
                            </m:ctrlPr>
                          </m:sSubPr>
                          <m:e>
                            <m:r>
                              <m:rPr>
                                <m:sty m:val="p"/>
                              </m:rPr>
                              <a:rPr lang="en-US" sz="2800" b="0" i="0" dirty="0" smtClean="0">
                                <a:solidFill>
                                  <a:schemeClr val="bg1"/>
                                </a:solidFill>
                                <a:latin typeface="Cambria Math" panose="02040503050406030204" pitchFamily="18" charset="0"/>
                              </a:rPr>
                              <m:t>e</m:t>
                            </m:r>
                          </m:e>
                          <m:sub>
                            <m:r>
                              <a:rPr lang="en-US" sz="2800" b="0" i="0" dirty="0" smtClean="0">
                                <a:solidFill>
                                  <a:schemeClr val="bg1"/>
                                </a:solidFill>
                                <a:latin typeface="Cambria Math" panose="02040503050406030204" pitchFamily="18" charset="0"/>
                              </a:rPr>
                              <m:t>5</m:t>
                            </m:r>
                          </m:sub>
                        </m:sSub>
                        <m:r>
                          <a:rPr lang="en-US" sz="2800" b="0" i="0" dirty="0" smtClean="0">
                            <a:solidFill>
                              <a:schemeClr val="bg1"/>
                            </a:solidFill>
                            <a:latin typeface="Cambria Math" panose="02040503050406030204" pitchFamily="18" charset="0"/>
                          </a:rPr>
                          <m:t>,</m:t>
                        </m:r>
                        <m:sSub>
                          <m:sSubPr>
                            <m:ctrlPr>
                              <a:rPr lang="en-US" sz="2800" b="0" i="1" dirty="0" smtClean="0">
                                <a:solidFill>
                                  <a:schemeClr val="bg1"/>
                                </a:solidFill>
                                <a:latin typeface="Cambria Math" panose="02040503050406030204" pitchFamily="18" charset="0"/>
                              </a:rPr>
                            </m:ctrlPr>
                          </m:sSubPr>
                          <m:e>
                            <m:r>
                              <m:rPr>
                                <m:sty m:val="p"/>
                              </m:rPr>
                              <a:rPr lang="en-US" sz="2800" b="0" i="0" dirty="0" smtClean="0">
                                <a:solidFill>
                                  <a:schemeClr val="bg1"/>
                                </a:solidFill>
                                <a:latin typeface="Cambria Math" panose="02040503050406030204" pitchFamily="18" charset="0"/>
                              </a:rPr>
                              <m:t>e</m:t>
                            </m:r>
                          </m:e>
                          <m:sub>
                            <m:r>
                              <a:rPr lang="en-US" sz="2800" b="0" i="0" dirty="0" smtClean="0">
                                <a:solidFill>
                                  <a:schemeClr val="bg1"/>
                                </a:solidFill>
                                <a:latin typeface="Cambria Math" panose="02040503050406030204" pitchFamily="18" charset="0"/>
                              </a:rPr>
                              <m:t>4</m:t>
                            </m:r>
                          </m:sub>
                        </m:sSub>
                      </m:e>
                    </m:d>
                  </m:oMath>
                </a14:m>
                <a:endParaRPr lang="en-US" sz="2800" dirty="0">
                  <a:solidFill>
                    <a:schemeClr val="bg1"/>
                  </a:solidFill>
                </a:endParaRPr>
              </a:p>
              <a:p>
                <a:pPr marL="514350" indent="-514350">
                  <a:buFont typeface="Arial" panose="020B0604020202020204" pitchFamily="34" charset="0"/>
                  <a:buChar char="•"/>
                </a:pPr>
                <a14:m>
                  <m:oMath xmlns:m="http://schemas.openxmlformats.org/officeDocument/2006/math">
                    <m:d>
                      <m:dPr>
                        <m:begChr m:val="{"/>
                        <m:endChr m:val="}"/>
                        <m:ctrlPr>
                          <a:rPr lang="en-US" sz="2800" b="0" i="1" smtClean="0">
                            <a:solidFill>
                              <a:schemeClr val="bg1"/>
                            </a:solidFill>
                            <a:latin typeface="Cambria Math" panose="02040503050406030204" pitchFamily="18" charset="0"/>
                          </a:rPr>
                        </m:ctrlPr>
                      </m:dPr>
                      <m:e>
                        <m:sSub>
                          <m:sSubPr>
                            <m:ctrlPr>
                              <a:rPr lang="en-US" sz="2800" b="0" i="1" smtClean="0">
                                <a:solidFill>
                                  <a:schemeClr val="bg1"/>
                                </a:solidFill>
                                <a:latin typeface="Cambria Math" panose="02040503050406030204" pitchFamily="18" charset="0"/>
                              </a:rPr>
                            </m:ctrlPr>
                          </m:sSubPr>
                          <m:e>
                            <m:r>
                              <m:rPr>
                                <m:sty m:val="p"/>
                              </m:rPr>
                              <a:rPr lang="en-US" sz="2800" b="0" i="0" smtClean="0">
                                <a:solidFill>
                                  <a:schemeClr val="bg1"/>
                                </a:solidFill>
                                <a:latin typeface="Cambria Math" panose="02040503050406030204" pitchFamily="18" charset="0"/>
                              </a:rPr>
                              <m:t>e</m:t>
                            </m:r>
                          </m:e>
                          <m:sub>
                            <m:r>
                              <a:rPr lang="en-US" sz="2800" b="0" i="0" smtClean="0">
                                <a:solidFill>
                                  <a:schemeClr val="bg1"/>
                                </a:solidFill>
                                <a:latin typeface="Cambria Math" panose="02040503050406030204" pitchFamily="18" charset="0"/>
                              </a:rPr>
                              <m:t>1</m:t>
                            </m:r>
                          </m:sub>
                        </m:sSub>
                        <m:r>
                          <a:rPr lang="en-US" sz="2800" b="0" i="0" smtClean="0">
                            <a:solidFill>
                              <a:schemeClr val="bg1"/>
                            </a:solidFill>
                            <a:latin typeface="Cambria Math" panose="02040503050406030204" pitchFamily="18" charset="0"/>
                          </a:rPr>
                          <m:t>,</m:t>
                        </m:r>
                        <m:sSub>
                          <m:sSubPr>
                            <m:ctrlPr>
                              <a:rPr lang="en-US" sz="2800" b="0" i="1" smtClean="0">
                                <a:solidFill>
                                  <a:schemeClr val="bg1"/>
                                </a:solidFill>
                                <a:latin typeface="Cambria Math" panose="02040503050406030204" pitchFamily="18" charset="0"/>
                              </a:rPr>
                            </m:ctrlPr>
                          </m:sSubPr>
                          <m:e>
                            <m:r>
                              <m:rPr>
                                <m:sty m:val="p"/>
                              </m:rPr>
                              <a:rPr lang="en-US" sz="2800" b="0" i="0" smtClean="0">
                                <a:solidFill>
                                  <a:schemeClr val="bg1"/>
                                </a:solidFill>
                                <a:latin typeface="Cambria Math" panose="02040503050406030204" pitchFamily="18" charset="0"/>
                              </a:rPr>
                              <m:t>e</m:t>
                            </m:r>
                          </m:e>
                          <m:sub>
                            <m:r>
                              <a:rPr lang="en-US" sz="2800" b="0" i="0" smtClean="0">
                                <a:solidFill>
                                  <a:schemeClr val="bg1"/>
                                </a:solidFill>
                                <a:latin typeface="Cambria Math" panose="02040503050406030204" pitchFamily="18" charset="0"/>
                              </a:rPr>
                              <m:t>2</m:t>
                            </m:r>
                          </m:sub>
                        </m:sSub>
                        <m:r>
                          <a:rPr lang="en-US" sz="2800" b="0" i="0" smtClean="0">
                            <a:solidFill>
                              <a:schemeClr val="bg1"/>
                            </a:solidFill>
                            <a:latin typeface="Cambria Math" panose="02040503050406030204" pitchFamily="18" charset="0"/>
                          </a:rPr>
                          <m:t>, </m:t>
                        </m:r>
                        <m:sSub>
                          <m:sSubPr>
                            <m:ctrlPr>
                              <a:rPr lang="en-US" sz="2800" b="0" i="1" smtClean="0">
                                <a:solidFill>
                                  <a:schemeClr val="bg1"/>
                                </a:solidFill>
                                <a:latin typeface="Cambria Math" panose="02040503050406030204" pitchFamily="18" charset="0"/>
                              </a:rPr>
                            </m:ctrlPr>
                          </m:sSubPr>
                          <m:e>
                            <m:r>
                              <m:rPr>
                                <m:sty m:val="p"/>
                              </m:rPr>
                              <a:rPr lang="en-US" sz="2800" b="0" i="0" smtClean="0">
                                <a:solidFill>
                                  <a:schemeClr val="bg1"/>
                                </a:solidFill>
                                <a:latin typeface="Cambria Math" panose="02040503050406030204" pitchFamily="18" charset="0"/>
                              </a:rPr>
                              <m:t>e</m:t>
                            </m:r>
                          </m:e>
                          <m:sub>
                            <m:r>
                              <a:rPr lang="en-US" sz="2800" b="0" i="0" smtClean="0">
                                <a:solidFill>
                                  <a:schemeClr val="bg1"/>
                                </a:solidFill>
                                <a:latin typeface="Cambria Math" panose="02040503050406030204" pitchFamily="18" charset="0"/>
                              </a:rPr>
                              <m:t>7</m:t>
                            </m:r>
                          </m:sub>
                        </m:sSub>
                      </m:e>
                    </m:d>
                  </m:oMath>
                </a14:m>
                <a:endParaRPr lang="en-US" sz="2800" dirty="0">
                  <a:solidFill>
                    <a:schemeClr val="bg1"/>
                  </a:solidFill>
                </a:endParaRP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0"/>
                <a:ext cx="12024000" cy="1875360"/>
              </a:xfrm>
              <a:prstGeom prst="rect">
                <a:avLst/>
              </a:prstGeom>
              <a:blipFill rotWithShape="0">
                <a:blip r:embed="rId2"/>
                <a:stretch>
                  <a:fillRect l="-1065" t="-3247"/>
                </a:stretch>
              </a:blipFill>
              <a:ln>
                <a:noFill/>
              </a:ln>
            </p:spPr>
            <p:txBody>
              <a:bodyPr/>
              <a:lstStyle/>
              <a:p>
                <a:r>
                  <a:rPr lang="en-US">
                    <a:noFill/>
                  </a:rPr>
                  <a:t> </a:t>
                </a:r>
              </a:p>
            </p:txBody>
          </p:sp>
        </mc:Fallback>
      </mc:AlternateContent>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2(Cont.)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276641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2" name="Rectangle 2"/>
          <p:cNvSpPr>
            <a:spLocks noChangeArrowheads="1"/>
          </p:cNvSpPr>
          <p:nvPr/>
        </p:nvSpPr>
        <p:spPr bwMode="auto">
          <a:xfrm>
            <a:off x="3477296" y="3178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E06B921-0155-1173-B956-D5340E37D7CA}"/>
                  </a:ext>
                </a:extLst>
              </p:cNvPr>
              <p:cNvSpPr txBox="1"/>
              <p:nvPr/>
            </p:nvSpPr>
            <p:spPr>
              <a:xfrm>
                <a:off x="9381652" y="5321323"/>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𝟑</m:t>
                          </m:r>
                        </m:sub>
                      </m:sSub>
                    </m:oMath>
                  </m:oMathPara>
                </a14:m>
                <a:endParaRPr lang="en-US" sz="2200" b="1" dirty="0">
                  <a:solidFill>
                    <a:srgbClr val="002060"/>
                  </a:solidFill>
                </a:endParaRPr>
              </a:p>
            </p:txBody>
          </p:sp>
        </mc:Choice>
        <mc:Fallback xmlns="">
          <p:sp>
            <p:nvSpPr>
              <p:cNvPr id="7" name="TextBox 6">
                <a:extLst>
                  <a:ext uri="{FF2B5EF4-FFF2-40B4-BE49-F238E27FC236}">
                    <a16:creationId xmlns:a16="http://schemas.microsoft.com/office/drawing/2014/main" xmlns:a14="http://schemas.microsoft.com/office/drawing/2010/main" xmlns="" id="{EE06B921-0155-1173-B956-D5340E37D7CA}"/>
                  </a:ext>
                </a:extLst>
              </p:cNvPr>
              <p:cNvSpPr txBox="1">
                <a:spLocks noRot="1" noChangeAspect="1" noMove="1" noResize="1" noEditPoints="1" noAdjustHandles="1" noChangeArrowheads="1" noChangeShapeType="1" noTextEdit="1"/>
              </p:cNvSpPr>
              <p:nvPr/>
            </p:nvSpPr>
            <p:spPr>
              <a:xfrm>
                <a:off x="9381652" y="5321323"/>
                <a:ext cx="512677" cy="430887"/>
              </a:xfrm>
              <a:prstGeom prst="rect">
                <a:avLst/>
              </a:prstGeom>
              <a:blipFill rotWithShape="0">
                <a:blip r:embed="rId3"/>
                <a:stretch>
                  <a:fillRect b="-1408"/>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43424608-83D6-4CDE-97C1-D7104661F021}"/>
              </a:ext>
            </a:extLst>
          </p:cNvPr>
          <p:cNvCxnSpPr>
            <a:cxnSpLocks/>
            <a:stCxn id="14" idx="5"/>
            <a:endCxn id="17" idx="1"/>
          </p:cNvCxnSpPr>
          <p:nvPr/>
        </p:nvCxnSpPr>
        <p:spPr>
          <a:xfrm>
            <a:off x="7927487" y="3678557"/>
            <a:ext cx="1608920" cy="16215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951FCFAB-4398-A09F-F506-49A4E31798BC}"/>
              </a:ext>
            </a:extLst>
          </p:cNvPr>
          <p:cNvCxnSpPr>
            <a:cxnSpLocks/>
          </p:cNvCxnSpPr>
          <p:nvPr/>
        </p:nvCxnSpPr>
        <p:spPr>
          <a:xfrm>
            <a:off x="7884761" y="5351019"/>
            <a:ext cx="168664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C38D8CAB-EA84-7ED5-ED61-6B775E72DC2F}"/>
              </a:ext>
            </a:extLst>
          </p:cNvPr>
          <p:cNvCxnSpPr>
            <a:cxnSpLocks/>
          </p:cNvCxnSpPr>
          <p:nvPr/>
        </p:nvCxnSpPr>
        <p:spPr>
          <a:xfrm>
            <a:off x="7884762" y="3636994"/>
            <a:ext cx="168664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AB5C5319-860B-38BD-1282-40E765D32D50}"/>
              </a:ext>
            </a:extLst>
          </p:cNvPr>
          <p:cNvCxnSpPr>
            <a:cxnSpLocks/>
            <a:stCxn id="15" idx="4"/>
            <a:endCxn id="17" idx="0"/>
          </p:cNvCxnSpPr>
          <p:nvPr/>
        </p:nvCxnSpPr>
        <p:spPr>
          <a:xfrm>
            <a:off x="9587319" y="3699645"/>
            <a:ext cx="0" cy="15793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ADE44A87-C860-1BCF-EAB4-53D64F8A9109}"/>
              </a:ext>
            </a:extLst>
          </p:cNvPr>
          <p:cNvCxnSpPr>
            <a:cxnSpLocks/>
            <a:stCxn id="14" idx="4"/>
            <a:endCxn id="16" idx="0"/>
          </p:cNvCxnSpPr>
          <p:nvPr/>
        </p:nvCxnSpPr>
        <p:spPr>
          <a:xfrm>
            <a:off x="7876575" y="3699645"/>
            <a:ext cx="0" cy="15793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 name="Oval 13">
            <a:extLst>
              <a:ext uri="{FF2B5EF4-FFF2-40B4-BE49-F238E27FC236}">
                <a16:creationId xmlns:a16="http://schemas.microsoft.com/office/drawing/2014/main" id="{15AAC5B9-A477-EF6E-EB75-CFCA4C726D46}"/>
              </a:ext>
            </a:extLst>
          </p:cNvPr>
          <p:cNvSpPr/>
          <p:nvPr/>
        </p:nvSpPr>
        <p:spPr>
          <a:xfrm>
            <a:off x="7804575" y="35556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2E2867F6-BE3C-F07A-24CF-7441F769CB63}"/>
              </a:ext>
            </a:extLst>
          </p:cNvPr>
          <p:cNvSpPr/>
          <p:nvPr/>
        </p:nvSpPr>
        <p:spPr>
          <a:xfrm>
            <a:off x="9515319" y="355564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 name="Oval 15">
            <a:extLst>
              <a:ext uri="{FF2B5EF4-FFF2-40B4-BE49-F238E27FC236}">
                <a16:creationId xmlns:a16="http://schemas.microsoft.com/office/drawing/2014/main" id="{E52C4B82-ECFC-6D2E-1D09-A9FF6C9377ED}"/>
              </a:ext>
            </a:extLst>
          </p:cNvPr>
          <p:cNvSpPr/>
          <p:nvPr/>
        </p:nvSpPr>
        <p:spPr>
          <a:xfrm>
            <a:off x="7804575" y="5279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Oval 16">
            <a:extLst>
              <a:ext uri="{FF2B5EF4-FFF2-40B4-BE49-F238E27FC236}">
                <a16:creationId xmlns:a16="http://schemas.microsoft.com/office/drawing/2014/main" id="{D7C3888D-7FFF-43F9-FB95-7207EF450274}"/>
              </a:ext>
            </a:extLst>
          </p:cNvPr>
          <p:cNvSpPr/>
          <p:nvPr/>
        </p:nvSpPr>
        <p:spPr>
          <a:xfrm>
            <a:off x="9515319" y="52790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3DCB6E99-6EE4-D368-F59C-0D4EA76E665B}"/>
                  </a:ext>
                </a:extLst>
              </p:cNvPr>
              <p:cNvSpPr txBox="1"/>
              <p:nvPr/>
            </p:nvSpPr>
            <p:spPr>
              <a:xfrm>
                <a:off x="7639305" y="5304875"/>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𝟒</m:t>
                          </m:r>
                        </m:sub>
                      </m:sSub>
                    </m:oMath>
                  </m:oMathPara>
                </a14:m>
                <a:endParaRPr lang="en-US" sz="2200" b="1" dirty="0">
                  <a:solidFill>
                    <a:srgbClr val="002060"/>
                  </a:solidFill>
                </a:endParaRPr>
              </a:p>
            </p:txBody>
          </p:sp>
        </mc:Choice>
        <mc:Fallback xmlns="">
          <p:sp>
            <p:nvSpPr>
              <p:cNvPr id="18" name="TextBox 17">
                <a:extLst>
                  <a:ext uri="{FF2B5EF4-FFF2-40B4-BE49-F238E27FC236}">
                    <a16:creationId xmlns:a16="http://schemas.microsoft.com/office/drawing/2014/main" xmlns:a14="http://schemas.microsoft.com/office/drawing/2010/main" xmlns="" id="{3DCB6E99-6EE4-D368-F59C-0D4EA76E665B}"/>
                  </a:ext>
                </a:extLst>
              </p:cNvPr>
              <p:cNvSpPr txBox="1">
                <a:spLocks noRot="1" noChangeAspect="1" noMove="1" noResize="1" noEditPoints="1" noAdjustHandles="1" noChangeArrowheads="1" noChangeShapeType="1" noTextEdit="1"/>
              </p:cNvSpPr>
              <p:nvPr/>
            </p:nvSpPr>
            <p:spPr>
              <a:xfrm>
                <a:off x="7639305" y="5304875"/>
                <a:ext cx="512677" cy="430887"/>
              </a:xfrm>
              <a:prstGeom prst="rect">
                <a:avLst/>
              </a:prstGeom>
              <a:blipFill rotWithShape="0">
                <a:blip r:embed="rId4"/>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04B116E-A312-6E9F-B3FA-8A28CB060F62}"/>
                  </a:ext>
                </a:extLst>
              </p:cNvPr>
              <p:cNvSpPr txBox="1"/>
              <p:nvPr/>
            </p:nvSpPr>
            <p:spPr>
              <a:xfrm>
                <a:off x="9536407" y="4303189"/>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𝟐</m:t>
                          </m:r>
                        </m:sub>
                      </m:sSub>
                    </m:oMath>
                  </m:oMathPara>
                </a14:m>
                <a:endParaRPr lang="en-US" sz="2000" b="1" dirty="0">
                  <a:solidFill>
                    <a:srgbClr val="002060"/>
                  </a:solidFill>
                </a:endParaRPr>
              </a:p>
            </p:txBody>
          </p:sp>
        </mc:Choice>
        <mc:Fallback xmlns="">
          <p:sp>
            <p:nvSpPr>
              <p:cNvPr id="20" name="TextBox 19">
                <a:extLst>
                  <a:ext uri="{FF2B5EF4-FFF2-40B4-BE49-F238E27FC236}">
                    <a16:creationId xmlns:a16="http://schemas.microsoft.com/office/drawing/2014/main" xmlns:a14="http://schemas.microsoft.com/office/drawing/2010/main" xmlns="" id="{704B116E-A312-6E9F-B3FA-8A28CB060F62}"/>
                  </a:ext>
                </a:extLst>
              </p:cNvPr>
              <p:cNvSpPr txBox="1">
                <a:spLocks noRot="1" noChangeAspect="1" noMove="1" noResize="1" noEditPoints="1" noAdjustHandles="1" noChangeArrowheads="1" noChangeShapeType="1" noTextEdit="1"/>
              </p:cNvSpPr>
              <p:nvPr/>
            </p:nvSpPr>
            <p:spPr>
              <a:xfrm>
                <a:off x="9536407" y="4303189"/>
                <a:ext cx="439044" cy="400110"/>
              </a:xfrm>
              <a:prstGeom prst="rect">
                <a:avLst/>
              </a:prstGeom>
              <a:blipFill rotWithShape="0">
                <a:blip r:embed="rId5"/>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B36342A-C413-D4D6-9D8E-7D89F46C658E}"/>
                  </a:ext>
                </a:extLst>
              </p:cNvPr>
              <p:cNvSpPr txBox="1"/>
              <p:nvPr/>
            </p:nvSpPr>
            <p:spPr>
              <a:xfrm>
                <a:off x="8490190" y="3222474"/>
                <a:ext cx="467312"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1" dirty="0" smtClean="0">
                              <a:solidFill>
                                <a:srgbClr val="0070C0"/>
                              </a:solidFill>
                              <a:latin typeface="Cambria Math" panose="02040503050406030204" pitchFamily="18" charset="0"/>
                            </a:rPr>
                            <m:t>𝟏</m:t>
                          </m:r>
                        </m:sub>
                      </m:sSub>
                    </m:oMath>
                  </m:oMathPara>
                </a14:m>
                <a:endParaRPr lang="en-US" sz="2200" b="1" dirty="0">
                  <a:solidFill>
                    <a:srgbClr val="002060"/>
                  </a:solidFill>
                </a:endParaRPr>
              </a:p>
            </p:txBody>
          </p:sp>
        </mc:Choice>
        <mc:Fallback xmlns="">
          <p:sp>
            <p:nvSpPr>
              <p:cNvPr id="21" name="TextBox 20">
                <a:extLst>
                  <a:ext uri="{FF2B5EF4-FFF2-40B4-BE49-F238E27FC236}">
                    <a16:creationId xmlns:a16="http://schemas.microsoft.com/office/drawing/2014/main" xmlns:a14="http://schemas.microsoft.com/office/drawing/2010/main" xmlns="" id="{8B36342A-C413-D4D6-9D8E-7D89F46C658E}"/>
                  </a:ext>
                </a:extLst>
              </p:cNvPr>
              <p:cNvSpPr txBox="1">
                <a:spLocks noRot="1" noChangeAspect="1" noMove="1" noResize="1" noEditPoints="1" noAdjustHandles="1" noChangeArrowheads="1" noChangeShapeType="1" noTextEdit="1"/>
              </p:cNvSpPr>
              <p:nvPr/>
            </p:nvSpPr>
            <p:spPr>
              <a:xfrm>
                <a:off x="8490190" y="3222474"/>
                <a:ext cx="467312" cy="400110"/>
              </a:xfrm>
              <a:prstGeom prst="rect">
                <a:avLst/>
              </a:prstGeom>
              <a:blipFill rotWithShape="0">
                <a:blip r:embed="rId6"/>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291DCFB-7499-B557-4271-614CB20F31F9}"/>
                  </a:ext>
                </a:extLst>
              </p:cNvPr>
              <p:cNvSpPr txBox="1"/>
              <p:nvPr/>
            </p:nvSpPr>
            <p:spPr>
              <a:xfrm>
                <a:off x="8406798" y="4359312"/>
                <a:ext cx="494020"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𝟓</m:t>
                          </m:r>
                        </m:sub>
                      </m:sSub>
                    </m:oMath>
                  </m:oMathPara>
                </a14:m>
                <a:endParaRPr lang="en-US" sz="2000" b="1" dirty="0">
                  <a:solidFill>
                    <a:srgbClr val="002060"/>
                  </a:solidFill>
                </a:endParaRPr>
              </a:p>
            </p:txBody>
          </p:sp>
        </mc:Choice>
        <mc:Fallback xmlns="">
          <p:sp>
            <p:nvSpPr>
              <p:cNvPr id="22" name="TextBox 21">
                <a:extLst>
                  <a:ext uri="{FF2B5EF4-FFF2-40B4-BE49-F238E27FC236}">
                    <a16:creationId xmlns:a16="http://schemas.microsoft.com/office/drawing/2014/main" xmlns:a14="http://schemas.microsoft.com/office/drawing/2010/main" xmlns="" id="{4291DCFB-7499-B557-4271-614CB20F31F9}"/>
                  </a:ext>
                </a:extLst>
              </p:cNvPr>
              <p:cNvSpPr txBox="1">
                <a:spLocks noRot="1" noChangeAspect="1" noMove="1" noResize="1" noEditPoints="1" noAdjustHandles="1" noChangeArrowheads="1" noChangeShapeType="1" noTextEdit="1"/>
              </p:cNvSpPr>
              <p:nvPr/>
            </p:nvSpPr>
            <p:spPr>
              <a:xfrm>
                <a:off x="8406798" y="4359312"/>
                <a:ext cx="494020" cy="400110"/>
              </a:xfrm>
              <a:prstGeom prst="rect">
                <a:avLst/>
              </a:prstGeom>
              <a:blipFill rotWithShape="0">
                <a:blip r:embed="rId7"/>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4538219-EB69-0495-D2B3-A0D2BE145464}"/>
                  </a:ext>
                </a:extLst>
              </p:cNvPr>
              <p:cNvSpPr txBox="1"/>
              <p:nvPr/>
            </p:nvSpPr>
            <p:spPr>
              <a:xfrm>
                <a:off x="8545030" y="5272365"/>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𝟑</m:t>
                          </m:r>
                        </m:sub>
                      </m:sSub>
                    </m:oMath>
                  </m:oMathPara>
                </a14:m>
                <a:endParaRPr lang="en-US" sz="2000" b="1" dirty="0">
                  <a:solidFill>
                    <a:srgbClr val="002060"/>
                  </a:solidFill>
                </a:endParaRPr>
              </a:p>
            </p:txBody>
          </p:sp>
        </mc:Choice>
        <mc:Fallback xmlns="">
          <p:sp>
            <p:nvSpPr>
              <p:cNvPr id="23" name="TextBox 22">
                <a:extLst>
                  <a:ext uri="{FF2B5EF4-FFF2-40B4-BE49-F238E27FC236}">
                    <a16:creationId xmlns:a16="http://schemas.microsoft.com/office/drawing/2014/main" xmlns:a14="http://schemas.microsoft.com/office/drawing/2010/main" xmlns="" id="{34538219-EB69-0495-D2B3-A0D2BE145464}"/>
                  </a:ext>
                </a:extLst>
              </p:cNvPr>
              <p:cNvSpPr txBox="1">
                <a:spLocks noRot="1" noChangeAspect="1" noMove="1" noResize="1" noEditPoints="1" noAdjustHandles="1" noChangeArrowheads="1" noChangeShapeType="1" noTextEdit="1"/>
              </p:cNvSpPr>
              <p:nvPr/>
            </p:nvSpPr>
            <p:spPr>
              <a:xfrm>
                <a:off x="8545030" y="5272365"/>
                <a:ext cx="439044" cy="400110"/>
              </a:xfrm>
              <a:prstGeom prst="rect">
                <a:avLst/>
              </a:prstGeom>
              <a:blipFill rotWithShape="0">
                <a:blip r:embed="rId8"/>
                <a:stretch>
                  <a:fillRect b="-15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983DD679-FE74-2498-3BF9-79B65F1E3400}"/>
                  </a:ext>
                </a:extLst>
              </p:cNvPr>
              <p:cNvSpPr txBox="1"/>
              <p:nvPr/>
            </p:nvSpPr>
            <p:spPr>
              <a:xfrm>
                <a:off x="7499801" y="4293611"/>
                <a:ext cx="439044"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𝟒</m:t>
                          </m:r>
                        </m:sub>
                      </m:sSub>
                    </m:oMath>
                  </m:oMathPara>
                </a14:m>
                <a:endParaRPr lang="en-US" sz="2000" b="1" dirty="0">
                  <a:solidFill>
                    <a:srgbClr val="002060"/>
                  </a:solidFill>
                </a:endParaRPr>
              </a:p>
            </p:txBody>
          </p:sp>
        </mc:Choice>
        <mc:Fallback xmlns="">
          <p:sp>
            <p:nvSpPr>
              <p:cNvPr id="24" name="TextBox 23">
                <a:extLst>
                  <a:ext uri="{FF2B5EF4-FFF2-40B4-BE49-F238E27FC236}">
                    <a16:creationId xmlns:a16="http://schemas.microsoft.com/office/drawing/2014/main" xmlns:a14="http://schemas.microsoft.com/office/drawing/2010/main" xmlns="" id="{983DD679-FE74-2498-3BF9-79B65F1E3400}"/>
                  </a:ext>
                </a:extLst>
              </p:cNvPr>
              <p:cNvSpPr txBox="1">
                <a:spLocks noRot="1" noChangeAspect="1" noMove="1" noResize="1" noEditPoints="1" noAdjustHandles="1" noChangeArrowheads="1" noChangeShapeType="1" noTextEdit="1"/>
              </p:cNvSpPr>
              <p:nvPr/>
            </p:nvSpPr>
            <p:spPr>
              <a:xfrm>
                <a:off x="7499801" y="4293611"/>
                <a:ext cx="439044" cy="400110"/>
              </a:xfrm>
              <a:prstGeom prst="rect">
                <a:avLst/>
              </a:prstGeom>
              <a:blipFill rotWithShape="0">
                <a:blip r:embed="rId9"/>
                <a:stretch>
                  <a:fillRect b="-3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25FF9EC-FC0B-1B7B-7A14-5261EB9D6C24}"/>
                  </a:ext>
                </a:extLst>
              </p:cNvPr>
              <p:cNvSpPr txBox="1"/>
              <p:nvPr/>
            </p:nvSpPr>
            <p:spPr>
              <a:xfrm>
                <a:off x="10106103" y="5258146"/>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𝟕</m:t>
                          </m:r>
                        </m:sub>
                      </m:sSub>
                    </m:oMath>
                  </m:oMathPara>
                </a14:m>
                <a:endParaRPr lang="en-US" sz="2000" b="1" dirty="0">
                  <a:solidFill>
                    <a:srgbClr val="002060"/>
                  </a:solidFill>
                </a:endParaRPr>
              </a:p>
            </p:txBody>
          </p:sp>
        </mc:Choice>
        <mc:Fallback xmlns="">
          <p:sp>
            <p:nvSpPr>
              <p:cNvPr id="25" name="TextBox 24">
                <a:extLst>
                  <a:ext uri="{FF2B5EF4-FFF2-40B4-BE49-F238E27FC236}">
                    <a16:creationId xmlns:a16="http://schemas.microsoft.com/office/drawing/2014/main" xmlns:a14="http://schemas.microsoft.com/office/drawing/2010/main" xmlns="" id="{325FF9EC-FC0B-1B7B-7A14-5261EB9D6C24}"/>
                  </a:ext>
                </a:extLst>
              </p:cNvPr>
              <p:cNvSpPr txBox="1">
                <a:spLocks noRot="1" noChangeAspect="1" noMove="1" noResize="1" noEditPoints="1" noAdjustHandles="1" noChangeArrowheads="1" noChangeShapeType="1" noTextEdit="1"/>
              </p:cNvSpPr>
              <p:nvPr/>
            </p:nvSpPr>
            <p:spPr>
              <a:xfrm>
                <a:off x="10106103" y="5258146"/>
                <a:ext cx="512677" cy="400110"/>
              </a:xfrm>
              <a:prstGeom prst="rect">
                <a:avLst/>
              </a:prstGeom>
              <a:blipFill rotWithShape="0">
                <a:blip r:embed="rId10"/>
                <a:stretch>
                  <a:fillRect b="-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C7E387E6-4B55-9883-DB36-81B9751E7B84}"/>
                  </a:ext>
                </a:extLst>
              </p:cNvPr>
              <p:cNvSpPr txBox="1"/>
              <p:nvPr/>
            </p:nvSpPr>
            <p:spPr>
              <a:xfrm>
                <a:off x="10334135" y="4229372"/>
                <a:ext cx="512677"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000" b="1" i="1" dirty="0" smtClean="0">
                              <a:solidFill>
                                <a:srgbClr val="0070C0"/>
                              </a:solidFill>
                              <a:latin typeface="Cambria Math" panose="02040503050406030204" pitchFamily="18" charset="0"/>
                            </a:rPr>
                          </m:ctrlPr>
                        </m:sSubPr>
                        <m:e>
                          <m:r>
                            <a:rPr lang="en-IN" sz="2000" b="1" i="0" dirty="0" smtClean="0">
                              <a:solidFill>
                                <a:srgbClr val="0070C0"/>
                              </a:solidFill>
                              <a:latin typeface="Cambria Math" panose="02040503050406030204" pitchFamily="18" charset="0"/>
                            </a:rPr>
                            <m:t>𝐞</m:t>
                          </m:r>
                        </m:e>
                        <m:sub>
                          <m:r>
                            <a:rPr lang="en-IN" sz="2000" b="1" i="0" dirty="0" smtClean="0">
                              <a:solidFill>
                                <a:srgbClr val="0070C0"/>
                              </a:solidFill>
                              <a:latin typeface="Cambria Math" panose="02040503050406030204" pitchFamily="18" charset="0"/>
                            </a:rPr>
                            <m:t>𝟔</m:t>
                          </m:r>
                        </m:sub>
                      </m:sSub>
                    </m:oMath>
                  </m:oMathPara>
                </a14:m>
                <a:endParaRPr lang="en-US" sz="2000" b="1" dirty="0">
                  <a:solidFill>
                    <a:srgbClr val="002060"/>
                  </a:solidFill>
                </a:endParaRPr>
              </a:p>
            </p:txBody>
          </p:sp>
        </mc:Choice>
        <mc:Fallback xmlns="">
          <p:sp>
            <p:nvSpPr>
              <p:cNvPr id="26" name="TextBox 25">
                <a:extLst>
                  <a:ext uri="{FF2B5EF4-FFF2-40B4-BE49-F238E27FC236}">
                    <a16:creationId xmlns:a16="http://schemas.microsoft.com/office/drawing/2014/main" xmlns:a14="http://schemas.microsoft.com/office/drawing/2010/main" xmlns="" id="{C7E387E6-4B55-9883-DB36-81B9751E7B84}"/>
                  </a:ext>
                </a:extLst>
              </p:cNvPr>
              <p:cNvSpPr txBox="1">
                <a:spLocks noRot="1" noChangeAspect="1" noMove="1" noResize="1" noEditPoints="1" noAdjustHandles="1" noChangeArrowheads="1" noChangeShapeType="1" noTextEdit="1"/>
              </p:cNvSpPr>
              <p:nvPr/>
            </p:nvSpPr>
            <p:spPr>
              <a:xfrm>
                <a:off x="10334135" y="4229372"/>
                <a:ext cx="512677" cy="400110"/>
              </a:xfrm>
              <a:prstGeom prst="rect">
                <a:avLst/>
              </a:prstGeom>
              <a:blipFill rotWithShape="0">
                <a:blip r:embed="rId11"/>
                <a:stretch>
                  <a:fillRect b="-3077"/>
                </a:stretch>
              </a:blipFill>
            </p:spPr>
            <p:txBody>
              <a:bodyPr/>
              <a:lstStyle/>
              <a:p>
                <a:r>
                  <a:rPr lang="en-US">
                    <a:noFill/>
                  </a:rPr>
                  <a:t> </a:t>
                </a:r>
              </a:p>
            </p:txBody>
          </p:sp>
        </mc:Fallback>
      </mc:AlternateContent>
      <p:sp>
        <p:nvSpPr>
          <p:cNvPr id="27" name="Oval 26">
            <a:extLst>
              <a:ext uri="{FF2B5EF4-FFF2-40B4-BE49-F238E27FC236}">
                <a16:creationId xmlns:a16="http://schemas.microsoft.com/office/drawing/2014/main" id="{4BB232B5-7DBC-F98C-1927-03C5B27BC669}"/>
              </a:ext>
            </a:extLst>
          </p:cNvPr>
          <p:cNvSpPr/>
          <p:nvPr/>
        </p:nvSpPr>
        <p:spPr>
          <a:xfrm>
            <a:off x="11078695" y="52638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8" name="Straight Connector 27">
            <a:extLst>
              <a:ext uri="{FF2B5EF4-FFF2-40B4-BE49-F238E27FC236}">
                <a16:creationId xmlns:a16="http://schemas.microsoft.com/office/drawing/2014/main" id="{643CA3E7-F40D-2160-E510-66D36D371176}"/>
              </a:ext>
            </a:extLst>
          </p:cNvPr>
          <p:cNvCxnSpPr>
            <a:cxnSpLocks/>
            <a:stCxn id="15" idx="5"/>
            <a:endCxn id="27" idx="1"/>
          </p:cNvCxnSpPr>
          <p:nvPr/>
        </p:nvCxnSpPr>
        <p:spPr>
          <a:xfrm>
            <a:off x="9638231" y="3678557"/>
            <a:ext cx="1461552" cy="16063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a:extLst>
              <a:ext uri="{FF2B5EF4-FFF2-40B4-BE49-F238E27FC236}">
                <a16:creationId xmlns:a16="http://schemas.microsoft.com/office/drawing/2014/main" id="{CE32D3DB-E818-E04A-5B7E-29EE343BC6D2}"/>
              </a:ext>
            </a:extLst>
          </p:cNvPr>
          <p:cNvCxnSpPr>
            <a:cxnSpLocks/>
            <a:stCxn id="17" idx="6"/>
            <a:endCxn id="27" idx="2"/>
          </p:cNvCxnSpPr>
          <p:nvPr/>
        </p:nvCxnSpPr>
        <p:spPr>
          <a:xfrm flipV="1">
            <a:off x="9659319" y="5335816"/>
            <a:ext cx="1419376" cy="1520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71531E4-BF9F-3403-298D-4DE26B0DD0DD}"/>
                  </a:ext>
                </a:extLst>
              </p:cNvPr>
              <p:cNvSpPr txBox="1"/>
              <p:nvPr/>
            </p:nvSpPr>
            <p:spPr>
              <a:xfrm>
                <a:off x="10966356" y="5300107"/>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𝟓</m:t>
                          </m:r>
                        </m:sub>
                      </m:sSub>
                    </m:oMath>
                  </m:oMathPara>
                </a14:m>
                <a:endParaRPr lang="en-US" sz="2200" b="1" dirty="0">
                  <a:solidFill>
                    <a:srgbClr val="002060"/>
                  </a:solidFill>
                </a:endParaRPr>
              </a:p>
            </p:txBody>
          </p:sp>
        </mc:Choice>
        <mc:Fallback xmlns="">
          <p:sp>
            <p:nvSpPr>
              <p:cNvPr id="30" name="TextBox 29">
                <a:extLst>
                  <a:ext uri="{FF2B5EF4-FFF2-40B4-BE49-F238E27FC236}">
                    <a16:creationId xmlns:a16="http://schemas.microsoft.com/office/drawing/2014/main" xmlns:a14="http://schemas.microsoft.com/office/drawing/2010/main" xmlns="" id="{271531E4-BF9F-3403-298D-4DE26B0DD0DD}"/>
                  </a:ext>
                </a:extLst>
              </p:cNvPr>
              <p:cNvSpPr txBox="1">
                <a:spLocks noRot="1" noChangeAspect="1" noMove="1" noResize="1" noEditPoints="1" noAdjustHandles="1" noChangeArrowheads="1" noChangeShapeType="1" noTextEdit="1"/>
              </p:cNvSpPr>
              <p:nvPr/>
            </p:nvSpPr>
            <p:spPr>
              <a:xfrm>
                <a:off x="10966356" y="5300107"/>
                <a:ext cx="512677" cy="430887"/>
              </a:xfrm>
              <a:prstGeom prst="rect">
                <a:avLst/>
              </a:prstGeom>
              <a:blipFill rotWithShape="0">
                <a:blip r:embed="rId12"/>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6BB2FFD4-082C-E47F-43E2-829697397EB7}"/>
                  </a:ext>
                </a:extLst>
              </p:cNvPr>
              <p:cNvSpPr txBox="1"/>
              <p:nvPr/>
            </p:nvSpPr>
            <p:spPr>
              <a:xfrm>
                <a:off x="7620903" y="3178625"/>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𝟏</m:t>
                          </m:r>
                        </m:sub>
                      </m:sSub>
                    </m:oMath>
                  </m:oMathPara>
                </a14:m>
                <a:endParaRPr lang="en-US" sz="2200" b="1" dirty="0">
                  <a:solidFill>
                    <a:srgbClr val="002060"/>
                  </a:solidFill>
                </a:endParaRPr>
              </a:p>
            </p:txBody>
          </p:sp>
        </mc:Choice>
        <mc:Fallback xmlns="">
          <p:sp>
            <p:nvSpPr>
              <p:cNvPr id="31" name="TextBox 30">
                <a:extLst>
                  <a:ext uri="{FF2B5EF4-FFF2-40B4-BE49-F238E27FC236}">
                    <a16:creationId xmlns:a16="http://schemas.microsoft.com/office/drawing/2014/main" xmlns:a14="http://schemas.microsoft.com/office/drawing/2010/main" xmlns="" id="{6BB2FFD4-082C-E47F-43E2-829697397EB7}"/>
                  </a:ext>
                </a:extLst>
              </p:cNvPr>
              <p:cNvSpPr txBox="1">
                <a:spLocks noRot="1" noChangeAspect="1" noMove="1" noResize="1" noEditPoints="1" noAdjustHandles="1" noChangeArrowheads="1" noChangeShapeType="1" noTextEdit="1"/>
              </p:cNvSpPr>
              <p:nvPr/>
            </p:nvSpPr>
            <p:spPr>
              <a:xfrm>
                <a:off x="7620903" y="3178625"/>
                <a:ext cx="512677" cy="430887"/>
              </a:xfrm>
              <a:prstGeom prst="rect">
                <a:avLst/>
              </a:prstGeom>
              <a:blipFill rotWithShape="0">
                <a:blip r:embed="rId13"/>
                <a:stretch>
                  <a:fillRect b="-28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9F9D9A9B-263E-1888-2063-ECE1A8FCE748}"/>
                  </a:ext>
                </a:extLst>
              </p:cNvPr>
              <p:cNvSpPr txBox="1"/>
              <p:nvPr/>
            </p:nvSpPr>
            <p:spPr>
              <a:xfrm>
                <a:off x="9314112" y="3162123"/>
                <a:ext cx="512677" cy="4308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sz="2200" b="1" i="1" dirty="0" smtClean="0">
                              <a:solidFill>
                                <a:srgbClr val="002060"/>
                              </a:solidFill>
                              <a:latin typeface="Cambria Math" panose="02040503050406030204" pitchFamily="18" charset="0"/>
                            </a:rPr>
                          </m:ctrlPr>
                        </m:sSubPr>
                        <m:e>
                          <m:r>
                            <a:rPr lang="en-IN" sz="2200" b="1" i="0" dirty="0" smtClean="0">
                              <a:solidFill>
                                <a:srgbClr val="002060"/>
                              </a:solidFill>
                              <a:latin typeface="Cambria Math" panose="02040503050406030204" pitchFamily="18" charset="0"/>
                            </a:rPr>
                            <m:t>𝐯</m:t>
                          </m:r>
                        </m:e>
                        <m:sub>
                          <m:r>
                            <a:rPr lang="en-IN" sz="2200" b="1" i="0" dirty="0" smtClean="0">
                              <a:solidFill>
                                <a:srgbClr val="002060"/>
                              </a:solidFill>
                              <a:latin typeface="Cambria Math" panose="02040503050406030204" pitchFamily="18" charset="0"/>
                            </a:rPr>
                            <m:t>𝟐</m:t>
                          </m:r>
                        </m:sub>
                      </m:sSub>
                    </m:oMath>
                  </m:oMathPara>
                </a14:m>
                <a:endParaRPr lang="en-US" sz="2200" b="1" dirty="0">
                  <a:solidFill>
                    <a:srgbClr val="002060"/>
                  </a:solidFill>
                </a:endParaRPr>
              </a:p>
            </p:txBody>
          </p:sp>
        </mc:Choice>
        <mc:Fallback xmlns="">
          <p:sp>
            <p:nvSpPr>
              <p:cNvPr id="32" name="TextBox 31">
                <a:extLst>
                  <a:ext uri="{FF2B5EF4-FFF2-40B4-BE49-F238E27FC236}">
                    <a16:creationId xmlns:a16="http://schemas.microsoft.com/office/drawing/2014/main" xmlns:a14="http://schemas.microsoft.com/office/drawing/2010/main" xmlns="" id="{9F9D9A9B-263E-1888-2063-ECE1A8FCE748}"/>
                  </a:ext>
                </a:extLst>
              </p:cNvPr>
              <p:cNvSpPr txBox="1">
                <a:spLocks noRot="1" noChangeAspect="1" noMove="1" noResize="1" noEditPoints="1" noAdjustHandles="1" noChangeArrowheads="1" noChangeShapeType="1" noTextEdit="1"/>
              </p:cNvSpPr>
              <p:nvPr/>
            </p:nvSpPr>
            <p:spPr>
              <a:xfrm>
                <a:off x="9314112" y="3162123"/>
                <a:ext cx="512677" cy="430887"/>
              </a:xfrm>
              <a:prstGeom prst="rect">
                <a:avLst/>
              </a:prstGeom>
              <a:blipFill rotWithShape="0">
                <a:blip r:embed="rId14"/>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p:cNvSpPr/>
              <p:nvPr/>
            </p:nvSpPr>
            <p:spPr>
              <a:xfrm>
                <a:off x="127439" y="3422529"/>
                <a:ext cx="7545570" cy="3062377"/>
              </a:xfrm>
              <a:prstGeom prst="rect">
                <a:avLst/>
              </a:prstGeom>
            </p:spPr>
            <p:txBody>
              <a:bodyPr wrap="square">
                <a:spAutoFit/>
              </a:bodyPr>
              <a:lstStyle/>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For </a:t>
                </a:r>
                <a14:m>
                  <m:oMath xmlns:m="http://schemas.openxmlformats.org/officeDocument/2006/math">
                    <m:d>
                      <m:dPr>
                        <m:begChr m:val="{"/>
                        <m:endChr m:val="}"/>
                        <m:ctrlPr>
                          <a:rPr lang="en-US" sz="2800" i="1" dirty="0">
                            <a:solidFill>
                              <a:srgbClr val="002060"/>
                            </a:solidFill>
                            <a:latin typeface="Cambria Math" panose="02040503050406030204" pitchFamily="18" charset="0"/>
                          </a:rPr>
                        </m:ctrlPr>
                      </m:dPr>
                      <m:e>
                        <m:sSub>
                          <m:sSubPr>
                            <m:ctrlPr>
                              <a:rPr lang="en-US" sz="2800" i="1" dirty="0">
                                <a:solidFill>
                                  <a:srgbClr val="002060"/>
                                </a:solidFill>
                                <a:latin typeface="Cambria Math" panose="02040503050406030204" pitchFamily="18" charset="0"/>
                              </a:rPr>
                            </m:ctrlPr>
                          </m:sSubPr>
                          <m:e>
                            <m:r>
                              <m:rPr>
                                <m:sty m:val="p"/>
                              </m:rPr>
                              <a:rPr lang="en-US" sz="2800" i="0" dirty="0">
                                <a:solidFill>
                                  <a:srgbClr val="002060"/>
                                </a:solidFill>
                                <a:latin typeface="Cambria Math" panose="02040503050406030204" pitchFamily="18" charset="0"/>
                              </a:rPr>
                              <m:t>e</m:t>
                            </m:r>
                          </m:e>
                          <m:sub>
                            <m:r>
                              <a:rPr lang="en-US" sz="2800" i="0" dirty="0">
                                <a:solidFill>
                                  <a:srgbClr val="002060"/>
                                </a:solidFill>
                                <a:latin typeface="Cambria Math" panose="02040503050406030204" pitchFamily="18" charset="0"/>
                              </a:rPr>
                              <m:t>1</m:t>
                            </m:r>
                          </m:sub>
                        </m:sSub>
                        <m:r>
                          <a:rPr lang="en-US" sz="2800" i="0" dirty="0">
                            <a:solidFill>
                              <a:srgbClr val="002060"/>
                            </a:solidFill>
                            <a:latin typeface="Cambria Math" panose="02040503050406030204" pitchFamily="18" charset="0"/>
                          </a:rPr>
                          <m:t>,</m:t>
                        </m:r>
                        <m:sSub>
                          <m:sSubPr>
                            <m:ctrlPr>
                              <a:rPr lang="en-US" sz="2800" i="1" dirty="0">
                                <a:solidFill>
                                  <a:srgbClr val="002060"/>
                                </a:solidFill>
                                <a:latin typeface="Cambria Math" panose="02040503050406030204" pitchFamily="18" charset="0"/>
                              </a:rPr>
                            </m:ctrlPr>
                          </m:sSubPr>
                          <m:e>
                            <m:r>
                              <m:rPr>
                                <m:sty m:val="p"/>
                              </m:rPr>
                              <a:rPr lang="en-US" sz="2800" i="0" dirty="0">
                                <a:solidFill>
                                  <a:srgbClr val="002060"/>
                                </a:solidFill>
                                <a:latin typeface="Cambria Math" panose="02040503050406030204" pitchFamily="18" charset="0"/>
                              </a:rPr>
                              <m:t>e</m:t>
                            </m:r>
                          </m:e>
                          <m:sub>
                            <m:r>
                              <a:rPr lang="en-US" sz="2800" i="0" dirty="0">
                                <a:solidFill>
                                  <a:srgbClr val="002060"/>
                                </a:solidFill>
                                <a:latin typeface="Cambria Math" panose="02040503050406030204" pitchFamily="18" charset="0"/>
                              </a:rPr>
                              <m:t>2</m:t>
                            </m:r>
                          </m:sub>
                        </m:sSub>
                        <m:r>
                          <a:rPr lang="en-US" sz="2800" i="0" dirty="0">
                            <a:solidFill>
                              <a:srgbClr val="002060"/>
                            </a:solidFill>
                            <a:latin typeface="Cambria Math" panose="02040503050406030204" pitchFamily="18" charset="0"/>
                          </a:rPr>
                          <m:t>, </m:t>
                        </m:r>
                        <m:sSub>
                          <m:sSubPr>
                            <m:ctrlPr>
                              <a:rPr lang="en-US" sz="2800" i="1" dirty="0">
                                <a:solidFill>
                                  <a:srgbClr val="002060"/>
                                </a:solidFill>
                                <a:latin typeface="Cambria Math" panose="02040503050406030204" pitchFamily="18" charset="0"/>
                              </a:rPr>
                            </m:ctrlPr>
                          </m:sSubPr>
                          <m:e>
                            <m:r>
                              <m:rPr>
                                <m:sty m:val="p"/>
                              </m:rPr>
                              <a:rPr lang="en-US" sz="2800" i="0" dirty="0">
                                <a:solidFill>
                                  <a:srgbClr val="002060"/>
                                </a:solidFill>
                                <a:latin typeface="Cambria Math" panose="02040503050406030204" pitchFamily="18" charset="0"/>
                              </a:rPr>
                              <m:t>e</m:t>
                            </m:r>
                          </m:e>
                          <m:sub>
                            <m:r>
                              <a:rPr lang="en-US" sz="2800" i="0" dirty="0">
                                <a:solidFill>
                                  <a:srgbClr val="002060"/>
                                </a:solidFill>
                                <a:latin typeface="Cambria Math" panose="02040503050406030204" pitchFamily="18" charset="0"/>
                              </a:rPr>
                              <m:t>7</m:t>
                            </m:r>
                          </m:sub>
                        </m:sSub>
                      </m:e>
                    </m:d>
                    <m:r>
                      <a:rPr lang="en-US" sz="2800" b="0" i="1" dirty="0" smtClean="0">
                        <a:solidFill>
                          <a:srgbClr val="002060"/>
                        </a:solidFill>
                        <a:latin typeface="Cambria Math" panose="02040503050406030204" pitchFamily="18" charset="0"/>
                      </a:rPr>
                      <m:t>,</m:t>
                    </m:r>
                  </m:oMath>
                </a14:m>
                <a:endParaRPr lang="en-US" sz="2800" b="0" dirty="0">
                  <a:solidFill>
                    <a:srgbClr val="002060"/>
                  </a:solidFill>
                </a:endParaRPr>
              </a:p>
              <a:p>
                <a:pPr marL="265113" indent="-265113" algn="just">
                  <a:spcBef>
                    <a:spcPts val="1000"/>
                  </a:spcBef>
                  <a:buClr>
                    <a:srgbClr val="B84742"/>
                  </a:buClr>
                  <a:buFont typeface="Wingdings 3" panose="05040102010807070707" pitchFamily="18" charset="2"/>
                  <a:buChar char=""/>
                </a:pPr>
                <a:r>
                  <a:rPr lang="en-US" sz="2800" dirty="0">
                    <a:solidFill>
                      <a:srgbClr val="002060"/>
                    </a:solidFill>
                  </a:rPr>
                  <a:t>If we remove the above set of edges from the graph, then the graph will become disconnected</a:t>
                </a:r>
                <a:r>
                  <a:rPr lang="en-IN" sz="2800" dirty="0">
                    <a:solidFill>
                      <a:srgbClr val="002060"/>
                    </a:solidFill>
                  </a:rPr>
                  <a:t>.</a:t>
                </a:r>
              </a:p>
              <a:p>
                <a:pPr marL="265113" indent="-265113" algn="just">
                  <a:spcBef>
                    <a:spcPts val="1000"/>
                  </a:spcBef>
                  <a:buClr>
                    <a:srgbClr val="B84742"/>
                  </a:buClr>
                  <a:buFont typeface="Wingdings 3" panose="05040102010807070707" pitchFamily="18" charset="2"/>
                  <a:buChar char=""/>
                </a:pPr>
                <a:r>
                  <a:rPr lang="en-IN" sz="2800" dirty="0">
                    <a:solidFill>
                      <a:srgbClr val="002060"/>
                    </a:solidFill>
                  </a:rPr>
                  <a:t>Also removal of proper subset of given edge set will not disconnect graph. </a:t>
                </a:r>
              </a:p>
              <a:p>
                <a:pPr marL="265113" indent="-265113" algn="just">
                  <a:spcBef>
                    <a:spcPts val="1000"/>
                  </a:spcBef>
                  <a:buClr>
                    <a:srgbClr val="B84742"/>
                  </a:buClr>
                  <a:buFont typeface="Wingdings 3" panose="05040102010807070707" pitchFamily="18" charset="2"/>
                  <a:buChar char=""/>
                </a:pPr>
                <a:r>
                  <a:rPr lang="en-IN" sz="2800" dirty="0">
                    <a:solidFill>
                      <a:srgbClr val="002060"/>
                    </a:solidFill>
                  </a:rPr>
                  <a:t>So</a:t>
                </a:r>
                <a14:m>
                  <m:oMath xmlns:m="http://schemas.openxmlformats.org/officeDocument/2006/math">
                    <m:r>
                      <a:rPr lang="en-US" sz="2800" b="0" i="0" dirty="0" smtClean="0">
                        <a:solidFill>
                          <a:srgbClr val="002060"/>
                        </a:solidFill>
                        <a:latin typeface="Cambria Math" panose="02040503050406030204" pitchFamily="18" charset="0"/>
                      </a:rPr>
                      <m:t> </m:t>
                    </m:r>
                    <m:d>
                      <m:dPr>
                        <m:begChr m:val="{"/>
                        <m:endChr m:val="}"/>
                        <m:ctrlPr>
                          <a:rPr lang="en-US" sz="2800" i="1" dirty="0" smtClean="0">
                            <a:solidFill>
                              <a:srgbClr val="FF0000"/>
                            </a:solidFill>
                            <a:latin typeface="Cambria Math" panose="02040503050406030204" pitchFamily="18" charset="0"/>
                          </a:rPr>
                        </m:ctrlPr>
                      </m:dPr>
                      <m:e>
                        <m:sSub>
                          <m:sSubPr>
                            <m:ctrlPr>
                              <a:rPr lang="en-US" sz="2800" i="1" dirty="0">
                                <a:solidFill>
                                  <a:srgbClr val="FF0000"/>
                                </a:solidFill>
                                <a:latin typeface="Cambria Math" panose="02040503050406030204" pitchFamily="18" charset="0"/>
                              </a:rPr>
                            </m:ctrlPr>
                          </m:sSubPr>
                          <m:e>
                            <m:r>
                              <m:rPr>
                                <m:sty m:val="p"/>
                              </m:rPr>
                              <a:rPr lang="en-US" sz="2800" b="0" i="0" dirty="0">
                                <a:solidFill>
                                  <a:srgbClr val="FF0000"/>
                                </a:solidFill>
                                <a:latin typeface="Cambria Math" panose="02040503050406030204" pitchFamily="18" charset="0"/>
                              </a:rPr>
                              <m:t>e</m:t>
                            </m:r>
                          </m:e>
                          <m:sub>
                            <m:r>
                              <a:rPr lang="en-US" sz="2800" b="0" i="0" dirty="0" smtClean="0">
                                <a:solidFill>
                                  <a:srgbClr val="FF0000"/>
                                </a:solidFill>
                                <a:latin typeface="Cambria Math" panose="02040503050406030204" pitchFamily="18" charset="0"/>
                              </a:rPr>
                              <m:t>1</m:t>
                            </m:r>
                          </m:sub>
                        </m:sSub>
                        <m:r>
                          <a:rPr lang="en-US" sz="2800" b="0" i="0" dirty="0">
                            <a:solidFill>
                              <a:srgbClr val="FF0000"/>
                            </a:solidFill>
                            <a:latin typeface="Cambria Math" panose="02040503050406030204" pitchFamily="18" charset="0"/>
                          </a:rPr>
                          <m:t>, </m:t>
                        </m:r>
                        <m:sSub>
                          <m:sSubPr>
                            <m:ctrlPr>
                              <a:rPr lang="en-US" sz="2800" i="1" dirty="0">
                                <a:solidFill>
                                  <a:srgbClr val="FF0000"/>
                                </a:solidFill>
                                <a:latin typeface="Cambria Math" panose="02040503050406030204" pitchFamily="18" charset="0"/>
                              </a:rPr>
                            </m:ctrlPr>
                          </m:sSubPr>
                          <m:e>
                            <m:r>
                              <m:rPr>
                                <m:sty m:val="p"/>
                              </m:rPr>
                              <a:rPr lang="en-US" sz="2800" b="0" i="0" dirty="0">
                                <a:solidFill>
                                  <a:srgbClr val="FF0000"/>
                                </a:solidFill>
                                <a:latin typeface="Cambria Math" panose="02040503050406030204" pitchFamily="18" charset="0"/>
                              </a:rPr>
                              <m:t>e</m:t>
                            </m:r>
                          </m:e>
                          <m:sub>
                            <m:r>
                              <a:rPr lang="en-US" sz="2800" b="0" i="0" dirty="0">
                                <a:solidFill>
                                  <a:srgbClr val="FF0000"/>
                                </a:solidFill>
                                <a:latin typeface="Cambria Math" panose="02040503050406030204" pitchFamily="18" charset="0"/>
                              </a:rPr>
                              <m:t>2</m:t>
                            </m:r>
                          </m:sub>
                        </m:sSub>
                        <m:r>
                          <a:rPr lang="en-US" sz="2800" b="0" i="0" dirty="0">
                            <a:solidFill>
                              <a:srgbClr val="FF0000"/>
                            </a:solidFill>
                            <a:latin typeface="Cambria Math" panose="02040503050406030204" pitchFamily="18" charset="0"/>
                          </a:rPr>
                          <m:t>, </m:t>
                        </m:r>
                        <m:sSub>
                          <m:sSubPr>
                            <m:ctrlPr>
                              <a:rPr lang="en-US" sz="2800" i="1" dirty="0">
                                <a:solidFill>
                                  <a:srgbClr val="FF0000"/>
                                </a:solidFill>
                                <a:latin typeface="Cambria Math" panose="02040503050406030204" pitchFamily="18" charset="0"/>
                              </a:rPr>
                            </m:ctrlPr>
                          </m:sSubPr>
                          <m:e>
                            <m:r>
                              <m:rPr>
                                <m:sty m:val="p"/>
                              </m:rPr>
                              <a:rPr lang="en-US" sz="2800" b="0" i="0" dirty="0">
                                <a:solidFill>
                                  <a:srgbClr val="FF0000"/>
                                </a:solidFill>
                                <a:latin typeface="Cambria Math" panose="02040503050406030204" pitchFamily="18" charset="0"/>
                              </a:rPr>
                              <m:t>e</m:t>
                            </m:r>
                          </m:e>
                          <m:sub>
                            <m:r>
                              <a:rPr lang="en-US" sz="2800" b="0" i="0" dirty="0" smtClean="0">
                                <a:solidFill>
                                  <a:srgbClr val="FF0000"/>
                                </a:solidFill>
                                <a:latin typeface="Cambria Math" panose="02040503050406030204" pitchFamily="18" charset="0"/>
                              </a:rPr>
                              <m:t>7</m:t>
                            </m:r>
                          </m:sub>
                        </m:sSub>
                      </m:e>
                    </m:d>
                  </m:oMath>
                </a14:m>
                <a:r>
                  <a:rPr lang="en-US" sz="2800" dirty="0">
                    <a:solidFill>
                      <a:srgbClr val="FF0000"/>
                    </a:solidFill>
                  </a:rPr>
                  <a:t> is cut set</a:t>
                </a:r>
                <a:r>
                  <a:rPr lang="en-US" sz="2800" b="1" dirty="0">
                    <a:solidFill>
                      <a:srgbClr val="002060"/>
                    </a:solidFill>
                  </a:rPr>
                  <a:t>.</a:t>
                </a:r>
              </a:p>
            </p:txBody>
          </p:sp>
        </mc:Choice>
        <mc:Fallback xmlns="">
          <p:sp>
            <p:nvSpPr>
              <p:cNvPr id="34" name="Rectangle 33"/>
              <p:cNvSpPr>
                <a:spLocks noRot="1" noChangeAspect="1" noMove="1" noResize="1" noEditPoints="1" noAdjustHandles="1" noChangeArrowheads="1" noChangeShapeType="1" noTextEdit="1"/>
              </p:cNvSpPr>
              <p:nvPr/>
            </p:nvSpPr>
            <p:spPr>
              <a:xfrm>
                <a:off x="127439" y="3422529"/>
                <a:ext cx="7545570" cy="3062377"/>
              </a:xfrm>
              <a:prstGeom prst="rect">
                <a:avLst/>
              </a:prstGeom>
              <a:blipFill rotWithShape="0">
                <a:blip r:embed="rId15"/>
                <a:stretch>
                  <a:fillRect l="-1535" t="-1988" r="-1616" b="-4573"/>
                </a:stretch>
              </a:blipFill>
            </p:spPr>
            <p:txBody>
              <a:bodyPr/>
              <a:lstStyle/>
              <a:p>
                <a:r>
                  <a:rPr lang="en-US">
                    <a:noFill/>
                  </a:rPr>
                  <a:t> </a:t>
                </a:r>
              </a:p>
            </p:txBody>
          </p:sp>
        </mc:Fallback>
      </mc:AlternateContent>
    </p:spTree>
    <p:extLst>
      <p:ext uri="{BB962C8B-B14F-4D97-AF65-F5344CB8AC3E}">
        <p14:creationId xmlns:p14="http://schemas.microsoft.com/office/powerpoint/2010/main" val="923748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xit" presetSubtype="4" fill="hold" grpId="0" nodeType="clickEffect">
                                  <p:stCondLst>
                                    <p:cond delay="0"/>
                                  </p:stCondLst>
                                  <p:childTnLst>
                                    <p:animEffect transition="out" filter="wipe(down)">
                                      <p:cBhvr>
                                        <p:cTn id="14" dur="500"/>
                                        <p:tgtEl>
                                          <p:spTgt spid="21"/>
                                        </p:tgtEl>
                                      </p:cBhvr>
                                    </p:animEffect>
                                    <p:set>
                                      <p:cBhvr>
                                        <p:cTn id="15" dur="1" fill="hold">
                                          <p:stCondLst>
                                            <p:cond delay="499"/>
                                          </p:stCondLst>
                                        </p:cTn>
                                        <p:tgtEl>
                                          <p:spTgt spid="21"/>
                                        </p:tgtEl>
                                        <p:attrNameLst>
                                          <p:attrName>style.visibility</p:attrName>
                                        </p:attrNameLst>
                                      </p:cBhvr>
                                      <p:to>
                                        <p:strVal val="hidden"/>
                                      </p:to>
                                    </p:set>
                                  </p:childTnLst>
                                </p:cTn>
                              </p:par>
                              <p:par>
                                <p:cTn id="16" presetID="22" presetClass="exit" presetSubtype="4" fill="hold" nodeType="withEffect">
                                  <p:stCondLst>
                                    <p:cond delay="0"/>
                                  </p:stCondLst>
                                  <p:childTnLst>
                                    <p:animEffect transition="out" filter="wipe(down)">
                                      <p:cBhvr>
                                        <p:cTn id="17" dur="500"/>
                                        <p:tgtEl>
                                          <p:spTgt spid="11"/>
                                        </p:tgtEl>
                                      </p:cBhvr>
                                    </p:animEffect>
                                    <p:set>
                                      <p:cBhvr>
                                        <p:cTn id="18" dur="1" fill="hold">
                                          <p:stCondLst>
                                            <p:cond delay="499"/>
                                          </p:stCondLst>
                                        </p:cTn>
                                        <p:tgtEl>
                                          <p:spTgt spid="11"/>
                                        </p:tgtEl>
                                        <p:attrNameLst>
                                          <p:attrName>style.visibility</p:attrName>
                                        </p:attrNameLst>
                                      </p:cBhvr>
                                      <p:to>
                                        <p:strVal val="hidden"/>
                                      </p:to>
                                    </p:set>
                                  </p:childTnLst>
                                </p:cTn>
                              </p:par>
                              <p:par>
                                <p:cTn id="19" presetID="22" presetClass="exit" presetSubtype="4" fill="hold" grpId="0" nodeType="withEffect">
                                  <p:stCondLst>
                                    <p:cond delay="0"/>
                                  </p:stCondLst>
                                  <p:childTnLst>
                                    <p:animEffect transition="out" filter="wipe(down)">
                                      <p:cBhvr>
                                        <p:cTn id="20" dur="500"/>
                                        <p:tgtEl>
                                          <p:spTgt spid="20"/>
                                        </p:tgtEl>
                                      </p:cBhvr>
                                    </p:animEffect>
                                    <p:set>
                                      <p:cBhvr>
                                        <p:cTn id="21" dur="1" fill="hold">
                                          <p:stCondLst>
                                            <p:cond delay="499"/>
                                          </p:stCondLst>
                                        </p:cTn>
                                        <p:tgtEl>
                                          <p:spTgt spid="20"/>
                                        </p:tgtEl>
                                        <p:attrNameLst>
                                          <p:attrName>style.visibility</p:attrName>
                                        </p:attrNameLst>
                                      </p:cBhvr>
                                      <p:to>
                                        <p:strVal val="hidden"/>
                                      </p:to>
                                    </p:set>
                                  </p:childTnLst>
                                </p:cTn>
                              </p:par>
                              <p:par>
                                <p:cTn id="22" presetID="22" presetClass="exit" presetSubtype="4" fill="hold" nodeType="withEffect">
                                  <p:stCondLst>
                                    <p:cond delay="0"/>
                                  </p:stCondLst>
                                  <p:childTnLst>
                                    <p:animEffect transition="out" filter="wipe(down)">
                                      <p:cBhvr>
                                        <p:cTn id="23" dur="500"/>
                                        <p:tgtEl>
                                          <p:spTgt spid="12"/>
                                        </p:tgtEl>
                                      </p:cBhvr>
                                    </p:animEffect>
                                    <p:set>
                                      <p:cBhvr>
                                        <p:cTn id="24" dur="1" fill="hold">
                                          <p:stCondLst>
                                            <p:cond delay="499"/>
                                          </p:stCondLst>
                                        </p:cTn>
                                        <p:tgtEl>
                                          <p:spTgt spid="12"/>
                                        </p:tgtEl>
                                        <p:attrNameLst>
                                          <p:attrName>style.visibility</p:attrName>
                                        </p:attrNameLst>
                                      </p:cBhvr>
                                      <p:to>
                                        <p:strVal val="hidden"/>
                                      </p:to>
                                    </p:set>
                                  </p:childTnLst>
                                </p:cTn>
                              </p:par>
                              <p:par>
                                <p:cTn id="25" presetID="22" presetClass="exit" presetSubtype="4" fill="hold" grpId="0" nodeType="withEffect">
                                  <p:stCondLst>
                                    <p:cond delay="0"/>
                                  </p:stCondLst>
                                  <p:childTnLst>
                                    <p:animEffect transition="out" filter="wipe(down)">
                                      <p:cBhvr>
                                        <p:cTn id="26" dur="500"/>
                                        <p:tgtEl>
                                          <p:spTgt spid="25"/>
                                        </p:tgtEl>
                                      </p:cBhvr>
                                    </p:animEffect>
                                    <p:set>
                                      <p:cBhvr>
                                        <p:cTn id="27" dur="1" fill="hold">
                                          <p:stCondLst>
                                            <p:cond delay="499"/>
                                          </p:stCondLst>
                                        </p:cTn>
                                        <p:tgtEl>
                                          <p:spTgt spid="25"/>
                                        </p:tgtEl>
                                        <p:attrNameLst>
                                          <p:attrName>style.visibility</p:attrName>
                                        </p:attrNameLst>
                                      </p:cBhvr>
                                      <p:to>
                                        <p:strVal val="hidden"/>
                                      </p:to>
                                    </p:set>
                                  </p:childTnLst>
                                </p:cTn>
                              </p:par>
                              <p:par>
                                <p:cTn id="28" presetID="22" presetClass="exit" presetSubtype="4" fill="hold" nodeType="withEffect">
                                  <p:stCondLst>
                                    <p:cond delay="0"/>
                                  </p:stCondLst>
                                  <p:childTnLst>
                                    <p:animEffect transition="out" filter="wipe(down)">
                                      <p:cBhvr>
                                        <p:cTn id="29" dur="500"/>
                                        <p:tgtEl>
                                          <p:spTgt spid="29"/>
                                        </p:tgtEl>
                                      </p:cBhvr>
                                    </p:animEffect>
                                    <p:set>
                                      <p:cBhvr>
                                        <p:cTn id="30" dur="1" fill="hold">
                                          <p:stCondLst>
                                            <p:cond delay="499"/>
                                          </p:stCondLst>
                                        </p:cTn>
                                        <p:tgtEl>
                                          <p:spTgt spid="2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53689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How many cut-sets does a tree with 10 vertices have?</a:t>
            </a: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3</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5" y="1427948"/>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2121477"/>
                <a:ext cx="11929641" cy="4332532"/>
              </a:xfrm>
            </p:spPr>
            <p:txBody>
              <a:bodyPr/>
              <a:lstStyle/>
              <a:p>
                <a:pPr lvl="0"/>
                <a:r>
                  <a:rPr lang="en-US" dirty="0"/>
                  <a:t>Since, Every edge of a tree is a cut-edge (cut-set of size 1)</a:t>
                </a:r>
              </a:p>
              <a:p>
                <a:r>
                  <a:rPr lang="en-US" dirty="0"/>
                  <a:t>Recall: Tree with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oMath>
                </a14:m>
                <a:r>
                  <a:rPr lang="en-US" dirty="0"/>
                  <a:t> vertices have</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n</m:t>
                    </m:r>
                    <m:r>
                      <a:rPr lang="en-US" i="0" dirty="0" smtClean="0">
                        <a:latin typeface="Cambria Math" panose="02040503050406030204" pitchFamily="18" charset="0"/>
                      </a:rPr>
                      <m:t>−1</m:t>
                    </m:r>
                  </m:oMath>
                </a14:m>
                <a:r>
                  <a:rPr lang="en-US" dirty="0"/>
                  <a:t> edges</a:t>
                </a:r>
              </a:p>
              <a:p>
                <a:r>
                  <a:rPr lang="en-US" dirty="0"/>
                  <a:t>Therefore, tree with 10 vertices have 9 edges.</a:t>
                </a:r>
              </a:p>
              <a:p>
                <a:r>
                  <a:rPr lang="en-US" dirty="0"/>
                  <a:t>Hence, a tree with 10 vertices have </a:t>
                </a:r>
                <a:r>
                  <a:rPr lang="en-US" dirty="0">
                    <a:solidFill>
                      <a:srgbClr val="FF0000"/>
                    </a:solidFill>
                  </a:rPr>
                  <a:t>9 cut-set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2121477"/>
                <a:ext cx="11929641" cy="4332532"/>
              </a:xfrm>
              <a:blipFill>
                <a:blip r:embed="rId2"/>
                <a:stretch>
                  <a:fillRect l="-971" t="-2391"/>
                </a:stretch>
              </a:blipFill>
            </p:spPr>
            <p:txBody>
              <a:bodyPr/>
              <a:lstStyle/>
              <a:p>
                <a:r>
                  <a:rPr lang="en-IN">
                    <a:noFill/>
                  </a:rPr>
                  <a:t> </a:t>
                </a:r>
              </a:p>
            </p:txBody>
          </p:sp>
        </mc:Fallback>
      </mc:AlternateContent>
    </p:spTree>
    <p:extLst>
      <p:ext uri="{BB962C8B-B14F-4D97-AF65-F5344CB8AC3E}">
        <p14:creationId xmlns:p14="http://schemas.microsoft.com/office/powerpoint/2010/main" val="395194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88EED-65E2-9516-1F97-95B288937886}"/>
            </a:ext>
          </a:extLst>
        </p:cNvPr>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D8B9C520-C868-1B42-6878-D9A2665D5EAD}"/>
              </a:ext>
            </a:extLst>
          </p:cNvPr>
          <p:cNvSpPr txBox="1">
            <a:spLocks/>
          </p:cNvSpPr>
          <p:nvPr/>
        </p:nvSpPr>
        <p:spPr>
          <a:xfrm>
            <a:off x="131176" y="867840"/>
            <a:ext cx="12024000" cy="139828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Prove that : Every cut set in a connected graph G must contain at least one branch of every</a:t>
            </a:r>
          </a:p>
          <a:p>
            <a:r>
              <a:rPr lang="en-US" sz="2800" dirty="0">
                <a:solidFill>
                  <a:schemeClr val="bg1"/>
                </a:solidFill>
              </a:rPr>
              <a:t>spanning tree of G.</a:t>
            </a:r>
          </a:p>
        </p:txBody>
      </p:sp>
      <p:sp>
        <p:nvSpPr>
          <p:cNvPr id="9" name="Title 1">
            <a:extLst>
              <a:ext uri="{FF2B5EF4-FFF2-40B4-BE49-F238E27FC236}">
                <a16:creationId xmlns:a16="http://schemas.microsoft.com/office/drawing/2014/main" id="{7D23CDAF-DB7B-2BA4-65BC-8B98179010CB}"/>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4</a:t>
            </a:r>
            <a:endParaRPr lang="en-US" dirty="0"/>
          </a:p>
        </p:txBody>
      </p:sp>
      <p:sp>
        <p:nvSpPr>
          <p:cNvPr id="35" name="Content Placeholder 2">
            <a:extLst>
              <a:ext uri="{FF2B5EF4-FFF2-40B4-BE49-F238E27FC236}">
                <a16:creationId xmlns:a16="http://schemas.microsoft.com/office/drawing/2014/main" id="{7C6A80D0-DCD2-B445-B920-F335FC7E2646}"/>
              </a:ext>
            </a:extLst>
          </p:cNvPr>
          <p:cNvSpPr txBox="1">
            <a:spLocks/>
          </p:cNvSpPr>
          <p:nvPr/>
        </p:nvSpPr>
        <p:spPr>
          <a:xfrm>
            <a:off x="131176" y="2839483"/>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 name="Content Placeholder 2">
            <a:extLst>
              <a:ext uri="{FF2B5EF4-FFF2-40B4-BE49-F238E27FC236}">
                <a16:creationId xmlns:a16="http://schemas.microsoft.com/office/drawing/2014/main" id="{B1FC8424-C94A-A7C3-7B1B-B2A1CBF48822}"/>
              </a:ext>
            </a:extLst>
          </p:cNvPr>
          <p:cNvSpPr>
            <a:spLocks noGrp="1"/>
          </p:cNvSpPr>
          <p:nvPr>
            <p:ph idx="1"/>
          </p:nvPr>
        </p:nvSpPr>
        <p:spPr>
          <a:xfrm>
            <a:off x="131179" y="3803353"/>
            <a:ext cx="11929641" cy="3512026"/>
          </a:xfrm>
        </p:spPr>
        <p:txBody>
          <a:bodyPr/>
          <a:lstStyle/>
          <a:p>
            <a:pPr lvl="0"/>
            <a:r>
              <a:rPr lang="en-IN" dirty="0"/>
              <a:t>Let T is a spanning tree of G and S is arbitrary subset in G that is not to have any edge in common with T.</a:t>
            </a:r>
          </a:p>
          <a:p>
            <a:pPr lvl="0"/>
            <a:r>
              <a:rPr lang="en-IN" dirty="0"/>
              <a:t>Then removal S from G would not disconnect the graph. </a:t>
            </a:r>
          </a:p>
          <a:p>
            <a:pPr lvl="0"/>
            <a:r>
              <a:rPr lang="en-IN" dirty="0"/>
              <a:t>So, S is not a cut set in G.</a:t>
            </a:r>
            <a:endParaRPr lang="en-US" dirty="0">
              <a:solidFill>
                <a:srgbClr val="FF0000"/>
              </a:solidFill>
            </a:endParaRPr>
          </a:p>
        </p:txBody>
      </p:sp>
    </p:spTree>
    <p:extLst>
      <p:ext uri="{BB962C8B-B14F-4D97-AF65-F5344CB8AC3E}">
        <p14:creationId xmlns:p14="http://schemas.microsoft.com/office/powerpoint/2010/main" val="3072192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072A-1AFC-6592-A3BD-4874E4846DCC}"/>
            </a:ext>
          </a:extLst>
        </p:cNvPr>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4EE9ACCB-4851-2F09-73C7-F6B017608926}"/>
              </a:ext>
            </a:extLst>
          </p:cNvPr>
          <p:cNvSpPr txBox="1">
            <a:spLocks/>
          </p:cNvSpPr>
          <p:nvPr/>
        </p:nvSpPr>
        <p:spPr>
          <a:xfrm>
            <a:off x="131176" y="867840"/>
            <a:ext cx="12024000" cy="947708"/>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Prove that: In a connected graph G, any minimal set of edges containing at least one</a:t>
            </a:r>
          </a:p>
          <a:p>
            <a:r>
              <a:rPr lang="en-US" sz="2800" dirty="0">
                <a:solidFill>
                  <a:schemeClr val="bg1"/>
                </a:solidFill>
              </a:rPr>
              <a:t>branch of every spanning tree of G is a cut-set.</a:t>
            </a:r>
          </a:p>
        </p:txBody>
      </p:sp>
      <p:sp>
        <p:nvSpPr>
          <p:cNvPr id="9" name="Title 1">
            <a:extLst>
              <a:ext uri="{FF2B5EF4-FFF2-40B4-BE49-F238E27FC236}">
                <a16:creationId xmlns:a16="http://schemas.microsoft.com/office/drawing/2014/main" id="{7E403762-C9FB-8E0D-8E4F-47A509BE3AA4}"/>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1 ⇝ Example 5</a:t>
            </a:r>
            <a:endParaRPr lang="en-US" dirty="0"/>
          </a:p>
        </p:txBody>
      </p:sp>
      <p:sp>
        <p:nvSpPr>
          <p:cNvPr id="35" name="Content Placeholder 2">
            <a:extLst>
              <a:ext uri="{FF2B5EF4-FFF2-40B4-BE49-F238E27FC236}">
                <a16:creationId xmlns:a16="http://schemas.microsoft.com/office/drawing/2014/main" id="{8919319B-FD4E-86F5-0534-CF32AC9FE516}"/>
              </a:ext>
            </a:extLst>
          </p:cNvPr>
          <p:cNvSpPr txBox="1">
            <a:spLocks/>
          </p:cNvSpPr>
          <p:nvPr/>
        </p:nvSpPr>
        <p:spPr>
          <a:xfrm>
            <a:off x="131176" y="187207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 name="Content Placeholder 2">
            <a:extLst>
              <a:ext uri="{FF2B5EF4-FFF2-40B4-BE49-F238E27FC236}">
                <a16:creationId xmlns:a16="http://schemas.microsoft.com/office/drawing/2014/main" id="{21BAE2A8-215B-E5A6-4C5D-812A9D600794}"/>
              </a:ext>
            </a:extLst>
          </p:cNvPr>
          <p:cNvSpPr>
            <a:spLocks noGrp="1"/>
          </p:cNvSpPr>
          <p:nvPr>
            <p:ph idx="1"/>
          </p:nvPr>
        </p:nvSpPr>
        <p:spPr>
          <a:xfrm>
            <a:off x="131179" y="2478133"/>
            <a:ext cx="11929641" cy="3975675"/>
          </a:xfrm>
        </p:spPr>
        <p:txBody>
          <a:bodyPr/>
          <a:lstStyle/>
          <a:p>
            <a:pPr lvl="0"/>
            <a:r>
              <a:rPr lang="en-US" sz="2400" dirty="0"/>
              <a:t>In a given connected graph G, let Q be a minimal set of edges containing at least one branch of every spanning tree of G. </a:t>
            </a:r>
          </a:p>
          <a:p>
            <a:pPr lvl="0"/>
            <a:r>
              <a:rPr lang="en-US" sz="2400" dirty="0"/>
              <a:t>Consider G − Q, the subgraph that remains after removing the edges in Q from G. </a:t>
            </a:r>
          </a:p>
          <a:p>
            <a:pPr lvl="0"/>
            <a:r>
              <a:rPr lang="en-US" sz="2400" dirty="0"/>
              <a:t>Since the subgraph G − Q contains no spanning tree of G, G − Q is disconnected.</a:t>
            </a:r>
          </a:p>
          <a:p>
            <a:pPr lvl="0"/>
            <a:r>
              <a:rPr lang="en-US" sz="2400" dirty="0"/>
              <a:t>Therefore, Q is a minimal set of edges whose removal from G disconnects G.</a:t>
            </a:r>
          </a:p>
          <a:p>
            <a:pPr lvl="0"/>
            <a:r>
              <a:rPr lang="en-US" sz="2400" dirty="0"/>
              <a:t>By definition, Q is a cut-set.</a:t>
            </a:r>
            <a:endParaRPr lang="en-US" sz="2400" dirty="0">
              <a:solidFill>
                <a:srgbClr val="FF0000"/>
              </a:solidFill>
            </a:endParaRPr>
          </a:p>
        </p:txBody>
      </p:sp>
    </p:spTree>
    <p:extLst>
      <p:ext uri="{BB962C8B-B14F-4D97-AF65-F5344CB8AC3E}">
        <p14:creationId xmlns:p14="http://schemas.microsoft.com/office/powerpoint/2010/main" val="192335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uFill>
                  <a:solidFill>
                    <a:schemeClr val="bg1"/>
                  </a:solidFill>
                </a:uFill>
              </a:rPr>
              <a:t>Method – 2</a:t>
            </a:r>
            <a:br>
              <a:rPr lang="en-US" dirty="0">
                <a:hlinkClick r:id="" action="ppaction://noaction">
                  <a:extLst>
                    <a:ext uri="{A12FA001-AC4F-418D-AE19-62706E023703}">
                      <ahyp:hlinkClr xmlns:ahyp="http://schemas.microsoft.com/office/drawing/2018/hyperlinkcolor" val="tx"/>
                    </a:ext>
                  </a:extLst>
                </a:hlinkClick>
              </a:rPr>
            </a:br>
            <a:r>
              <a:rPr lang="en-US" dirty="0"/>
              <a:t>Fundamental Cut-Sets with respect to a spanning tree</a:t>
            </a:r>
          </a:p>
        </p:txBody>
      </p:sp>
    </p:spTree>
    <p:extLst>
      <p:ext uri="{BB962C8B-B14F-4D97-AF65-F5344CB8AC3E}">
        <p14:creationId xmlns:p14="http://schemas.microsoft.com/office/powerpoint/2010/main" val="1822561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Fundamental cut-set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0" y="863445"/>
                <a:ext cx="11892780" cy="1141505"/>
              </a:xfrm>
            </p:spPr>
            <p:txBody>
              <a:bodyPr/>
              <a:lstStyle/>
              <a:p>
                <a:r>
                  <a:rPr lang="en-US" dirty="0"/>
                  <a:t>Definition: A </a:t>
                </a:r>
                <a:r>
                  <a:rPr lang="en-US" b="1" dirty="0"/>
                  <a:t>fundamental cut-set</a:t>
                </a:r>
                <a:r>
                  <a:rPr lang="en-US" dirty="0"/>
                  <a:t> (with respect to a spanning tree</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T</m:t>
                    </m:r>
                  </m:oMath>
                </a14:m>
                <a:r>
                  <a:rPr lang="en-US" dirty="0"/>
                  <a:t>) is a cut-set that contains </a:t>
                </a:r>
                <a:r>
                  <a:rPr lang="en-US" b="1" dirty="0"/>
                  <a:t>exactly one branch of</a:t>
                </a:r>
                <a14:m>
                  <m:oMath xmlns:m="http://schemas.openxmlformats.org/officeDocument/2006/math">
                    <m:r>
                      <a:rPr lang="en-US" b="1" i="0" dirty="0" smtClean="0">
                        <a:latin typeface="Cambria Math" panose="02040503050406030204" pitchFamily="18" charset="0"/>
                      </a:rPr>
                      <m:t> </m:t>
                    </m:r>
                    <m:r>
                      <a:rPr lang="en-US" b="1" i="0" dirty="0" smtClean="0">
                        <a:latin typeface="Cambria Math" panose="02040503050406030204" pitchFamily="18" charset="0"/>
                      </a:rPr>
                      <m:t>𝐓</m:t>
                    </m:r>
                  </m:oMath>
                </a14:m>
                <a:r>
                  <a:rPr lang="en-US" dirty="0"/>
                  <a:t>.</a:t>
                </a:r>
              </a:p>
            </p:txBody>
          </p:sp>
        </mc:Choice>
        <mc:Fallback xmlns="">
          <p:sp>
            <p:nvSpPr>
              <p:cNvPr id="3" name="Content Placeholder 2">
                <a:extLst>
                  <a:ext uri="{FF2B5EF4-FFF2-40B4-BE49-F238E27FC236}">
                    <a16:creationId xmlns="" xmlns:a16="http://schemas.microsoft.com/office/drawing/2014/main" id="{9CB3AA53-5FE6-7420-2832-B8AB64C9E95F}"/>
                  </a:ext>
                </a:extLst>
              </p:cNvPr>
              <p:cNvSpPr>
                <a:spLocks noGrp="1" noRot="1" noChangeAspect="1" noMove="1" noResize="1" noEditPoints="1" noAdjustHandles="1" noChangeArrowheads="1" noChangeShapeType="1" noTextEdit="1"/>
              </p:cNvSpPr>
              <p:nvPr>
                <p:ph idx="1"/>
              </p:nvPr>
            </p:nvSpPr>
            <p:spPr>
              <a:xfrm>
                <a:off x="131180" y="863445"/>
                <a:ext cx="11892780" cy="1141505"/>
              </a:xfrm>
              <a:blipFill rotWithShape="0">
                <a:blip r:embed="rId2"/>
                <a:stretch>
                  <a:fillRect l="-974" t="-9626" r="-1077"/>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BDD11F87-DA81-9510-C1CB-0AF4093562CB}"/>
              </a:ext>
            </a:extLst>
          </p:cNvPr>
          <p:cNvSpPr/>
          <p:nvPr/>
        </p:nvSpPr>
        <p:spPr>
          <a:xfrm rot="5400000">
            <a:off x="4787310" y="30376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6947542" y="30447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4787310" y="518276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BDD11F87-DA81-9510-C1CB-0AF4093562CB}"/>
              </a:ext>
            </a:extLst>
          </p:cNvPr>
          <p:cNvSpPr/>
          <p:nvPr/>
        </p:nvSpPr>
        <p:spPr>
          <a:xfrm rot="5400000">
            <a:off x="6947542" y="518981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BDD11F87-DA81-9510-C1CB-0AF4093562CB}"/>
              </a:ext>
            </a:extLst>
          </p:cNvPr>
          <p:cNvSpPr/>
          <p:nvPr/>
        </p:nvSpPr>
        <p:spPr>
          <a:xfrm rot="5400000">
            <a:off x="5939430" y="40923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6205DD86-315C-53B6-CEEF-A9919650168E}"/>
              </a:ext>
            </a:extLst>
          </p:cNvPr>
          <p:cNvCxnSpPr>
            <a:cxnSpLocks/>
            <a:stCxn id="11" idx="3"/>
            <a:endCxn id="6" idx="7"/>
          </p:cNvCxnSpPr>
          <p:nvPr/>
        </p:nvCxnSpPr>
        <p:spPr>
          <a:xfrm flipH="1" flipV="1">
            <a:off x="4910222" y="3160572"/>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205DD86-315C-53B6-CEEF-A9919650168E}"/>
              </a:ext>
            </a:extLst>
          </p:cNvPr>
          <p:cNvCxnSpPr>
            <a:cxnSpLocks/>
            <a:stCxn id="9" idx="3"/>
            <a:endCxn id="11" idx="7"/>
          </p:cNvCxnSpPr>
          <p:nvPr/>
        </p:nvCxnSpPr>
        <p:spPr>
          <a:xfrm flipH="1" flipV="1">
            <a:off x="6062342" y="4215236"/>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205DD86-315C-53B6-CEEF-A9919650168E}"/>
              </a:ext>
            </a:extLst>
          </p:cNvPr>
          <p:cNvCxnSpPr>
            <a:cxnSpLocks/>
            <a:stCxn id="11" idx="5"/>
            <a:endCxn id="8" idx="1"/>
          </p:cNvCxnSpPr>
          <p:nvPr/>
        </p:nvCxnSpPr>
        <p:spPr>
          <a:xfrm flipH="1">
            <a:off x="4910222" y="4215236"/>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6205DD86-315C-53B6-CEEF-A9919650168E}"/>
              </a:ext>
            </a:extLst>
          </p:cNvPr>
          <p:cNvCxnSpPr>
            <a:cxnSpLocks/>
            <a:stCxn id="7" idx="5"/>
            <a:endCxn id="11" idx="1"/>
          </p:cNvCxnSpPr>
          <p:nvPr/>
        </p:nvCxnSpPr>
        <p:spPr>
          <a:xfrm flipH="1">
            <a:off x="6062342" y="3167629"/>
            <a:ext cx="906288" cy="945783"/>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8" idx="2"/>
            <a:endCxn id="6" idx="6"/>
          </p:cNvCxnSpPr>
          <p:nvPr/>
        </p:nvCxnSpPr>
        <p:spPr>
          <a:xfrm flipV="1">
            <a:off x="4859310" y="3181660"/>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9" idx="2"/>
            <a:endCxn id="7" idx="6"/>
          </p:cNvCxnSpPr>
          <p:nvPr/>
        </p:nvCxnSpPr>
        <p:spPr>
          <a:xfrm flipV="1">
            <a:off x="7019542" y="3188717"/>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6205DD86-315C-53B6-CEEF-A9919650168E}"/>
              </a:ext>
            </a:extLst>
          </p:cNvPr>
          <p:cNvCxnSpPr>
            <a:cxnSpLocks/>
            <a:stCxn id="6" idx="0"/>
            <a:endCxn id="7" idx="4"/>
          </p:cNvCxnSpPr>
          <p:nvPr/>
        </p:nvCxnSpPr>
        <p:spPr>
          <a:xfrm>
            <a:off x="4931310" y="3109660"/>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6205DD86-315C-53B6-CEEF-A9919650168E}"/>
              </a:ext>
            </a:extLst>
          </p:cNvPr>
          <p:cNvCxnSpPr>
            <a:cxnSpLocks/>
            <a:stCxn id="8" idx="0"/>
            <a:endCxn id="9" idx="4"/>
          </p:cNvCxnSpPr>
          <p:nvPr/>
        </p:nvCxnSpPr>
        <p:spPr>
          <a:xfrm>
            <a:off x="4931310" y="5254761"/>
            <a:ext cx="2016232" cy="7057"/>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BDD11F87-DA81-9510-C1CB-0AF4093562CB}"/>
              </a:ext>
            </a:extLst>
          </p:cNvPr>
          <p:cNvSpPr/>
          <p:nvPr/>
        </p:nvSpPr>
        <p:spPr>
          <a:xfrm rot="5400000">
            <a:off x="7955646" y="20342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20" idx="5"/>
            <a:endCxn id="7" idx="1"/>
          </p:cNvCxnSpPr>
          <p:nvPr/>
        </p:nvCxnSpPr>
        <p:spPr>
          <a:xfrm flipH="1">
            <a:off x="7070454" y="2157194"/>
            <a:ext cx="906280" cy="90861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28" name="Arc 27"/>
          <p:cNvSpPr/>
          <p:nvPr/>
        </p:nvSpPr>
        <p:spPr>
          <a:xfrm rot="3337239">
            <a:off x="4694398" y="2560405"/>
            <a:ext cx="862405" cy="1475572"/>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p:cNvSpPr txBox="1"/>
          <p:nvPr/>
        </p:nvSpPr>
        <p:spPr>
          <a:xfrm>
            <a:off x="5756401" y="2647995"/>
            <a:ext cx="332142" cy="461665"/>
          </a:xfrm>
          <a:prstGeom prst="rect">
            <a:avLst/>
          </a:prstGeom>
          <a:noFill/>
        </p:spPr>
        <p:txBody>
          <a:bodyPr wrap="none" rtlCol="0">
            <a:spAutoFit/>
          </a:bodyPr>
          <a:lstStyle/>
          <a:p>
            <a:r>
              <a:rPr lang="en-US" sz="2400" dirty="0">
                <a:solidFill>
                  <a:srgbClr val="D10233"/>
                </a:solidFill>
              </a:rPr>
              <a:t>a</a:t>
            </a:r>
          </a:p>
        </p:txBody>
      </p:sp>
      <p:sp>
        <p:nvSpPr>
          <p:cNvPr id="41" name="TextBox 40"/>
          <p:cNvSpPr txBox="1"/>
          <p:nvPr/>
        </p:nvSpPr>
        <p:spPr>
          <a:xfrm>
            <a:off x="5360853" y="3235188"/>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42" name="TextBox 41"/>
          <p:cNvSpPr txBox="1"/>
          <p:nvPr/>
        </p:nvSpPr>
        <p:spPr>
          <a:xfrm>
            <a:off x="6048311" y="3431029"/>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43" name="TextBox 42"/>
          <p:cNvSpPr txBox="1"/>
          <p:nvPr/>
        </p:nvSpPr>
        <p:spPr>
          <a:xfrm>
            <a:off x="6055838" y="4489639"/>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44" name="TextBox 43"/>
          <p:cNvSpPr txBox="1"/>
          <p:nvPr/>
        </p:nvSpPr>
        <p:spPr>
          <a:xfrm>
            <a:off x="5290859" y="4231147"/>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45" name="TextBox 44"/>
          <p:cNvSpPr txBox="1"/>
          <p:nvPr/>
        </p:nvSpPr>
        <p:spPr>
          <a:xfrm>
            <a:off x="5643281" y="5326761"/>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46" name="TextBox 45"/>
          <p:cNvSpPr txBox="1"/>
          <p:nvPr/>
        </p:nvSpPr>
        <p:spPr>
          <a:xfrm>
            <a:off x="4504860" y="3962061"/>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47" name="TextBox 46"/>
          <p:cNvSpPr txBox="1"/>
          <p:nvPr/>
        </p:nvSpPr>
        <p:spPr>
          <a:xfrm>
            <a:off x="7019542" y="3969613"/>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48" name="TextBox 47"/>
          <p:cNvSpPr txBox="1"/>
          <p:nvPr/>
        </p:nvSpPr>
        <p:spPr>
          <a:xfrm>
            <a:off x="7513735" y="2575995"/>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p:sp>
        <p:nvSpPr>
          <p:cNvPr id="32" name="Arc 31"/>
          <p:cNvSpPr/>
          <p:nvPr/>
        </p:nvSpPr>
        <p:spPr>
          <a:xfrm rot="9011835">
            <a:off x="6584212" y="2489242"/>
            <a:ext cx="862405" cy="1475572"/>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Rectangle 3"/>
          <p:cNvSpPr/>
          <p:nvPr/>
        </p:nvSpPr>
        <p:spPr>
          <a:xfrm>
            <a:off x="3217948" y="5723823"/>
            <a:ext cx="6595075" cy="461665"/>
          </a:xfrm>
          <a:prstGeom prst="rect">
            <a:avLst/>
          </a:prstGeom>
        </p:spPr>
        <p:txBody>
          <a:bodyPr wrap="none">
            <a:spAutoFit/>
          </a:bodyPr>
          <a:lstStyle/>
          <a:p>
            <a:r>
              <a:rPr lang="en-US" sz="2400" dirty="0">
                <a:solidFill>
                  <a:srgbClr val="002060"/>
                </a:solidFill>
              </a:rPr>
              <a:t>Consider a graph with a </a:t>
            </a:r>
            <a:r>
              <a:rPr lang="en-US" sz="2400" b="1" dirty="0">
                <a:solidFill>
                  <a:srgbClr val="002060"/>
                </a:solidFill>
              </a:rPr>
              <a:t>spanning tree (green edges)</a:t>
            </a:r>
            <a:endParaRPr lang="en-US" sz="2400" dirty="0">
              <a:solidFill>
                <a:srgbClr val="002060"/>
              </a:solidFill>
            </a:endParaRPr>
          </a:p>
        </p:txBody>
      </p:sp>
      <mc:AlternateContent xmlns:mc="http://schemas.openxmlformats.org/markup-compatibility/2006" xmlns:a14="http://schemas.microsoft.com/office/drawing/2010/main">
        <mc:Choice Requires="a14">
          <p:sp>
            <p:nvSpPr>
              <p:cNvPr id="34" name="Rectangle 33"/>
              <p:cNvSpPr/>
              <p:nvPr/>
            </p:nvSpPr>
            <p:spPr>
              <a:xfrm>
                <a:off x="464025" y="2693970"/>
                <a:ext cx="3376098" cy="224676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lgn="ctr"/>
                <a:r>
                  <a:rPr lang="en-US" sz="2800" dirty="0">
                    <a:solidFill>
                      <a:srgbClr val="002060"/>
                    </a:solidFill>
                  </a:rPr>
                  <a:t>Cut-set </a:t>
                </a:r>
                <a14:m>
                  <m:oMath xmlns:m="http://schemas.openxmlformats.org/officeDocument/2006/math">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g</m:t>
                        </m:r>
                      </m:e>
                    </m:d>
                  </m:oMath>
                </a14:m>
                <a:r>
                  <a:rPr lang="en-US" sz="2800" dirty="0">
                    <a:solidFill>
                      <a:srgbClr val="002060"/>
                    </a:solidFill>
                  </a:rPr>
                  <a:t> is </a:t>
                </a:r>
              </a:p>
              <a:p>
                <a:pPr lvl="0" algn="ctr"/>
                <a:r>
                  <a:rPr lang="en-US" sz="2800" dirty="0">
                    <a:solidFill>
                      <a:srgbClr val="002060"/>
                    </a:solidFill>
                  </a:rPr>
                  <a:t>a </a:t>
                </a:r>
                <a:r>
                  <a:rPr lang="en-US" sz="2800" dirty="0">
                    <a:solidFill>
                      <a:srgbClr val="C00000"/>
                    </a:solidFill>
                  </a:rPr>
                  <a:t>fundamental cut-set </a:t>
                </a:r>
                <a:r>
                  <a:rPr lang="en-US" sz="2800" dirty="0">
                    <a:solidFill>
                      <a:srgbClr val="002060"/>
                    </a:solidFill>
                  </a:rPr>
                  <a:t>( As it contains only one branch of spanning tree)</a:t>
                </a:r>
              </a:p>
            </p:txBody>
          </p:sp>
        </mc:Choice>
        <mc:Fallback xmlns="">
          <p:sp>
            <p:nvSpPr>
              <p:cNvPr id="34" name="Rectangle 33"/>
              <p:cNvSpPr>
                <a:spLocks noRot="1" noChangeAspect="1" noMove="1" noResize="1" noEditPoints="1" noAdjustHandles="1" noChangeArrowheads="1" noChangeShapeType="1" noTextEdit="1"/>
              </p:cNvSpPr>
              <p:nvPr/>
            </p:nvSpPr>
            <p:spPr>
              <a:xfrm>
                <a:off x="464025" y="2693970"/>
                <a:ext cx="3376098" cy="2246769"/>
              </a:xfrm>
              <a:prstGeom prst="rect">
                <a:avLst/>
              </a:prstGeom>
              <a:blipFill rotWithShape="0">
                <a:blip r:embed="rId3"/>
                <a:stretch>
                  <a:fillRect l="-1259" t="-2703" r="-4137" b="-64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p:cNvSpPr/>
              <p:nvPr/>
            </p:nvSpPr>
            <p:spPr>
              <a:xfrm>
                <a:off x="8519897" y="2697361"/>
                <a:ext cx="3353655" cy="2246769"/>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lgn="ctr"/>
                <a:r>
                  <a:rPr lang="en-US" sz="2800" dirty="0">
                    <a:solidFill>
                      <a:srgbClr val="002060"/>
                    </a:solidFill>
                  </a:rPr>
                  <a:t>Cut-set </a:t>
                </a:r>
                <a14:m>
                  <m:oMath xmlns:m="http://schemas.openxmlformats.org/officeDocument/2006/math">
                    <m:d>
                      <m:dPr>
                        <m:begChr m:val="{"/>
                        <m:endChr m:val="}"/>
                        <m:ctrlPr>
                          <a:rPr lang="en-US" sz="2800" b="0" i="1" smtClean="0">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a</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c</m:t>
                        </m:r>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h</m:t>
                        </m:r>
                      </m:e>
                    </m:d>
                  </m:oMath>
                </a14:m>
                <a:r>
                  <a:rPr lang="en-US" sz="2800" dirty="0">
                    <a:solidFill>
                      <a:srgbClr val="002060"/>
                    </a:solidFill>
                  </a:rPr>
                  <a:t> is not a </a:t>
                </a:r>
                <a:r>
                  <a:rPr lang="en-US" sz="2800" dirty="0">
                    <a:solidFill>
                      <a:srgbClr val="C00000"/>
                    </a:solidFill>
                  </a:rPr>
                  <a:t>fundamental cut-set </a:t>
                </a:r>
              </a:p>
              <a:p>
                <a:pPr algn="ctr"/>
                <a:r>
                  <a:rPr lang="en-US" sz="2800" dirty="0">
                    <a:solidFill>
                      <a:srgbClr val="002060"/>
                    </a:solidFill>
                  </a:rPr>
                  <a:t>( As it contains two branches of spanning tree)</a:t>
                </a:r>
              </a:p>
            </p:txBody>
          </p:sp>
        </mc:Choice>
        <mc:Fallback xmlns="">
          <p:sp>
            <p:nvSpPr>
              <p:cNvPr id="35" name="Rectangle 34"/>
              <p:cNvSpPr>
                <a:spLocks noRot="1" noChangeAspect="1" noMove="1" noResize="1" noEditPoints="1" noAdjustHandles="1" noChangeArrowheads="1" noChangeShapeType="1" noTextEdit="1"/>
              </p:cNvSpPr>
              <p:nvPr/>
            </p:nvSpPr>
            <p:spPr>
              <a:xfrm>
                <a:off x="8519897" y="2697361"/>
                <a:ext cx="3353655" cy="2246769"/>
              </a:xfrm>
              <a:prstGeom prst="rect">
                <a:avLst/>
              </a:prstGeom>
              <a:blipFill rotWithShape="0">
                <a:blip r:embed="rId4"/>
                <a:stretch>
                  <a:fillRect l="-1812" t="-2426" r="-4348" b="-6199"/>
                </a:stretch>
              </a:blipFill>
            </p:spPr>
            <p:txBody>
              <a:bodyPr/>
              <a:lstStyle/>
              <a:p>
                <a:r>
                  <a:rPr lang="en-US">
                    <a:noFill/>
                  </a:rPr>
                  <a:t> </a:t>
                </a:r>
              </a:p>
            </p:txBody>
          </p:sp>
        </mc:Fallback>
      </mc:AlternateContent>
    </p:spTree>
    <p:extLst>
      <p:ext uri="{BB962C8B-B14F-4D97-AF65-F5344CB8AC3E}">
        <p14:creationId xmlns:p14="http://schemas.microsoft.com/office/powerpoint/2010/main" val="2838578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wipe(up)">
                                      <p:cBhvr>
                                        <p:cTn id="63" dur="500"/>
                                        <p:tgtEl>
                                          <p:spTgt spid="28"/>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wipe(up)">
                                      <p:cBhvr>
                                        <p:cTn id="72" dur="500"/>
                                        <p:tgtEl>
                                          <p:spTgt spid="32"/>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20" grpId="0" animBg="1"/>
      <p:bldP spid="28" grpId="0" animBg="1"/>
      <p:bldP spid="40" grpId="0"/>
      <p:bldP spid="41" grpId="0"/>
      <p:bldP spid="42" grpId="0"/>
      <p:bldP spid="43" grpId="0"/>
      <p:bldP spid="44" grpId="0"/>
      <p:bldP spid="45" grpId="0"/>
      <p:bldP spid="46" grpId="0"/>
      <p:bldP spid="47" grpId="0"/>
      <p:bldP spid="48" grpId="0"/>
      <p:bldP spid="32" grpId="0" animBg="1"/>
      <p:bldP spid="4" grpId="0"/>
      <p:bldP spid="34" grpId="0" animBg="1"/>
      <p:bldP spid="3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FAF84-C9CC-1484-135E-D8F4ED3742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2B677-7E33-B3C7-6CC6-C6CA8E1205FC}"/>
              </a:ext>
            </a:extLst>
          </p:cNvPr>
          <p:cNvSpPr>
            <a:spLocks noGrp="1"/>
          </p:cNvSpPr>
          <p:nvPr>
            <p:ph type="title"/>
          </p:nvPr>
        </p:nvSpPr>
        <p:spPr/>
        <p:txBody>
          <a:bodyPr/>
          <a:lstStyle/>
          <a:p>
            <a:r>
              <a:rPr lang="en-US" dirty="0"/>
              <a:t>Fundamental cut-set</a:t>
            </a:r>
          </a:p>
        </p:txBody>
      </p:sp>
      <p:sp>
        <p:nvSpPr>
          <p:cNvPr id="6" name="Oval 5">
            <a:extLst>
              <a:ext uri="{FF2B5EF4-FFF2-40B4-BE49-F238E27FC236}">
                <a16:creationId xmlns:a16="http://schemas.microsoft.com/office/drawing/2014/main" id="{C8EA2823-7ABC-6C10-DF72-BF6519F80953}"/>
              </a:ext>
            </a:extLst>
          </p:cNvPr>
          <p:cNvSpPr/>
          <p:nvPr/>
        </p:nvSpPr>
        <p:spPr>
          <a:xfrm rot="5400000">
            <a:off x="1686432" y="267279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65386F01-7E03-2DA2-7252-DFD406A9014D}"/>
              </a:ext>
            </a:extLst>
          </p:cNvPr>
          <p:cNvSpPr/>
          <p:nvPr/>
        </p:nvSpPr>
        <p:spPr>
          <a:xfrm rot="5400000">
            <a:off x="3846664" y="26798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E727B11-3C59-55EB-D016-F8B949CE5606}"/>
              </a:ext>
            </a:extLst>
          </p:cNvPr>
          <p:cNvSpPr/>
          <p:nvPr/>
        </p:nvSpPr>
        <p:spPr>
          <a:xfrm rot="5400000">
            <a:off x="1686432" y="48178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5AEE704E-DA0A-B205-6DCB-CABE436DB361}"/>
              </a:ext>
            </a:extLst>
          </p:cNvPr>
          <p:cNvSpPr/>
          <p:nvPr/>
        </p:nvSpPr>
        <p:spPr>
          <a:xfrm rot="5400000">
            <a:off x="3846664" y="48249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791B9B49-2DA5-B207-B589-9999BA65D00C}"/>
              </a:ext>
            </a:extLst>
          </p:cNvPr>
          <p:cNvSpPr/>
          <p:nvPr/>
        </p:nvSpPr>
        <p:spPr>
          <a:xfrm rot="5400000">
            <a:off x="2838552" y="37274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32C5D3CA-1D1E-F081-CA3B-337114FA93B4}"/>
              </a:ext>
            </a:extLst>
          </p:cNvPr>
          <p:cNvCxnSpPr>
            <a:cxnSpLocks/>
            <a:stCxn id="11" idx="3"/>
            <a:endCxn id="6" idx="7"/>
          </p:cNvCxnSpPr>
          <p:nvPr/>
        </p:nvCxnSpPr>
        <p:spPr>
          <a:xfrm flipH="1" flipV="1">
            <a:off x="1809344" y="2795706"/>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78A5EC43-BC99-1FE1-6EFF-729D87C560DE}"/>
              </a:ext>
            </a:extLst>
          </p:cNvPr>
          <p:cNvCxnSpPr>
            <a:cxnSpLocks/>
            <a:stCxn id="9" idx="3"/>
            <a:endCxn id="11" idx="7"/>
          </p:cNvCxnSpPr>
          <p:nvPr/>
        </p:nvCxnSpPr>
        <p:spPr>
          <a:xfrm flipH="1" flipV="1">
            <a:off x="2961464" y="3850370"/>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4899A3BF-8EFD-82C5-3E53-BF8B7F1CEC9E}"/>
              </a:ext>
            </a:extLst>
          </p:cNvPr>
          <p:cNvCxnSpPr>
            <a:cxnSpLocks/>
            <a:stCxn id="11" idx="5"/>
            <a:endCxn id="8" idx="1"/>
          </p:cNvCxnSpPr>
          <p:nvPr/>
        </p:nvCxnSpPr>
        <p:spPr>
          <a:xfrm flipH="1">
            <a:off x="1809344" y="3850370"/>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00AC7037-EA5E-7CDB-58DC-3576DEDCEAEA}"/>
              </a:ext>
            </a:extLst>
          </p:cNvPr>
          <p:cNvCxnSpPr>
            <a:cxnSpLocks/>
            <a:stCxn id="7" idx="5"/>
            <a:endCxn id="11" idx="1"/>
          </p:cNvCxnSpPr>
          <p:nvPr/>
        </p:nvCxnSpPr>
        <p:spPr>
          <a:xfrm flipH="1">
            <a:off x="2961464" y="2802763"/>
            <a:ext cx="906288" cy="945783"/>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098C0066-2720-0FAE-46AF-F833367304A7}"/>
              </a:ext>
            </a:extLst>
          </p:cNvPr>
          <p:cNvCxnSpPr>
            <a:cxnSpLocks/>
            <a:stCxn id="8" idx="2"/>
            <a:endCxn id="6" idx="6"/>
          </p:cNvCxnSpPr>
          <p:nvPr/>
        </p:nvCxnSpPr>
        <p:spPr>
          <a:xfrm flipV="1">
            <a:off x="1758432" y="2816794"/>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5287C8CB-CDB2-39EC-BDB8-D9E5B8E5C3BE}"/>
              </a:ext>
            </a:extLst>
          </p:cNvPr>
          <p:cNvCxnSpPr>
            <a:cxnSpLocks/>
            <a:stCxn id="9" idx="2"/>
            <a:endCxn id="7" idx="6"/>
          </p:cNvCxnSpPr>
          <p:nvPr/>
        </p:nvCxnSpPr>
        <p:spPr>
          <a:xfrm flipV="1">
            <a:off x="3918664" y="2823851"/>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8B2CD2D3-03AC-8E5A-6FCE-8A5C87082253}"/>
              </a:ext>
            </a:extLst>
          </p:cNvPr>
          <p:cNvCxnSpPr>
            <a:cxnSpLocks/>
            <a:stCxn id="6" idx="0"/>
            <a:endCxn id="7" idx="4"/>
          </p:cNvCxnSpPr>
          <p:nvPr/>
        </p:nvCxnSpPr>
        <p:spPr>
          <a:xfrm>
            <a:off x="1830432" y="2744794"/>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6733A197-BAA7-1744-5180-73008F47E095}"/>
              </a:ext>
            </a:extLst>
          </p:cNvPr>
          <p:cNvCxnSpPr>
            <a:cxnSpLocks/>
            <a:stCxn id="8" idx="0"/>
            <a:endCxn id="9" idx="4"/>
          </p:cNvCxnSpPr>
          <p:nvPr/>
        </p:nvCxnSpPr>
        <p:spPr>
          <a:xfrm>
            <a:off x="1830432" y="4889895"/>
            <a:ext cx="2016232" cy="7057"/>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46A33A70-E2E4-1B6E-C57C-2650DD4E0621}"/>
              </a:ext>
            </a:extLst>
          </p:cNvPr>
          <p:cNvSpPr/>
          <p:nvPr/>
        </p:nvSpPr>
        <p:spPr>
          <a:xfrm rot="5400000">
            <a:off x="4854768" y="16694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5390EFA1-5AB6-4C41-93B8-A7250A28B562}"/>
              </a:ext>
            </a:extLst>
          </p:cNvPr>
          <p:cNvCxnSpPr>
            <a:cxnSpLocks/>
            <a:stCxn id="20" idx="5"/>
            <a:endCxn id="7" idx="1"/>
          </p:cNvCxnSpPr>
          <p:nvPr/>
        </p:nvCxnSpPr>
        <p:spPr>
          <a:xfrm flipH="1">
            <a:off x="3969576" y="1792328"/>
            <a:ext cx="906280" cy="90861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28" name="Arc 27">
            <a:extLst>
              <a:ext uri="{FF2B5EF4-FFF2-40B4-BE49-F238E27FC236}">
                <a16:creationId xmlns:a16="http://schemas.microsoft.com/office/drawing/2014/main" id="{E7D129BC-3753-E604-4664-8896E1B613E6}"/>
              </a:ext>
            </a:extLst>
          </p:cNvPr>
          <p:cNvSpPr/>
          <p:nvPr/>
        </p:nvSpPr>
        <p:spPr>
          <a:xfrm rot="3337239">
            <a:off x="1593520" y="2195539"/>
            <a:ext cx="862405" cy="1475572"/>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FBA5CAC8-56E1-512F-4452-0A943BD2EB11}"/>
              </a:ext>
            </a:extLst>
          </p:cNvPr>
          <p:cNvSpPr txBox="1"/>
          <p:nvPr/>
        </p:nvSpPr>
        <p:spPr>
          <a:xfrm>
            <a:off x="2655523" y="2283129"/>
            <a:ext cx="332142" cy="461665"/>
          </a:xfrm>
          <a:prstGeom prst="rect">
            <a:avLst/>
          </a:prstGeom>
          <a:noFill/>
        </p:spPr>
        <p:txBody>
          <a:bodyPr wrap="none" rtlCol="0">
            <a:spAutoFit/>
          </a:bodyPr>
          <a:lstStyle/>
          <a:p>
            <a:r>
              <a:rPr lang="en-US" sz="2400" dirty="0">
                <a:solidFill>
                  <a:srgbClr val="D10233"/>
                </a:solidFill>
              </a:rPr>
              <a:t>a</a:t>
            </a:r>
          </a:p>
        </p:txBody>
      </p:sp>
      <p:sp>
        <p:nvSpPr>
          <p:cNvPr id="41" name="TextBox 40">
            <a:extLst>
              <a:ext uri="{FF2B5EF4-FFF2-40B4-BE49-F238E27FC236}">
                <a16:creationId xmlns:a16="http://schemas.microsoft.com/office/drawing/2014/main" id="{B4E03AEC-8F3D-0EFA-7046-06446475024A}"/>
              </a:ext>
            </a:extLst>
          </p:cNvPr>
          <p:cNvSpPr txBox="1"/>
          <p:nvPr/>
        </p:nvSpPr>
        <p:spPr>
          <a:xfrm>
            <a:off x="2259975" y="2870322"/>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42" name="TextBox 41">
            <a:extLst>
              <a:ext uri="{FF2B5EF4-FFF2-40B4-BE49-F238E27FC236}">
                <a16:creationId xmlns:a16="http://schemas.microsoft.com/office/drawing/2014/main" id="{AA38DA19-881D-A084-9DD8-9606ED2120E4}"/>
              </a:ext>
            </a:extLst>
          </p:cNvPr>
          <p:cNvSpPr txBox="1"/>
          <p:nvPr/>
        </p:nvSpPr>
        <p:spPr>
          <a:xfrm>
            <a:off x="2947433" y="3066163"/>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43" name="TextBox 42">
            <a:extLst>
              <a:ext uri="{FF2B5EF4-FFF2-40B4-BE49-F238E27FC236}">
                <a16:creationId xmlns:a16="http://schemas.microsoft.com/office/drawing/2014/main" id="{F1C94604-01E5-0D3A-3082-4DED18F45EF7}"/>
              </a:ext>
            </a:extLst>
          </p:cNvPr>
          <p:cNvSpPr txBox="1"/>
          <p:nvPr/>
        </p:nvSpPr>
        <p:spPr>
          <a:xfrm>
            <a:off x="2954960" y="4124773"/>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44" name="TextBox 43">
            <a:extLst>
              <a:ext uri="{FF2B5EF4-FFF2-40B4-BE49-F238E27FC236}">
                <a16:creationId xmlns:a16="http://schemas.microsoft.com/office/drawing/2014/main" id="{E7C48C1F-5612-557E-A957-34412BE61F2B}"/>
              </a:ext>
            </a:extLst>
          </p:cNvPr>
          <p:cNvSpPr txBox="1"/>
          <p:nvPr/>
        </p:nvSpPr>
        <p:spPr>
          <a:xfrm>
            <a:off x="2189981" y="3866281"/>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45" name="TextBox 44">
            <a:extLst>
              <a:ext uri="{FF2B5EF4-FFF2-40B4-BE49-F238E27FC236}">
                <a16:creationId xmlns:a16="http://schemas.microsoft.com/office/drawing/2014/main" id="{8161EDCB-1F2D-7BC0-8117-4FB768D89D4D}"/>
              </a:ext>
            </a:extLst>
          </p:cNvPr>
          <p:cNvSpPr txBox="1"/>
          <p:nvPr/>
        </p:nvSpPr>
        <p:spPr>
          <a:xfrm>
            <a:off x="2542403" y="4961895"/>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46" name="TextBox 45">
            <a:extLst>
              <a:ext uri="{FF2B5EF4-FFF2-40B4-BE49-F238E27FC236}">
                <a16:creationId xmlns:a16="http://schemas.microsoft.com/office/drawing/2014/main" id="{ABBA4EDB-5C65-BE1A-DCF9-6DC581305D81}"/>
              </a:ext>
            </a:extLst>
          </p:cNvPr>
          <p:cNvSpPr txBox="1"/>
          <p:nvPr/>
        </p:nvSpPr>
        <p:spPr>
          <a:xfrm>
            <a:off x="1403982" y="3597195"/>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47" name="TextBox 46">
            <a:extLst>
              <a:ext uri="{FF2B5EF4-FFF2-40B4-BE49-F238E27FC236}">
                <a16:creationId xmlns:a16="http://schemas.microsoft.com/office/drawing/2014/main" id="{66D79DD4-596C-3F12-E896-8FE726DE2B26}"/>
              </a:ext>
            </a:extLst>
          </p:cNvPr>
          <p:cNvSpPr txBox="1"/>
          <p:nvPr/>
        </p:nvSpPr>
        <p:spPr>
          <a:xfrm>
            <a:off x="3918664" y="3604747"/>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48" name="TextBox 47">
            <a:extLst>
              <a:ext uri="{FF2B5EF4-FFF2-40B4-BE49-F238E27FC236}">
                <a16:creationId xmlns:a16="http://schemas.microsoft.com/office/drawing/2014/main" id="{0D5CBC46-00E1-AB46-C954-B46B6CD1EAD1}"/>
              </a:ext>
            </a:extLst>
          </p:cNvPr>
          <p:cNvSpPr txBox="1"/>
          <p:nvPr/>
        </p:nvSpPr>
        <p:spPr>
          <a:xfrm>
            <a:off x="4412857" y="2211129"/>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p:sp>
        <p:nvSpPr>
          <p:cNvPr id="34" name="Rectangle 33">
            <a:extLst>
              <a:ext uri="{FF2B5EF4-FFF2-40B4-BE49-F238E27FC236}">
                <a16:creationId xmlns:a16="http://schemas.microsoft.com/office/drawing/2014/main" id="{6E9EEFF2-44CF-EA04-E4D9-D1D86153D9DE}"/>
              </a:ext>
            </a:extLst>
          </p:cNvPr>
          <p:cNvSpPr/>
          <p:nvPr/>
        </p:nvSpPr>
        <p:spPr>
          <a:xfrm>
            <a:off x="146930" y="808760"/>
            <a:ext cx="11594495" cy="52322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lgn="ctr"/>
            <a:r>
              <a:rPr lang="en-US" sz="2800" dirty="0">
                <a:solidFill>
                  <a:srgbClr val="002060"/>
                </a:solidFill>
              </a:rPr>
              <a:t>As Spanning tree have 5 branches we get 5 fundamental cut set .</a:t>
            </a:r>
          </a:p>
        </p:txBody>
      </p:sp>
      <p:sp>
        <p:nvSpPr>
          <p:cNvPr id="24" name="Oval 23">
            <a:extLst>
              <a:ext uri="{FF2B5EF4-FFF2-40B4-BE49-F238E27FC236}">
                <a16:creationId xmlns:a16="http://schemas.microsoft.com/office/drawing/2014/main" id="{7D2ECCF7-2763-69B1-816D-9861BC93C1B1}"/>
              </a:ext>
            </a:extLst>
          </p:cNvPr>
          <p:cNvSpPr/>
          <p:nvPr/>
        </p:nvSpPr>
        <p:spPr>
          <a:xfrm rot="5400000">
            <a:off x="6498617" y="27518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5" name="Oval 24">
            <a:extLst>
              <a:ext uri="{FF2B5EF4-FFF2-40B4-BE49-F238E27FC236}">
                <a16:creationId xmlns:a16="http://schemas.microsoft.com/office/drawing/2014/main" id="{0555068C-C755-15F7-4CAD-834F92031F98}"/>
              </a:ext>
            </a:extLst>
          </p:cNvPr>
          <p:cNvSpPr/>
          <p:nvPr/>
        </p:nvSpPr>
        <p:spPr>
          <a:xfrm rot="5400000">
            <a:off x="8658849" y="27589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6" name="Oval 25">
            <a:extLst>
              <a:ext uri="{FF2B5EF4-FFF2-40B4-BE49-F238E27FC236}">
                <a16:creationId xmlns:a16="http://schemas.microsoft.com/office/drawing/2014/main" id="{8B9DCF8B-60E3-674A-E20B-FEF164D4B0DF}"/>
              </a:ext>
            </a:extLst>
          </p:cNvPr>
          <p:cNvSpPr/>
          <p:nvPr/>
        </p:nvSpPr>
        <p:spPr>
          <a:xfrm rot="5400000">
            <a:off x="6498617" y="48969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 name="Oval 26">
            <a:extLst>
              <a:ext uri="{FF2B5EF4-FFF2-40B4-BE49-F238E27FC236}">
                <a16:creationId xmlns:a16="http://schemas.microsoft.com/office/drawing/2014/main" id="{BFE77DAB-AAF5-865A-A96B-1DF08FD0471A}"/>
              </a:ext>
            </a:extLst>
          </p:cNvPr>
          <p:cNvSpPr/>
          <p:nvPr/>
        </p:nvSpPr>
        <p:spPr>
          <a:xfrm rot="5400000">
            <a:off x="8658849" y="49040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A70EC593-C7CC-EDEF-E97B-8F4C09BB6FFA}"/>
              </a:ext>
            </a:extLst>
          </p:cNvPr>
          <p:cNvSpPr/>
          <p:nvPr/>
        </p:nvSpPr>
        <p:spPr>
          <a:xfrm rot="5400000">
            <a:off x="7650737" y="380651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0" name="Straight Connector 29">
            <a:extLst>
              <a:ext uri="{FF2B5EF4-FFF2-40B4-BE49-F238E27FC236}">
                <a16:creationId xmlns:a16="http://schemas.microsoft.com/office/drawing/2014/main" id="{71E393A6-08E3-820D-F003-467423073742}"/>
              </a:ext>
            </a:extLst>
          </p:cNvPr>
          <p:cNvCxnSpPr>
            <a:cxnSpLocks/>
            <a:stCxn id="29" idx="3"/>
            <a:endCxn id="24" idx="7"/>
          </p:cNvCxnSpPr>
          <p:nvPr/>
        </p:nvCxnSpPr>
        <p:spPr>
          <a:xfrm flipH="1" flipV="1">
            <a:off x="6621529" y="2874763"/>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a:extLst>
              <a:ext uri="{FF2B5EF4-FFF2-40B4-BE49-F238E27FC236}">
                <a16:creationId xmlns:a16="http://schemas.microsoft.com/office/drawing/2014/main" id="{8E4E8664-8312-8C76-7A58-9E5F0AE138E6}"/>
              </a:ext>
            </a:extLst>
          </p:cNvPr>
          <p:cNvCxnSpPr>
            <a:cxnSpLocks/>
            <a:stCxn id="27" idx="3"/>
            <a:endCxn id="29" idx="7"/>
          </p:cNvCxnSpPr>
          <p:nvPr/>
        </p:nvCxnSpPr>
        <p:spPr>
          <a:xfrm flipH="1" flipV="1">
            <a:off x="7773649" y="3929427"/>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5466DDD4-7284-CFB5-67FB-C6DFEA9A9A0F}"/>
              </a:ext>
            </a:extLst>
          </p:cNvPr>
          <p:cNvCxnSpPr>
            <a:cxnSpLocks/>
            <a:stCxn id="29" idx="5"/>
            <a:endCxn id="26" idx="1"/>
          </p:cNvCxnSpPr>
          <p:nvPr/>
        </p:nvCxnSpPr>
        <p:spPr>
          <a:xfrm flipH="1">
            <a:off x="6621529" y="3929427"/>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8C5BC9DE-D24E-E450-EDCB-D205A38BB3E4}"/>
              </a:ext>
            </a:extLst>
          </p:cNvPr>
          <p:cNvCxnSpPr>
            <a:cxnSpLocks/>
            <a:stCxn id="25" idx="5"/>
            <a:endCxn id="29" idx="1"/>
          </p:cNvCxnSpPr>
          <p:nvPr/>
        </p:nvCxnSpPr>
        <p:spPr>
          <a:xfrm flipH="1">
            <a:off x="7773649" y="2881820"/>
            <a:ext cx="906288" cy="945783"/>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38E2095F-FE99-325B-03EC-7942046575DB}"/>
              </a:ext>
            </a:extLst>
          </p:cNvPr>
          <p:cNvCxnSpPr>
            <a:cxnSpLocks/>
            <a:stCxn id="26" idx="2"/>
            <a:endCxn id="24" idx="6"/>
          </p:cNvCxnSpPr>
          <p:nvPr/>
        </p:nvCxnSpPr>
        <p:spPr>
          <a:xfrm flipV="1">
            <a:off x="6570617" y="2895851"/>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5D50927F-A057-B511-C212-37A11ED5A2B4}"/>
              </a:ext>
            </a:extLst>
          </p:cNvPr>
          <p:cNvCxnSpPr>
            <a:cxnSpLocks/>
            <a:stCxn id="27" idx="2"/>
            <a:endCxn id="25" idx="6"/>
          </p:cNvCxnSpPr>
          <p:nvPr/>
        </p:nvCxnSpPr>
        <p:spPr>
          <a:xfrm flipV="1">
            <a:off x="8730849" y="2902908"/>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5A7C4017-F859-D081-6373-C378752A0620}"/>
              </a:ext>
            </a:extLst>
          </p:cNvPr>
          <p:cNvCxnSpPr>
            <a:cxnSpLocks/>
            <a:stCxn id="24" idx="0"/>
            <a:endCxn id="25" idx="4"/>
          </p:cNvCxnSpPr>
          <p:nvPr/>
        </p:nvCxnSpPr>
        <p:spPr>
          <a:xfrm>
            <a:off x="6642617" y="2823851"/>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0323F0B4-AE6D-BC62-0F51-CEE5706CAB52}"/>
              </a:ext>
            </a:extLst>
          </p:cNvPr>
          <p:cNvCxnSpPr>
            <a:cxnSpLocks/>
            <a:stCxn id="26" idx="0"/>
            <a:endCxn id="27" idx="4"/>
          </p:cNvCxnSpPr>
          <p:nvPr/>
        </p:nvCxnSpPr>
        <p:spPr>
          <a:xfrm>
            <a:off x="6642617" y="4968952"/>
            <a:ext cx="2016232" cy="7057"/>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50" name="Oval 49">
            <a:extLst>
              <a:ext uri="{FF2B5EF4-FFF2-40B4-BE49-F238E27FC236}">
                <a16:creationId xmlns:a16="http://schemas.microsoft.com/office/drawing/2014/main" id="{378171E1-E85C-9F79-6A3F-875DDABCB2CB}"/>
              </a:ext>
            </a:extLst>
          </p:cNvPr>
          <p:cNvSpPr/>
          <p:nvPr/>
        </p:nvSpPr>
        <p:spPr>
          <a:xfrm rot="5400000">
            <a:off x="9666953" y="174847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1" name="Straight Connector 50">
            <a:extLst>
              <a:ext uri="{FF2B5EF4-FFF2-40B4-BE49-F238E27FC236}">
                <a16:creationId xmlns:a16="http://schemas.microsoft.com/office/drawing/2014/main" id="{A4DC0B20-BDA2-19A0-8E56-BCC1FCA641F1}"/>
              </a:ext>
            </a:extLst>
          </p:cNvPr>
          <p:cNvCxnSpPr>
            <a:cxnSpLocks/>
            <a:stCxn id="50" idx="5"/>
            <a:endCxn id="25" idx="1"/>
          </p:cNvCxnSpPr>
          <p:nvPr/>
        </p:nvCxnSpPr>
        <p:spPr>
          <a:xfrm flipH="1">
            <a:off x="8781761" y="1871385"/>
            <a:ext cx="906280" cy="90861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52" name="Arc 51">
            <a:extLst>
              <a:ext uri="{FF2B5EF4-FFF2-40B4-BE49-F238E27FC236}">
                <a16:creationId xmlns:a16="http://schemas.microsoft.com/office/drawing/2014/main" id="{722FF024-6814-F6B5-0688-F01BD4DFA180}"/>
              </a:ext>
            </a:extLst>
          </p:cNvPr>
          <p:cNvSpPr/>
          <p:nvPr/>
        </p:nvSpPr>
        <p:spPr>
          <a:xfrm>
            <a:off x="6337753" y="2336566"/>
            <a:ext cx="862405" cy="3473806"/>
          </a:xfrm>
          <a:prstGeom prst="arc">
            <a:avLst>
              <a:gd name="adj1" fmla="val 16200000"/>
              <a:gd name="adj2" fmla="val 4656250"/>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TextBox 52">
            <a:extLst>
              <a:ext uri="{FF2B5EF4-FFF2-40B4-BE49-F238E27FC236}">
                <a16:creationId xmlns:a16="http://schemas.microsoft.com/office/drawing/2014/main" id="{9F43208C-A8F9-0664-27D9-557DD59408AA}"/>
              </a:ext>
            </a:extLst>
          </p:cNvPr>
          <p:cNvSpPr txBox="1"/>
          <p:nvPr/>
        </p:nvSpPr>
        <p:spPr>
          <a:xfrm>
            <a:off x="7467708" y="2362186"/>
            <a:ext cx="332142" cy="461665"/>
          </a:xfrm>
          <a:prstGeom prst="rect">
            <a:avLst/>
          </a:prstGeom>
          <a:noFill/>
        </p:spPr>
        <p:txBody>
          <a:bodyPr wrap="none" rtlCol="0">
            <a:spAutoFit/>
          </a:bodyPr>
          <a:lstStyle/>
          <a:p>
            <a:r>
              <a:rPr lang="en-US" sz="2400" dirty="0">
                <a:solidFill>
                  <a:srgbClr val="D10233"/>
                </a:solidFill>
              </a:rPr>
              <a:t>a</a:t>
            </a:r>
          </a:p>
        </p:txBody>
      </p:sp>
      <p:sp>
        <p:nvSpPr>
          <p:cNvPr id="54" name="TextBox 53">
            <a:extLst>
              <a:ext uri="{FF2B5EF4-FFF2-40B4-BE49-F238E27FC236}">
                <a16:creationId xmlns:a16="http://schemas.microsoft.com/office/drawing/2014/main" id="{A4394925-2EB5-A5F2-CAA6-630ECDFBDDF9}"/>
              </a:ext>
            </a:extLst>
          </p:cNvPr>
          <p:cNvSpPr txBox="1"/>
          <p:nvPr/>
        </p:nvSpPr>
        <p:spPr>
          <a:xfrm>
            <a:off x="7072160" y="2949379"/>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55" name="TextBox 54">
            <a:extLst>
              <a:ext uri="{FF2B5EF4-FFF2-40B4-BE49-F238E27FC236}">
                <a16:creationId xmlns:a16="http://schemas.microsoft.com/office/drawing/2014/main" id="{887A2CD8-A7AA-3F5D-7F29-42861E8928D0}"/>
              </a:ext>
            </a:extLst>
          </p:cNvPr>
          <p:cNvSpPr txBox="1"/>
          <p:nvPr/>
        </p:nvSpPr>
        <p:spPr>
          <a:xfrm>
            <a:off x="7759618" y="3145220"/>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56" name="TextBox 55">
            <a:extLst>
              <a:ext uri="{FF2B5EF4-FFF2-40B4-BE49-F238E27FC236}">
                <a16:creationId xmlns:a16="http://schemas.microsoft.com/office/drawing/2014/main" id="{7081B203-4A59-FCE6-B9A4-9840FD3AC3B2}"/>
              </a:ext>
            </a:extLst>
          </p:cNvPr>
          <p:cNvSpPr txBox="1"/>
          <p:nvPr/>
        </p:nvSpPr>
        <p:spPr>
          <a:xfrm>
            <a:off x="7767145" y="4203830"/>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57" name="TextBox 56">
            <a:extLst>
              <a:ext uri="{FF2B5EF4-FFF2-40B4-BE49-F238E27FC236}">
                <a16:creationId xmlns:a16="http://schemas.microsoft.com/office/drawing/2014/main" id="{0BBD68B4-40B4-458B-0437-C532DAA73F57}"/>
              </a:ext>
            </a:extLst>
          </p:cNvPr>
          <p:cNvSpPr txBox="1"/>
          <p:nvPr/>
        </p:nvSpPr>
        <p:spPr>
          <a:xfrm>
            <a:off x="7002166" y="3945338"/>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58" name="TextBox 57">
            <a:extLst>
              <a:ext uri="{FF2B5EF4-FFF2-40B4-BE49-F238E27FC236}">
                <a16:creationId xmlns:a16="http://schemas.microsoft.com/office/drawing/2014/main" id="{A1AF5532-FE16-9BE1-35DB-9C881A33F90C}"/>
              </a:ext>
            </a:extLst>
          </p:cNvPr>
          <p:cNvSpPr txBox="1"/>
          <p:nvPr/>
        </p:nvSpPr>
        <p:spPr>
          <a:xfrm>
            <a:off x="7354588" y="5040952"/>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59" name="TextBox 58">
            <a:extLst>
              <a:ext uri="{FF2B5EF4-FFF2-40B4-BE49-F238E27FC236}">
                <a16:creationId xmlns:a16="http://schemas.microsoft.com/office/drawing/2014/main" id="{5C91C02F-6633-0781-716B-7060839C4CD3}"/>
              </a:ext>
            </a:extLst>
          </p:cNvPr>
          <p:cNvSpPr txBox="1"/>
          <p:nvPr/>
        </p:nvSpPr>
        <p:spPr>
          <a:xfrm>
            <a:off x="6216167" y="3676252"/>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60" name="TextBox 59">
            <a:extLst>
              <a:ext uri="{FF2B5EF4-FFF2-40B4-BE49-F238E27FC236}">
                <a16:creationId xmlns:a16="http://schemas.microsoft.com/office/drawing/2014/main" id="{391BB24F-C1B6-923E-2E31-69D68472A728}"/>
              </a:ext>
            </a:extLst>
          </p:cNvPr>
          <p:cNvSpPr txBox="1"/>
          <p:nvPr/>
        </p:nvSpPr>
        <p:spPr>
          <a:xfrm>
            <a:off x="8730849" y="3683804"/>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61" name="TextBox 60">
            <a:extLst>
              <a:ext uri="{FF2B5EF4-FFF2-40B4-BE49-F238E27FC236}">
                <a16:creationId xmlns:a16="http://schemas.microsoft.com/office/drawing/2014/main" id="{256E1EDA-78C4-EC9F-84C9-2D1BE6BCFF30}"/>
              </a:ext>
            </a:extLst>
          </p:cNvPr>
          <p:cNvSpPr txBox="1"/>
          <p:nvPr/>
        </p:nvSpPr>
        <p:spPr>
          <a:xfrm>
            <a:off x="9225042" y="2290186"/>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124AD9E-2AE3-B2F4-1526-6D4730A3EE88}"/>
                  </a:ext>
                </a:extLst>
              </p:cNvPr>
              <p:cNvSpPr txBox="1"/>
              <p:nvPr/>
            </p:nvSpPr>
            <p:spPr>
              <a:xfrm>
                <a:off x="2307079" y="5392168"/>
                <a:ext cx="1065826" cy="523220"/>
              </a:xfrm>
              <a:prstGeom prst="rect">
                <a:avLst/>
              </a:prstGeom>
              <a:noFill/>
            </p:spPr>
            <p:txBody>
              <a:bodyPr wrap="square">
                <a:spAutoFit/>
              </a:bodyPr>
              <a:lstStyle/>
              <a:p>
                <a:pPr algn="ctr"/>
                <a14:m>
                  <m:oMath xmlns:m="http://schemas.openxmlformats.org/officeDocument/2006/math">
                    <m:d>
                      <m:dPr>
                        <m:begChr m:val="{"/>
                        <m:endChr m:val="}"/>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g</m:t>
                        </m:r>
                      </m:e>
                    </m:d>
                  </m:oMath>
                </a14:m>
                <a:r>
                  <a:rPr lang="en-US" sz="2800" dirty="0">
                    <a:solidFill>
                      <a:srgbClr val="002060"/>
                    </a:solidFill>
                    <a:latin typeface="Cambria Math" panose="02040503050406030204" pitchFamily="18" charset="0"/>
                  </a:rPr>
                  <a:t> </a:t>
                </a:r>
                <a:endParaRPr lang="en-IN" sz="2800" dirty="0">
                  <a:solidFill>
                    <a:srgbClr val="002060"/>
                  </a:solidFill>
                  <a:latin typeface="Cambria Math" panose="02040503050406030204" pitchFamily="18" charset="0"/>
                </a:endParaRPr>
              </a:p>
            </p:txBody>
          </p:sp>
        </mc:Choice>
        <mc:Fallback xmlns="">
          <p:sp>
            <p:nvSpPr>
              <p:cNvPr id="63" name="TextBox 62">
                <a:extLst>
                  <a:ext uri="{FF2B5EF4-FFF2-40B4-BE49-F238E27FC236}">
                    <a16:creationId xmlns:a16="http://schemas.microsoft.com/office/drawing/2014/main" id="{E124AD9E-2AE3-B2F4-1526-6D4730A3EE88}"/>
                  </a:ext>
                </a:extLst>
              </p:cNvPr>
              <p:cNvSpPr txBox="1">
                <a:spLocks noRot="1" noChangeAspect="1" noMove="1" noResize="1" noEditPoints="1" noAdjustHandles="1" noChangeArrowheads="1" noChangeShapeType="1" noTextEdit="1"/>
              </p:cNvSpPr>
              <p:nvPr/>
            </p:nvSpPr>
            <p:spPr>
              <a:xfrm>
                <a:off x="2307079" y="5392168"/>
                <a:ext cx="1065826"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438333EB-D926-3323-709E-F9F36439A53D}"/>
                  </a:ext>
                </a:extLst>
              </p:cNvPr>
              <p:cNvSpPr txBox="1"/>
              <p:nvPr/>
            </p:nvSpPr>
            <p:spPr>
              <a:xfrm>
                <a:off x="7166634" y="5386967"/>
                <a:ext cx="1065826" cy="523220"/>
              </a:xfrm>
              <a:prstGeom prst="rect">
                <a:avLst/>
              </a:prstGeom>
              <a:noFill/>
            </p:spPr>
            <p:txBody>
              <a:bodyPr wrap="square">
                <a:spAutoFit/>
              </a:bodyPr>
              <a:lstStyle/>
              <a:p>
                <a:pPr algn="ctr"/>
                <a14:m>
                  <m:oMath xmlns:m="http://schemas.openxmlformats.org/officeDocument/2006/math">
                    <m:d>
                      <m:dPr>
                        <m:begChr m:val="{"/>
                        <m:endChr m:val="}"/>
                        <m:ctrlPr>
                          <a:rPr lang="en-US" sz="2800" i="1" smtClean="0">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e</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f</m:t>
                        </m:r>
                      </m:e>
                    </m:d>
                  </m:oMath>
                </a14:m>
                <a:r>
                  <a:rPr lang="en-US" sz="2800" dirty="0">
                    <a:solidFill>
                      <a:srgbClr val="002060"/>
                    </a:solidFill>
                    <a:latin typeface="Cambria Math" panose="02040503050406030204" pitchFamily="18" charset="0"/>
                  </a:rPr>
                  <a:t> </a:t>
                </a:r>
                <a:endParaRPr lang="en-IN" sz="2800" dirty="0">
                  <a:solidFill>
                    <a:srgbClr val="002060"/>
                  </a:solidFill>
                  <a:latin typeface="Cambria Math" panose="02040503050406030204" pitchFamily="18" charset="0"/>
                </a:endParaRPr>
              </a:p>
            </p:txBody>
          </p:sp>
        </mc:Choice>
        <mc:Fallback xmlns="">
          <p:sp>
            <p:nvSpPr>
              <p:cNvPr id="64" name="TextBox 63">
                <a:extLst>
                  <a:ext uri="{FF2B5EF4-FFF2-40B4-BE49-F238E27FC236}">
                    <a16:creationId xmlns:a16="http://schemas.microsoft.com/office/drawing/2014/main" id="{438333EB-D926-3323-709E-F9F36439A53D}"/>
                  </a:ext>
                </a:extLst>
              </p:cNvPr>
              <p:cNvSpPr txBox="1">
                <a:spLocks noRot="1" noChangeAspect="1" noMove="1" noResize="1" noEditPoints="1" noAdjustHandles="1" noChangeArrowheads="1" noChangeShapeType="1" noTextEdit="1"/>
              </p:cNvSpPr>
              <p:nvPr/>
            </p:nvSpPr>
            <p:spPr>
              <a:xfrm>
                <a:off x="7166634" y="5386967"/>
                <a:ext cx="1065826" cy="523220"/>
              </a:xfrm>
              <a:prstGeom prst="rect">
                <a:avLst/>
              </a:prstGeom>
              <a:blipFill>
                <a:blip r:embed="rId3"/>
                <a:stretch>
                  <a:fillRect l="-10920" r="-10920"/>
                </a:stretch>
              </a:blipFill>
            </p:spPr>
            <p:txBody>
              <a:bodyPr/>
              <a:lstStyle/>
              <a:p>
                <a:r>
                  <a:rPr lang="en-IN">
                    <a:noFill/>
                  </a:rPr>
                  <a:t> </a:t>
                </a:r>
              </a:p>
            </p:txBody>
          </p:sp>
        </mc:Fallback>
      </mc:AlternateContent>
    </p:spTree>
    <p:extLst>
      <p:ext uri="{BB962C8B-B14F-4D97-AF65-F5344CB8AC3E}">
        <p14:creationId xmlns:p14="http://schemas.microsoft.com/office/powerpoint/2010/main" val="223618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up)">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7"/>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49"/>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5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30"/>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33"/>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39"/>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50"/>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5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5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55"/>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56"/>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57"/>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58"/>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59"/>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60"/>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61"/>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52"/>
                                        </p:tgtEl>
                                        <p:attrNameLst>
                                          <p:attrName>style.visibility</p:attrName>
                                        </p:attrNameLst>
                                      </p:cBhvr>
                                      <p:to>
                                        <p:strVal val="visible"/>
                                      </p:to>
                                    </p:set>
                                    <p:animEffect transition="in" filter="wipe(up)">
                                      <p:cBhvr>
                                        <p:cTn id="11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20" grpId="0" animBg="1"/>
      <p:bldP spid="28" grpId="0" animBg="1"/>
      <p:bldP spid="40" grpId="0"/>
      <p:bldP spid="41" grpId="0"/>
      <p:bldP spid="42" grpId="0"/>
      <p:bldP spid="43" grpId="0"/>
      <p:bldP spid="44" grpId="0"/>
      <p:bldP spid="45" grpId="0"/>
      <p:bldP spid="46" grpId="0"/>
      <p:bldP spid="47" grpId="0"/>
      <p:bldP spid="48" grpId="0"/>
      <p:bldP spid="24" grpId="0" animBg="1"/>
      <p:bldP spid="25" grpId="0" animBg="1"/>
      <p:bldP spid="26" grpId="0" animBg="1"/>
      <p:bldP spid="27" grpId="0" animBg="1"/>
      <p:bldP spid="29" grpId="0" animBg="1"/>
      <p:bldP spid="50" grpId="0" animBg="1"/>
      <p:bldP spid="52" grpId="0" animBg="1"/>
      <p:bldP spid="53" grpId="0"/>
      <p:bldP spid="54" grpId="0"/>
      <p:bldP spid="55" grpId="0"/>
      <p:bldP spid="56" grpId="0"/>
      <p:bldP spid="57" grpId="0"/>
      <p:bldP spid="58" grpId="0"/>
      <p:bldP spid="59" grpId="0"/>
      <p:bldP spid="60" grpId="0"/>
      <p:bldP spid="6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4D338-E1CA-6161-523C-1FF91AFFC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33B3A6-D793-F432-9AFD-1BD9E5FFB775}"/>
              </a:ext>
            </a:extLst>
          </p:cNvPr>
          <p:cNvSpPr>
            <a:spLocks noGrp="1"/>
          </p:cNvSpPr>
          <p:nvPr>
            <p:ph type="title"/>
          </p:nvPr>
        </p:nvSpPr>
        <p:spPr/>
        <p:txBody>
          <a:bodyPr/>
          <a:lstStyle/>
          <a:p>
            <a:r>
              <a:rPr lang="en-US" dirty="0"/>
              <a:t>Fundamental cut-set</a:t>
            </a:r>
          </a:p>
        </p:txBody>
      </p:sp>
      <p:sp>
        <p:nvSpPr>
          <p:cNvPr id="6" name="Oval 5">
            <a:extLst>
              <a:ext uri="{FF2B5EF4-FFF2-40B4-BE49-F238E27FC236}">
                <a16:creationId xmlns:a16="http://schemas.microsoft.com/office/drawing/2014/main" id="{0F6AFB45-617A-2204-D2E7-DF6835618E43}"/>
              </a:ext>
            </a:extLst>
          </p:cNvPr>
          <p:cNvSpPr/>
          <p:nvPr/>
        </p:nvSpPr>
        <p:spPr>
          <a:xfrm rot="5400000">
            <a:off x="1686432" y="267279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E4F8945-F676-AD24-AF1B-C1AEEBE2002A}"/>
              </a:ext>
            </a:extLst>
          </p:cNvPr>
          <p:cNvSpPr/>
          <p:nvPr/>
        </p:nvSpPr>
        <p:spPr>
          <a:xfrm rot="5400000">
            <a:off x="3846664" y="26798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F76F176E-3CC5-2962-489A-87850BF564DD}"/>
              </a:ext>
            </a:extLst>
          </p:cNvPr>
          <p:cNvSpPr/>
          <p:nvPr/>
        </p:nvSpPr>
        <p:spPr>
          <a:xfrm rot="5400000">
            <a:off x="1686432" y="481789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414CC8D7-4DEE-467A-81F6-C4308E393CD5}"/>
              </a:ext>
            </a:extLst>
          </p:cNvPr>
          <p:cNvSpPr/>
          <p:nvPr/>
        </p:nvSpPr>
        <p:spPr>
          <a:xfrm rot="5400000">
            <a:off x="3846664" y="48249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BE7497B4-B30A-5761-A371-85A63B8050FD}"/>
              </a:ext>
            </a:extLst>
          </p:cNvPr>
          <p:cNvSpPr/>
          <p:nvPr/>
        </p:nvSpPr>
        <p:spPr>
          <a:xfrm rot="5400000">
            <a:off x="2838552" y="372745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B653EADE-B51B-FD9E-12CE-09A9FE8BF994}"/>
              </a:ext>
            </a:extLst>
          </p:cNvPr>
          <p:cNvCxnSpPr>
            <a:cxnSpLocks/>
            <a:stCxn id="11" idx="3"/>
            <a:endCxn id="6" idx="7"/>
          </p:cNvCxnSpPr>
          <p:nvPr/>
        </p:nvCxnSpPr>
        <p:spPr>
          <a:xfrm flipH="1" flipV="1">
            <a:off x="1809344" y="2795706"/>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4E392B67-A3B8-AFAA-D5CD-7FE55D834B59}"/>
              </a:ext>
            </a:extLst>
          </p:cNvPr>
          <p:cNvCxnSpPr>
            <a:cxnSpLocks/>
            <a:stCxn id="9" idx="3"/>
            <a:endCxn id="11" idx="7"/>
          </p:cNvCxnSpPr>
          <p:nvPr/>
        </p:nvCxnSpPr>
        <p:spPr>
          <a:xfrm flipH="1" flipV="1">
            <a:off x="2961464" y="3850370"/>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B2A714E5-F2DA-81AF-D96F-DB400C06660A}"/>
              </a:ext>
            </a:extLst>
          </p:cNvPr>
          <p:cNvCxnSpPr>
            <a:cxnSpLocks/>
            <a:stCxn id="11" idx="5"/>
            <a:endCxn id="8" idx="1"/>
          </p:cNvCxnSpPr>
          <p:nvPr/>
        </p:nvCxnSpPr>
        <p:spPr>
          <a:xfrm flipH="1">
            <a:off x="1809344" y="3850370"/>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2382205F-4261-29DB-B125-F1E824FC6415}"/>
              </a:ext>
            </a:extLst>
          </p:cNvPr>
          <p:cNvCxnSpPr>
            <a:cxnSpLocks/>
            <a:stCxn id="7" idx="5"/>
            <a:endCxn id="11" idx="1"/>
          </p:cNvCxnSpPr>
          <p:nvPr/>
        </p:nvCxnSpPr>
        <p:spPr>
          <a:xfrm flipH="1">
            <a:off x="2961464" y="2802763"/>
            <a:ext cx="906288" cy="945783"/>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86250FFE-796D-6B5D-E476-5067528DA8F4}"/>
              </a:ext>
            </a:extLst>
          </p:cNvPr>
          <p:cNvCxnSpPr>
            <a:cxnSpLocks/>
            <a:stCxn id="8" idx="2"/>
            <a:endCxn id="6" idx="6"/>
          </p:cNvCxnSpPr>
          <p:nvPr/>
        </p:nvCxnSpPr>
        <p:spPr>
          <a:xfrm flipV="1">
            <a:off x="1758432" y="2816794"/>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C8453607-B130-FB99-8E5A-72E63871E1AA}"/>
              </a:ext>
            </a:extLst>
          </p:cNvPr>
          <p:cNvCxnSpPr>
            <a:cxnSpLocks/>
            <a:stCxn id="9" idx="2"/>
            <a:endCxn id="7" idx="6"/>
          </p:cNvCxnSpPr>
          <p:nvPr/>
        </p:nvCxnSpPr>
        <p:spPr>
          <a:xfrm flipV="1">
            <a:off x="3918664" y="2823851"/>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56E05A22-5FE8-AA4C-0A31-87B0F1566675}"/>
              </a:ext>
            </a:extLst>
          </p:cNvPr>
          <p:cNvCxnSpPr>
            <a:cxnSpLocks/>
            <a:stCxn id="6" idx="0"/>
            <a:endCxn id="7" idx="4"/>
          </p:cNvCxnSpPr>
          <p:nvPr/>
        </p:nvCxnSpPr>
        <p:spPr>
          <a:xfrm>
            <a:off x="1830432" y="2744794"/>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D389070A-C232-AE88-9F9B-C9979C305EE3}"/>
              </a:ext>
            </a:extLst>
          </p:cNvPr>
          <p:cNvCxnSpPr>
            <a:cxnSpLocks/>
            <a:stCxn id="8" idx="0"/>
            <a:endCxn id="9" idx="4"/>
          </p:cNvCxnSpPr>
          <p:nvPr/>
        </p:nvCxnSpPr>
        <p:spPr>
          <a:xfrm>
            <a:off x="1830432" y="4889895"/>
            <a:ext cx="2016232" cy="7057"/>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C2B3A6D3-F4AC-318B-782C-CEDA2603C543}"/>
              </a:ext>
            </a:extLst>
          </p:cNvPr>
          <p:cNvSpPr/>
          <p:nvPr/>
        </p:nvSpPr>
        <p:spPr>
          <a:xfrm rot="5400000">
            <a:off x="4854768" y="16694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2E6F5C0B-CDE2-0712-3889-EE6AA7FDADC8}"/>
              </a:ext>
            </a:extLst>
          </p:cNvPr>
          <p:cNvCxnSpPr>
            <a:cxnSpLocks/>
            <a:stCxn id="20" idx="5"/>
            <a:endCxn id="7" idx="1"/>
          </p:cNvCxnSpPr>
          <p:nvPr/>
        </p:nvCxnSpPr>
        <p:spPr>
          <a:xfrm flipH="1">
            <a:off x="3969576" y="1792328"/>
            <a:ext cx="906280" cy="90861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28" name="Arc 27">
            <a:extLst>
              <a:ext uri="{FF2B5EF4-FFF2-40B4-BE49-F238E27FC236}">
                <a16:creationId xmlns:a16="http://schemas.microsoft.com/office/drawing/2014/main" id="{46F04D91-3A72-85A3-8BAE-2363232405E6}"/>
              </a:ext>
            </a:extLst>
          </p:cNvPr>
          <p:cNvSpPr/>
          <p:nvPr/>
        </p:nvSpPr>
        <p:spPr>
          <a:xfrm rot="19917420">
            <a:off x="2348322" y="3030282"/>
            <a:ext cx="862405" cy="1475572"/>
          </a:xfrm>
          <a:prstGeom prst="arc">
            <a:avLst>
              <a:gd name="adj1" fmla="val 16200000"/>
              <a:gd name="adj2" fmla="val 15464059"/>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23DFE4A3-0281-7F0A-9750-E8F061F84EB2}"/>
              </a:ext>
            </a:extLst>
          </p:cNvPr>
          <p:cNvSpPr txBox="1"/>
          <p:nvPr/>
        </p:nvSpPr>
        <p:spPr>
          <a:xfrm>
            <a:off x="2655523" y="2283129"/>
            <a:ext cx="332142" cy="461665"/>
          </a:xfrm>
          <a:prstGeom prst="rect">
            <a:avLst/>
          </a:prstGeom>
          <a:noFill/>
        </p:spPr>
        <p:txBody>
          <a:bodyPr wrap="none" rtlCol="0">
            <a:spAutoFit/>
          </a:bodyPr>
          <a:lstStyle/>
          <a:p>
            <a:r>
              <a:rPr lang="en-US" sz="2400" dirty="0">
                <a:solidFill>
                  <a:srgbClr val="D10233"/>
                </a:solidFill>
              </a:rPr>
              <a:t>a</a:t>
            </a:r>
          </a:p>
        </p:txBody>
      </p:sp>
      <p:sp>
        <p:nvSpPr>
          <p:cNvPr id="41" name="TextBox 40">
            <a:extLst>
              <a:ext uri="{FF2B5EF4-FFF2-40B4-BE49-F238E27FC236}">
                <a16:creationId xmlns:a16="http://schemas.microsoft.com/office/drawing/2014/main" id="{3C62840D-B3DA-B395-2915-C3F6B008D406}"/>
              </a:ext>
            </a:extLst>
          </p:cNvPr>
          <p:cNvSpPr txBox="1"/>
          <p:nvPr/>
        </p:nvSpPr>
        <p:spPr>
          <a:xfrm>
            <a:off x="2259975" y="2870322"/>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42" name="TextBox 41">
            <a:extLst>
              <a:ext uri="{FF2B5EF4-FFF2-40B4-BE49-F238E27FC236}">
                <a16:creationId xmlns:a16="http://schemas.microsoft.com/office/drawing/2014/main" id="{3684E7DF-B4C0-DD05-58CC-311E82394C27}"/>
              </a:ext>
            </a:extLst>
          </p:cNvPr>
          <p:cNvSpPr txBox="1"/>
          <p:nvPr/>
        </p:nvSpPr>
        <p:spPr>
          <a:xfrm>
            <a:off x="2947433" y="3066163"/>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43" name="TextBox 42">
            <a:extLst>
              <a:ext uri="{FF2B5EF4-FFF2-40B4-BE49-F238E27FC236}">
                <a16:creationId xmlns:a16="http://schemas.microsoft.com/office/drawing/2014/main" id="{D35F67B5-6028-06EC-74F1-010777BD721D}"/>
              </a:ext>
            </a:extLst>
          </p:cNvPr>
          <p:cNvSpPr txBox="1"/>
          <p:nvPr/>
        </p:nvSpPr>
        <p:spPr>
          <a:xfrm>
            <a:off x="2954960" y="4124773"/>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44" name="TextBox 43">
            <a:extLst>
              <a:ext uri="{FF2B5EF4-FFF2-40B4-BE49-F238E27FC236}">
                <a16:creationId xmlns:a16="http://schemas.microsoft.com/office/drawing/2014/main" id="{C6556415-20F8-608F-C79D-AC94CB1B155B}"/>
              </a:ext>
            </a:extLst>
          </p:cNvPr>
          <p:cNvSpPr txBox="1"/>
          <p:nvPr/>
        </p:nvSpPr>
        <p:spPr>
          <a:xfrm>
            <a:off x="2189981" y="3866281"/>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45" name="TextBox 44">
            <a:extLst>
              <a:ext uri="{FF2B5EF4-FFF2-40B4-BE49-F238E27FC236}">
                <a16:creationId xmlns:a16="http://schemas.microsoft.com/office/drawing/2014/main" id="{C757DB9A-5CB8-DFE1-B497-C346000D5804}"/>
              </a:ext>
            </a:extLst>
          </p:cNvPr>
          <p:cNvSpPr txBox="1"/>
          <p:nvPr/>
        </p:nvSpPr>
        <p:spPr>
          <a:xfrm>
            <a:off x="2542403" y="4961895"/>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46" name="TextBox 45">
            <a:extLst>
              <a:ext uri="{FF2B5EF4-FFF2-40B4-BE49-F238E27FC236}">
                <a16:creationId xmlns:a16="http://schemas.microsoft.com/office/drawing/2014/main" id="{67082473-E9A8-3B13-79CB-8237EA2794F3}"/>
              </a:ext>
            </a:extLst>
          </p:cNvPr>
          <p:cNvSpPr txBox="1"/>
          <p:nvPr/>
        </p:nvSpPr>
        <p:spPr>
          <a:xfrm>
            <a:off x="1403982" y="3597195"/>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47" name="TextBox 46">
            <a:extLst>
              <a:ext uri="{FF2B5EF4-FFF2-40B4-BE49-F238E27FC236}">
                <a16:creationId xmlns:a16="http://schemas.microsoft.com/office/drawing/2014/main" id="{66F3D2B2-678C-F227-3A2E-D99A58ADB8CA}"/>
              </a:ext>
            </a:extLst>
          </p:cNvPr>
          <p:cNvSpPr txBox="1"/>
          <p:nvPr/>
        </p:nvSpPr>
        <p:spPr>
          <a:xfrm>
            <a:off x="3918664" y="3604747"/>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48" name="TextBox 47">
            <a:extLst>
              <a:ext uri="{FF2B5EF4-FFF2-40B4-BE49-F238E27FC236}">
                <a16:creationId xmlns:a16="http://schemas.microsoft.com/office/drawing/2014/main" id="{A6C2A4A3-3614-2B91-76C0-DE1B0BA7D77A}"/>
              </a:ext>
            </a:extLst>
          </p:cNvPr>
          <p:cNvSpPr txBox="1"/>
          <p:nvPr/>
        </p:nvSpPr>
        <p:spPr>
          <a:xfrm>
            <a:off x="4412857" y="2211129"/>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p:sp>
        <p:nvSpPr>
          <p:cNvPr id="34" name="Rectangle 33">
            <a:extLst>
              <a:ext uri="{FF2B5EF4-FFF2-40B4-BE49-F238E27FC236}">
                <a16:creationId xmlns:a16="http://schemas.microsoft.com/office/drawing/2014/main" id="{FB6F93A1-1268-2816-8855-262EFAC7AC98}"/>
              </a:ext>
            </a:extLst>
          </p:cNvPr>
          <p:cNvSpPr/>
          <p:nvPr/>
        </p:nvSpPr>
        <p:spPr>
          <a:xfrm>
            <a:off x="146930" y="808760"/>
            <a:ext cx="11594495" cy="52322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lgn="ctr"/>
            <a:r>
              <a:rPr lang="en-US" sz="2800" dirty="0">
                <a:solidFill>
                  <a:srgbClr val="002060"/>
                </a:solidFill>
              </a:rPr>
              <a:t>As Spanning tree have 5 branches we get 5 fundamental cut set .</a:t>
            </a:r>
          </a:p>
        </p:txBody>
      </p:sp>
      <p:sp>
        <p:nvSpPr>
          <p:cNvPr id="24" name="Oval 23">
            <a:extLst>
              <a:ext uri="{FF2B5EF4-FFF2-40B4-BE49-F238E27FC236}">
                <a16:creationId xmlns:a16="http://schemas.microsoft.com/office/drawing/2014/main" id="{F1289C71-484F-EF16-CDCB-88FC9C5735D9}"/>
              </a:ext>
            </a:extLst>
          </p:cNvPr>
          <p:cNvSpPr/>
          <p:nvPr/>
        </p:nvSpPr>
        <p:spPr>
          <a:xfrm rot="5400000">
            <a:off x="6498617" y="27518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5" name="Oval 24">
            <a:extLst>
              <a:ext uri="{FF2B5EF4-FFF2-40B4-BE49-F238E27FC236}">
                <a16:creationId xmlns:a16="http://schemas.microsoft.com/office/drawing/2014/main" id="{B050FDA1-7FDF-06E0-60B0-2E4D99841572}"/>
              </a:ext>
            </a:extLst>
          </p:cNvPr>
          <p:cNvSpPr/>
          <p:nvPr/>
        </p:nvSpPr>
        <p:spPr>
          <a:xfrm rot="5400000">
            <a:off x="8658849" y="27589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6" name="Oval 25">
            <a:extLst>
              <a:ext uri="{FF2B5EF4-FFF2-40B4-BE49-F238E27FC236}">
                <a16:creationId xmlns:a16="http://schemas.microsoft.com/office/drawing/2014/main" id="{8632160E-729B-F779-7FE9-B33B4A481BDA}"/>
              </a:ext>
            </a:extLst>
          </p:cNvPr>
          <p:cNvSpPr/>
          <p:nvPr/>
        </p:nvSpPr>
        <p:spPr>
          <a:xfrm rot="5400000">
            <a:off x="6498617" y="489695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 name="Oval 26">
            <a:extLst>
              <a:ext uri="{FF2B5EF4-FFF2-40B4-BE49-F238E27FC236}">
                <a16:creationId xmlns:a16="http://schemas.microsoft.com/office/drawing/2014/main" id="{30EAE586-30B3-C9A5-94C4-8F56F44BD7BA}"/>
              </a:ext>
            </a:extLst>
          </p:cNvPr>
          <p:cNvSpPr/>
          <p:nvPr/>
        </p:nvSpPr>
        <p:spPr>
          <a:xfrm rot="5400000">
            <a:off x="8658849" y="49040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2602A158-3A6F-1341-281D-51C64D081FE3}"/>
              </a:ext>
            </a:extLst>
          </p:cNvPr>
          <p:cNvSpPr/>
          <p:nvPr/>
        </p:nvSpPr>
        <p:spPr>
          <a:xfrm rot="5400000">
            <a:off x="7650737" y="380651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0" name="Straight Connector 29">
            <a:extLst>
              <a:ext uri="{FF2B5EF4-FFF2-40B4-BE49-F238E27FC236}">
                <a16:creationId xmlns:a16="http://schemas.microsoft.com/office/drawing/2014/main" id="{5693AEE1-1CBF-549E-9DBB-9DDD594FB0C3}"/>
              </a:ext>
            </a:extLst>
          </p:cNvPr>
          <p:cNvCxnSpPr>
            <a:cxnSpLocks/>
            <a:stCxn id="29" idx="3"/>
            <a:endCxn id="24" idx="7"/>
          </p:cNvCxnSpPr>
          <p:nvPr/>
        </p:nvCxnSpPr>
        <p:spPr>
          <a:xfrm flipH="1" flipV="1">
            <a:off x="6621529" y="2874763"/>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a:extLst>
              <a:ext uri="{FF2B5EF4-FFF2-40B4-BE49-F238E27FC236}">
                <a16:creationId xmlns:a16="http://schemas.microsoft.com/office/drawing/2014/main" id="{C9F6F547-3EB6-2D5F-C0D7-2911B9A4F402}"/>
              </a:ext>
            </a:extLst>
          </p:cNvPr>
          <p:cNvCxnSpPr>
            <a:cxnSpLocks/>
            <a:stCxn id="27" idx="3"/>
            <a:endCxn id="29" idx="7"/>
          </p:cNvCxnSpPr>
          <p:nvPr/>
        </p:nvCxnSpPr>
        <p:spPr>
          <a:xfrm flipH="1" flipV="1">
            <a:off x="7773649" y="3929427"/>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CE425402-269B-4F39-6001-BD0A56C1CC3E}"/>
              </a:ext>
            </a:extLst>
          </p:cNvPr>
          <p:cNvCxnSpPr>
            <a:cxnSpLocks/>
            <a:stCxn id="29" idx="5"/>
            <a:endCxn id="26" idx="1"/>
          </p:cNvCxnSpPr>
          <p:nvPr/>
        </p:nvCxnSpPr>
        <p:spPr>
          <a:xfrm flipH="1">
            <a:off x="6621529" y="3929427"/>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17FF679E-14AC-BE14-3514-BB9BDB0EF65F}"/>
              </a:ext>
            </a:extLst>
          </p:cNvPr>
          <p:cNvCxnSpPr>
            <a:cxnSpLocks/>
            <a:stCxn id="25" idx="5"/>
            <a:endCxn id="29" idx="1"/>
          </p:cNvCxnSpPr>
          <p:nvPr/>
        </p:nvCxnSpPr>
        <p:spPr>
          <a:xfrm flipH="1">
            <a:off x="7773649" y="2881820"/>
            <a:ext cx="906288" cy="945783"/>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F265CBC1-2D56-CEDF-06D2-BD524A66D852}"/>
              </a:ext>
            </a:extLst>
          </p:cNvPr>
          <p:cNvCxnSpPr>
            <a:cxnSpLocks/>
            <a:stCxn id="26" idx="2"/>
            <a:endCxn id="24" idx="6"/>
          </p:cNvCxnSpPr>
          <p:nvPr/>
        </p:nvCxnSpPr>
        <p:spPr>
          <a:xfrm flipV="1">
            <a:off x="6570617" y="2895851"/>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4FDDF43B-05E6-561E-926D-8DF867B2B4F3}"/>
              </a:ext>
            </a:extLst>
          </p:cNvPr>
          <p:cNvCxnSpPr>
            <a:cxnSpLocks/>
            <a:stCxn id="27" idx="2"/>
            <a:endCxn id="25" idx="6"/>
          </p:cNvCxnSpPr>
          <p:nvPr/>
        </p:nvCxnSpPr>
        <p:spPr>
          <a:xfrm flipV="1">
            <a:off x="8730849" y="2902908"/>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7C6D0B4D-7E7B-1E43-4736-1C995F2C9F2B}"/>
              </a:ext>
            </a:extLst>
          </p:cNvPr>
          <p:cNvCxnSpPr>
            <a:cxnSpLocks/>
            <a:stCxn id="24" idx="0"/>
            <a:endCxn id="25" idx="4"/>
          </p:cNvCxnSpPr>
          <p:nvPr/>
        </p:nvCxnSpPr>
        <p:spPr>
          <a:xfrm>
            <a:off x="6642617" y="2823851"/>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374C160F-AB23-0E68-7F3A-7C1A8763F545}"/>
              </a:ext>
            </a:extLst>
          </p:cNvPr>
          <p:cNvCxnSpPr>
            <a:cxnSpLocks/>
            <a:stCxn id="26" idx="0"/>
            <a:endCxn id="27" idx="4"/>
          </p:cNvCxnSpPr>
          <p:nvPr/>
        </p:nvCxnSpPr>
        <p:spPr>
          <a:xfrm>
            <a:off x="6642617" y="4968952"/>
            <a:ext cx="2016232" cy="7057"/>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50" name="Oval 49">
            <a:extLst>
              <a:ext uri="{FF2B5EF4-FFF2-40B4-BE49-F238E27FC236}">
                <a16:creationId xmlns:a16="http://schemas.microsoft.com/office/drawing/2014/main" id="{E05CB191-370A-B858-C289-F0AB12CB30FE}"/>
              </a:ext>
            </a:extLst>
          </p:cNvPr>
          <p:cNvSpPr/>
          <p:nvPr/>
        </p:nvSpPr>
        <p:spPr>
          <a:xfrm rot="5400000">
            <a:off x="9666953" y="174847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1" name="Straight Connector 50">
            <a:extLst>
              <a:ext uri="{FF2B5EF4-FFF2-40B4-BE49-F238E27FC236}">
                <a16:creationId xmlns:a16="http://schemas.microsoft.com/office/drawing/2014/main" id="{ED4999BC-B74C-4158-C188-8BAB3D96CFA2}"/>
              </a:ext>
            </a:extLst>
          </p:cNvPr>
          <p:cNvCxnSpPr>
            <a:cxnSpLocks/>
            <a:stCxn id="50" idx="5"/>
            <a:endCxn id="25" idx="1"/>
          </p:cNvCxnSpPr>
          <p:nvPr/>
        </p:nvCxnSpPr>
        <p:spPr>
          <a:xfrm flipH="1">
            <a:off x="8781761" y="1871385"/>
            <a:ext cx="906280" cy="90861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52" name="Arc 51">
            <a:extLst>
              <a:ext uri="{FF2B5EF4-FFF2-40B4-BE49-F238E27FC236}">
                <a16:creationId xmlns:a16="http://schemas.microsoft.com/office/drawing/2014/main" id="{8102C173-46DE-08FF-F46B-7A6C81519CC6}"/>
              </a:ext>
            </a:extLst>
          </p:cNvPr>
          <p:cNvSpPr/>
          <p:nvPr/>
        </p:nvSpPr>
        <p:spPr>
          <a:xfrm>
            <a:off x="8602459" y="1536063"/>
            <a:ext cx="862405" cy="3473806"/>
          </a:xfrm>
          <a:prstGeom prst="arc">
            <a:avLst>
              <a:gd name="adj1" fmla="val 16200000"/>
              <a:gd name="adj2" fmla="val 19018380"/>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TextBox 52">
            <a:extLst>
              <a:ext uri="{FF2B5EF4-FFF2-40B4-BE49-F238E27FC236}">
                <a16:creationId xmlns:a16="http://schemas.microsoft.com/office/drawing/2014/main" id="{52D256D5-33C7-E05F-CFE3-C62CF108BF59}"/>
              </a:ext>
            </a:extLst>
          </p:cNvPr>
          <p:cNvSpPr txBox="1"/>
          <p:nvPr/>
        </p:nvSpPr>
        <p:spPr>
          <a:xfrm>
            <a:off x="7467708" y="2362186"/>
            <a:ext cx="332142" cy="461665"/>
          </a:xfrm>
          <a:prstGeom prst="rect">
            <a:avLst/>
          </a:prstGeom>
          <a:noFill/>
        </p:spPr>
        <p:txBody>
          <a:bodyPr wrap="none" rtlCol="0">
            <a:spAutoFit/>
          </a:bodyPr>
          <a:lstStyle/>
          <a:p>
            <a:r>
              <a:rPr lang="en-US" sz="2400" dirty="0">
                <a:solidFill>
                  <a:srgbClr val="D10233"/>
                </a:solidFill>
              </a:rPr>
              <a:t>a</a:t>
            </a:r>
          </a:p>
        </p:txBody>
      </p:sp>
      <p:sp>
        <p:nvSpPr>
          <p:cNvPr id="54" name="TextBox 53">
            <a:extLst>
              <a:ext uri="{FF2B5EF4-FFF2-40B4-BE49-F238E27FC236}">
                <a16:creationId xmlns:a16="http://schemas.microsoft.com/office/drawing/2014/main" id="{2EEC9A62-5FA7-E27C-640C-7ADC7B825CF1}"/>
              </a:ext>
            </a:extLst>
          </p:cNvPr>
          <p:cNvSpPr txBox="1"/>
          <p:nvPr/>
        </p:nvSpPr>
        <p:spPr>
          <a:xfrm>
            <a:off x="7072160" y="2949379"/>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55" name="TextBox 54">
            <a:extLst>
              <a:ext uri="{FF2B5EF4-FFF2-40B4-BE49-F238E27FC236}">
                <a16:creationId xmlns:a16="http://schemas.microsoft.com/office/drawing/2014/main" id="{EC0F3B66-A83B-ED03-6329-5B5D8A16C0C9}"/>
              </a:ext>
            </a:extLst>
          </p:cNvPr>
          <p:cNvSpPr txBox="1"/>
          <p:nvPr/>
        </p:nvSpPr>
        <p:spPr>
          <a:xfrm>
            <a:off x="7759618" y="3145220"/>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56" name="TextBox 55">
            <a:extLst>
              <a:ext uri="{FF2B5EF4-FFF2-40B4-BE49-F238E27FC236}">
                <a16:creationId xmlns:a16="http://schemas.microsoft.com/office/drawing/2014/main" id="{A8AC3431-47E3-551A-D294-9CF73AD87DDF}"/>
              </a:ext>
            </a:extLst>
          </p:cNvPr>
          <p:cNvSpPr txBox="1"/>
          <p:nvPr/>
        </p:nvSpPr>
        <p:spPr>
          <a:xfrm>
            <a:off x="7767145" y="4203830"/>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57" name="TextBox 56">
            <a:extLst>
              <a:ext uri="{FF2B5EF4-FFF2-40B4-BE49-F238E27FC236}">
                <a16:creationId xmlns:a16="http://schemas.microsoft.com/office/drawing/2014/main" id="{F82FE2C3-1D09-2E10-3270-47D1702EFF2C}"/>
              </a:ext>
            </a:extLst>
          </p:cNvPr>
          <p:cNvSpPr txBox="1"/>
          <p:nvPr/>
        </p:nvSpPr>
        <p:spPr>
          <a:xfrm>
            <a:off x="7002166" y="3945338"/>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58" name="TextBox 57">
            <a:extLst>
              <a:ext uri="{FF2B5EF4-FFF2-40B4-BE49-F238E27FC236}">
                <a16:creationId xmlns:a16="http://schemas.microsoft.com/office/drawing/2014/main" id="{BCE212E8-EBE7-BC48-9E41-3BE2D58E7B8B}"/>
              </a:ext>
            </a:extLst>
          </p:cNvPr>
          <p:cNvSpPr txBox="1"/>
          <p:nvPr/>
        </p:nvSpPr>
        <p:spPr>
          <a:xfrm>
            <a:off x="7354588" y="5040952"/>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59" name="TextBox 58">
            <a:extLst>
              <a:ext uri="{FF2B5EF4-FFF2-40B4-BE49-F238E27FC236}">
                <a16:creationId xmlns:a16="http://schemas.microsoft.com/office/drawing/2014/main" id="{473AAC19-66EB-A1C0-49C2-05B2DAD93234}"/>
              </a:ext>
            </a:extLst>
          </p:cNvPr>
          <p:cNvSpPr txBox="1"/>
          <p:nvPr/>
        </p:nvSpPr>
        <p:spPr>
          <a:xfrm>
            <a:off x="6216167" y="3676252"/>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60" name="TextBox 59">
            <a:extLst>
              <a:ext uri="{FF2B5EF4-FFF2-40B4-BE49-F238E27FC236}">
                <a16:creationId xmlns:a16="http://schemas.microsoft.com/office/drawing/2014/main" id="{F152D102-DC68-749F-C279-46EDAF83C847}"/>
              </a:ext>
            </a:extLst>
          </p:cNvPr>
          <p:cNvSpPr txBox="1"/>
          <p:nvPr/>
        </p:nvSpPr>
        <p:spPr>
          <a:xfrm>
            <a:off x="8730849" y="3683804"/>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61" name="TextBox 60">
            <a:extLst>
              <a:ext uri="{FF2B5EF4-FFF2-40B4-BE49-F238E27FC236}">
                <a16:creationId xmlns:a16="http://schemas.microsoft.com/office/drawing/2014/main" id="{15E2CE3F-C1C6-D53A-3912-A6359D539D58}"/>
              </a:ext>
            </a:extLst>
          </p:cNvPr>
          <p:cNvSpPr txBox="1"/>
          <p:nvPr/>
        </p:nvSpPr>
        <p:spPr>
          <a:xfrm>
            <a:off x="9225042" y="2290186"/>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577CF3B-02DA-8D1A-C377-4A0A41593977}"/>
                  </a:ext>
                </a:extLst>
              </p:cNvPr>
              <p:cNvSpPr txBox="1"/>
              <p:nvPr/>
            </p:nvSpPr>
            <p:spPr>
              <a:xfrm>
                <a:off x="2140759" y="5423560"/>
                <a:ext cx="1539585" cy="523220"/>
              </a:xfrm>
              <a:prstGeom prst="rect">
                <a:avLst/>
              </a:prstGeom>
              <a:noFill/>
            </p:spPr>
            <p:txBody>
              <a:bodyPr wrap="square">
                <a:spAutoFit/>
              </a:bodyPr>
              <a:lstStyle/>
              <a:p>
                <a:pPr algn="ctr"/>
                <a14:m>
                  <m:oMath xmlns:m="http://schemas.openxmlformats.org/officeDocument/2006/math">
                    <m:d>
                      <m:dPr>
                        <m:begChr m:val="{"/>
                        <m:endChr m:val="}"/>
                        <m:ctrlPr>
                          <a:rPr lang="en-US" sz="280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c</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e</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d</m:t>
                        </m:r>
                      </m:e>
                    </m:d>
                  </m:oMath>
                </a14:m>
                <a:r>
                  <a:rPr lang="en-US" sz="2800" dirty="0">
                    <a:solidFill>
                      <a:srgbClr val="002060"/>
                    </a:solidFill>
                    <a:latin typeface="Cambria Math" panose="02040503050406030204" pitchFamily="18" charset="0"/>
                  </a:rPr>
                  <a:t> </a:t>
                </a:r>
                <a:endParaRPr lang="en-IN" sz="2800" dirty="0">
                  <a:solidFill>
                    <a:srgbClr val="002060"/>
                  </a:solidFill>
                  <a:latin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C577CF3B-02DA-8D1A-C377-4A0A41593977}"/>
                  </a:ext>
                </a:extLst>
              </p:cNvPr>
              <p:cNvSpPr txBox="1">
                <a:spLocks noRot="1" noChangeAspect="1" noMove="1" noResize="1" noEditPoints="1" noAdjustHandles="1" noChangeArrowheads="1" noChangeShapeType="1" noTextEdit="1"/>
              </p:cNvSpPr>
              <p:nvPr/>
            </p:nvSpPr>
            <p:spPr>
              <a:xfrm>
                <a:off x="2140759" y="5423560"/>
                <a:ext cx="1539585" cy="52322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B0D09F3-CDD3-634B-F137-0F5EBF339F95}"/>
                  </a:ext>
                </a:extLst>
              </p:cNvPr>
              <p:cNvSpPr txBox="1"/>
              <p:nvPr/>
            </p:nvSpPr>
            <p:spPr>
              <a:xfrm>
                <a:off x="6902032" y="5423560"/>
                <a:ext cx="1539585" cy="523220"/>
              </a:xfrm>
              <a:prstGeom prst="rect">
                <a:avLst/>
              </a:prstGeom>
              <a:noFill/>
            </p:spPr>
            <p:txBody>
              <a:bodyPr wrap="square">
                <a:spAutoFit/>
              </a:bodyPr>
              <a:lstStyle/>
              <a:p>
                <a:pPr algn="ctr"/>
                <a14:m>
                  <m:oMath xmlns:m="http://schemas.openxmlformats.org/officeDocument/2006/math">
                    <m:d>
                      <m:dPr>
                        <m:begChr m:val="{"/>
                        <m:endChr m:val="}"/>
                        <m:ctrlPr>
                          <a:rPr lang="en-US" sz="280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k</m:t>
                        </m:r>
                      </m:e>
                    </m:d>
                  </m:oMath>
                </a14:m>
                <a:r>
                  <a:rPr lang="en-US" sz="2800" dirty="0">
                    <a:solidFill>
                      <a:srgbClr val="002060"/>
                    </a:solidFill>
                    <a:latin typeface="Cambria Math" panose="02040503050406030204" pitchFamily="18" charset="0"/>
                  </a:rPr>
                  <a:t> </a:t>
                </a:r>
                <a:endParaRPr lang="en-IN" sz="2800" dirty="0">
                  <a:solidFill>
                    <a:srgbClr val="002060"/>
                  </a:solidFill>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DB0D09F3-CDD3-634B-F137-0F5EBF339F95}"/>
                  </a:ext>
                </a:extLst>
              </p:cNvPr>
              <p:cNvSpPr txBox="1">
                <a:spLocks noRot="1" noChangeAspect="1" noMove="1" noResize="1" noEditPoints="1" noAdjustHandles="1" noChangeArrowheads="1" noChangeShapeType="1" noTextEdit="1"/>
              </p:cNvSpPr>
              <p:nvPr/>
            </p:nvSpPr>
            <p:spPr>
              <a:xfrm>
                <a:off x="6902032" y="5423560"/>
                <a:ext cx="1539585" cy="523220"/>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49141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up)">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37"/>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49"/>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38"/>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36"/>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51"/>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24"/>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25"/>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9"/>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30"/>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31"/>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33"/>
                                        </p:tgtEl>
                                        <p:attrNameLst>
                                          <p:attrName>style.visibility</p:attrName>
                                        </p:attrNameLst>
                                      </p:cBhvr>
                                      <p:to>
                                        <p:strVal val="visible"/>
                                      </p:to>
                                    </p:set>
                                  </p:childTnLst>
                                </p:cTn>
                              </p:par>
                              <p:par>
                                <p:cTn id="86" presetID="1" presetClass="entr" presetSubtype="0" fill="hold" nodeType="withEffect">
                                  <p:stCondLst>
                                    <p:cond delay="0"/>
                                  </p:stCondLst>
                                  <p:childTnLst>
                                    <p:set>
                                      <p:cBhvr>
                                        <p:cTn id="87" dur="1" fill="hold">
                                          <p:stCondLst>
                                            <p:cond delay="0"/>
                                          </p:stCondLst>
                                        </p:cTn>
                                        <p:tgtEl>
                                          <p:spTgt spid="39"/>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50"/>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53"/>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54"/>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55"/>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56"/>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57"/>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58"/>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59"/>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60"/>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61"/>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52"/>
                                        </p:tgtEl>
                                        <p:attrNameLst>
                                          <p:attrName>style.visibility</p:attrName>
                                        </p:attrNameLst>
                                      </p:cBhvr>
                                      <p:to>
                                        <p:strVal val="visible"/>
                                      </p:to>
                                    </p:set>
                                    <p:animEffect transition="in" filter="wipe(up)">
                                      <p:cBhvr>
                                        <p:cTn id="11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20" grpId="0" animBg="1"/>
      <p:bldP spid="28" grpId="0" animBg="1"/>
      <p:bldP spid="40" grpId="0"/>
      <p:bldP spid="41" grpId="0"/>
      <p:bldP spid="42" grpId="0"/>
      <p:bldP spid="43" grpId="0"/>
      <p:bldP spid="44" grpId="0"/>
      <p:bldP spid="45" grpId="0"/>
      <p:bldP spid="46" grpId="0"/>
      <p:bldP spid="47" grpId="0"/>
      <p:bldP spid="48" grpId="0"/>
      <p:bldP spid="24" grpId="0" animBg="1"/>
      <p:bldP spid="25" grpId="0" animBg="1"/>
      <p:bldP spid="26" grpId="0" animBg="1"/>
      <p:bldP spid="27" grpId="0" animBg="1"/>
      <p:bldP spid="29" grpId="0" animBg="1"/>
      <p:bldP spid="50" grpId="0" animBg="1"/>
      <p:bldP spid="52" grpId="0" animBg="1"/>
      <p:bldP spid="53" grpId="0"/>
      <p:bldP spid="54" grpId="0"/>
      <p:bldP spid="55" grpId="0"/>
      <p:bldP spid="56" grpId="0"/>
      <p:bldP spid="57" grpId="0"/>
      <p:bldP spid="58" grpId="0"/>
      <p:bldP spid="59" grpId="0"/>
      <p:bldP spid="60" grpId="0"/>
      <p:bldP spid="61"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70257-375D-7BAB-5702-8A73F29770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664E0-54C3-3EB1-6C5A-BB10525C1043}"/>
              </a:ext>
            </a:extLst>
          </p:cNvPr>
          <p:cNvSpPr>
            <a:spLocks noGrp="1"/>
          </p:cNvSpPr>
          <p:nvPr>
            <p:ph type="title"/>
          </p:nvPr>
        </p:nvSpPr>
        <p:spPr/>
        <p:txBody>
          <a:bodyPr/>
          <a:lstStyle/>
          <a:p>
            <a:r>
              <a:rPr lang="en-US" dirty="0"/>
              <a:t>Fundamental cut-set</a:t>
            </a:r>
          </a:p>
        </p:txBody>
      </p:sp>
      <p:sp>
        <p:nvSpPr>
          <p:cNvPr id="6" name="Oval 5">
            <a:extLst>
              <a:ext uri="{FF2B5EF4-FFF2-40B4-BE49-F238E27FC236}">
                <a16:creationId xmlns:a16="http://schemas.microsoft.com/office/drawing/2014/main" id="{D0AFEB35-44A0-4693-2E63-FBC288C28143}"/>
              </a:ext>
            </a:extLst>
          </p:cNvPr>
          <p:cNvSpPr/>
          <p:nvPr/>
        </p:nvSpPr>
        <p:spPr>
          <a:xfrm rot="5400000">
            <a:off x="4416380" y="287157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66A719C9-BFDE-7DAE-A70B-C6AC13817B33}"/>
              </a:ext>
            </a:extLst>
          </p:cNvPr>
          <p:cNvSpPr/>
          <p:nvPr/>
        </p:nvSpPr>
        <p:spPr>
          <a:xfrm rot="5400000">
            <a:off x="6576612" y="28786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41D42C13-1A42-058D-A83A-577F72DFB0F9}"/>
              </a:ext>
            </a:extLst>
          </p:cNvPr>
          <p:cNvSpPr/>
          <p:nvPr/>
        </p:nvSpPr>
        <p:spPr>
          <a:xfrm rot="5400000">
            <a:off x="4416380" y="501667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1E822FAD-C78F-42C1-F291-0E743FF8F9E6}"/>
              </a:ext>
            </a:extLst>
          </p:cNvPr>
          <p:cNvSpPr/>
          <p:nvPr/>
        </p:nvSpPr>
        <p:spPr>
          <a:xfrm rot="5400000">
            <a:off x="6576612" y="502373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5CEFF285-0169-780C-6144-4A53BE23C1C6}"/>
              </a:ext>
            </a:extLst>
          </p:cNvPr>
          <p:cNvSpPr/>
          <p:nvPr/>
        </p:nvSpPr>
        <p:spPr>
          <a:xfrm rot="5400000">
            <a:off x="5568500" y="39262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8E3A6547-B30E-F1B6-A242-54E59BC4E021}"/>
              </a:ext>
            </a:extLst>
          </p:cNvPr>
          <p:cNvCxnSpPr>
            <a:cxnSpLocks/>
            <a:stCxn id="11" idx="3"/>
            <a:endCxn id="6" idx="7"/>
          </p:cNvCxnSpPr>
          <p:nvPr/>
        </p:nvCxnSpPr>
        <p:spPr>
          <a:xfrm flipH="1" flipV="1">
            <a:off x="4539292" y="2994489"/>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B8DB73D-C4C1-32A9-B5B7-DCA6778E7FCC}"/>
              </a:ext>
            </a:extLst>
          </p:cNvPr>
          <p:cNvCxnSpPr>
            <a:cxnSpLocks/>
            <a:stCxn id="9" idx="3"/>
            <a:endCxn id="11" idx="7"/>
          </p:cNvCxnSpPr>
          <p:nvPr/>
        </p:nvCxnSpPr>
        <p:spPr>
          <a:xfrm flipH="1" flipV="1">
            <a:off x="5691412" y="4049153"/>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3CD22EDA-20F5-6833-E21A-7CFE77CC4D88}"/>
              </a:ext>
            </a:extLst>
          </p:cNvPr>
          <p:cNvCxnSpPr>
            <a:cxnSpLocks/>
            <a:stCxn id="11" idx="5"/>
            <a:endCxn id="8" idx="1"/>
          </p:cNvCxnSpPr>
          <p:nvPr/>
        </p:nvCxnSpPr>
        <p:spPr>
          <a:xfrm flipH="1">
            <a:off x="4539292" y="4049153"/>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012C8A47-D4E9-527E-4710-919C6925658F}"/>
              </a:ext>
            </a:extLst>
          </p:cNvPr>
          <p:cNvCxnSpPr>
            <a:cxnSpLocks/>
            <a:stCxn id="7" idx="5"/>
            <a:endCxn id="11" idx="1"/>
          </p:cNvCxnSpPr>
          <p:nvPr/>
        </p:nvCxnSpPr>
        <p:spPr>
          <a:xfrm flipH="1">
            <a:off x="5691412" y="3001546"/>
            <a:ext cx="906288" cy="945783"/>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4256B75-1A81-E8C4-6FC3-0204DFE06190}"/>
              </a:ext>
            </a:extLst>
          </p:cNvPr>
          <p:cNvCxnSpPr>
            <a:cxnSpLocks/>
            <a:stCxn id="8" idx="2"/>
            <a:endCxn id="6" idx="6"/>
          </p:cNvCxnSpPr>
          <p:nvPr/>
        </p:nvCxnSpPr>
        <p:spPr>
          <a:xfrm flipV="1">
            <a:off x="4488380" y="3015577"/>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EB624558-E6B9-46EA-CF0D-E5D1479B7E48}"/>
              </a:ext>
            </a:extLst>
          </p:cNvPr>
          <p:cNvCxnSpPr>
            <a:cxnSpLocks/>
            <a:stCxn id="9" idx="2"/>
            <a:endCxn id="7" idx="6"/>
          </p:cNvCxnSpPr>
          <p:nvPr/>
        </p:nvCxnSpPr>
        <p:spPr>
          <a:xfrm flipV="1">
            <a:off x="6648612" y="3022634"/>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4A78AD2D-E518-42B6-E3B4-D1789B3CEE50}"/>
              </a:ext>
            </a:extLst>
          </p:cNvPr>
          <p:cNvCxnSpPr>
            <a:cxnSpLocks/>
            <a:stCxn id="6" idx="0"/>
            <a:endCxn id="7" idx="4"/>
          </p:cNvCxnSpPr>
          <p:nvPr/>
        </p:nvCxnSpPr>
        <p:spPr>
          <a:xfrm>
            <a:off x="4560380" y="2943577"/>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1E90710B-DC66-A292-08FC-3A02DD66B9D3}"/>
              </a:ext>
            </a:extLst>
          </p:cNvPr>
          <p:cNvCxnSpPr>
            <a:cxnSpLocks/>
            <a:stCxn id="8" idx="0"/>
            <a:endCxn id="9" idx="4"/>
          </p:cNvCxnSpPr>
          <p:nvPr/>
        </p:nvCxnSpPr>
        <p:spPr>
          <a:xfrm>
            <a:off x="4560380" y="5088678"/>
            <a:ext cx="2016232" cy="7057"/>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DD212EFA-092F-3B71-9242-11785AD73727}"/>
              </a:ext>
            </a:extLst>
          </p:cNvPr>
          <p:cNvSpPr/>
          <p:nvPr/>
        </p:nvSpPr>
        <p:spPr>
          <a:xfrm rot="5400000">
            <a:off x="7584716" y="18681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0BC4B2FE-02C1-4420-0409-ABB848BFA027}"/>
              </a:ext>
            </a:extLst>
          </p:cNvPr>
          <p:cNvCxnSpPr>
            <a:cxnSpLocks/>
            <a:stCxn id="20" idx="5"/>
            <a:endCxn id="7" idx="1"/>
          </p:cNvCxnSpPr>
          <p:nvPr/>
        </p:nvCxnSpPr>
        <p:spPr>
          <a:xfrm flipH="1">
            <a:off x="6699524" y="1991111"/>
            <a:ext cx="906280" cy="90861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28" name="Arc 27">
            <a:extLst>
              <a:ext uri="{FF2B5EF4-FFF2-40B4-BE49-F238E27FC236}">
                <a16:creationId xmlns:a16="http://schemas.microsoft.com/office/drawing/2014/main" id="{45AA3B14-9C95-EF4D-B5ED-733567FB14B5}"/>
              </a:ext>
            </a:extLst>
          </p:cNvPr>
          <p:cNvSpPr/>
          <p:nvPr/>
        </p:nvSpPr>
        <p:spPr>
          <a:xfrm rot="19917420">
            <a:off x="4913136" y="2273868"/>
            <a:ext cx="1852482" cy="2518695"/>
          </a:xfrm>
          <a:prstGeom prst="arc">
            <a:avLst>
              <a:gd name="adj1" fmla="val 3466503"/>
              <a:gd name="adj2" fmla="val 15464059"/>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899DCAB8-E0BF-A803-F78A-62E89DF220BD}"/>
              </a:ext>
            </a:extLst>
          </p:cNvPr>
          <p:cNvSpPr txBox="1"/>
          <p:nvPr/>
        </p:nvSpPr>
        <p:spPr>
          <a:xfrm>
            <a:off x="5385471" y="2481912"/>
            <a:ext cx="332142" cy="461665"/>
          </a:xfrm>
          <a:prstGeom prst="rect">
            <a:avLst/>
          </a:prstGeom>
          <a:noFill/>
        </p:spPr>
        <p:txBody>
          <a:bodyPr wrap="none" rtlCol="0">
            <a:spAutoFit/>
          </a:bodyPr>
          <a:lstStyle/>
          <a:p>
            <a:r>
              <a:rPr lang="en-US" sz="2400" dirty="0">
                <a:solidFill>
                  <a:srgbClr val="D10233"/>
                </a:solidFill>
              </a:rPr>
              <a:t>a</a:t>
            </a:r>
          </a:p>
        </p:txBody>
      </p:sp>
      <p:sp>
        <p:nvSpPr>
          <p:cNvPr id="41" name="TextBox 40">
            <a:extLst>
              <a:ext uri="{FF2B5EF4-FFF2-40B4-BE49-F238E27FC236}">
                <a16:creationId xmlns:a16="http://schemas.microsoft.com/office/drawing/2014/main" id="{C13EB2BF-1AD9-71F2-CEFF-FE79DCE35DBD}"/>
              </a:ext>
            </a:extLst>
          </p:cNvPr>
          <p:cNvSpPr txBox="1"/>
          <p:nvPr/>
        </p:nvSpPr>
        <p:spPr>
          <a:xfrm>
            <a:off x="4989923" y="3069105"/>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42" name="TextBox 41">
            <a:extLst>
              <a:ext uri="{FF2B5EF4-FFF2-40B4-BE49-F238E27FC236}">
                <a16:creationId xmlns:a16="http://schemas.microsoft.com/office/drawing/2014/main" id="{DFAAE979-94BC-62F1-E8AD-96562FD07D63}"/>
              </a:ext>
            </a:extLst>
          </p:cNvPr>
          <p:cNvSpPr txBox="1"/>
          <p:nvPr/>
        </p:nvSpPr>
        <p:spPr>
          <a:xfrm>
            <a:off x="5677381" y="3264946"/>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43" name="TextBox 42">
            <a:extLst>
              <a:ext uri="{FF2B5EF4-FFF2-40B4-BE49-F238E27FC236}">
                <a16:creationId xmlns:a16="http://schemas.microsoft.com/office/drawing/2014/main" id="{376A444C-E2ED-2F63-AD21-F4479D95272C}"/>
              </a:ext>
            </a:extLst>
          </p:cNvPr>
          <p:cNvSpPr txBox="1"/>
          <p:nvPr/>
        </p:nvSpPr>
        <p:spPr>
          <a:xfrm>
            <a:off x="5684908" y="4323556"/>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44" name="TextBox 43">
            <a:extLst>
              <a:ext uri="{FF2B5EF4-FFF2-40B4-BE49-F238E27FC236}">
                <a16:creationId xmlns:a16="http://schemas.microsoft.com/office/drawing/2014/main" id="{580261EF-344B-D8A4-8B62-F02B67949F43}"/>
              </a:ext>
            </a:extLst>
          </p:cNvPr>
          <p:cNvSpPr txBox="1"/>
          <p:nvPr/>
        </p:nvSpPr>
        <p:spPr>
          <a:xfrm>
            <a:off x="4919929" y="4065064"/>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45" name="TextBox 44">
            <a:extLst>
              <a:ext uri="{FF2B5EF4-FFF2-40B4-BE49-F238E27FC236}">
                <a16:creationId xmlns:a16="http://schemas.microsoft.com/office/drawing/2014/main" id="{283E28B0-7DE6-A9BC-89C2-5636ED5443DC}"/>
              </a:ext>
            </a:extLst>
          </p:cNvPr>
          <p:cNvSpPr txBox="1"/>
          <p:nvPr/>
        </p:nvSpPr>
        <p:spPr>
          <a:xfrm>
            <a:off x="5272351" y="5160678"/>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46" name="TextBox 45">
            <a:extLst>
              <a:ext uri="{FF2B5EF4-FFF2-40B4-BE49-F238E27FC236}">
                <a16:creationId xmlns:a16="http://schemas.microsoft.com/office/drawing/2014/main" id="{AF785B8B-70E5-F77B-0AC5-8005CDC1BA0F}"/>
              </a:ext>
            </a:extLst>
          </p:cNvPr>
          <p:cNvSpPr txBox="1"/>
          <p:nvPr/>
        </p:nvSpPr>
        <p:spPr>
          <a:xfrm>
            <a:off x="4133930" y="3795978"/>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47" name="TextBox 46">
            <a:extLst>
              <a:ext uri="{FF2B5EF4-FFF2-40B4-BE49-F238E27FC236}">
                <a16:creationId xmlns:a16="http://schemas.microsoft.com/office/drawing/2014/main" id="{60A723BA-FBEF-B5C8-1F2F-342A82EE8BC1}"/>
              </a:ext>
            </a:extLst>
          </p:cNvPr>
          <p:cNvSpPr txBox="1"/>
          <p:nvPr/>
        </p:nvSpPr>
        <p:spPr>
          <a:xfrm>
            <a:off x="6648612" y="3803530"/>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48" name="TextBox 47">
            <a:extLst>
              <a:ext uri="{FF2B5EF4-FFF2-40B4-BE49-F238E27FC236}">
                <a16:creationId xmlns:a16="http://schemas.microsoft.com/office/drawing/2014/main" id="{D06E9CFE-A87F-6ABD-B507-BC5CA6FF9C72}"/>
              </a:ext>
            </a:extLst>
          </p:cNvPr>
          <p:cNvSpPr txBox="1"/>
          <p:nvPr/>
        </p:nvSpPr>
        <p:spPr>
          <a:xfrm>
            <a:off x="7142805" y="2409912"/>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p:sp>
        <p:nvSpPr>
          <p:cNvPr id="34" name="Rectangle 33">
            <a:extLst>
              <a:ext uri="{FF2B5EF4-FFF2-40B4-BE49-F238E27FC236}">
                <a16:creationId xmlns:a16="http://schemas.microsoft.com/office/drawing/2014/main" id="{E137DB64-FEEB-BC49-80C1-A1FD37E95B47}"/>
              </a:ext>
            </a:extLst>
          </p:cNvPr>
          <p:cNvSpPr/>
          <p:nvPr/>
        </p:nvSpPr>
        <p:spPr>
          <a:xfrm>
            <a:off x="146930" y="808760"/>
            <a:ext cx="11594495" cy="52322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algn="ctr"/>
            <a:r>
              <a:rPr lang="en-US" sz="2800" dirty="0">
                <a:solidFill>
                  <a:srgbClr val="002060"/>
                </a:solidFill>
              </a:rPr>
              <a:t>As Spanning tree have 5 branches we get 5 fundamental cut set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C5093C4-459D-5B72-CC2E-DD7AB6A4B233}"/>
                  </a:ext>
                </a:extLst>
              </p:cNvPr>
              <p:cNvSpPr txBox="1"/>
              <p:nvPr/>
            </p:nvSpPr>
            <p:spPr>
              <a:xfrm>
                <a:off x="4661984" y="5622343"/>
                <a:ext cx="1813024" cy="523220"/>
              </a:xfrm>
              <a:prstGeom prst="rect">
                <a:avLst/>
              </a:prstGeom>
              <a:noFill/>
            </p:spPr>
            <p:txBody>
              <a:bodyPr wrap="square">
                <a:spAutoFit/>
              </a:bodyPr>
              <a:lstStyle/>
              <a:p>
                <a:pPr algn="ctr"/>
                <a14:m>
                  <m:oMath xmlns:m="http://schemas.openxmlformats.org/officeDocument/2006/math">
                    <m:d>
                      <m:dPr>
                        <m:begChr m:val="{"/>
                        <m:endChr m:val="}"/>
                        <m:ctrlPr>
                          <a:rPr lang="en-US" sz="2800" i="1" smtClean="0">
                            <a:solidFill>
                              <a:srgbClr val="002060"/>
                            </a:solidFill>
                            <a:latin typeface="Cambria Math" panose="02040503050406030204" pitchFamily="18" charset="0"/>
                          </a:rPr>
                        </m:ctrlPr>
                      </m:dPr>
                      <m:e>
                        <m:r>
                          <m:rPr>
                            <m:sty m:val="p"/>
                          </m:rPr>
                          <a:rPr lang="en-IN" sz="2800" b="0" i="0" smtClean="0">
                            <a:solidFill>
                              <a:srgbClr val="002060"/>
                            </a:solidFill>
                            <a:latin typeface="Cambria Math" panose="02040503050406030204" pitchFamily="18" charset="0"/>
                          </a:rPr>
                          <m:t>a</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e</m:t>
                        </m:r>
                        <m:r>
                          <a:rPr lang="en-IN" sz="2800" b="0" i="0" smtClean="0">
                            <a:solidFill>
                              <a:srgbClr val="002060"/>
                            </a:solidFill>
                            <a:latin typeface="Cambria Math" panose="02040503050406030204" pitchFamily="18" charset="0"/>
                          </a:rPr>
                          <m:t>, </m:t>
                        </m:r>
                        <m:r>
                          <m:rPr>
                            <m:sty m:val="p"/>
                          </m:rPr>
                          <a:rPr lang="en-IN" sz="2800" b="0" i="0" smtClean="0">
                            <a:solidFill>
                              <a:srgbClr val="002060"/>
                            </a:solidFill>
                            <a:latin typeface="Cambria Math" panose="02040503050406030204" pitchFamily="18" charset="0"/>
                          </a:rPr>
                          <m:t>d</m:t>
                        </m:r>
                        <m:r>
                          <a:rPr lang="en-IN" sz="2800" b="0" i="0" smtClean="0">
                            <a:solidFill>
                              <a:srgbClr val="002060"/>
                            </a:solidFill>
                            <a:latin typeface="Cambria Math" panose="02040503050406030204" pitchFamily="18" charset="0"/>
                          </a:rPr>
                          <m:t>,</m:t>
                        </m:r>
                        <m:r>
                          <m:rPr>
                            <m:sty m:val="p"/>
                          </m:rPr>
                          <a:rPr lang="en-IN" sz="2800" b="0" i="0" smtClean="0">
                            <a:solidFill>
                              <a:srgbClr val="002060"/>
                            </a:solidFill>
                            <a:latin typeface="Cambria Math" panose="02040503050406030204" pitchFamily="18" charset="0"/>
                          </a:rPr>
                          <m:t>h</m:t>
                        </m:r>
                      </m:e>
                    </m:d>
                  </m:oMath>
                </a14:m>
                <a:r>
                  <a:rPr lang="en-US" sz="2800" dirty="0">
                    <a:solidFill>
                      <a:srgbClr val="002060"/>
                    </a:solidFill>
                    <a:latin typeface="Cambria Math" panose="02040503050406030204" pitchFamily="18" charset="0"/>
                  </a:rPr>
                  <a:t> </a:t>
                </a:r>
                <a:endParaRPr lang="en-IN" sz="2800" dirty="0">
                  <a:solidFill>
                    <a:srgbClr val="002060"/>
                  </a:solidFill>
                  <a:latin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4C5093C4-459D-5B72-CC2E-DD7AB6A4B233}"/>
                  </a:ext>
                </a:extLst>
              </p:cNvPr>
              <p:cNvSpPr txBox="1">
                <a:spLocks noRot="1" noChangeAspect="1" noMove="1" noResize="1" noEditPoints="1" noAdjustHandles="1" noChangeArrowheads="1" noChangeShapeType="1" noTextEdit="1"/>
              </p:cNvSpPr>
              <p:nvPr/>
            </p:nvSpPr>
            <p:spPr>
              <a:xfrm>
                <a:off x="4661984" y="5622343"/>
                <a:ext cx="1813024" cy="523220"/>
              </a:xfrm>
              <a:prstGeom prst="rect">
                <a:avLst/>
              </a:prstGeom>
              <a:blipFill>
                <a:blip r:embed="rId2"/>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429226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up)">
                                      <p:cBhvr>
                                        <p:cTn id="5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20" grpId="0" animBg="1"/>
      <p:bldP spid="28" grpId="0" animBg="1"/>
      <p:bldP spid="40" grpId="0"/>
      <p:bldP spid="41" grpId="0"/>
      <p:bldP spid="42" grpId="0"/>
      <p:bldP spid="43" grpId="0"/>
      <p:bldP spid="44" grpId="0"/>
      <p:bldP spid="45" grpId="0"/>
      <p:bldP spid="46" grpId="0"/>
      <p:bldP spid="47" grpId="0"/>
      <p:bldP spid="4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0884C-FDF4-08A2-BB7E-BCB2B075E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603973-81DA-752F-14D4-F9966E6E3AE2}"/>
              </a:ext>
            </a:extLst>
          </p:cNvPr>
          <p:cNvSpPr>
            <a:spLocks noGrp="1"/>
          </p:cNvSpPr>
          <p:nvPr>
            <p:ph type="title"/>
          </p:nvPr>
        </p:nvSpPr>
        <p:spPr/>
        <p:txBody>
          <a:bodyPr/>
          <a:lstStyle/>
          <a:p>
            <a:r>
              <a:rPr lang="en-US" dirty="0"/>
              <a:t>What Happened if we change spanning tree </a:t>
            </a:r>
          </a:p>
        </p:txBody>
      </p:sp>
      <p:sp>
        <p:nvSpPr>
          <p:cNvPr id="3" name="Content Placeholder 2">
            <a:extLst>
              <a:ext uri="{FF2B5EF4-FFF2-40B4-BE49-F238E27FC236}">
                <a16:creationId xmlns:a16="http://schemas.microsoft.com/office/drawing/2014/main" id="{B203B839-7F89-D803-C48A-30D06F782D7A}"/>
              </a:ext>
            </a:extLst>
          </p:cNvPr>
          <p:cNvSpPr>
            <a:spLocks noGrp="1"/>
          </p:cNvSpPr>
          <p:nvPr>
            <p:ph idx="1"/>
          </p:nvPr>
        </p:nvSpPr>
        <p:spPr>
          <a:xfrm>
            <a:off x="131179" y="862062"/>
            <a:ext cx="11929641" cy="1279697"/>
          </a:xfrm>
        </p:spPr>
        <p:txBody>
          <a:bodyPr/>
          <a:lstStyle/>
          <a:p>
            <a:r>
              <a:rPr lang="en-US" dirty="0"/>
              <a:t>If we change spanning tree for the same graph, list of fundamental cut set may be change but total number remains same. </a:t>
            </a:r>
            <a:r>
              <a:rPr lang="en-IN" dirty="0"/>
              <a:t>As we have 5 branches we again get 5 fundamental cut set. </a:t>
            </a:r>
          </a:p>
        </p:txBody>
      </p:sp>
      <p:sp>
        <p:nvSpPr>
          <p:cNvPr id="6" name="Oval 5">
            <a:extLst>
              <a:ext uri="{FF2B5EF4-FFF2-40B4-BE49-F238E27FC236}">
                <a16:creationId xmlns:a16="http://schemas.microsoft.com/office/drawing/2014/main" id="{6196B28D-187B-ACFC-468A-12CBE3F4C8B1}"/>
              </a:ext>
            </a:extLst>
          </p:cNvPr>
          <p:cNvSpPr/>
          <p:nvPr/>
        </p:nvSpPr>
        <p:spPr>
          <a:xfrm rot="5400000">
            <a:off x="4448975" y="37455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02F1C60B-9D55-EED1-EC71-4B646D308E93}"/>
              </a:ext>
            </a:extLst>
          </p:cNvPr>
          <p:cNvSpPr/>
          <p:nvPr/>
        </p:nvSpPr>
        <p:spPr>
          <a:xfrm rot="5400000">
            <a:off x="6609207" y="375262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8946F0B5-1549-45DA-1B5F-C5422833B230}"/>
              </a:ext>
            </a:extLst>
          </p:cNvPr>
          <p:cNvSpPr/>
          <p:nvPr/>
        </p:nvSpPr>
        <p:spPr>
          <a:xfrm rot="5400000">
            <a:off x="4448975" y="589066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1BC6480A-4AD3-6458-BD83-5BF459E3B3D6}"/>
              </a:ext>
            </a:extLst>
          </p:cNvPr>
          <p:cNvSpPr/>
          <p:nvPr/>
        </p:nvSpPr>
        <p:spPr>
          <a:xfrm rot="5400000">
            <a:off x="6609207" y="58977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A7B4C006-B991-A3B6-3568-25378CF5C414}"/>
              </a:ext>
            </a:extLst>
          </p:cNvPr>
          <p:cNvSpPr/>
          <p:nvPr/>
        </p:nvSpPr>
        <p:spPr>
          <a:xfrm rot="5400000">
            <a:off x="5601095" y="48002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427EE725-2087-1E4E-363C-D577CCC3B14A}"/>
              </a:ext>
            </a:extLst>
          </p:cNvPr>
          <p:cNvCxnSpPr>
            <a:cxnSpLocks/>
            <a:stCxn id="11" idx="3"/>
            <a:endCxn id="6" idx="7"/>
          </p:cNvCxnSpPr>
          <p:nvPr/>
        </p:nvCxnSpPr>
        <p:spPr>
          <a:xfrm flipH="1" flipV="1">
            <a:off x="4571887" y="3868475"/>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CD99BE5E-5853-AA70-14FB-91C9D0F3D4AD}"/>
              </a:ext>
            </a:extLst>
          </p:cNvPr>
          <p:cNvCxnSpPr>
            <a:cxnSpLocks/>
            <a:stCxn id="9" idx="3"/>
            <a:endCxn id="11" idx="7"/>
          </p:cNvCxnSpPr>
          <p:nvPr/>
        </p:nvCxnSpPr>
        <p:spPr>
          <a:xfrm flipH="1" flipV="1">
            <a:off x="5724007" y="4923139"/>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C616BBF2-84E9-DD30-ED17-EF5F00A297DF}"/>
              </a:ext>
            </a:extLst>
          </p:cNvPr>
          <p:cNvCxnSpPr>
            <a:cxnSpLocks/>
            <a:stCxn id="11" idx="5"/>
            <a:endCxn id="8" idx="1"/>
          </p:cNvCxnSpPr>
          <p:nvPr/>
        </p:nvCxnSpPr>
        <p:spPr>
          <a:xfrm flipH="1">
            <a:off x="4571887" y="4923139"/>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9A3B3A09-059F-0DFD-2F95-BEA6E21DDFA9}"/>
              </a:ext>
            </a:extLst>
          </p:cNvPr>
          <p:cNvCxnSpPr>
            <a:cxnSpLocks/>
            <a:stCxn id="7" idx="5"/>
            <a:endCxn id="11" idx="1"/>
          </p:cNvCxnSpPr>
          <p:nvPr/>
        </p:nvCxnSpPr>
        <p:spPr>
          <a:xfrm flipH="1">
            <a:off x="5724007" y="3875532"/>
            <a:ext cx="906288" cy="945783"/>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0DF61B8D-0B7B-1B72-9C12-3FB8C4E7A9AC}"/>
              </a:ext>
            </a:extLst>
          </p:cNvPr>
          <p:cNvCxnSpPr>
            <a:cxnSpLocks/>
            <a:stCxn id="8" idx="2"/>
            <a:endCxn id="6" idx="6"/>
          </p:cNvCxnSpPr>
          <p:nvPr/>
        </p:nvCxnSpPr>
        <p:spPr>
          <a:xfrm flipV="1">
            <a:off x="4520975" y="3889563"/>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0DDED881-D4D5-5277-9DDD-25AFCF39C426}"/>
              </a:ext>
            </a:extLst>
          </p:cNvPr>
          <p:cNvCxnSpPr>
            <a:cxnSpLocks/>
            <a:stCxn id="9" idx="2"/>
            <a:endCxn id="7" idx="6"/>
          </p:cNvCxnSpPr>
          <p:nvPr/>
        </p:nvCxnSpPr>
        <p:spPr>
          <a:xfrm flipV="1">
            <a:off x="6681207" y="3896620"/>
            <a:ext cx="0" cy="200110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932732B2-C2DA-FBA8-4C04-38E00D2A8901}"/>
              </a:ext>
            </a:extLst>
          </p:cNvPr>
          <p:cNvCxnSpPr>
            <a:cxnSpLocks/>
            <a:stCxn id="6" idx="0"/>
            <a:endCxn id="7" idx="4"/>
          </p:cNvCxnSpPr>
          <p:nvPr/>
        </p:nvCxnSpPr>
        <p:spPr>
          <a:xfrm>
            <a:off x="4592975" y="3817563"/>
            <a:ext cx="2016232" cy="7057"/>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62D0DB8A-2A2B-75EC-3B50-BEBA41228DAB}"/>
              </a:ext>
            </a:extLst>
          </p:cNvPr>
          <p:cNvCxnSpPr>
            <a:cxnSpLocks/>
            <a:stCxn id="8" idx="0"/>
            <a:endCxn id="9" idx="4"/>
          </p:cNvCxnSpPr>
          <p:nvPr/>
        </p:nvCxnSpPr>
        <p:spPr>
          <a:xfrm>
            <a:off x="4592975" y="5962664"/>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D6EB1D24-3FF1-A48B-F703-82F98127B43B}"/>
              </a:ext>
            </a:extLst>
          </p:cNvPr>
          <p:cNvSpPr/>
          <p:nvPr/>
        </p:nvSpPr>
        <p:spPr>
          <a:xfrm rot="5400000">
            <a:off x="7617311" y="274218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8993E8F3-4CEE-909A-93A7-C72A923C5A80}"/>
              </a:ext>
            </a:extLst>
          </p:cNvPr>
          <p:cNvCxnSpPr>
            <a:cxnSpLocks/>
            <a:stCxn id="20" idx="5"/>
            <a:endCxn id="7" idx="1"/>
          </p:cNvCxnSpPr>
          <p:nvPr/>
        </p:nvCxnSpPr>
        <p:spPr>
          <a:xfrm flipH="1">
            <a:off x="6732119" y="2865097"/>
            <a:ext cx="906280" cy="908611"/>
          </a:xfrm>
          <a:prstGeom prst="line">
            <a:avLst/>
          </a:prstGeom>
          <a:solidFill>
            <a:schemeClr val="bg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cxnSp>
      <p:sp>
        <p:nvSpPr>
          <p:cNvPr id="28" name="Arc 27">
            <a:extLst>
              <a:ext uri="{FF2B5EF4-FFF2-40B4-BE49-F238E27FC236}">
                <a16:creationId xmlns:a16="http://schemas.microsoft.com/office/drawing/2014/main" id="{E7D3310E-E521-B368-A442-1062A871DE16}"/>
              </a:ext>
            </a:extLst>
          </p:cNvPr>
          <p:cNvSpPr/>
          <p:nvPr/>
        </p:nvSpPr>
        <p:spPr>
          <a:xfrm rot="8714225">
            <a:off x="4171736" y="5282705"/>
            <a:ext cx="695014" cy="1461742"/>
          </a:xfrm>
          <a:prstGeom prst="arc">
            <a:avLst>
              <a:gd name="adj1" fmla="val 4721426"/>
              <a:gd name="adj2" fmla="val 15464059"/>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2763E8CC-050F-7715-D7B7-8FDFA0C90526}"/>
              </a:ext>
            </a:extLst>
          </p:cNvPr>
          <p:cNvSpPr txBox="1"/>
          <p:nvPr/>
        </p:nvSpPr>
        <p:spPr>
          <a:xfrm>
            <a:off x="5418066" y="3355898"/>
            <a:ext cx="332142" cy="461665"/>
          </a:xfrm>
          <a:prstGeom prst="rect">
            <a:avLst/>
          </a:prstGeom>
          <a:noFill/>
        </p:spPr>
        <p:txBody>
          <a:bodyPr wrap="none" rtlCol="0">
            <a:spAutoFit/>
          </a:bodyPr>
          <a:lstStyle/>
          <a:p>
            <a:r>
              <a:rPr lang="en-US" sz="2400" dirty="0">
                <a:solidFill>
                  <a:srgbClr val="D10233"/>
                </a:solidFill>
              </a:rPr>
              <a:t>a</a:t>
            </a:r>
          </a:p>
        </p:txBody>
      </p:sp>
      <p:sp>
        <p:nvSpPr>
          <p:cNvPr id="41" name="TextBox 40">
            <a:extLst>
              <a:ext uri="{FF2B5EF4-FFF2-40B4-BE49-F238E27FC236}">
                <a16:creationId xmlns:a16="http://schemas.microsoft.com/office/drawing/2014/main" id="{A1E48030-FF5E-D3FF-5E72-CDFF404E654E}"/>
              </a:ext>
            </a:extLst>
          </p:cNvPr>
          <p:cNvSpPr txBox="1"/>
          <p:nvPr/>
        </p:nvSpPr>
        <p:spPr>
          <a:xfrm>
            <a:off x="5022518" y="3943091"/>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42" name="TextBox 41">
            <a:extLst>
              <a:ext uri="{FF2B5EF4-FFF2-40B4-BE49-F238E27FC236}">
                <a16:creationId xmlns:a16="http://schemas.microsoft.com/office/drawing/2014/main" id="{83574B2F-9AB6-5F31-F359-472161BA7AD7}"/>
              </a:ext>
            </a:extLst>
          </p:cNvPr>
          <p:cNvSpPr txBox="1"/>
          <p:nvPr/>
        </p:nvSpPr>
        <p:spPr>
          <a:xfrm>
            <a:off x="5709976" y="4138932"/>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43" name="TextBox 42">
            <a:extLst>
              <a:ext uri="{FF2B5EF4-FFF2-40B4-BE49-F238E27FC236}">
                <a16:creationId xmlns:a16="http://schemas.microsoft.com/office/drawing/2014/main" id="{A98B85EF-E208-3283-78D5-1A6F53E80F4F}"/>
              </a:ext>
            </a:extLst>
          </p:cNvPr>
          <p:cNvSpPr txBox="1"/>
          <p:nvPr/>
        </p:nvSpPr>
        <p:spPr>
          <a:xfrm>
            <a:off x="5717503" y="5197542"/>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44" name="TextBox 43">
            <a:extLst>
              <a:ext uri="{FF2B5EF4-FFF2-40B4-BE49-F238E27FC236}">
                <a16:creationId xmlns:a16="http://schemas.microsoft.com/office/drawing/2014/main" id="{4B2CA8F4-157A-3137-2416-9C4F837E61BF}"/>
              </a:ext>
            </a:extLst>
          </p:cNvPr>
          <p:cNvSpPr txBox="1"/>
          <p:nvPr/>
        </p:nvSpPr>
        <p:spPr>
          <a:xfrm>
            <a:off x="4952524" y="4939050"/>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45" name="TextBox 44">
            <a:extLst>
              <a:ext uri="{FF2B5EF4-FFF2-40B4-BE49-F238E27FC236}">
                <a16:creationId xmlns:a16="http://schemas.microsoft.com/office/drawing/2014/main" id="{198DD11C-F775-31A6-2CF9-76AEFF7DB7B5}"/>
              </a:ext>
            </a:extLst>
          </p:cNvPr>
          <p:cNvSpPr txBox="1"/>
          <p:nvPr/>
        </p:nvSpPr>
        <p:spPr>
          <a:xfrm>
            <a:off x="5304946" y="6034664"/>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46" name="TextBox 45">
            <a:extLst>
              <a:ext uri="{FF2B5EF4-FFF2-40B4-BE49-F238E27FC236}">
                <a16:creationId xmlns:a16="http://schemas.microsoft.com/office/drawing/2014/main" id="{487460E5-4A18-15F9-FD26-BAE12234A3AA}"/>
              </a:ext>
            </a:extLst>
          </p:cNvPr>
          <p:cNvSpPr txBox="1"/>
          <p:nvPr/>
        </p:nvSpPr>
        <p:spPr>
          <a:xfrm>
            <a:off x="4166525" y="4669964"/>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47" name="TextBox 46">
            <a:extLst>
              <a:ext uri="{FF2B5EF4-FFF2-40B4-BE49-F238E27FC236}">
                <a16:creationId xmlns:a16="http://schemas.microsoft.com/office/drawing/2014/main" id="{7C770BC8-D571-0818-BA8C-E3FC1B92F88D}"/>
              </a:ext>
            </a:extLst>
          </p:cNvPr>
          <p:cNvSpPr txBox="1"/>
          <p:nvPr/>
        </p:nvSpPr>
        <p:spPr>
          <a:xfrm>
            <a:off x="6681207" y="4677516"/>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48" name="TextBox 47">
            <a:extLst>
              <a:ext uri="{FF2B5EF4-FFF2-40B4-BE49-F238E27FC236}">
                <a16:creationId xmlns:a16="http://schemas.microsoft.com/office/drawing/2014/main" id="{493BE1F4-F82C-7C72-FB61-58B6F5A1A819}"/>
              </a:ext>
            </a:extLst>
          </p:cNvPr>
          <p:cNvSpPr txBox="1"/>
          <p:nvPr/>
        </p:nvSpPr>
        <p:spPr>
          <a:xfrm>
            <a:off x="7175400" y="3283898"/>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p:sp>
        <p:nvSpPr>
          <p:cNvPr id="4" name="Arc 3">
            <a:extLst>
              <a:ext uri="{FF2B5EF4-FFF2-40B4-BE49-F238E27FC236}">
                <a16:creationId xmlns:a16="http://schemas.microsoft.com/office/drawing/2014/main" id="{1A343956-3CD0-538E-B091-E1806B421965}"/>
              </a:ext>
            </a:extLst>
          </p:cNvPr>
          <p:cNvSpPr/>
          <p:nvPr/>
        </p:nvSpPr>
        <p:spPr>
          <a:xfrm rot="4886181">
            <a:off x="6456344" y="5366068"/>
            <a:ext cx="904286" cy="1461742"/>
          </a:xfrm>
          <a:prstGeom prst="arc">
            <a:avLst>
              <a:gd name="adj1" fmla="val 4721426"/>
              <a:gd name="adj2" fmla="val 15464059"/>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Arc 9">
            <a:extLst>
              <a:ext uri="{FF2B5EF4-FFF2-40B4-BE49-F238E27FC236}">
                <a16:creationId xmlns:a16="http://schemas.microsoft.com/office/drawing/2014/main" id="{981E8DBC-E470-5BD2-B2FB-4A81461B94ED}"/>
              </a:ext>
            </a:extLst>
          </p:cNvPr>
          <p:cNvSpPr/>
          <p:nvPr/>
        </p:nvSpPr>
        <p:spPr>
          <a:xfrm rot="20212502">
            <a:off x="6844390" y="2646209"/>
            <a:ext cx="898235" cy="1461742"/>
          </a:xfrm>
          <a:prstGeom prst="arc">
            <a:avLst>
              <a:gd name="adj1" fmla="val 4721426"/>
              <a:gd name="adj2" fmla="val 15464059"/>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a:extLst>
              <a:ext uri="{FF2B5EF4-FFF2-40B4-BE49-F238E27FC236}">
                <a16:creationId xmlns:a16="http://schemas.microsoft.com/office/drawing/2014/main" id="{4D15EE08-41DB-D8B0-F227-7B8BC6843A62}"/>
              </a:ext>
            </a:extLst>
          </p:cNvPr>
          <p:cNvSpPr/>
          <p:nvPr/>
        </p:nvSpPr>
        <p:spPr>
          <a:xfrm rot="20212502">
            <a:off x="5419039" y="4487224"/>
            <a:ext cx="592574" cy="841508"/>
          </a:xfrm>
          <a:prstGeom prst="arc">
            <a:avLst>
              <a:gd name="adj1" fmla="val 4721426"/>
              <a:gd name="adj2" fmla="val 4509980"/>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551BAEDC-AF8E-2938-04EE-F2965EA3E7D1}"/>
              </a:ext>
            </a:extLst>
          </p:cNvPr>
          <p:cNvSpPr/>
          <p:nvPr/>
        </p:nvSpPr>
        <p:spPr>
          <a:xfrm rot="9975887">
            <a:off x="4391537" y="2928669"/>
            <a:ext cx="838240" cy="4572679"/>
          </a:xfrm>
          <a:prstGeom prst="arc">
            <a:avLst>
              <a:gd name="adj1" fmla="val 5881874"/>
              <a:gd name="adj2" fmla="val 15464059"/>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394403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wipe(up)">
                                      <p:cBhvr>
                                        <p:cTn id="57" dur="500"/>
                                        <p:tgtEl>
                                          <p:spTgt spid="2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wipe(up)">
                                      <p:cBhvr>
                                        <p:cTn id="62" dur="500"/>
                                        <p:tgtEl>
                                          <p:spTgt spid="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wipe(up)">
                                      <p:cBhvr>
                                        <p:cTn id="67" dur="500"/>
                                        <p:tgtEl>
                                          <p:spTgt spid="1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wipe(up)">
                                      <p:cBhvr>
                                        <p:cTn id="72" dur="500"/>
                                        <p:tgtEl>
                                          <p:spTgt spid="2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wipe(up)">
                                      <p:cBhvr>
                                        <p:cTn id="7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20" grpId="0" animBg="1"/>
      <p:bldP spid="28" grpId="0" animBg="1"/>
      <p:bldP spid="40" grpId="0"/>
      <p:bldP spid="41" grpId="0"/>
      <p:bldP spid="42" grpId="0"/>
      <p:bldP spid="43" grpId="0"/>
      <p:bldP spid="44" grpId="0"/>
      <p:bldP spid="45" grpId="0"/>
      <p:bldP spid="46" grpId="0"/>
      <p:bldP spid="47" grpId="0"/>
      <p:bldP spid="48" grpId="0"/>
      <p:bldP spid="4" grpId="0" animBg="1"/>
      <p:bldP spid="10" grpId="0" animBg="1"/>
      <p:bldP spid="22" grpId="0" animBg="1"/>
      <p:bldP spid="2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Remarks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0" y="863446"/>
                <a:ext cx="11929641" cy="4309056"/>
              </a:xfrm>
            </p:spPr>
            <p:txBody>
              <a:bodyPr/>
              <a:lstStyle/>
              <a:p>
                <a:r>
                  <a:rPr lang="en-US" dirty="0"/>
                  <a:t>A </a:t>
                </a:r>
                <a:r>
                  <a:rPr lang="en-US" b="1" dirty="0"/>
                  <a:t>fundamental cut-set</a:t>
                </a:r>
                <a:r>
                  <a:rPr lang="en-US" dirty="0"/>
                  <a:t>:</a:t>
                </a:r>
              </a:p>
              <a:p>
                <a:pPr lvl="1"/>
                <a:r>
                  <a:rPr lang="en-US" dirty="0"/>
                  <a:t>Is always a </a:t>
                </a:r>
                <a:r>
                  <a:rPr lang="en-US" b="1" dirty="0"/>
                  <a:t>cut-set</a:t>
                </a:r>
                <a:r>
                  <a:rPr lang="en-US" dirty="0"/>
                  <a:t> </a:t>
                </a:r>
              </a:p>
              <a:p>
                <a:pPr lvl="1"/>
                <a:r>
                  <a:rPr lang="en-US" dirty="0"/>
                  <a:t>Is defined </a:t>
                </a:r>
                <a:r>
                  <a:rPr lang="en-US" b="1" dirty="0"/>
                  <a:t>with respect to a spanning tree</a:t>
                </a:r>
                <a:endParaRPr lang="en-US" dirty="0"/>
              </a:p>
              <a:p>
                <a:pPr lvl="0">
                  <a:lnSpc>
                    <a:spcPct val="150000"/>
                  </a:lnSpc>
                </a:pPr>
                <a:r>
                  <a:rPr lang="en-US" dirty="0"/>
                  <a:t>Each </a:t>
                </a:r>
                <a:r>
                  <a:rPr lang="en-US" b="1" dirty="0"/>
                  <a:t>branch of a spanning tree</a:t>
                </a:r>
                <a:r>
                  <a:rPr lang="en-US" dirty="0"/>
                  <a:t> defines </a:t>
                </a:r>
                <a:r>
                  <a:rPr lang="en-US" b="1" dirty="0"/>
                  <a:t>one unique fundamental cut-set.</a:t>
                </a:r>
              </a:p>
              <a:p>
                <a:r>
                  <a:rPr lang="en-US" dirty="0"/>
                  <a:t>Similar to:</a:t>
                </a:r>
              </a:p>
              <a:p>
                <a:pPr lvl="1"/>
                <a:r>
                  <a:rPr lang="en-US" dirty="0"/>
                  <a:t>Chord → Fundamental circuit </a:t>
                </a:r>
              </a:p>
              <a:p>
                <a:pPr lvl="1"/>
                <a:r>
                  <a:rPr lang="en-US" dirty="0"/>
                  <a:t>Branch → Fundamental cut-set</a:t>
                </a:r>
                <a:endParaRPr lang="en-US" b="1" dirty="0"/>
              </a:p>
              <a:p>
                <a:pPr lvl="0">
                  <a:lnSpc>
                    <a:spcPct val="150000"/>
                  </a:lnSpc>
                </a:pPr>
                <a:r>
                  <a:rPr lang="en-US" dirty="0">
                    <a:solidFill>
                      <a:srgbClr val="C00000"/>
                    </a:solidFill>
                  </a:rPr>
                  <a:t>Number of fundamental cut-sets = number of branches</a:t>
                </a:r>
                <a14:m>
                  <m:oMath xmlns:m="http://schemas.openxmlformats.org/officeDocument/2006/math">
                    <m:r>
                      <a:rPr lang="en-US" i="0" dirty="0" smtClean="0">
                        <a:solidFill>
                          <a:srgbClr val="C00000"/>
                        </a:solidFill>
                        <a:latin typeface="Cambria Math" panose="02040503050406030204" pitchFamily="18" charset="0"/>
                      </a:rPr>
                      <m:t> = </m:t>
                    </m:r>
                    <m:r>
                      <m:rPr>
                        <m:sty m:val="p"/>
                      </m:rPr>
                      <a:rPr lang="en-US" i="0" dirty="0" smtClean="0">
                        <a:solidFill>
                          <a:srgbClr val="C00000"/>
                        </a:solidFill>
                        <a:latin typeface="Cambria Math" panose="02040503050406030204" pitchFamily="18" charset="0"/>
                      </a:rPr>
                      <m:t>n</m:t>
                    </m:r>
                    <m:r>
                      <a:rPr lang="en-US" i="0" dirty="0" smtClean="0">
                        <a:solidFill>
                          <a:srgbClr val="C00000"/>
                        </a:solidFill>
                        <a:latin typeface="Cambria Math" panose="02040503050406030204" pitchFamily="18" charset="0"/>
                      </a:rPr>
                      <m:t>−1</m:t>
                    </m:r>
                  </m:oMath>
                </a14:m>
                <a:r>
                  <a:rPr lang="en-US" dirty="0">
                    <a:solidFill>
                      <a:srgbClr val="C00000"/>
                    </a:solidFill>
                  </a:rPr>
                  <a:t>.</a:t>
                </a:r>
              </a:p>
            </p:txBody>
          </p:sp>
        </mc:Choice>
        <mc:Fallback xmlns="">
          <p:sp>
            <p:nvSpPr>
              <p:cNvPr id="3" name="Content Placeholder 2">
                <a:extLst>
                  <a:ext uri="{FF2B5EF4-FFF2-40B4-BE49-F238E27FC236}">
                    <a16:creationId xmlns="" xmlns:a16="http://schemas.microsoft.com/office/drawing/2014/main" xmlns:a14="http://schemas.microsoft.com/office/drawing/2010/main" id="{9CB3AA53-5FE6-7420-2832-B8AB64C9E95F}"/>
                  </a:ext>
                </a:extLst>
              </p:cNvPr>
              <p:cNvSpPr>
                <a:spLocks noGrp="1" noRot="1" noChangeAspect="1" noMove="1" noResize="1" noEditPoints="1" noAdjustHandles="1" noChangeArrowheads="1" noChangeShapeType="1" noTextEdit="1"/>
              </p:cNvSpPr>
              <p:nvPr>
                <p:ph idx="1"/>
              </p:nvPr>
            </p:nvSpPr>
            <p:spPr>
              <a:xfrm>
                <a:off x="131180" y="863446"/>
                <a:ext cx="11929641" cy="4309056"/>
              </a:xfrm>
              <a:blipFill rotWithShape="0">
                <a:blip r:embed="rId2"/>
                <a:stretch>
                  <a:fillRect l="-971" t="-2546" b="-2405"/>
                </a:stretch>
              </a:blipFill>
            </p:spPr>
            <p:txBody>
              <a:bodyPr/>
              <a:lstStyle/>
              <a:p>
                <a:r>
                  <a:rPr lang="en-US">
                    <a:noFill/>
                  </a:rPr>
                  <a:t> </a:t>
                </a:r>
              </a:p>
            </p:txBody>
          </p:sp>
        </mc:Fallback>
      </mc:AlternateContent>
    </p:spTree>
    <p:extLst>
      <p:ext uri="{BB962C8B-B14F-4D97-AF65-F5344CB8AC3E}">
        <p14:creationId xmlns:p14="http://schemas.microsoft.com/office/powerpoint/2010/main" val="1329725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Method-2</a:t>
            </a:r>
          </a:p>
        </p:txBody>
      </p:sp>
    </p:spTree>
    <p:extLst>
      <p:ext uri="{BB962C8B-B14F-4D97-AF65-F5344CB8AC3E}">
        <p14:creationId xmlns:p14="http://schemas.microsoft.com/office/powerpoint/2010/main" val="2248205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rc 35"/>
          <p:cNvSpPr/>
          <p:nvPr/>
        </p:nvSpPr>
        <p:spPr>
          <a:xfrm rot="15169182">
            <a:off x="10225673" y="2502149"/>
            <a:ext cx="914400" cy="1335488"/>
          </a:xfrm>
          <a:prstGeom prst="arc">
            <a:avLst>
              <a:gd name="adj1" fmla="val 16200000"/>
              <a:gd name="adj2" fmla="val 1374728"/>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2"/>
          <p:cNvSpPr txBox="1">
            <a:spLocks/>
          </p:cNvSpPr>
          <p:nvPr/>
        </p:nvSpPr>
        <p:spPr>
          <a:xfrm>
            <a:off x="131176" y="867840"/>
            <a:ext cx="11865206" cy="97421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pPr algn="just"/>
            <a:r>
              <a:rPr lang="en-US" sz="2800" dirty="0">
                <a:solidFill>
                  <a:schemeClr val="bg1"/>
                </a:solidFill>
              </a:rPr>
              <a:t>For a given graph find a fundamental cut-set with respect to a spanning tree of your choice. Also determine how many such cut-sets exist.</a:t>
            </a: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1</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86249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47" name="Rectangle 46"/>
          <p:cNvSpPr/>
          <p:nvPr/>
        </p:nvSpPr>
        <p:spPr>
          <a:xfrm>
            <a:off x="16409" y="2363519"/>
            <a:ext cx="12175591" cy="666849"/>
          </a:xfrm>
          <a:prstGeom prst="rect">
            <a:avLst/>
          </a:prstGeom>
        </p:spPr>
        <p:txBody>
          <a:bodyPr wrap="square">
            <a:spAutoFit/>
          </a:bodyPr>
          <a:lstStyle/>
          <a:p>
            <a:pPr marL="265113" indent="-265113" algn="just">
              <a:lnSpc>
                <a:spcPct val="150000"/>
              </a:lnSpc>
              <a:spcBef>
                <a:spcPts val="1000"/>
              </a:spcBef>
              <a:buClr>
                <a:srgbClr val="B84742"/>
              </a:buClr>
              <a:buFont typeface="Wingdings 3" panose="05040102010807070707" pitchFamily="18" charset="2"/>
              <a:buChar char=""/>
            </a:pPr>
            <a:endParaRPr lang="en-US" sz="2800" dirty="0">
              <a:solidFill>
                <a:srgbClr val="002060"/>
              </a:solidFill>
            </a:endParaRP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9CB3AA53-5FE6-7420-2832-B8AB64C9E95F}"/>
                  </a:ext>
                </a:extLst>
              </p:cNvPr>
              <p:cNvSpPr txBox="1">
                <a:spLocks/>
              </p:cNvSpPr>
              <p:nvPr/>
            </p:nvSpPr>
            <p:spPr>
              <a:xfrm>
                <a:off x="131176" y="2530606"/>
                <a:ext cx="8041464" cy="401596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spanning tree (green edges): </a:t>
                </a:r>
                <a14:m>
                  <m:oMath xmlns:m="http://schemas.openxmlformats.org/officeDocument/2006/math">
                    <m:r>
                      <m:rPr>
                        <m:sty m:val="p"/>
                      </m:rPr>
                      <a:rPr lang="en-US" i="0" dirty="0" smtClean="0">
                        <a:latin typeface="Cambria Math" panose="02040503050406030204" pitchFamily="18" charset="0"/>
                      </a:rPr>
                      <m:t>T</m:t>
                    </m:r>
                    <m:r>
                      <a:rPr lang="en-US" i="0" dirty="0">
                        <a:latin typeface="Cambria Math" panose="02040503050406030204" pitchFamily="18" charset="0"/>
                      </a:rPr>
                      <m:t>=</m:t>
                    </m:r>
                    <m:d>
                      <m:dPr>
                        <m:begChr m:val="{"/>
                        <m:endChr m:val="}"/>
                        <m:ctrlPr>
                          <a:rPr lang="en-US" i="1" dirty="0">
                            <a:latin typeface="Cambria Math" panose="02040503050406030204" pitchFamily="18" charset="0"/>
                          </a:rPr>
                        </m:ctrlPr>
                      </m:dPr>
                      <m:e>
                        <m:r>
                          <m:rPr>
                            <m:sty m:val="p"/>
                          </m:rPr>
                          <a:rPr lang="en-US" i="0" dirty="0" err="1">
                            <a:latin typeface="Cambria Math" panose="02040503050406030204" pitchFamily="18" charset="0"/>
                          </a:rPr>
                          <m:t>a</m:t>
                        </m:r>
                        <m:r>
                          <a:rPr lang="en-US" i="0" dirty="0" err="1">
                            <a:latin typeface="Cambria Math" panose="02040503050406030204" pitchFamily="18" charset="0"/>
                          </a:rPr>
                          <m:t>,</m:t>
                        </m:r>
                        <m:r>
                          <m:rPr>
                            <m:sty m:val="p"/>
                          </m:rPr>
                          <a:rPr lang="en-US" i="0" dirty="0" err="1">
                            <a:latin typeface="Cambria Math" panose="02040503050406030204" pitchFamily="18" charset="0"/>
                          </a:rPr>
                          <m:t>b</m:t>
                        </m:r>
                        <m:r>
                          <a:rPr lang="en-US" i="0" dirty="0" err="1">
                            <a:latin typeface="Cambria Math" panose="02040503050406030204" pitchFamily="18" charset="0"/>
                          </a:rPr>
                          <m:t>,</m:t>
                        </m:r>
                        <m:r>
                          <m:rPr>
                            <m:sty m:val="p"/>
                          </m:rPr>
                          <a:rPr lang="en-US" i="0" dirty="0" err="1">
                            <a:latin typeface="Cambria Math" panose="02040503050406030204" pitchFamily="18" charset="0"/>
                          </a:rPr>
                          <m:t>c</m:t>
                        </m:r>
                        <m:r>
                          <a:rPr lang="en-US" i="0" dirty="0" err="1">
                            <a:latin typeface="Cambria Math" panose="02040503050406030204" pitchFamily="18" charset="0"/>
                          </a:rPr>
                          <m:t>,</m:t>
                        </m:r>
                        <m:r>
                          <m:rPr>
                            <m:sty m:val="p"/>
                          </m:rPr>
                          <a:rPr lang="en-US" i="0" dirty="0" err="1">
                            <a:latin typeface="Cambria Math" panose="02040503050406030204" pitchFamily="18" charset="0"/>
                          </a:rPr>
                          <m:t>d</m:t>
                        </m:r>
                        <m:r>
                          <a:rPr lang="en-US" i="0" dirty="0" err="1">
                            <a:latin typeface="Cambria Math" panose="02040503050406030204" pitchFamily="18" charset="0"/>
                          </a:rPr>
                          <m:t>,</m:t>
                        </m:r>
                        <m:r>
                          <m:rPr>
                            <m:sty m:val="p"/>
                          </m:rPr>
                          <a:rPr lang="en-US" i="0" dirty="0" err="1">
                            <a:latin typeface="Cambria Math" panose="02040503050406030204" pitchFamily="18" charset="0"/>
                          </a:rPr>
                          <m:t>h</m:t>
                        </m:r>
                      </m:e>
                    </m:d>
                  </m:oMath>
                </a14:m>
                <a:r>
                  <a:rPr lang="en-IN" dirty="0"/>
                  <a:t>.</a:t>
                </a:r>
              </a:p>
              <a:p>
                <a:r>
                  <a:rPr lang="en-IN" dirty="0"/>
                  <a:t>Now, Take cut set is </a:t>
                </a:r>
                <a14:m>
                  <m:oMath xmlns:m="http://schemas.openxmlformats.org/officeDocument/2006/math">
                    <m:d>
                      <m:dPr>
                        <m:begChr m:val="{"/>
                        <m:endChr m:val="}"/>
                        <m:ctrlPr>
                          <a:rPr lang="en-US" b="0" i="1" smtClean="0">
                            <a:latin typeface="Cambria Math" panose="02040503050406030204" pitchFamily="18" charset="0"/>
                          </a:rPr>
                        </m:ctrlPr>
                      </m:dPr>
                      <m:e>
                        <m:r>
                          <m:rPr>
                            <m:sty m:val="p"/>
                          </m:rPr>
                          <a:rPr lang="en-US" b="0" i="0" smtClean="0">
                            <a:latin typeface="Cambria Math" panose="02040503050406030204" pitchFamily="18" charset="0"/>
                          </a:rPr>
                          <m:t>e</m:t>
                        </m:r>
                        <m:r>
                          <a:rPr lang="en-US" b="0" i="0" smtClean="0">
                            <a:latin typeface="Cambria Math" panose="02040503050406030204" pitchFamily="18" charset="0"/>
                          </a:rPr>
                          <m:t>,</m:t>
                        </m:r>
                        <m:r>
                          <m:rPr>
                            <m:sty m:val="p"/>
                          </m:rPr>
                          <a:rPr lang="en-US" b="0" i="0" smtClean="0">
                            <a:latin typeface="Cambria Math" panose="02040503050406030204" pitchFamily="18" charset="0"/>
                          </a:rPr>
                          <m:t>f</m:t>
                        </m:r>
                        <m:r>
                          <a:rPr lang="en-US" b="0" i="0" smtClean="0">
                            <a:latin typeface="Cambria Math" panose="02040503050406030204" pitchFamily="18" charset="0"/>
                          </a:rPr>
                          <m:t>,</m:t>
                        </m:r>
                        <m:r>
                          <m:rPr>
                            <m:sty m:val="p"/>
                          </m:rPr>
                          <a:rPr lang="en-US" b="0" i="0" smtClean="0">
                            <a:latin typeface="Cambria Math" panose="02040503050406030204" pitchFamily="18" charset="0"/>
                          </a:rPr>
                          <m:t>b</m:t>
                        </m:r>
                      </m:e>
                    </m:d>
                  </m:oMath>
                </a14:m>
                <a:r>
                  <a:rPr lang="en-IN" dirty="0"/>
                  <a:t>.</a:t>
                </a:r>
              </a:p>
              <a:p>
                <a:pPr lvl="0"/>
                <a:r>
                  <a:rPr lang="en-US" dirty="0"/>
                  <a:t>Here it contains </a:t>
                </a:r>
                <a:r>
                  <a:rPr lang="en-US" b="1" dirty="0"/>
                  <a:t>exactly one branch of</a:t>
                </a:r>
                <a14:m>
                  <m:oMath xmlns:m="http://schemas.openxmlformats.org/officeDocument/2006/math">
                    <m:r>
                      <a:rPr lang="en-US" b="1" i="0" dirty="0" smtClean="0">
                        <a:latin typeface="Cambria Math" panose="02040503050406030204" pitchFamily="18" charset="0"/>
                      </a:rPr>
                      <m:t> </m:t>
                    </m:r>
                    <m:r>
                      <a:rPr lang="en-US" b="1" i="0" dirty="0" smtClean="0">
                        <a:latin typeface="Cambria Math" panose="02040503050406030204" pitchFamily="18" charset="0"/>
                      </a:rPr>
                      <m:t>𝐓</m:t>
                    </m:r>
                  </m:oMath>
                </a14:m>
                <a:r>
                  <a:rPr lang="en-US" b="1" dirty="0"/>
                  <a:t> </a:t>
                </a:r>
                <a:r>
                  <a:rPr lang="en-US" dirty="0"/>
                  <a:t>(edge</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b</m:t>
                    </m:r>
                  </m:oMath>
                </a14:m>
                <a:r>
                  <a:rPr lang="en-US" dirty="0"/>
                  <a:t>).</a:t>
                </a:r>
              </a:p>
              <a:p>
                <a:pPr lvl="0"/>
                <a14:m>
                  <m:oMath xmlns:m="http://schemas.openxmlformats.org/officeDocument/2006/math">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e</m:t>
                        </m:r>
                        <m:r>
                          <a:rPr lang="en-US">
                            <a:latin typeface="Cambria Math" panose="02040503050406030204" pitchFamily="18" charset="0"/>
                          </a:rPr>
                          <m:t>,</m:t>
                        </m:r>
                        <m:r>
                          <m:rPr>
                            <m:sty m:val="p"/>
                          </m:rPr>
                          <a:rPr lang="en-US">
                            <a:latin typeface="Cambria Math" panose="02040503050406030204" pitchFamily="18" charset="0"/>
                          </a:rPr>
                          <m:t>f</m:t>
                        </m:r>
                        <m:r>
                          <a:rPr lang="en-US">
                            <a:latin typeface="Cambria Math" panose="02040503050406030204" pitchFamily="18" charset="0"/>
                          </a:rPr>
                          <m:t>,</m:t>
                        </m:r>
                        <m:r>
                          <m:rPr>
                            <m:sty m:val="p"/>
                          </m:rPr>
                          <a:rPr lang="en-US">
                            <a:latin typeface="Cambria Math" panose="02040503050406030204" pitchFamily="18" charset="0"/>
                          </a:rPr>
                          <m:t>b</m:t>
                        </m:r>
                      </m:e>
                    </m:d>
                  </m:oMath>
                </a14:m>
                <a:r>
                  <a:rPr lang="en-IN" dirty="0"/>
                  <a:t> is a fundamental cut set. </a:t>
                </a:r>
              </a:p>
              <a:p>
                <a:r>
                  <a:rPr lang="en-US" b="1" dirty="0"/>
                  <a:t>Number of Fundamental Cut-Sets = </a:t>
                </a:r>
                <a:r>
                  <a:rPr lang="en-US" dirty="0"/>
                  <a:t>number of branches of spanning tree</a:t>
                </a:r>
                <a14:m>
                  <m:oMath xmlns:m="http://schemas.openxmlformats.org/officeDocument/2006/math">
                    <m:r>
                      <a:rPr lang="en-US" i="0" dirty="0" smtClean="0">
                        <a:latin typeface="Cambria Math" panose="02040503050406030204" pitchFamily="18" charset="0"/>
                      </a:rPr>
                      <m:t> = </m:t>
                    </m:r>
                    <m:r>
                      <m:rPr>
                        <m:sty m:val="p"/>
                      </m:rPr>
                      <a:rPr lang="en-US" i="0" dirty="0" smtClean="0">
                        <a:latin typeface="Cambria Math" panose="02040503050406030204" pitchFamily="18" charset="0"/>
                      </a:rPr>
                      <m:t>n</m:t>
                    </m:r>
                    <m:r>
                      <a:rPr lang="en-US" i="0" dirty="0">
                        <a:latin typeface="Cambria Math" panose="02040503050406030204" pitchFamily="18" charset="0"/>
                      </a:rPr>
                      <m:t>−1=5−</m:t>
                    </m:r>
                    <m:r>
                      <a:rPr lang="en-US" i="0" dirty="0" smtClean="0">
                        <a:latin typeface="Cambria Math" panose="02040503050406030204" pitchFamily="18" charset="0"/>
                      </a:rPr>
                      <m:t>1=4</m:t>
                    </m:r>
                  </m:oMath>
                </a14:m>
                <a:r>
                  <a:rPr lang="en-IN" dirty="0"/>
                  <a:t>.</a:t>
                </a:r>
              </a:p>
            </p:txBody>
          </p:sp>
        </mc:Choice>
        <mc:Fallback xmlns="">
          <p:sp>
            <p:nvSpPr>
              <p:cNvPr id="12" name="Content Placeholder 2">
                <a:extLst>
                  <a:ext uri="{FF2B5EF4-FFF2-40B4-BE49-F238E27FC236}">
                    <a16:creationId xmlns="" xmlns:a16="http://schemas.microsoft.com/office/drawing/2014/main" xmlns:a14="http://schemas.microsoft.com/office/drawing/2010/main" id="{9CB3AA53-5FE6-7420-2832-B8AB64C9E95F}"/>
                  </a:ext>
                </a:extLst>
              </p:cNvPr>
              <p:cNvSpPr txBox="1">
                <a:spLocks noRot="1" noChangeAspect="1" noMove="1" noResize="1" noEditPoints="1" noAdjustHandles="1" noChangeArrowheads="1" noChangeShapeType="1" noTextEdit="1"/>
              </p:cNvSpPr>
              <p:nvPr/>
            </p:nvSpPr>
            <p:spPr>
              <a:xfrm>
                <a:off x="131176" y="2530606"/>
                <a:ext cx="8041464" cy="4015968"/>
              </a:xfrm>
              <a:prstGeom prst="rect">
                <a:avLst/>
              </a:prstGeom>
              <a:blipFill rotWithShape="0">
                <a:blip r:embed="rId2"/>
                <a:stretch>
                  <a:fillRect l="-1440" t="-2580" r="-1516"/>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BDD11F87-DA81-9510-C1CB-0AF4093562CB}"/>
              </a:ext>
            </a:extLst>
          </p:cNvPr>
          <p:cNvSpPr/>
          <p:nvPr/>
        </p:nvSpPr>
        <p:spPr>
          <a:xfrm rot="5400000">
            <a:off x="9245659" y="26195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8533286" y="333964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9965739" y="333964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 name="Straight Connector 15">
            <a:extLst>
              <a:ext uri="{FF2B5EF4-FFF2-40B4-BE49-F238E27FC236}">
                <a16:creationId xmlns:a16="http://schemas.microsoft.com/office/drawing/2014/main" id="{6205DD86-315C-53B6-CEEF-A9919650168E}"/>
              </a:ext>
            </a:extLst>
          </p:cNvPr>
          <p:cNvCxnSpPr>
            <a:cxnSpLocks/>
            <a:stCxn id="13" idx="5"/>
            <a:endCxn id="14" idx="1"/>
          </p:cNvCxnSpPr>
          <p:nvPr/>
        </p:nvCxnSpPr>
        <p:spPr>
          <a:xfrm flipH="1">
            <a:off x="8656198" y="2742474"/>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15" idx="4"/>
            <a:endCxn id="14" idx="0"/>
          </p:cNvCxnSpPr>
          <p:nvPr/>
        </p:nvCxnSpPr>
        <p:spPr>
          <a:xfrm flipH="1">
            <a:off x="8677286" y="3411642"/>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 name="Oval 17">
            <a:extLst>
              <a:ext uri="{FF2B5EF4-FFF2-40B4-BE49-F238E27FC236}">
                <a16:creationId xmlns:a16="http://schemas.microsoft.com/office/drawing/2014/main" id="{BDD11F87-DA81-9510-C1CB-0AF4093562CB}"/>
              </a:ext>
            </a:extLst>
          </p:cNvPr>
          <p:cNvSpPr/>
          <p:nvPr/>
        </p:nvSpPr>
        <p:spPr>
          <a:xfrm rot="5400000">
            <a:off x="8525579" y="47798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9965739" y="47798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14" idx="6"/>
            <a:endCxn id="18" idx="2"/>
          </p:cNvCxnSpPr>
          <p:nvPr/>
        </p:nvCxnSpPr>
        <p:spPr>
          <a:xfrm flipH="1">
            <a:off x="8597579" y="3483642"/>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6205DD86-315C-53B6-CEEF-A9919650168E}"/>
              </a:ext>
            </a:extLst>
          </p:cNvPr>
          <p:cNvCxnSpPr>
            <a:cxnSpLocks/>
            <a:stCxn id="15" idx="6"/>
            <a:endCxn id="20" idx="2"/>
          </p:cNvCxnSpPr>
          <p:nvPr/>
        </p:nvCxnSpPr>
        <p:spPr>
          <a:xfrm>
            <a:off x="10037739" y="3483642"/>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20" idx="4"/>
            <a:endCxn id="18" idx="0"/>
          </p:cNvCxnSpPr>
          <p:nvPr/>
        </p:nvCxnSpPr>
        <p:spPr>
          <a:xfrm flipH="1">
            <a:off x="8669579" y="4851802"/>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6205DD86-315C-53B6-CEEF-A9919650168E}"/>
              </a:ext>
            </a:extLst>
          </p:cNvPr>
          <p:cNvCxnSpPr>
            <a:cxnSpLocks/>
            <a:stCxn id="20" idx="3"/>
            <a:endCxn id="14" idx="7"/>
          </p:cNvCxnSpPr>
          <p:nvPr/>
        </p:nvCxnSpPr>
        <p:spPr>
          <a:xfrm flipH="1" flipV="1">
            <a:off x="8656198" y="3462554"/>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5" name="TextBox 24"/>
          <p:cNvSpPr txBox="1"/>
          <p:nvPr/>
        </p:nvSpPr>
        <p:spPr>
          <a:xfrm>
            <a:off x="8615791" y="2565575"/>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6" name="TextBox 25"/>
          <p:cNvSpPr txBox="1"/>
          <p:nvPr/>
        </p:nvSpPr>
        <p:spPr>
          <a:xfrm>
            <a:off x="9197607" y="2847940"/>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7" name="TextBox 26"/>
          <p:cNvSpPr txBox="1"/>
          <p:nvPr/>
        </p:nvSpPr>
        <p:spPr>
          <a:xfrm>
            <a:off x="10015022" y="2363519"/>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8" name="TextBox 27"/>
          <p:cNvSpPr txBox="1"/>
          <p:nvPr/>
        </p:nvSpPr>
        <p:spPr>
          <a:xfrm>
            <a:off x="10058811" y="3865386"/>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9" name="TextBox 28"/>
          <p:cNvSpPr txBox="1"/>
          <p:nvPr/>
        </p:nvSpPr>
        <p:spPr>
          <a:xfrm>
            <a:off x="8971979" y="4102973"/>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30" name="TextBox 29"/>
          <p:cNvSpPr txBox="1"/>
          <p:nvPr/>
        </p:nvSpPr>
        <p:spPr>
          <a:xfrm>
            <a:off x="8253000" y="3667636"/>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32" name="TextBox 31"/>
          <p:cNvSpPr txBox="1"/>
          <p:nvPr/>
        </p:nvSpPr>
        <p:spPr>
          <a:xfrm>
            <a:off x="10792846" y="314435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33" name="TextBox 32"/>
          <p:cNvSpPr txBox="1"/>
          <p:nvPr/>
        </p:nvSpPr>
        <p:spPr>
          <a:xfrm>
            <a:off x="9156378" y="4851801"/>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34" name="Oval 33">
            <a:extLst>
              <a:ext uri="{FF2B5EF4-FFF2-40B4-BE49-F238E27FC236}">
                <a16:creationId xmlns:a16="http://schemas.microsoft.com/office/drawing/2014/main" id="{BDD11F87-DA81-9510-C1CB-0AF4093562CB}"/>
              </a:ext>
            </a:extLst>
          </p:cNvPr>
          <p:cNvSpPr/>
          <p:nvPr/>
        </p:nvSpPr>
        <p:spPr>
          <a:xfrm rot="5400000">
            <a:off x="10696828" y="25995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7" name="Arc 36"/>
          <p:cNvSpPr/>
          <p:nvPr/>
        </p:nvSpPr>
        <p:spPr>
          <a:xfrm rot="20823509">
            <a:off x="9863470" y="2676625"/>
            <a:ext cx="1163058" cy="814200"/>
          </a:xfrm>
          <a:prstGeom prst="arc">
            <a:avLst>
              <a:gd name="adj1" fmla="val 19664884"/>
              <a:gd name="adj2" fmla="val 8732249"/>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8" name="Arc 37"/>
          <p:cNvSpPr/>
          <p:nvPr/>
        </p:nvSpPr>
        <p:spPr>
          <a:xfrm rot="3337239">
            <a:off x="8193511" y="2746314"/>
            <a:ext cx="862405" cy="1475572"/>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29117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7" presetClass="emph" presetSubtype="2" fill="hold" nodeType="clickEffect">
                                  <p:stCondLst>
                                    <p:cond delay="0"/>
                                  </p:stCondLst>
                                  <p:childTnLst>
                                    <p:animClr clrSpc="rgb" dir="cw">
                                      <p:cBhvr>
                                        <p:cTn id="26" dur="500" fill="hold"/>
                                        <p:tgtEl>
                                          <p:spTgt spid="21"/>
                                        </p:tgtEl>
                                        <p:attrNameLst>
                                          <p:attrName>stroke.color</p:attrName>
                                        </p:attrNameLst>
                                      </p:cBhvr>
                                      <p:to>
                                        <a:srgbClr val="B9D98F"/>
                                      </p:to>
                                    </p:animClr>
                                    <p:set>
                                      <p:cBhvr>
                                        <p:cTn id="27" dur="500" fill="hold"/>
                                        <p:tgtEl>
                                          <p:spTgt spid="21"/>
                                        </p:tgtEl>
                                        <p:attrNameLst>
                                          <p:attrName>stroke.on</p:attrName>
                                        </p:attrNameLst>
                                      </p:cBhvr>
                                      <p:to>
                                        <p:strVal val="true"/>
                                      </p:to>
                                    </p:set>
                                  </p:childTnLst>
                                </p:cTn>
                              </p:par>
                              <p:par>
                                <p:cTn id="28" presetID="7" presetClass="emph" presetSubtype="2" fill="hold" nodeType="withEffect">
                                  <p:stCondLst>
                                    <p:cond delay="0"/>
                                  </p:stCondLst>
                                  <p:childTnLst>
                                    <p:animClr clrSpc="rgb" dir="cw">
                                      <p:cBhvr>
                                        <p:cTn id="29" dur="500" fill="hold"/>
                                        <p:tgtEl>
                                          <p:spTgt spid="16"/>
                                        </p:tgtEl>
                                        <p:attrNameLst>
                                          <p:attrName>stroke.color</p:attrName>
                                        </p:attrNameLst>
                                      </p:cBhvr>
                                      <p:to>
                                        <a:srgbClr val="B9D98F"/>
                                      </p:to>
                                    </p:animClr>
                                    <p:set>
                                      <p:cBhvr>
                                        <p:cTn id="30" dur="500" fill="hold"/>
                                        <p:tgtEl>
                                          <p:spTgt spid="16"/>
                                        </p:tgtEl>
                                        <p:attrNameLst>
                                          <p:attrName>stroke.on</p:attrName>
                                        </p:attrNameLst>
                                      </p:cBhvr>
                                      <p:to>
                                        <p:strVal val="true"/>
                                      </p:to>
                                    </p:set>
                                  </p:childTnLst>
                                </p:cTn>
                              </p:par>
                              <p:par>
                                <p:cTn id="31" presetID="7" presetClass="emph" presetSubtype="2" fill="hold" nodeType="withEffect">
                                  <p:stCondLst>
                                    <p:cond delay="0"/>
                                  </p:stCondLst>
                                  <p:childTnLst>
                                    <p:animClr clrSpc="rgb" dir="cw">
                                      <p:cBhvr>
                                        <p:cTn id="32" dur="500" fill="hold"/>
                                        <p:tgtEl>
                                          <p:spTgt spid="23"/>
                                        </p:tgtEl>
                                        <p:attrNameLst>
                                          <p:attrName>stroke.color</p:attrName>
                                        </p:attrNameLst>
                                      </p:cBhvr>
                                      <p:to>
                                        <a:srgbClr val="B9D98F"/>
                                      </p:to>
                                    </p:animClr>
                                    <p:set>
                                      <p:cBhvr>
                                        <p:cTn id="33" dur="500" fill="hold"/>
                                        <p:tgtEl>
                                          <p:spTgt spid="23"/>
                                        </p:tgtEl>
                                        <p:attrNameLst>
                                          <p:attrName>stroke.on</p:attrName>
                                        </p:attrNameLst>
                                      </p:cBhvr>
                                      <p:to>
                                        <p:strVal val="true"/>
                                      </p:to>
                                    </p:set>
                                  </p:childTnLst>
                                </p:cTn>
                              </p:par>
                              <p:par>
                                <p:cTn id="34" presetID="7" presetClass="emph" presetSubtype="2" fill="hold" nodeType="withEffect">
                                  <p:stCondLst>
                                    <p:cond delay="0"/>
                                  </p:stCondLst>
                                  <p:childTnLst>
                                    <p:animClr clrSpc="rgb" dir="cw">
                                      <p:cBhvr>
                                        <p:cTn id="35" dur="500" fill="hold"/>
                                        <p:tgtEl>
                                          <p:spTgt spid="22"/>
                                        </p:tgtEl>
                                        <p:attrNameLst>
                                          <p:attrName>stroke.color</p:attrName>
                                        </p:attrNameLst>
                                      </p:cBhvr>
                                      <p:to>
                                        <a:srgbClr val="B9D98F"/>
                                      </p:to>
                                    </p:animClr>
                                    <p:set>
                                      <p:cBhvr>
                                        <p:cTn id="36" dur="500" fill="hold"/>
                                        <p:tgtEl>
                                          <p:spTgt spid="2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500" fill="hold"/>
                                        <p:tgtEl>
                                          <p:spTgt spid="36"/>
                                        </p:tgtEl>
                                        <p:attrNameLst>
                                          <p:attrName>stroke.color</p:attrName>
                                        </p:attrNameLst>
                                      </p:cBhvr>
                                      <p:to>
                                        <a:srgbClr val="B9D98F"/>
                                      </p:to>
                                    </p:animClr>
                                    <p:set>
                                      <p:cBhvr>
                                        <p:cTn id="39" dur="500" fill="hold"/>
                                        <p:tgtEl>
                                          <p:spTgt spid="36"/>
                                        </p:tgtEl>
                                        <p:attrNameLst>
                                          <p:attrName>stroke.on</p:attrName>
                                        </p:attrNameLst>
                                      </p:cBhvr>
                                      <p:to>
                                        <p:strVal val="true"/>
                                      </p:to>
                                    </p:se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up)">
                                      <p:cBhvr>
                                        <p:cTn id="44"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95218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pPr algn="just"/>
            <a:r>
              <a:rPr lang="en-US" sz="2800" dirty="0">
                <a:solidFill>
                  <a:schemeClr val="bg1"/>
                </a:solidFill>
              </a:rPr>
              <a:t>Pick an arbitrary spanning tree in the given graph. List all fundamental cutsets with respect to this tree.</a:t>
            </a: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2(Cont.)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86249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267" name="Content Placeholder 2">
                <a:extLst>
                  <a:ext uri="{FF2B5EF4-FFF2-40B4-BE49-F238E27FC236}">
                    <a16:creationId xmlns:a16="http://schemas.microsoft.com/office/drawing/2014/main" id="{9CB3AA53-5FE6-7420-2832-B8AB64C9E95F}"/>
                  </a:ext>
                </a:extLst>
              </p:cNvPr>
              <p:cNvSpPr txBox="1">
                <a:spLocks/>
              </p:cNvSpPr>
              <p:nvPr/>
            </p:nvSpPr>
            <p:spPr>
              <a:xfrm>
                <a:off x="131176" y="2530606"/>
                <a:ext cx="8061128" cy="373767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Consider a spanning tree (green edges in figure).</a:t>
                </a:r>
              </a:p>
              <a:p>
                <a:r>
                  <a:rPr lang="en-US" dirty="0"/>
                  <a:t>Number of fundamental cut-sets = number of branches.</a:t>
                </a:r>
              </a:p>
              <a:p>
                <a:r>
                  <a:rPr lang="en-US" dirty="0"/>
                  <a:t>Here number of vertices is 8, branches </a:t>
                </a:r>
                <a14:m>
                  <m:oMath xmlns:m="http://schemas.openxmlformats.org/officeDocument/2006/math">
                    <m:r>
                      <a:rPr lang="en-US" i="0" dirty="0" smtClean="0">
                        <a:latin typeface="Cambria Math" panose="02040503050406030204" pitchFamily="18" charset="0"/>
                      </a:rPr>
                      <m:t>= 8</m:t>
                    </m:r>
                    <m:r>
                      <a:rPr lang="en-US" i="0" dirty="0">
                        <a:latin typeface="Cambria Math" panose="02040503050406030204" pitchFamily="18" charset="0"/>
                      </a:rPr>
                      <m:t>−</m:t>
                    </m:r>
                    <m:r>
                      <a:rPr lang="en-US" i="0" dirty="0" smtClean="0">
                        <a:latin typeface="Cambria Math" panose="02040503050406030204" pitchFamily="18" charset="0"/>
                      </a:rPr>
                      <m:t>1 = 7</m:t>
                    </m:r>
                  </m:oMath>
                </a14:m>
                <a:endParaRPr lang="en-US" dirty="0"/>
              </a:p>
              <a:p>
                <a:r>
                  <a:rPr lang="en-US" dirty="0"/>
                  <a:t>Hence, </a:t>
                </a:r>
                <a:r>
                  <a:rPr lang="en-US" b="1" dirty="0"/>
                  <a:t>Total fundamental cut-sets = 7</a:t>
                </a:r>
                <a:r>
                  <a:rPr lang="en-US" dirty="0"/>
                  <a:t>.</a:t>
                </a:r>
              </a:p>
              <a:p>
                <a:r>
                  <a:rPr lang="en-US" dirty="0"/>
                  <a:t>As each </a:t>
                </a:r>
                <a:r>
                  <a:rPr lang="en-US" b="1" dirty="0"/>
                  <a:t>branch gives one fundamental cut-set.</a:t>
                </a:r>
                <a:r>
                  <a:rPr lang="en-US" dirty="0"/>
                  <a:t> Now we are listing all 7 fundamental cut-sets.</a:t>
                </a:r>
              </a:p>
            </p:txBody>
          </p:sp>
        </mc:Choice>
        <mc:Fallback xmlns="">
          <p:sp>
            <p:nvSpPr>
              <p:cNvPr id="267" name="Content Placeholder 2">
                <a:extLst>
                  <a:ext uri="{FF2B5EF4-FFF2-40B4-BE49-F238E27FC236}">
                    <a16:creationId xmlns:a14="http://schemas.microsoft.com/office/drawing/2010/main" xmlns="" xmlns:a16="http://schemas.microsoft.com/office/drawing/2014/main" id="{9CB3AA53-5FE6-7420-2832-B8AB64C9E95F}"/>
                  </a:ext>
                </a:extLst>
              </p:cNvPr>
              <p:cNvSpPr txBox="1">
                <a:spLocks noRot="1" noChangeAspect="1" noMove="1" noResize="1" noEditPoints="1" noAdjustHandles="1" noChangeArrowheads="1" noChangeShapeType="1" noTextEdit="1"/>
              </p:cNvSpPr>
              <p:nvPr/>
            </p:nvSpPr>
            <p:spPr>
              <a:xfrm>
                <a:off x="131176" y="2530606"/>
                <a:ext cx="8061128" cy="3737672"/>
              </a:xfrm>
              <a:prstGeom prst="rect">
                <a:avLst/>
              </a:prstGeom>
              <a:blipFill rotWithShape="0">
                <a:blip r:embed="rId2"/>
                <a:stretch>
                  <a:fillRect l="-1437" t="-2773" r="-1513"/>
                </a:stretch>
              </a:blipFill>
            </p:spPr>
            <p:txBody>
              <a:bodyPr/>
              <a:lstStyle/>
              <a:p>
                <a:r>
                  <a:rPr lang="en-US">
                    <a:noFill/>
                  </a:rPr>
                  <a:t> </a:t>
                </a:r>
              </a:p>
            </p:txBody>
          </p:sp>
        </mc:Fallback>
      </mc:AlternateContent>
      <p:sp>
        <p:nvSpPr>
          <p:cNvPr id="269" name="Oval 268">
            <a:extLst>
              <a:ext uri="{FF2B5EF4-FFF2-40B4-BE49-F238E27FC236}">
                <a16:creationId xmlns:a16="http://schemas.microsoft.com/office/drawing/2014/main" id="{BDD11F87-DA81-9510-C1CB-0AF4093562CB}"/>
              </a:ext>
            </a:extLst>
          </p:cNvPr>
          <p:cNvSpPr/>
          <p:nvPr/>
        </p:nvSpPr>
        <p:spPr>
          <a:xfrm rot="5400000">
            <a:off x="10020148" y="23762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0" name="Oval 269">
            <a:extLst>
              <a:ext uri="{FF2B5EF4-FFF2-40B4-BE49-F238E27FC236}">
                <a16:creationId xmlns:a16="http://schemas.microsoft.com/office/drawing/2014/main" id="{BDD11F87-DA81-9510-C1CB-0AF4093562CB}"/>
              </a:ext>
            </a:extLst>
          </p:cNvPr>
          <p:cNvSpPr/>
          <p:nvPr/>
        </p:nvSpPr>
        <p:spPr>
          <a:xfrm rot="5400000">
            <a:off x="9307775" y="309633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1" name="Oval 270">
            <a:extLst>
              <a:ext uri="{FF2B5EF4-FFF2-40B4-BE49-F238E27FC236}">
                <a16:creationId xmlns:a16="http://schemas.microsoft.com/office/drawing/2014/main" id="{BDD11F87-DA81-9510-C1CB-0AF4093562CB}"/>
              </a:ext>
            </a:extLst>
          </p:cNvPr>
          <p:cNvSpPr/>
          <p:nvPr/>
        </p:nvSpPr>
        <p:spPr>
          <a:xfrm rot="5400000">
            <a:off x="10740228" y="309633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72" name="Straight Connector 271">
            <a:extLst>
              <a:ext uri="{FF2B5EF4-FFF2-40B4-BE49-F238E27FC236}">
                <a16:creationId xmlns:a16="http://schemas.microsoft.com/office/drawing/2014/main" id="{6205DD86-315C-53B6-CEEF-A9919650168E}"/>
              </a:ext>
            </a:extLst>
          </p:cNvPr>
          <p:cNvCxnSpPr>
            <a:cxnSpLocks/>
            <a:stCxn id="269" idx="5"/>
            <a:endCxn id="270" idx="1"/>
          </p:cNvCxnSpPr>
          <p:nvPr/>
        </p:nvCxnSpPr>
        <p:spPr>
          <a:xfrm flipH="1">
            <a:off x="9430687" y="2499165"/>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73" name="Straight Connector 272">
            <a:extLst>
              <a:ext uri="{FF2B5EF4-FFF2-40B4-BE49-F238E27FC236}">
                <a16:creationId xmlns:a16="http://schemas.microsoft.com/office/drawing/2014/main" id="{6205DD86-315C-53B6-CEEF-A9919650168E}"/>
              </a:ext>
            </a:extLst>
          </p:cNvPr>
          <p:cNvCxnSpPr>
            <a:cxnSpLocks/>
            <a:stCxn id="269" idx="7"/>
            <a:endCxn id="271" idx="3"/>
          </p:cNvCxnSpPr>
          <p:nvPr/>
        </p:nvCxnSpPr>
        <p:spPr>
          <a:xfrm>
            <a:off x="10143060" y="2499165"/>
            <a:ext cx="618256"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74" name="Straight Connector 273">
            <a:extLst>
              <a:ext uri="{FF2B5EF4-FFF2-40B4-BE49-F238E27FC236}">
                <a16:creationId xmlns:a16="http://schemas.microsoft.com/office/drawing/2014/main" id="{6205DD86-315C-53B6-CEEF-A9919650168E}"/>
              </a:ext>
            </a:extLst>
          </p:cNvPr>
          <p:cNvCxnSpPr>
            <a:cxnSpLocks/>
            <a:stCxn id="271" idx="4"/>
            <a:endCxn id="270" idx="0"/>
          </p:cNvCxnSpPr>
          <p:nvPr/>
        </p:nvCxnSpPr>
        <p:spPr>
          <a:xfrm flipH="1">
            <a:off x="9451775" y="3168333"/>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75" name="Oval 274">
            <a:extLst>
              <a:ext uri="{FF2B5EF4-FFF2-40B4-BE49-F238E27FC236}">
                <a16:creationId xmlns:a16="http://schemas.microsoft.com/office/drawing/2014/main" id="{BDD11F87-DA81-9510-C1CB-0AF4093562CB}"/>
              </a:ext>
            </a:extLst>
          </p:cNvPr>
          <p:cNvSpPr/>
          <p:nvPr/>
        </p:nvSpPr>
        <p:spPr>
          <a:xfrm rot="5400000">
            <a:off x="9300068" y="45364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6" name="Oval 275">
            <a:extLst>
              <a:ext uri="{FF2B5EF4-FFF2-40B4-BE49-F238E27FC236}">
                <a16:creationId xmlns:a16="http://schemas.microsoft.com/office/drawing/2014/main" id="{BDD11F87-DA81-9510-C1CB-0AF4093562CB}"/>
              </a:ext>
            </a:extLst>
          </p:cNvPr>
          <p:cNvSpPr/>
          <p:nvPr/>
        </p:nvSpPr>
        <p:spPr>
          <a:xfrm rot="5400000">
            <a:off x="10740228" y="45364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77" name="Straight Connector 276">
            <a:extLst>
              <a:ext uri="{FF2B5EF4-FFF2-40B4-BE49-F238E27FC236}">
                <a16:creationId xmlns:a16="http://schemas.microsoft.com/office/drawing/2014/main" id="{6205DD86-315C-53B6-CEEF-A9919650168E}"/>
              </a:ext>
            </a:extLst>
          </p:cNvPr>
          <p:cNvCxnSpPr>
            <a:cxnSpLocks/>
            <a:stCxn id="270" idx="6"/>
            <a:endCxn id="275" idx="2"/>
          </p:cNvCxnSpPr>
          <p:nvPr/>
        </p:nvCxnSpPr>
        <p:spPr>
          <a:xfrm flipH="1">
            <a:off x="9372068" y="3240333"/>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78" name="Straight Connector 277">
            <a:extLst>
              <a:ext uri="{FF2B5EF4-FFF2-40B4-BE49-F238E27FC236}">
                <a16:creationId xmlns:a16="http://schemas.microsoft.com/office/drawing/2014/main" id="{6205DD86-315C-53B6-CEEF-A9919650168E}"/>
              </a:ext>
            </a:extLst>
          </p:cNvPr>
          <p:cNvCxnSpPr>
            <a:cxnSpLocks/>
            <a:stCxn id="271" idx="6"/>
            <a:endCxn id="276" idx="2"/>
          </p:cNvCxnSpPr>
          <p:nvPr/>
        </p:nvCxnSpPr>
        <p:spPr>
          <a:xfrm>
            <a:off x="10812228" y="3240333"/>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79" name="Straight Connector 278">
            <a:extLst>
              <a:ext uri="{FF2B5EF4-FFF2-40B4-BE49-F238E27FC236}">
                <a16:creationId xmlns:a16="http://schemas.microsoft.com/office/drawing/2014/main" id="{6205DD86-315C-53B6-CEEF-A9919650168E}"/>
              </a:ext>
            </a:extLst>
          </p:cNvPr>
          <p:cNvCxnSpPr>
            <a:cxnSpLocks/>
            <a:stCxn id="276" idx="4"/>
            <a:endCxn id="275" idx="0"/>
          </p:cNvCxnSpPr>
          <p:nvPr/>
        </p:nvCxnSpPr>
        <p:spPr>
          <a:xfrm flipH="1">
            <a:off x="9444068" y="4608493"/>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80" name="TextBox 279"/>
          <p:cNvSpPr txBox="1"/>
          <p:nvPr/>
        </p:nvSpPr>
        <p:spPr>
          <a:xfrm>
            <a:off x="9921518" y="3054844"/>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81" name="TextBox 280"/>
          <p:cNvSpPr txBox="1"/>
          <p:nvPr/>
        </p:nvSpPr>
        <p:spPr>
          <a:xfrm>
            <a:off x="9336636" y="2511657"/>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82" name="TextBox 281"/>
          <p:cNvSpPr txBox="1"/>
          <p:nvPr/>
        </p:nvSpPr>
        <p:spPr>
          <a:xfrm>
            <a:off x="11041186" y="3141394"/>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83" name="TextBox 282"/>
          <p:cNvSpPr txBox="1"/>
          <p:nvPr/>
        </p:nvSpPr>
        <p:spPr>
          <a:xfrm>
            <a:off x="9378980" y="3702079"/>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84" name="TextBox 283"/>
          <p:cNvSpPr txBox="1"/>
          <p:nvPr/>
        </p:nvSpPr>
        <p:spPr>
          <a:xfrm>
            <a:off x="8767950" y="3100742"/>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285" name="TextBox 284"/>
          <p:cNvSpPr txBox="1"/>
          <p:nvPr/>
        </p:nvSpPr>
        <p:spPr>
          <a:xfrm>
            <a:off x="10511986" y="3630532"/>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286" name="TextBox 285"/>
          <p:cNvSpPr txBox="1"/>
          <p:nvPr/>
        </p:nvSpPr>
        <p:spPr>
          <a:xfrm>
            <a:off x="10405493" y="238942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87" name="TextBox 286"/>
          <p:cNvSpPr txBox="1"/>
          <p:nvPr/>
        </p:nvSpPr>
        <p:spPr>
          <a:xfrm>
            <a:off x="9910134" y="4093680"/>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288" name="Straight Connector 287">
            <a:extLst>
              <a:ext uri="{FF2B5EF4-FFF2-40B4-BE49-F238E27FC236}">
                <a16:creationId xmlns:a16="http://schemas.microsoft.com/office/drawing/2014/main" id="{6205DD86-315C-53B6-CEEF-A9919650168E}"/>
              </a:ext>
            </a:extLst>
          </p:cNvPr>
          <p:cNvCxnSpPr>
            <a:cxnSpLocks/>
            <a:stCxn id="289" idx="3"/>
            <a:endCxn id="275" idx="7"/>
          </p:cNvCxnSpPr>
          <p:nvPr/>
        </p:nvCxnSpPr>
        <p:spPr>
          <a:xfrm flipH="1" flipV="1">
            <a:off x="9422980" y="4659405"/>
            <a:ext cx="614237"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89" name="Oval 288">
            <a:extLst>
              <a:ext uri="{FF2B5EF4-FFF2-40B4-BE49-F238E27FC236}">
                <a16:creationId xmlns:a16="http://schemas.microsoft.com/office/drawing/2014/main" id="{BDD11F87-DA81-9510-C1CB-0AF4093562CB}"/>
              </a:ext>
            </a:extLst>
          </p:cNvPr>
          <p:cNvSpPr/>
          <p:nvPr/>
        </p:nvSpPr>
        <p:spPr>
          <a:xfrm rot="5400000">
            <a:off x="10016129" y="526554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90" name="Straight Connector 289">
            <a:extLst>
              <a:ext uri="{FF2B5EF4-FFF2-40B4-BE49-F238E27FC236}">
                <a16:creationId xmlns:a16="http://schemas.microsoft.com/office/drawing/2014/main" id="{6205DD86-315C-53B6-CEEF-A9919650168E}"/>
              </a:ext>
            </a:extLst>
          </p:cNvPr>
          <p:cNvCxnSpPr>
            <a:cxnSpLocks/>
            <a:stCxn id="289" idx="1"/>
            <a:endCxn id="276" idx="5"/>
          </p:cNvCxnSpPr>
          <p:nvPr/>
        </p:nvCxnSpPr>
        <p:spPr>
          <a:xfrm flipV="1">
            <a:off x="10139041" y="4659405"/>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91" name="TextBox 290"/>
          <p:cNvSpPr txBox="1"/>
          <p:nvPr/>
        </p:nvSpPr>
        <p:spPr>
          <a:xfrm>
            <a:off x="11077456" y="4108596"/>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293" name="Oval 292">
            <a:extLst>
              <a:ext uri="{FF2B5EF4-FFF2-40B4-BE49-F238E27FC236}">
                <a16:creationId xmlns:a16="http://schemas.microsoft.com/office/drawing/2014/main" id="{BDD11F87-DA81-9510-C1CB-0AF4093562CB}"/>
              </a:ext>
            </a:extLst>
          </p:cNvPr>
          <p:cNvSpPr/>
          <p:nvPr/>
        </p:nvSpPr>
        <p:spPr>
          <a:xfrm rot="5400000">
            <a:off x="8577144" y="38343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4" name="Oval 293">
            <a:extLst>
              <a:ext uri="{FF2B5EF4-FFF2-40B4-BE49-F238E27FC236}">
                <a16:creationId xmlns:a16="http://schemas.microsoft.com/office/drawing/2014/main" id="{BDD11F87-DA81-9510-C1CB-0AF4093562CB}"/>
              </a:ext>
            </a:extLst>
          </p:cNvPr>
          <p:cNvSpPr/>
          <p:nvPr/>
        </p:nvSpPr>
        <p:spPr>
          <a:xfrm rot="5400000">
            <a:off x="11427540" y="378340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95" name="Straight Connector 294">
            <a:extLst>
              <a:ext uri="{FF2B5EF4-FFF2-40B4-BE49-F238E27FC236}">
                <a16:creationId xmlns:a16="http://schemas.microsoft.com/office/drawing/2014/main" id="{6205DD86-315C-53B6-CEEF-A9919650168E}"/>
              </a:ext>
            </a:extLst>
          </p:cNvPr>
          <p:cNvCxnSpPr>
            <a:cxnSpLocks/>
            <a:stCxn id="270" idx="5"/>
            <a:endCxn id="293" idx="1"/>
          </p:cNvCxnSpPr>
          <p:nvPr/>
        </p:nvCxnSpPr>
        <p:spPr>
          <a:xfrm flipH="1">
            <a:off x="8700056" y="3219245"/>
            <a:ext cx="628807" cy="63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96" name="Straight Connector 295">
            <a:extLst>
              <a:ext uri="{FF2B5EF4-FFF2-40B4-BE49-F238E27FC236}">
                <a16:creationId xmlns:a16="http://schemas.microsoft.com/office/drawing/2014/main" id="{6205DD86-315C-53B6-CEEF-A9919650168E}"/>
              </a:ext>
            </a:extLst>
          </p:cNvPr>
          <p:cNvCxnSpPr>
            <a:cxnSpLocks/>
            <a:stCxn id="293" idx="7"/>
            <a:endCxn id="275" idx="3"/>
          </p:cNvCxnSpPr>
          <p:nvPr/>
        </p:nvCxnSpPr>
        <p:spPr>
          <a:xfrm>
            <a:off x="8700056" y="3957229"/>
            <a:ext cx="621100" cy="60035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97" name="Straight Connector 296">
            <a:extLst>
              <a:ext uri="{FF2B5EF4-FFF2-40B4-BE49-F238E27FC236}">
                <a16:creationId xmlns:a16="http://schemas.microsoft.com/office/drawing/2014/main" id="{6205DD86-315C-53B6-CEEF-A9919650168E}"/>
              </a:ext>
            </a:extLst>
          </p:cNvPr>
          <p:cNvCxnSpPr>
            <a:cxnSpLocks/>
            <a:stCxn id="271" idx="7"/>
            <a:endCxn id="294" idx="3"/>
          </p:cNvCxnSpPr>
          <p:nvPr/>
        </p:nvCxnSpPr>
        <p:spPr>
          <a:xfrm>
            <a:off x="10863140" y="3219245"/>
            <a:ext cx="585488" cy="5852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98" name="Straight Connector 297">
            <a:extLst>
              <a:ext uri="{FF2B5EF4-FFF2-40B4-BE49-F238E27FC236}">
                <a16:creationId xmlns:a16="http://schemas.microsoft.com/office/drawing/2014/main" id="{6205DD86-315C-53B6-CEEF-A9919650168E}"/>
              </a:ext>
            </a:extLst>
          </p:cNvPr>
          <p:cNvCxnSpPr>
            <a:cxnSpLocks/>
            <a:stCxn id="294" idx="5"/>
            <a:endCxn id="276" idx="1"/>
          </p:cNvCxnSpPr>
          <p:nvPr/>
        </p:nvCxnSpPr>
        <p:spPr>
          <a:xfrm flipH="1">
            <a:off x="10863140" y="3906317"/>
            <a:ext cx="585488" cy="65126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03" name="TextBox 302"/>
          <p:cNvSpPr txBox="1"/>
          <p:nvPr/>
        </p:nvSpPr>
        <p:spPr>
          <a:xfrm>
            <a:off x="10460515" y="4818578"/>
            <a:ext cx="26481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j</a:t>
            </a:r>
          </a:p>
        </p:txBody>
      </p:sp>
      <p:sp>
        <p:nvSpPr>
          <p:cNvPr id="305" name="TextBox 304"/>
          <p:cNvSpPr txBox="1"/>
          <p:nvPr/>
        </p:nvSpPr>
        <p:spPr>
          <a:xfrm>
            <a:off x="8758577" y="4133096"/>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l</a:t>
            </a:r>
          </a:p>
        </p:txBody>
      </p:sp>
      <p:sp>
        <p:nvSpPr>
          <p:cNvPr id="306" name="TextBox 305"/>
          <p:cNvSpPr txBox="1"/>
          <p:nvPr/>
        </p:nvSpPr>
        <p:spPr>
          <a:xfrm>
            <a:off x="9386995" y="4843361"/>
            <a:ext cx="34657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Tree>
    <p:extLst>
      <p:ext uri="{BB962C8B-B14F-4D97-AF65-F5344CB8AC3E}">
        <p14:creationId xmlns:p14="http://schemas.microsoft.com/office/powerpoint/2010/main" val="3050253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7" presetClass="emph" presetSubtype="2" fill="hold" nodeType="clickEffect">
                                  <p:stCondLst>
                                    <p:cond delay="0"/>
                                  </p:stCondLst>
                                  <p:childTnLst>
                                    <p:animClr clrSpc="rgb" dir="cw">
                                      <p:cBhvr>
                                        <p:cTn id="10" dur="250" fill="hold"/>
                                        <p:tgtEl>
                                          <p:spTgt spid="288"/>
                                        </p:tgtEl>
                                        <p:attrNameLst>
                                          <p:attrName>stroke.color</p:attrName>
                                        </p:attrNameLst>
                                      </p:cBhvr>
                                      <p:to>
                                        <a:srgbClr val="B9D98F"/>
                                      </p:to>
                                    </p:animClr>
                                    <p:set>
                                      <p:cBhvr>
                                        <p:cTn id="11" dur="250" fill="hold"/>
                                        <p:tgtEl>
                                          <p:spTgt spid="288"/>
                                        </p:tgtEl>
                                        <p:attrNameLst>
                                          <p:attrName>stroke.on</p:attrName>
                                        </p:attrNameLst>
                                      </p:cBhvr>
                                      <p:to>
                                        <p:strVal val="true"/>
                                      </p:to>
                                    </p:set>
                                  </p:childTnLst>
                                </p:cTn>
                              </p:par>
                            </p:childTnLst>
                          </p:cTn>
                        </p:par>
                        <p:par>
                          <p:cTn id="12" fill="hold">
                            <p:stCondLst>
                              <p:cond delay="250"/>
                            </p:stCondLst>
                            <p:childTnLst>
                              <p:par>
                                <p:cTn id="13" presetID="7" presetClass="emph" presetSubtype="2" fill="hold" nodeType="afterEffect">
                                  <p:stCondLst>
                                    <p:cond delay="0"/>
                                  </p:stCondLst>
                                  <p:childTnLst>
                                    <p:animClr clrSpc="rgb" dir="cw">
                                      <p:cBhvr>
                                        <p:cTn id="14" dur="250" fill="hold"/>
                                        <p:tgtEl>
                                          <p:spTgt spid="296"/>
                                        </p:tgtEl>
                                        <p:attrNameLst>
                                          <p:attrName>stroke.color</p:attrName>
                                        </p:attrNameLst>
                                      </p:cBhvr>
                                      <p:to>
                                        <a:srgbClr val="B9D98F"/>
                                      </p:to>
                                    </p:animClr>
                                    <p:set>
                                      <p:cBhvr>
                                        <p:cTn id="15" dur="250" fill="hold"/>
                                        <p:tgtEl>
                                          <p:spTgt spid="296"/>
                                        </p:tgtEl>
                                        <p:attrNameLst>
                                          <p:attrName>stroke.on</p:attrName>
                                        </p:attrNameLst>
                                      </p:cBhvr>
                                      <p:to>
                                        <p:strVal val="true"/>
                                      </p:to>
                                    </p:set>
                                  </p:childTnLst>
                                </p:cTn>
                              </p:par>
                            </p:childTnLst>
                          </p:cTn>
                        </p:par>
                        <p:par>
                          <p:cTn id="16" fill="hold">
                            <p:stCondLst>
                              <p:cond delay="500"/>
                            </p:stCondLst>
                            <p:childTnLst>
                              <p:par>
                                <p:cTn id="17" presetID="7" presetClass="emph" presetSubtype="2" fill="hold" nodeType="afterEffect">
                                  <p:stCondLst>
                                    <p:cond delay="0"/>
                                  </p:stCondLst>
                                  <p:childTnLst>
                                    <p:animClr clrSpc="rgb" dir="cw">
                                      <p:cBhvr>
                                        <p:cTn id="18" dur="250" fill="hold"/>
                                        <p:tgtEl>
                                          <p:spTgt spid="295"/>
                                        </p:tgtEl>
                                        <p:attrNameLst>
                                          <p:attrName>stroke.color</p:attrName>
                                        </p:attrNameLst>
                                      </p:cBhvr>
                                      <p:to>
                                        <a:srgbClr val="B9D98F"/>
                                      </p:to>
                                    </p:animClr>
                                    <p:set>
                                      <p:cBhvr>
                                        <p:cTn id="19" dur="250" fill="hold"/>
                                        <p:tgtEl>
                                          <p:spTgt spid="295"/>
                                        </p:tgtEl>
                                        <p:attrNameLst>
                                          <p:attrName>stroke.on</p:attrName>
                                        </p:attrNameLst>
                                      </p:cBhvr>
                                      <p:to>
                                        <p:strVal val="true"/>
                                      </p:to>
                                    </p:set>
                                  </p:childTnLst>
                                </p:cTn>
                              </p:par>
                            </p:childTnLst>
                          </p:cTn>
                        </p:par>
                        <p:par>
                          <p:cTn id="20" fill="hold">
                            <p:stCondLst>
                              <p:cond delay="750"/>
                            </p:stCondLst>
                            <p:childTnLst>
                              <p:par>
                                <p:cTn id="21" presetID="7" presetClass="emph" presetSubtype="2" fill="hold" nodeType="afterEffect">
                                  <p:stCondLst>
                                    <p:cond delay="0"/>
                                  </p:stCondLst>
                                  <p:childTnLst>
                                    <p:animClr clrSpc="rgb" dir="cw">
                                      <p:cBhvr>
                                        <p:cTn id="22" dur="250" fill="hold"/>
                                        <p:tgtEl>
                                          <p:spTgt spid="272"/>
                                        </p:tgtEl>
                                        <p:attrNameLst>
                                          <p:attrName>stroke.color</p:attrName>
                                        </p:attrNameLst>
                                      </p:cBhvr>
                                      <p:to>
                                        <a:srgbClr val="B9D98F"/>
                                      </p:to>
                                    </p:animClr>
                                    <p:set>
                                      <p:cBhvr>
                                        <p:cTn id="23" dur="250" fill="hold"/>
                                        <p:tgtEl>
                                          <p:spTgt spid="272"/>
                                        </p:tgtEl>
                                        <p:attrNameLst>
                                          <p:attrName>stroke.on</p:attrName>
                                        </p:attrNameLst>
                                      </p:cBhvr>
                                      <p:to>
                                        <p:strVal val="true"/>
                                      </p:to>
                                    </p:set>
                                  </p:childTnLst>
                                </p:cTn>
                              </p:par>
                            </p:childTnLst>
                          </p:cTn>
                        </p:par>
                        <p:par>
                          <p:cTn id="24" fill="hold">
                            <p:stCondLst>
                              <p:cond delay="1000"/>
                            </p:stCondLst>
                            <p:childTnLst>
                              <p:par>
                                <p:cTn id="25" presetID="7" presetClass="emph" presetSubtype="2" fill="hold" nodeType="afterEffect">
                                  <p:stCondLst>
                                    <p:cond delay="0"/>
                                  </p:stCondLst>
                                  <p:childTnLst>
                                    <p:animClr clrSpc="rgb" dir="cw">
                                      <p:cBhvr>
                                        <p:cTn id="26" dur="250" fill="hold"/>
                                        <p:tgtEl>
                                          <p:spTgt spid="273"/>
                                        </p:tgtEl>
                                        <p:attrNameLst>
                                          <p:attrName>stroke.color</p:attrName>
                                        </p:attrNameLst>
                                      </p:cBhvr>
                                      <p:to>
                                        <a:srgbClr val="B9D98F"/>
                                      </p:to>
                                    </p:animClr>
                                    <p:set>
                                      <p:cBhvr>
                                        <p:cTn id="27" dur="250" fill="hold"/>
                                        <p:tgtEl>
                                          <p:spTgt spid="273"/>
                                        </p:tgtEl>
                                        <p:attrNameLst>
                                          <p:attrName>stroke.on</p:attrName>
                                        </p:attrNameLst>
                                      </p:cBhvr>
                                      <p:to>
                                        <p:strVal val="true"/>
                                      </p:to>
                                    </p:set>
                                  </p:childTnLst>
                                </p:cTn>
                              </p:par>
                            </p:childTnLst>
                          </p:cTn>
                        </p:par>
                        <p:par>
                          <p:cTn id="28" fill="hold">
                            <p:stCondLst>
                              <p:cond delay="1250"/>
                            </p:stCondLst>
                            <p:childTnLst>
                              <p:par>
                                <p:cTn id="29" presetID="7" presetClass="emph" presetSubtype="2" fill="hold" nodeType="afterEffect">
                                  <p:stCondLst>
                                    <p:cond delay="0"/>
                                  </p:stCondLst>
                                  <p:childTnLst>
                                    <p:animClr clrSpc="rgb" dir="cw">
                                      <p:cBhvr>
                                        <p:cTn id="30" dur="250" fill="hold"/>
                                        <p:tgtEl>
                                          <p:spTgt spid="278"/>
                                        </p:tgtEl>
                                        <p:attrNameLst>
                                          <p:attrName>stroke.color</p:attrName>
                                        </p:attrNameLst>
                                      </p:cBhvr>
                                      <p:to>
                                        <a:srgbClr val="B9D98F"/>
                                      </p:to>
                                    </p:animClr>
                                    <p:set>
                                      <p:cBhvr>
                                        <p:cTn id="31" dur="250" fill="hold"/>
                                        <p:tgtEl>
                                          <p:spTgt spid="278"/>
                                        </p:tgtEl>
                                        <p:attrNameLst>
                                          <p:attrName>stroke.on</p:attrName>
                                        </p:attrNameLst>
                                      </p:cBhvr>
                                      <p:to>
                                        <p:strVal val="true"/>
                                      </p:to>
                                    </p:set>
                                  </p:childTnLst>
                                </p:cTn>
                              </p:par>
                            </p:childTnLst>
                          </p:cTn>
                        </p:par>
                        <p:par>
                          <p:cTn id="32" fill="hold">
                            <p:stCondLst>
                              <p:cond delay="1500"/>
                            </p:stCondLst>
                            <p:childTnLst>
                              <p:par>
                                <p:cTn id="33" presetID="7" presetClass="emph" presetSubtype="2" fill="hold" nodeType="afterEffect">
                                  <p:stCondLst>
                                    <p:cond delay="0"/>
                                  </p:stCondLst>
                                  <p:childTnLst>
                                    <p:animClr clrSpc="rgb" dir="cw">
                                      <p:cBhvr>
                                        <p:cTn id="34" dur="250" fill="hold"/>
                                        <p:tgtEl>
                                          <p:spTgt spid="298"/>
                                        </p:tgtEl>
                                        <p:attrNameLst>
                                          <p:attrName>stroke.color</p:attrName>
                                        </p:attrNameLst>
                                      </p:cBhvr>
                                      <p:to>
                                        <a:srgbClr val="B9D98F"/>
                                      </p:to>
                                    </p:animClr>
                                    <p:set>
                                      <p:cBhvr>
                                        <p:cTn id="35" dur="250" fill="hold"/>
                                        <p:tgtEl>
                                          <p:spTgt spid="298"/>
                                        </p:tgtEl>
                                        <p:attrNameLst>
                                          <p:attrName>stroke.on</p:attrName>
                                        </p:attrNameLst>
                                      </p:cBhvr>
                                      <p:to>
                                        <p:strVal val="tru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267">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67">
                                            <p:txEl>
                                              <p:pRg st="2" end="2"/>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67">
                                            <p:txEl>
                                              <p:pRg st="3" end="3"/>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95218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pPr algn="just"/>
            <a:r>
              <a:rPr lang="en-US" sz="2800" dirty="0">
                <a:solidFill>
                  <a:schemeClr val="bg1"/>
                </a:solidFill>
              </a:rPr>
              <a:t>Pick an arbitrary spanning tree in the given graph. List all fundamental cutsets with respect to this tree.</a:t>
            </a:r>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86249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8" name="Oval 37">
            <a:extLst>
              <a:ext uri="{FF2B5EF4-FFF2-40B4-BE49-F238E27FC236}">
                <a16:creationId xmlns:a16="http://schemas.microsoft.com/office/drawing/2014/main" id="{BDD11F87-DA81-9510-C1CB-0AF4093562CB}"/>
              </a:ext>
            </a:extLst>
          </p:cNvPr>
          <p:cNvSpPr/>
          <p:nvPr/>
        </p:nvSpPr>
        <p:spPr>
          <a:xfrm rot="5400000">
            <a:off x="2061720" y="239267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1349347" y="31127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2781800" y="31127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38" idx="5"/>
            <a:endCxn id="39" idx="1"/>
          </p:cNvCxnSpPr>
          <p:nvPr/>
        </p:nvCxnSpPr>
        <p:spPr>
          <a:xfrm flipH="1">
            <a:off x="1472259" y="2515583"/>
            <a:ext cx="610549"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38" idx="7"/>
            <a:endCxn id="40" idx="3"/>
          </p:cNvCxnSpPr>
          <p:nvPr/>
        </p:nvCxnSpPr>
        <p:spPr>
          <a:xfrm>
            <a:off x="2184632" y="2515583"/>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40" idx="4"/>
            <a:endCxn id="39" idx="0"/>
          </p:cNvCxnSpPr>
          <p:nvPr/>
        </p:nvCxnSpPr>
        <p:spPr>
          <a:xfrm flipH="1">
            <a:off x="1493347" y="3184751"/>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4" name="Oval 43">
            <a:extLst>
              <a:ext uri="{FF2B5EF4-FFF2-40B4-BE49-F238E27FC236}">
                <a16:creationId xmlns:a16="http://schemas.microsoft.com/office/drawing/2014/main" id="{BDD11F87-DA81-9510-C1CB-0AF4093562CB}"/>
              </a:ext>
            </a:extLst>
          </p:cNvPr>
          <p:cNvSpPr/>
          <p:nvPr/>
        </p:nvSpPr>
        <p:spPr>
          <a:xfrm rot="5400000">
            <a:off x="1341640" y="45529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2781800" y="45529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6" name="Straight Connector 45">
            <a:extLst>
              <a:ext uri="{FF2B5EF4-FFF2-40B4-BE49-F238E27FC236}">
                <a16:creationId xmlns:a16="http://schemas.microsoft.com/office/drawing/2014/main" id="{6205DD86-315C-53B6-CEEF-A9919650168E}"/>
              </a:ext>
            </a:extLst>
          </p:cNvPr>
          <p:cNvCxnSpPr>
            <a:cxnSpLocks/>
            <a:stCxn id="39" idx="6"/>
            <a:endCxn id="44" idx="2"/>
          </p:cNvCxnSpPr>
          <p:nvPr/>
        </p:nvCxnSpPr>
        <p:spPr>
          <a:xfrm flipH="1">
            <a:off x="1413640" y="3256751"/>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6205DD86-315C-53B6-CEEF-A9919650168E}"/>
              </a:ext>
            </a:extLst>
          </p:cNvPr>
          <p:cNvCxnSpPr>
            <a:cxnSpLocks/>
            <a:stCxn id="40" idx="6"/>
            <a:endCxn id="45" idx="2"/>
          </p:cNvCxnSpPr>
          <p:nvPr/>
        </p:nvCxnSpPr>
        <p:spPr>
          <a:xfrm>
            <a:off x="2853800" y="3256751"/>
            <a:ext cx="0"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45" idx="4"/>
            <a:endCxn id="44" idx="0"/>
          </p:cNvCxnSpPr>
          <p:nvPr/>
        </p:nvCxnSpPr>
        <p:spPr>
          <a:xfrm flipH="1">
            <a:off x="1485640" y="4624911"/>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9" name="TextBox 48"/>
          <p:cNvSpPr txBox="1"/>
          <p:nvPr/>
        </p:nvSpPr>
        <p:spPr>
          <a:xfrm>
            <a:off x="1963090" y="3071262"/>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50" name="TextBox 49"/>
          <p:cNvSpPr txBox="1"/>
          <p:nvPr/>
        </p:nvSpPr>
        <p:spPr>
          <a:xfrm>
            <a:off x="1378208" y="2528075"/>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51" name="TextBox 50"/>
          <p:cNvSpPr txBox="1"/>
          <p:nvPr/>
        </p:nvSpPr>
        <p:spPr>
          <a:xfrm>
            <a:off x="3082758" y="3157812"/>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52" name="TextBox 51"/>
          <p:cNvSpPr txBox="1"/>
          <p:nvPr/>
        </p:nvSpPr>
        <p:spPr>
          <a:xfrm>
            <a:off x="1420552" y="3718497"/>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53" name="TextBox 52"/>
          <p:cNvSpPr txBox="1"/>
          <p:nvPr/>
        </p:nvSpPr>
        <p:spPr>
          <a:xfrm>
            <a:off x="809522" y="3117160"/>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54" name="TextBox 53"/>
          <p:cNvSpPr txBox="1"/>
          <p:nvPr/>
        </p:nvSpPr>
        <p:spPr>
          <a:xfrm>
            <a:off x="2553558" y="364695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5" name="TextBox 54"/>
          <p:cNvSpPr txBox="1"/>
          <p:nvPr/>
        </p:nvSpPr>
        <p:spPr>
          <a:xfrm>
            <a:off x="2447065" y="240584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56" name="TextBox 55"/>
          <p:cNvSpPr txBox="1"/>
          <p:nvPr/>
        </p:nvSpPr>
        <p:spPr>
          <a:xfrm>
            <a:off x="1951706" y="4110098"/>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57" name="Straight Connector 56">
            <a:extLst>
              <a:ext uri="{FF2B5EF4-FFF2-40B4-BE49-F238E27FC236}">
                <a16:creationId xmlns:a16="http://schemas.microsoft.com/office/drawing/2014/main" id="{6205DD86-315C-53B6-CEEF-A9919650168E}"/>
              </a:ext>
            </a:extLst>
          </p:cNvPr>
          <p:cNvCxnSpPr>
            <a:cxnSpLocks/>
            <a:stCxn id="58" idx="3"/>
            <a:endCxn id="44" idx="7"/>
          </p:cNvCxnSpPr>
          <p:nvPr/>
        </p:nvCxnSpPr>
        <p:spPr>
          <a:xfrm flipH="1" flipV="1">
            <a:off x="1464552" y="4675823"/>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58" name="Oval 57">
            <a:extLst>
              <a:ext uri="{FF2B5EF4-FFF2-40B4-BE49-F238E27FC236}">
                <a16:creationId xmlns:a16="http://schemas.microsoft.com/office/drawing/2014/main" id="{BDD11F87-DA81-9510-C1CB-0AF4093562CB}"/>
              </a:ext>
            </a:extLst>
          </p:cNvPr>
          <p:cNvSpPr/>
          <p:nvPr/>
        </p:nvSpPr>
        <p:spPr>
          <a:xfrm rot="5400000">
            <a:off x="2057701" y="52819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9" name="Straight Connector 58">
            <a:extLst>
              <a:ext uri="{FF2B5EF4-FFF2-40B4-BE49-F238E27FC236}">
                <a16:creationId xmlns:a16="http://schemas.microsoft.com/office/drawing/2014/main" id="{6205DD86-315C-53B6-CEEF-A9919650168E}"/>
              </a:ext>
            </a:extLst>
          </p:cNvPr>
          <p:cNvCxnSpPr>
            <a:cxnSpLocks/>
            <a:stCxn id="58" idx="1"/>
            <a:endCxn id="45" idx="5"/>
          </p:cNvCxnSpPr>
          <p:nvPr/>
        </p:nvCxnSpPr>
        <p:spPr>
          <a:xfrm flipV="1">
            <a:off x="2180613" y="4675823"/>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Box 59"/>
          <p:cNvSpPr txBox="1"/>
          <p:nvPr/>
        </p:nvSpPr>
        <p:spPr>
          <a:xfrm>
            <a:off x="3119028" y="4125014"/>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61" name="Oval 60">
            <a:extLst>
              <a:ext uri="{FF2B5EF4-FFF2-40B4-BE49-F238E27FC236}">
                <a16:creationId xmlns:a16="http://schemas.microsoft.com/office/drawing/2014/main" id="{BDD11F87-DA81-9510-C1CB-0AF4093562CB}"/>
              </a:ext>
            </a:extLst>
          </p:cNvPr>
          <p:cNvSpPr/>
          <p:nvPr/>
        </p:nvSpPr>
        <p:spPr>
          <a:xfrm rot="5400000">
            <a:off x="618716" y="385073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2" name="Oval 61">
            <a:extLst>
              <a:ext uri="{FF2B5EF4-FFF2-40B4-BE49-F238E27FC236}">
                <a16:creationId xmlns:a16="http://schemas.microsoft.com/office/drawing/2014/main" id="{BDD11F87-DA81-9510-C1CB-0AF4093562CB}"/>
              </a:ext>
            </a:extLst>
          </p:cNvPr>
          <p:cNvSpPr/>
          <p:nvPr/>
        </p:nvSpPr>
        <p:spPr>
          <a:xfrm rot="5400000">
            <a:off x="3469112" y="379982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3" name="Straight Connector 62">
            <a:extLst>
              <a:ext uri="{FF2B5EF4-FFF2-40B4-BE49-F238E27FC236}">
                <a16:creationId xmlns:a16="http://schemas.microsoft.com/office/drawing/2014/main" id="{6205DD86-315C-53B6-CEEF-A9919650168E}"/>
              </a:ext>
            </a:extLst>
          </p:cNvPr>
          <p:cNvCxnSpPr>
            <a:cxnSpLocks/>
            <a:stCxn id="39" idx="5"/>
            <a:endCxn id="61" idx="1"/>
          </p:cNvCxnSpPr>
          <p:nvPr/>
        </p:nvCxnSpPr>
        <p:spPr>
          <a:xfrm flipH="1">
            <a:off x="741628" y="3235663"/>
            <a:ext cx="628807" cy="63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61" idx="7"/>
            <a:endCxn id="44" idx="3"/>
          </p:cNvCxnSpPr>
          <p:nvPr/>
        </p:nvCxnSpPr>
        <p:spPr>
          <a:xfrm>
            <a:off x="741628" y="3973647"/>
            <a:ext cx="621100" cy="600352"/>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205DD86-315C-53B6-CEEF-A9919650168E}"/>
              </a:ext>
            </a:extLst>
          </p:cNvPr>
          <p:cNvCxnSpPr>
            <a:cxnSpLocks/>
            <a:stCxn id="40" idx="7"/>
            <a:endCxn id="62" idx="3"/>
          </p:cNvCxnSpPr>
          <p:nvPr/>
        </p:nvCxnSpPr>
        <p:spPr>
          <a:xfrm>
            <a:off x="2904712" y="3235663"/>
            <a:ext cx="585488" cy="5852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6205DD86-315C-53B6-CEEF-A9919650168E}"/>
              </a:ext>
            </a:extLst>
          </p:cNvPr>
          <p:cNvCxnSpPr>
            <a:cxnSpLocks/>
            <a:stCxn id="62" idx="5"/>
            <a:endCxn id="45" idx="1"/>
          </p:cNvCxnSpPr>
          <p:nvPr/>
        </p:nvCxnSpPr>
        <p:spPr>
          <a:xfrm flipH="1">
            <a:off x="2904712" y="3922735"/>
            <a:ext cx="585488" cy="651264"/>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67" name="TextBox 66"/>
          <p:cNvSpPr txBox="1"/>
          <p:nvPr/>
        </p:nvSpPr>
        <p:spPr>
          <a:xfrm>
            <a:off x="2502087" y="4834996"/>
            <a:ext cx="26481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j</a:t>
            </a:r>
          </a:p>
        </p:txBody>
      </p:sp>
      <p:sp>
        <p:nvSpPr>
          <p:cNvPr id="68" name="TextBox 67"/>
          <p:cNvSpPr txBox="1"/>
          <p:nvPr/>
        </p:nvSpPr>
        <p:spPr>
          <a:xfrm>
            <a:off x="800149" y="4149514"/>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l</a:t>
            </a:r>
          </a:p>
        </p:txBody>
      </p:sp>
      <p:sp>
        <p:nvSpPr>
          <p:cNvPr id="69" name="TextBox 68"/>
          <p:cNvSpPr txBox="1"/>
          <p:nvPr/>
        </p:nvSpPr>
        <p:spPr>
          <a:xfrm>
            <a:off x="1428567" y="4859779"/>
            <a:ext cx="34657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134" name="Oval 133">
            <a:extLst>
              <a:ext uri="{FF2B5EF4-FFF2-40B4-BE49-F238E27FC236}">
                <a16:creationId xmlns:a16="http://schemas.microsoft.com/office/drawing/2014/main" id="{BDD11F87-DA81-9510-C1CB-0AF4093562CB}"/>
              </a:ext>
            </a:extLst>
          </p:cNvPr>
          <p:cNvSpPr/>
          <p:nvPr/>
        </p:nvSpPr>
        <p:spPr>
          <a:xfrm rot="5400000">
            <a:off x="6087650" y="23946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5" name="Oval 134">
            <a:extLst>
              <a:ext uri="{FF2B5EF4-FFF2-40B4-BE49-F238E27FC236}">
                <a16:creationId xmlns:a16="http://schemas.microsoft.com/office/drawing/2014/main" id="{BDD11F87-DA81-9510-C1CB-0AF4093562CB}"/>
              </a:ext>
            </a:extLst>
          </p:cNvPr>
          <p:cNvSpPr/>
          <p:nvPr/>
        </p:nvSpPr>
        <p:spPr>
          <a:xfrm rot="5400000">
            <a:off x="5375277" y="31147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6" name="Oval 135">
            <a:extLst>
              <a:ext uri="{FF2B5EF4-FFF2-40B4-BE49-F238E27FC236}">
                <a16:creationId xmlns:a16="http://schemas.microsoft.com/office/drawing/2014/main" id="{BDD11F87-DA81-9510-C1CB-0AF4093562CB}"/>
              </a:ext>
            </a:extLst>
          </p:cNvPr>
          <p:cNvSpPr/>
          <p:nvPr/>
        </p:nvSpPr>
        <p:spPr>
          <a:xfrm rot="5400000">
            <a:off x="6807730" y="31147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7" name="Straight Connector 136">
            <a:extLst>
              <a:ext uri="{FF2B5EF4-FFF2-40B4-BE49-F238E27FC236}">
                <a16:creationId xmlns:a16="http://schemas.microsoft.com/office/drawing/2014/main" id="{6205DD86-315C-53B6-CEEF-A9919650168E}"/>
              </a:ext>
            </a:extLst>
          </p:cNvPr>
          <p:cNvCxnSpPr>
            <a:cxnSpLocks/>
            <a:stCxn id="134" idx="5"/>
            <a:endCxn id="135" idx="1"/>
          </p:cNvCxnSpPr>
          <p:nvPr/>
        </p:nvCxnSpPr>
        <p:spPr>
          <a:xfrm flipH="1">
            <a:off x="5498189" y="2517582"/>
            <a:ext cx="610549"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38" name="Straight Connector 137">
            <a:extLst>
              <a:ext uri="{FF2B5EF4-FFF2-40B4-BE49-F238E27FC236}">
                <a16:creationId xmlns:a16="http://schemas.microsoft.com/office/drawing/2014/main" id="{6205DD86-315C-53B6-CEEF-A9919650168E}"/>
              </a:ext>
            </a:extLst>
          </p:cNvPr>
          <p:cNvCxnSpPr>
            <a:cxnSpLocks/>
            <a:stCxn id="134" idx="7"/>
            <a:endCxn id="136" idx="3"/>
          </p:cNvCxnSpPr>
          <p:nvPr/>
        </p:nvCxnSpPr>
        <p:spPr>
          <a:xfrm>
            <a:off x="6210562" y="2517582"/>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39" name="Straight Connector 138">
            <a:extLst>
              <a:ext uri="{FF2B5EF4-FFF2-40B4-BE49-F238E27FC236}">
                <a16:creationId xmlns:a16="http://schemas.microsoft.com/office/drawing/2014/main" id="{6205DD86-315C-53B6-CEEF-A9919650168E}"/>
              </a:ext>
            </a:extLst>
          </p:cNvPr>
          <p:cNvCxnSpPr>
            <a:cxnSpLocks/>
            <a:stCxn id="136" idx="4"/>
            <a:endCxn id="135" idx="0"/>
          </p:cNvCxnSpPr>
          <p:nvPr/>
        </p:nvCxnSpPr>
        <p:spPr>
          <a:xfrm flipH="1">
            <a:off x="5519277" y="3186750"/>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0" name="Oval 139">
            <a:extLst>
              <a:ext uri="{FF2B5EF4-FFF2-40B4-BE49-F238E27FC236}">
                <a16:creationId xmlns:a16="http://schemas.microsoft.com/office/drawing/2014/main" id="{BDD11F87-DA81-9510-C1CB-0AF4093562CB}"/>
              </a:ext>
            </a:extLst>
          </p:cNvPr>
          <p:cNvSpPr/>
          <p:nvPr/>
        </p:nvSpPr>
        <p:spPr>
          <a:xfrm rot="5400000">
            <a:off x="5367570" y="45549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1" name="Oval 140">
            <a:extLst>
              <a:ext uri="{FF2B5EF4-FFF2-40B4-BE49-F238E27FC236}">
                <a16:creationId xmlns:a16="http://schemas.microsoft.com/office/drawing/2014/main" id="{BDD11F87-DA81-9510-C1CB-0AF4093562CB}"/>
              </a:ext>
            </a:extLst>
          </p:cNvPr>
          <p:cNvSpPr/>
          <p:nvPr/>
        </p:nvSpPr>
        <p:spPr>
          <a:xfrm rot="5400000">
            <a:off x="6807730" y="45549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42" name="Straight Connector 141">
            <a:extLst>
              <a:ext uri="{FF2B5EF4-FFF2-40B4-BE49-F238E27FC236}">
                <a16:creationId xmlns:a16="http://schemas.microsoft.com/office/drawing/2014/main" id="{6205DD86-315C-53B6-CEEF-A9919650168E}"/>
              </a:ext>
            </a:extLst>
          </p:cNvPr>
          <p:cNvCxnSpPr>
            <a:cxnSpLocks/>
            <a:stCxn id="135" idx="6"/>
            <a:endCxn id="140" idx="2"/>
          </p:cNvCxnSpPr>
          <p:nvPr/>
        </p:nvCxnSpPr>
        <p:spPr>
          <a:xfrm flipH="1">
            <a:off x="5439570" y="3258750"/>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3" name="Straight Connector 142">
            <a:extLst>
              <a:ext uri="{FF2B5EF4-FFF2-40B4-BE49-F238E27FC236}">
                <a16:creationId xmlns:a16="http://schemas.microsoft.com/office/drawing/2014/main" id="{6205DD86-315C-53B6-CEEF-A9919650168E}"/>
              </a:ext>
            </a:extLst>
          </p:cNvPr>
          <p:cNvCxnSpPr>
            <a:cxnSpLocks/>
            <a:stCxn id="136" idx="6"/>
            <a:endCxn id="141" idx="2"/>
          </p:cNvCxnSpPr>
          <p:nvPr/>
        </p:nvCxnSpPr>
        <p:spPr>
          <a:xfrm>
            <a:off x="6879730" y="3258750"/>
            <a:ext cx="0"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44" name="Straight Connector 143">
            <a:extLst>
              <a:ext uri="{FF2B5EF4-FFF2-40B4-BE49-F238E27FC236}">
                <a16:creationId xmlns:a16="http://schemas.microsoft.com/office/drawing/2014/main" id="{6205DD86-315C-53B6-CEEF-A9919650168E}"/>
              </a:ext>
            </a:extLst>
          </p:cNvPr>
          <p:cNvCxnSpPr>
            <a:cxnSpLocks/>
            <a:stCxn id="141" idx="4"/>
            <a:endCxn id="140" idx="0"/>
          </p:cNvCxnSpPr>
          <p:nvPr/>
        </p:nvCxnSpPr>
        <p:spPr>
          <a:xfrm flipH="1">
            <a:off x="5511570" y="4626910"/>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5" name="TextBox 144"/>
          <p:cNvSpPr txBox="1"/>
          <p:nvPr/>
        </p:nvSpPr>
        <p:spPr>
          <a:xfrm>
            <a:off x="5989020" y="3073261"/>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46" name="TextBox 145"/>
          <p:cNvSpPr txBox="1"/>
          <p:nvPr/>
        </p:nvSpPr>
        <p:spPr>
          <a:xfrm>
            <a:off x="5404138" y="2530074"/>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147" name="TextBox 146"/>
          <p:cNvSpPr txBox="1"/>
          <p:nvPr/>
        </p:nvSpPr>
        <p:spPr>
          <a:xfrm>
            <a:off x="7108688" y="3159811"/>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148" name="TextBox 147"/>
          <p:cNvSpPr txBox="1"/>
          <p:nvPr/>
        </p:nvSpPr>
        <p:spPr>
          <a:xfrm>
            <a:off x="5446482" y="3720496"/>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149" name="TextBox 148"/>
          <p:cNvSpPr txBox="1"/>
          <p:nvPr/>
        </p:nvSpPr>
        <p:spPr>
          <a:xfrm>
            <a:off x="4835452" y="3119159"/>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50" name="TextBox 149"/>
          <p:cNvSpPr txBox="1"/>
          <p:nvPr/>
        </p:nvSpPr>
        <p:spPr>
          <a:xfrm>
            <a:off x="6579488" y="364894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51" name="TextBox 150"/>
          <p:cNvSpPr txBox="1"/>
          <p:nvPr/>
        </p:nvSpPr>
        <p:spPr>
          <a:xfrm>
            <a:off x="6472995" y="2407846"/>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152" name="TextBox 151"/>
          <p:cNvSpPr txBox="1"/>
          <p:nvPr/>
        </p:nvSpPr>
        <p:spPr>
          <a:xfrm>
            <a:off x="5977636" y="4112097"/>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153" name="Straight Connector 152">
            <a:extLst>
              <a:ext uri="{FF2B5EF4-FFF2-40B4-BE49-F238E27FC236}">
                <a16:creationId xmlns:a16="http://schemas.microsoft.com/office/drawing/2014/main" id="{6205DD86-315C-53B6-CEEF-A9919650168E}"/>
              </a:ext>
            </a:extLst>
          </p:cNvPr>
          <p:cNvCxnSpPr>
            <a:cxnSpLocks/>
            <a:stCxn id="154" idx="3"/>
            <a:endCxn id="140" idx="7"/>
          </p:cNvCxnSpPr>
          <p:nvPr/>
        </p:nvCxnSpPr>
        <p:spPr>
          <a:xfrm flipH="1" flipV="1">
            <a:off x="5490482" y="4677822"/>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54" name="Oval 153">
            <a:extLst>
              <a:ext uri="{FF2B5EF4-FFF2-40B4-BE49-F238E27FC236}">
                <a16:creationId xmlns:a16="http://schemas.microsoft.com/office/drawing/2014/main" id="{BDD11F87-DA81-9510-C1CB-0AF4093562CB}"/>
              </a:ext>
            </a:extLst>
          </p:cNvPr>
          <p:cNvSpPr/>
          <p:nvPr/>
        </p:nvSpPr>
        <p:spPr>
          <a:xfrm rot="5400000">
            <a:off x="6083631" y="52839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5" name="Straight Connector 154">
            <a:extLst>
              <a:ext uri="{FF2B5EF4-FFF2-40B4-BE49-F238E27FC236}">
                <a16:creationId xmlns:a16="http://schemas.microsoft.com/office/drawing/2014/main" id="{6205DD86-315C-53B6-CEEF-A9919650168E}"/>
              </a:ext>
            </a:extLst>
          </p:cNvPr>
          <p:cNvCxnSpPr>
            <a:cxnSpLocks/>
            <a:stCxn id="154" idx="1"/>
            <a:endCxn id="141" idx="5"/>
          </p:cNvCxnSpPr>
          <p:nvPr/>
        </p:nvCxnSpPr>
        <p:spPr>
          <a:xfrm flipV="1">
            <a:off x="6206543" y="4677822"/>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56" name="TextBox 155"/>
          <p:cNvSpPr txBox="1"/>
          <p:nvPr/>
        </p:nvSpPr>
        <p:spPr>
          <a:xfrm>
            <a:off x="7144958" y="4127013"/>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157" name="Oval 156">
            <a:extLst>
              <a:ext uri="{FF2B5EF4-FFF2-40B4-BE49-F238E27FC236}">
                <a16:creationId xmlns:a16="http://schemas.microsoft.com/office/drawing/2014/main" id="{BDD11F87-DA81-9510-C1CB-0AF4093562CB}"/>
              </a:ext>
            </a:extLst>
          </p:cNvPr>
          <p:cNvSpPr/>
          <p:nvPr/>
        </p:nvSpPr>
        <p:spPr>
          <a:xfrm rot="5400000">
            <a:off x="4644646" y="38527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8" name="Oval 157">
            <a:extLst>
              <a:ext uri="{FF2B5EF4-FFF2-40B4-BE49-F238E27FC236}">
                <a16:creationId xmlns:a16="http://schemas.microsoft.com/office/drawing/2014/main" id="{BDD11F87-DA81-9510-C1CB-0AF4093562CB}"/>
              </a:ext>
            </a:extLst>
          </p:cNvPr>
          <p:cNvSpPr/>
          <p:nvPr/>
        </p:nvSpPr>
        <p:spPr>
          <a:xfrm rot="5400000">
            <a:off x="7495042" y="38018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9" name="Straight Connector 158">
            <a:extLst>
              <a:ext uri="{FF2B5EF4-FFF2-40B4-BE49-F238E27FC236}">
                <a16:creationId xmlns:a16="http://schemas.microsoft.com/office/drawing/2014/main" id="{6205DD86-315C-53B6-CEEF-A9919650168E}"/>
              </a:ext>
            </a:extLst>
          </p:cNvPr>
          <p:cNvCxnSpPr>
            <a:cxnSpLocks/>
            <a:stCxn id="135" idx="5"/>
            <a:endCxn id="157" idx="1"/>
          </p:cNvCxnSpPr>
          <p:nvPr/>
        </p:nvCxnSpPr>
        <p:spPr>
          <a:xfrm flipH="1">
            <a:off x="4767558" y="3237662"/>
            <a:ext cx="628807" cy="63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60" name="Straight Connector 159">
            <a:extLst>
              <a:ext uri="{FF2B5EF4-FFF2-40B4-BE49-F238E27FC236}">
                <a16:creationId xmlns:a16="http://schemas.microsoft.com/office/drawing/2014/main" id="{6205DD86-315C-53B6-CEEF-A9919650168E}"/>
              </a:ext>
            </a:extLst>
          </p:cNvPr>
          <p:cNvCxnSpPr>
            <a:cxnSpLocks/>
            <a:stCxn id="157" idx="7"/>
            <a:endCxn id="140" idx="3"/>
          </p:cNvCxnSpPr>
          <p:nvPr/>
        </p:nvCxnSpPr>
        <p:spPr>
          <a:xfrm>
            <a:off x="4767558" y="3975646"/>
            <a:ext cx="621100" cy="600352"/>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61" name="Straight Connector 160">
            <a:extLst>
              <a:ext uri="{FF2B5EF4-FFF2-40B4-BE49-F238E27FC236}">
                <a16:creationId xmlns:a16="http://schemas.microsoft.com/office/drawing/2014/main" id="{6205DD86-315C-53B6-CEEF-A9919650168E}"/>
              </a:ext>
            </a:extLst>
          </p:cNvPr>
          <p:cNvCxnSpPr>
            <a:cxnSpLocks/>
            <a:stCxn id="136" idx="7"/>
            <a:endCxn id="158" idx="3"/>
          </p:cNvCxnSpPr>
          <p:nvPr/>
        </p:nvCxnSpPr>
        <p:spPr>
          <a:xfrm>
            <a:off x="6930642" y="3237662"/>
            <a:ext cx="585488" cy="5852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2" name="Straight Connector 161">
            <a:extLst>
              <a:ext uri="{FF2B5EF4-FFF2-40B4-BE49-F238E27FC236}">
                <a16:creationId xmlns:a16="http://schemas.microsoft.com/office/drawing/2014/main" id="{6205DD86-315C-53B6-CEEF-A9919650168E}"/>
              </a:ext>
            </a:extLst>
          </p:cNvPr>
          <p:cNvCxnSpPr>
            <a:cxnSpLocks/>
            <a:stCxn id="158" idx="5"/>
            <a:endCxn id="141" idx="1"/>
          </p:cNvCxnSpPr>
          <p:nvPr/>
        </p:nvCxnSpPr>
        <p:spPr>
          <a:xfrm flipH="1">
            <a:off x="6930642" y="3924734"/>
            <a:ext cx="585488" cy="651264"/>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63" name="TextBox 162"/>
          <p:cNvSpPr txBox="1"/>
          <p:nvPr/>
        </p:nvSpPr>
        <p:spPr>
          <a:xfrm>
            <a:off x="6528017" y="4836995"/>
            <a:ext cx="26481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j</a:t>
            </a:r>
          </a:p>
        </p:txBody>
      </p:sp>
      <p:sp>
        <p:nvSpPr>
          <p:cNvPr id="164" name="TextBox 163"/>
          <p:cNvSpPr txBox="1"/>
          <p:nvPr/>
        </p:nvSpPr>
        <p:spPr>
          <a:xfrm>
            <a:off x="4826079" y="4151513"/>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l</a:t>
            </a:r>
          </a:p>
        </p:txBody>
      </p:sp>
      <p:sp>
        <p:nvSpPr>
          <p:cNvPr id="165" name="TextBox 164"/>
          <p:cNvSpPr txBox="1"/>
          <p:nvPr/>
        </p:nvSpPr>
        <p:spPr>
          <a:xfrm>
            <a:off x="5454497" y="4861778"/>
            <a:ext cx="34657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198" name="Oval 197">
            <a:extLst>
              <a:ext uri="{FF2B5EF4-FFF2-40B4-BE49-F238E27FC236}">
                <a16:creationId xmlns:a16="http://schemas.microsoft.com/office/drawing/2014/main" id="{BDD11F87-DA81-9510-C1CB-0AF4093562CB}"/>
              </a:ext>
            </a:extLst>
          </p:cNvPr>
          <p:cNvSpPr/>
          <p:nvPr/>
        </p:nvSpPr>
        <p:spPr>
          <a:xfrm rot="5400000">
            <a:off x="10118842" y="239267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9" name="Oval 198">
            <a:extLst>
              <a:ext uri="{FF2B5EF4-FFF2-40B4-BE49-F238E27FC236}">
                <a16:creationId xmlns:a16="http://schemas.microsoft.com/office/drawing/2014/main" id="{BDD11F87-DA81-9510-C1CB-0AF4093562CB}"/>
              </a:ext>
            </a:extLst>
          </p:cNvPr>
          <p:cNvSpPr/>
          <p:nvPr/>
        </p:nvSpPr>
        <p:spPr>
          <a:xfrm rot="5400000">
            <a:off x="9406469" y="31127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0" name="Oval 199">
            <a:extLst>
              <a:ext uri="{FF2B5EF4-FFF2-40B4-BE49-F238E27FC236}">
                <a16:creationId xmlns:a16="http://schemas.microsoft.com/office/drawing/2014/main" id="{BDD11F87-DA81-9510-C1CB-0AF4093562CB}"/>
              </a:ext>
            </a:extLst>
          </p:cNvPr>
          <p:cNvSpPr/>
          <p:nvPr/>
        </p:nvSpPr>
        <p:spPr>
          <a:xfrm rot="5400000">
            <a:off x="10838922" y="31127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01" name="Straight Connector 200">
            <a:extLst>
              <a:ext uri="{FF2B5EF4-FFF2-40B4-BE49-F238E27FC236}">
                <a16:creationId xmlns:a16="http://schemas.microsoft.com/office/drawing/2014/main" id="{6205DD86-315C-53B6-CEEF-A9919650168E}"/>
              </a:ext>
            </a:extLst>
          </p:cNvPr>
          <p:cNvCxnSpPr>
            <a:cxnSpLocks/>
            <a:stCxn id="198" idx="5"/>
            <a:endCxn id="199" idx="1"/>
          </p:cNvCxnSpPr>
          <p:nvPr/>
        </p:nvCxnSpPr>
        <p:spPr>
          <a:xfrm flipH="1">
            <a:off x="9529381" y="2515583"/>
            <a:ext cx="610549"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2" name="Straight Connector 201">
            <a:extLst>
              <a:ext uri="{FF2B5EF4-FFF2-40B4-BE49-F238E27FC236}">
                <a16:creationId xmlns:a16="http://schemas.microsoft.com/office/drawing/2014/main" id="{6205DD86-315C-53B6-CEEF-A9919650168E}"/>
              </a:ext>
            </a:extLst>
          </p:cNvPr>
          <p:cNvCxnSpPr>
            <a:cxnSpLocks/>
            <a:stCxn id="198" idx="7"/>
            <a:endCxn id="200" idx="3"/>
          </p:cNvCxnSpPr>
          <p:nvPr/>
        </p:nvCxnSpPr>
        <p:spPr>
          <a:xfrm>
            <a:off x="10241754" y="2515583"/>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3" name="Straight Connector 202">
            <a:extLst>
              <a:ext uri="{FF2B5EF4-FFF2-40B4-BE49-F238E27FC236}">
                <a16:creationId xmlns:a16="http://schemas.microsoft.com/office/drawing/2014/main" id="{6205DD86-315C-53B6-CEEF-A9919650168E}"/>
              </a:ext>
            </a:extLst>
          </p:cNvPr>
          <p:cNvCxnSpPr>
            <a:cxnSpLocks/>
            <a:stCxn id="200" idx="4"/>
            <a:endCxn id="199" idx="0"/>
          </p:cNvCxnSpPr>
          <p:nvPr/>
        </p:nvCxnSpPr>
        <p:spPr>
          <a:xfrm flipH="1">
            <a:off x="9550469" y="3184751"/>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4" name="Oval 203">
            <a:extLst>
              <a:ext uri="{FF2B5EF4-FFF2-40B4-BE49-F238E27FC236}">
                <a16:creationId xmlns:a16="http://schemas.microsoft.com/office/drawing/2014/main" id="{BDD11F87-DA81-9510-C1CB-0AF4093562CB}"/>
              </a:ext>
            </a:extLst>
          </p:cNvPr>
          <p:cNvSpPr/>
          <p:nvPr/>
        </p:nvSpPr>
        <p:spPr>
          <a:xfrm rot="5400000">
            <a:off x="9398762" y="45529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5" name="Oval 204">
            <a:extLst>
              <a:ext uri="{FF2B5EF4-FFF2-40B4-BE49-F238E27FC236}">
                <a16:creationId xmlns:a16="http://schemas.microsoft.com/office/drawing/2014/main" id="{BDD11F87-DA81-9510-C1CB-0AF4093562CB}"/>
              </a:ext>
            </a:extLst>
          </p:cNvPr>
          <p:cNvSpPr/>
          <p:nvPr/>
        </p:nvSpPr>
        <p:spPr>
          <a:xfrm rot="5400000">
            <a:off x="10838922" y="45529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06" name="Straight Connector 205">
            <a:extLst>
              <a:ext uri="{FF2B5EF4-FFF2-40B4-BE49-F238E27FC236}">
                <a16:creationId xmlns:a16="http://schemas.microsoft.com/office/drawing/2014/main" id="{6205DD86-315C-53B6-CEEF-A9919650168E}"/>
              </a:ext>
            </a:extLst>
          </p:cNvPr>
          <p:cNvCxnSpPr>
            <a:cxnSpLocks/>
            <a:stCxn id="199" idx="6"/>
            <a:endCxn id="204" idx="2"/>
          </p:cNvCxnSpPr>
          <p:nvPr/>
        </p:nvCxnSpPr>
        <p:spPr>
          <a:xfrm flipH="1">
            <a:off x="9470762" y="3256751"/>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7" name="Straight Connector 206">
            <a:extLst>
              <a:ext uri="{FF2B5EF4-FFF2-40B4-BE49-F238E27FC236}">
                <a16:creationId xmlns:a16="http://schemas.microsoft.com/office/drawing/2014/main" id="{6205DD86-315C-53B6-CEEF-A9919650168E}"/>
              </a:ext>
            </a:extLst>
          </p:cNvPr>
          <p:cNvCxnSpPr>
            <a:cxnSpLocks/>
            <a:stCxn id="200" idx="6"/>
            <a:endCxn id="205" idx="2"/>
          </p:cNvCxnSpPr>
          <p:nvPr/>
        </p:nvCxnSpPr>
        <p:spPr>
          <a:xfrm>
            <a:off x="10910922" y="3256751"/>
            <a:ext cx="0"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8" name="Straight Connector 207">
            <a:extLst>
              <a:ext uri="{FF2B5EF4-FFF2-40B4-BE49-F238E27FC236}">
                <a16:creationId xmlns:a16="http://schemas.microsoft.com/office/drawing/2014/main" id="{6205DD86-315C-53B6-CEEF-A9919650168E}"/>
              </a:ext>
            </a:extLst>
          </p:cNvPr>
          <p:cNvCxnSpPr>
            <a:cxnSpLocks/>
            <a:stCxn id="205" idx="4"/>
            <a:endCxn id="204" idx="0"/>
          </p:cNvCxnSpPr>
          <p:nvPr/>
        </p:nvCxnSpPr>
        <p:spPr>
          <a:xfrm flipH="1">
            <a:off x="9542762" y="4624911"/>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9" name="TextBox 208"/>
          <p:cNvSpPr txBox="1"/>
          <p:nvPr/>
        </p:nvSpPr>
        <p:spPr>
          <a:xfrm>
            <a:off x="10020212" y="3071262"/>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10" name="TextBox 209"/>
          <p:cNvSpPr txBox="1"/>
          <p:nvPr/>
        </p:nvSpPr>
        <p:spPr>
          <a:xfrm>
            <a:off x="9435330" y="2528075"/>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11" name="TextBox 210"/>
          <p:cNvSpPr txBox="1"/>
          <p:nvPr/>
        </p:nvSpPr>
        <p:spPr>
          <a:xfrm>
            <a:off x="11139880" y="3157812"/>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12" name="TextBox 211"/>
          <p:cNvSpPr txBox="1"/>
          <p:nvPr/>
        </p:nvSpPr>
        <p:spPr>
          <a:xfrm>
            <a:off x="9477674" y="3718497"/>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13" name="TextBox 212"/>
          <p:cNvSpPr txBox="1"/>
          <p:nvPr/>
        </p:nvSpPr>
        <p:spPr>
          <a:xfrm>
            <a:off x="8866644" y="3117160"/>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214" name="TextBox 213"/>
          <p:cNvSpPr txBox="1"/>
          <p:nvPr/>
        </p:nvSpPr>
        <p:spPr>
          <a:xfrm>
            <a:off x="10610680" y="364695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215" name="TextBox 214"/>
          <p:cNvSpPr txBox="1"/>
          <p:nvPr/>
        </p:nvSpPr>
        <p:spPr>
          <a:xfrm>
            <a:off x="10504187" y="240584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16" name="TextBox 215"/>
          <p:cNvSpPr txBox="1"/>
          <p:nvPr/>
        </p:nvSpPr>
        <p:spPr>
          <a:xfrm>
            <a:off x="10008828" y="4110098"/>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217" name="Straight Connector 216">
            <a:extLst>
              <a:ext uri="{FF2B5EF4-FFF2-40B4-BE49-F238E27FC236}">
                <a16:creationId xmlns:a16="http://schemas.microsoft.com/office/drawing/2014/main" id="{6205DD86-315C-53B6-CEEF-A9919650168E}"/>
              </a:ext>
            </a:extLst>
          </p:cNvPr>
          <p:cNvCxnSpPr>
            <a:cxnSpLocks/>
            <a:stCxn id="218" idx="3"/>
            <a:endCxn id="204" idx="7"/>
          </p:cNvCxnSpPr>
          <p:nvPr/>
        </p:nvCxnSpPr>
        <p:spPr>
          <a:xfrm flipH="1" flipV="1">
            <a:off x="9521674" y="4675823"/>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18" name="Oval 217">
            <a:extLst>
              <a:ext uri="{FF2B5EF4-FFF2-40B4-BE49-F238E27FC236}">
                <a16:creationId xmlns:a16="http://schemas.microsoft.com/office/drawing/2014/main" id="{BDD11F87-DA81-9510-C1CB-0AF4093562CB}"/>
              </a:ext>
            </a:extLst>
          </p:cNvPr>
          <p:cNvSpPr/>
          <p:nvPr/>
        </p:nvSpPr>
        <p:spPr>
          <a:xfrm rot="5400000">
            <a:off x="10114823" y="52819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9" name="Straight Connector 218">
            <a:extLst>
              <a:ext uri="{FF2B5EF4-FFF2-40B4-BE49-F238E27FC236}">
                <a16:creationId xmlns:a16="http://schemas.microsoft.com/office/drawing/2014/main" id="{6205DD86-315C-53B6-CEEF-A9919650168E}"/>
              </a:ext>
            </a:extLst>
          </p:cNvPr>
          <p:cNvCxnSpPr>
            <a:cxnSpLocks/>
            <a:stCxn id="218" idx="1"/>
            <a:endCxn id="205" idx="5"/>
          </p:cNvCxnSpPr>
          <p:nvPr/>
        </p:nvCxnSpPr>
        <p:spPr>
          <a:xfrm flipV="1">
            <a:off x="10237735" y="4675823"/>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20" name="TextBox 219"/>
          <p:cNvSpPr txBox="1"/>
          <p:nvPr/>
        </p:nvSpPr>
        <p:spPr>
          <a:xfrm>
            <a:off x="11176150" y="4125014"/>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221" name="Oval 220">
            <a:extLst>
              <a:ext uri="{FF2B5EF4-FFF2-40B4-BE49-F238E27FC236}">
                <a16:creationId xmlns:a16="http://schemas.microsoft.com/office/drawing/2014/main" id="{BDD11F87-DA81-9510-C1CB-0AF4093562CB}"/>
              </a:ext>
            </a:extLst>
          </p:cNvPr>
          <p:cNvSpPr/>
          <p:nvPr/>
        </p:nvSpPr>
        <p:spPr>
          <a:xfrm rot="5400000">
            <a:off x="8675838" y="385073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2" name="Oval 221">
            <a:extLst>
              <a:ext uri="{FF2B5EF4-FFF2-40B4-BE49-F238E27FC236}">
                <a16:creationId xmlns:a16="http://schemas.microsoft.com/office/drawing/2014/main" id="{BDD11F87-DA81-9510-C1CB-0AF4093562CB}"/>
              </a:ext>
            </a:extLst>
          </p:cNvPr>
          <p:cNvSpPr/>
          <p:nvPr/>
        </p:nvSpPr>
        <p:spPr>
          <a:xfrm rot="5400000">
            <a:off x="11526234" y="379982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23" name="Straight Connector 222">
            <a:extLst>
              <a:ext uri="{FF2B5EF4-FFF2-40B4-BE49-F238E27FC236}">
                <a16:creationId xmlns:a16="http://schemas.microsoft.com/office/drawing/2014/main" id="{6205DD86-315C-53B6-CEEF-A9919650168E}"/>
              </a:ext>
            </a:extLst>
          </p:cNvPr>
          <p:cNvCxnSpPr>
            <a:cxnSpLocks/>
            <a:stCxn id="199" idx="5"/>
            <a:endCxn id="221" idx="1"/>
          </p:cNvCxnSpPr>
          <p:nvPr/>
        </p:nvCxnSpPr>
        <p:spPr>
          <a:xfrm flipH="1">
            <a:off x="8798750" y="3235663"/>
            <a:ext cx="628807" cy="63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24" name="Straight Connector 223">
            <a:extLst>
              <a:ext uri="{FF2B5EF4-FFF2-40B4-BE49-F238E27FC236}">
                <a16:creationId xmlns:a16="http://schemas.microsoft.com/office/drawing/2014/main" id="{6205DD86-315C-53B6-CEEF-A9919650168E}"/>
              </a:ext>
            </a:extLst>
          </p:cNvPr>
          <p:cNvCxnSpPr>
            <a:cxnSpLocks/>
            <a:stCxn id="221" idx="7"/>
            <a:endCxn id="204" idx="3"/>
          </p:cNvCxnSpPr>
          <p:nvPr/>
        </p:nvCxnSpPr>
        <p:spPr>
          <a:xfrm>
            <a:off x="8798750" y="3973647"/>
            <a:ext cx="621100" cy="600352"/>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25" name="Straight Connector 224">
            <a:extLst>
              <a:ext uri="{FF2B5EF4-FFF2-40B4-BE49-F238E27FC236}">
                <a16:creationId xmlns:a16="http://schemas.microsoft.com/office/drawing/2014/main" id="{6205DD86-315C-53B6-CEEF-A9919650168E}"/>
              </a:ext>
            </a:extLst>
          </p:cNvPr>
          <p:cNvCxnSpPr>
            <a:cxnSpLocks/>
            <a:stCxn id="200" idx="7"/>
            <a:endCxn id="222" idx="3"/>
          </p:cNvCxnSpPr>
          <p:nvPr/>
        </p:nvCxnSpPr>
        <p:spPr>
          <a:xfrm>
            <a:off x="10961834" y="3235663"/>
            <a:ext cx="585488" cy="5852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26" name="Straight Connector 225">
            <a:extLst>
              <a:ext uri="{FF2B5EF4-FFF2-40B4-BE49-F238E27FC236}">
                <a16:creationId xmlns:a16="http://schemas.microsoft.com/office/drawing/2014/main" id="{6205DD86-315C-53B6-CEEF-A9919650168E}"/>
              </a:ext>
            </a:extLst>
          </p:cNvPr>
          <p:cNvCxnSpPr>
            <a:cxnSpLocks/>
            <a:stCxn id="222" idx="5"/>
            <a:endCxn id="205" idx="1"/>
          </p:cNvCxnSpPr>
          <p:nvPr/>
        </p:nvCxnSpPr>
        <p:spPr>
          <a:xfrm flipH="1">
            <a:off x="10961834" y="3922735"/>
            <a:ext cx="585488" cy="651264"/>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27" name="TextBox 226"/>
          <p:cNvSpPr txBox="1"/>
          <p:nvPr/>
        </p:nvSpPr>
        <p:spPr>
          <a:xfrm>
            <a:off x="10559209" y="4834996"/>
            <a:ext cx="26481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j</a:t>
            </a:r>
          </a:p>
        </p:txBody>
      </p:sp>
      <p:sp>
        <p:nvSpPr>
          <p:cNvPr id="228" name="TextBox 227"/>
          <p:cNvSpPr txBox="1"/>
          <p:nvPr/>
        </p:nvSpPr>
        <p:spPr>
          <a:xfrm>
            <a:off x="8857271" y="4149514"/>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l</a:t>
            </a:r>
          </a:p>
        </p:txBody>
      </p:sp>
      <p:sp>
        <p:nvSpPr>
          <p:cNvPr id="229" name="TextBox 228"/>
          <p:cNvSpPr txBox="1"/>
          <p:nvPr/>
        </p:nvSpPr>
        <p:spPr>
          <a:xfrm>
            <a:off x="9485689" y="4859779"/>
            <a:ext cx="34657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230" name="Arc 229"/>
          <p:cNvSpPr/>
          <p:nvPr/>
        </p:nvSpPr>
        <p:spPr>
          <a:xfrm rot="21304140">
            <a:off x="1786905" y="5068318"/>
            <a:ext cx="851331" cy="1573505"/>
          </a:xfrm>
          <a:prstGeom prst="arc">
            <a:avLst>
              <a:gd name="adj1" fmla="val 13520253"/>
              <a:gd name="adj2" fmla="val 18207166"/>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1" name="Arc 230"/>
          <p:cNvSpPr/>
          <p:nvPr/>
        </p:nvSpPr>
        <p:spPr>
          <a:xfrm rot="19764446">
            <a:off x="9173550" y="2588379"/>
            <a:ext cx="851331" cy="4135846"/>
          </a:xfrm>
          <a:prstGeom prst="arc">
            <a:avLst>
              <a:gd name="adj1" fmla="val 16929569"/>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2" name="Arc 231"/>
          <p:cNvSpPr/>
          <p:nvPr/>
        </p:nvSpPr>
        <p:spPr>
          <a:xfrm rot="17344450">
            <a:off x="4886003" y="3914802"/>
            <a:ext cx="1207931" cy="2239676"/>
          </a:xfrm>
          <a:prstGeom prst="arc">
            <a:avLst>
              <a:gd name="adj1" fmla="val 16929569"/>
              <a:gd name="adj2" fmla="val 5567474"/>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4" name="Rectangle 233"/>
              <p:cNvSpPr/>
              <p:nvPr/>
            </p:nvSpPr>
            <p:spPr>
              <a:xfrm>
                <a:off x="1574304" y="5554252"/>
                <a:ext cx="1118832"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k</m:t>
                        </m:r>
                        <m:r>
                          <a:rPr lang="en-US" sz="2800" b="0" i="0" dirty="0" smtClean="0">
                            <a:solidFill>
                              <a:srgbClr val="FF0000"/>
                            </a:solidFill>
                            <a:latin typeface="Cambria Math" panose="02040503050406030204" pitchFamily="18" charset="0"/>
                          </a:rPr>
                          <m:t>,</m:t>
                        </m:r>
                        <m:r>
                          <m:rPr>
                            <m:sty m:val="p"/>
                          </m:rPr>
                          <a:rPr lang="en-US" sz="2800" b="0" i="0" dirty="0" smtClean="0">
                            <a:solidFill>
                              <a:srgbClr val="FF0000"/>
                            </a:solidFill>
                            <a:latin typeface="Cambria Math" panose="02040503050406030204" pitchFamily="18" charset="0"/>
                          </a:rPr>
                          <m:t>j</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234" name="Rectangle 233"/>
              <p:cNvSpPr>
                <a:spLocks noRot="1" noChangeAspect="1" noMove="1" noResize="1" noEditPoints="1" noAdjustHandles="1" noChangeArrowheads="1" noChangeShapeType="1" noTextEdit="1"/>
              </p:cNvSpPr>
              <p:nvPr/>
            </p:nvSpPr>
            <p:spPr>
              <a:xfrm>
                <a:off x="1574304" y="5554252"/>
                <a:ext cx="1118832"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5" name="Rectangle 234"/>
              <p:cNvSpPr/>
              <p:nvPr/>
            </p:nvSpPr>
            <p:spPr>
              <a:xfrm>
                <a:off x="5315388" y="5529614"/>
                <a:ext cx="1653658"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l</m:t>
                        </m:r>
                        <m:r>
                          <a:rPr lang="en-US" sz="2800" b="0" i="0" dirty="0" smtClean="0">
                            <a:solidFill>
                              <a:srgbClr val="FF0000"/>
                            </a:solidFill>
                            <a:latin typeface="Cambria Math" panose="02040503050406030204" pitchFamily="18" charset="0"/>
                          </a:rPr>
                          <m:t>,</m:t>
                        </m:r>
                        <m:r>
                          <m:rPr>
                            <m:sty m:val="p"/>
                          </m:rPr>
                          <a:rPr lang="en-US" sz="2800" b="0" i="0" dirty="0" smtClean="0">
                            <a:solidFill>
                              <a:srgbClr val="FF0000"/>
                            </a:solidFill>
                            <a:latin typeface="Cambria Math" panose="02040503050406030204" pitchFamily="18" charset="0"/>
                          </a:rPr>
                          <m:t>d</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c</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j</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235" name="Rectangle 234"/>
              <p:cNvSpPr>
                <a:spLocks noRot="1" noChangeAspect="1" noMove="1" noResize="1" noEditPoints="1" noAdjustHandles="1" noChangeArrowheads="1" noChangeShapeType="1" noTextEdit="1"/>
              </p:cNvSpPr>
              <p:nvPr/>
            </p:nvSpPr>
            <p:spPr>
              <a:xfrm>
                <a:off x="5315388" y="5529614"/>
                <a:ext cx="165365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6" name="Rectangle 235"/>
              <p:cNvSpPr/>
              <p:nvPr/>
            </p:nvSpPr>
            <p:spPr>
              <a:xfrm>
                <a:off x="9405295" y="5472879"/>
                <a:ext cx="1664879"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f</m:t>
                        </m:r>
                        <m:r>
                          <a:rPr lang="en-US" sz="2800" b="0" i="0" dirty="0" smtClean="0">
                            <a:solidFill>
                              <a:srgbClr val="FF0000"/>
                            </a:solidFill>
                            <a:latin typeface="Cambria Math" panose="02040503050406030204" pitchFamily="18" charset="0"/>
                          </a:rPr>
                          <m:t>,</m:t>
                        </m:r>
                        <m:r>
                          <m:rPr>
                            <m:sty m:val="p"/>
                          </m:rPr>
                          <a:rPr lang="en-US" sz="2800" b="0" i="0" dirty="0" smtClean="0">
                            <a:solidFill>
                              <a:srgbClr val="FF0000"/>
                            </a:solidFill>
                            <a:latin typeface="Cambria Math" panose="02040503050406030204" pitchFamily="18" charset="0"/>
                          </a:rPr>
                          <m:t>d</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c</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j</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236" name="Rectangle 235"/>
              <p:cNvSpPr>
                <a:spLocks noRot="1" noChangeAspect="1" noMove="1" noResize="1" noEditPoints="1" noAdjustHandles="1" noChangeArrowheads="1" noChangeShapeType="1" noTextEdit="1"/>
              </p:cNvSpPr>
              <p:nvPr/>
            </p:nvSpPr>
            <p:spPr>
              <a:xfrm>
                <a:off x="9405295" y="5472879"/>
                <a:ext cx="1664879" cy="523220"/>
              </a:xfrm>
              <a:prstGeom prst="rect">
                <a:avLst/>
              </a:prstGeom>
              <a:blipFill rotWithShape="0">
                <a:blip r:embed="rId4"/>
                <a:stretch>
                  <a:fillRect/>
                </a:stretch>
              </a:blipFill>
            </p:spPr>
            <p:txBody>
              <a:bodyPr/>
              <a:lstStyle/>
              <a:p>
                <a:r>
                  <a:rPr lang="en-US">
                    <a:noFill/>
                  </a:rPr>
                  <a:t> </a:t>
                </a:r>
              </a:p>
            </p:txBody>
          </p:sp>
        </mc:Fallback>
      </mc:AlternateContent>
      <p:sp>
        <p:nvSpPr>
          <p:cNvPr id="2" name="Title 1"/>
          <p:cNvSpPr>
            <a:spLocks noGrp="1"/>
          </p:cNvSpPr>
          <p:nvPr>
            <p:ph type="title"/>
          </p:nvPr>
        </p:nvSpPr>
        <p:spPr/>
        <p:txBody>
          <a:bodyPr>
            <a:normAutofit/>
          </a:bodyPr>
          <a:lstStyle/>
          <a:p>
            <a:r>
              <a:rPr lang="en-GB" dirty="0"/>
              <a:t>Method 2 ⇝ Example 2(Cont.)</a:t>
            </a:r>
            <a:endParaRPr lang="en-US" dirty="0"/>
          </a:p>
        </p:txBody>
      </p:sp>
    </p:spTree>
    <p:extLst>
      <p:ext uri="{BB962C8B-B14F-4D97-AF65-F5344CB8AC3E}">
        <p14:creationId xmlns:p14="http://schemas.microsoft.com/office/powerpoint/2010/main" val="2724252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wipe(up)">
                                      <p:cBhvr>
                                        <p:cTn id="7" dur="500"/>
                                        <p:tgtEl>
                                          <p:spTgt spid="2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3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32"/>
                                        </p:tgtEl>
                                        <p:attrNameLst>
                                          <p:attrName>style.visibility</p:attrName>
                                        </p:attrNameLst>
                                      </p:cBhvr>
                                      <p:to>
                                        <p:strVal val="visible"/>
                                      </p:to>
                                    </p:set>
                                    <p:animEffect transition="in" filter="wipe(up)">
                                      <p:cBhvr>
                                        <p:cTn id="16" dur="500"/>
                                        <p:tgtEl>
                                          <p:spTgt spid="23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31"/>
                                        </p:tgtEl>
                                        <p:attrNameLst>
                                          <p:attrName>style.visibility</p:attrName>
                                        </p:attrNameLst>
                                      </p:cBhvr>
                                      <p:to>
                                        <p:strVal val="visible"/>
                                      </p:to>
                                    </p:set>
                                    <p:animEffect transition="in" filter="wipe(up)">
                                      <p:cBhvr>
                                        <p:cTn id="25" dur="500"/>
                                        <p:tgtEl>
                                          <p:spTgt spid="231"/>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 grpId="0" animBg="1"/>
      <p:bldP spid="231" grpId="0" animBg="1"/>
      <p:bldP spid="232" grpId="0" animBg="1"/>
      <p:bldP spid="234" grpId="0"/>
      <p:bldP spid="235" grpId="0"/>
      <p:bldP spid="23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95218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pPr algn="just"/>
            <a:r>
              <a:rPr lang="en-US" sz="2800" dirty="0">
                <a:solidFill>
                  <a:schemeClr val="bg1"/>
                </a:solidFill>
              </a:rPr>
              <a:t>Pick an arbitrary spanning tree in the given graph. List all fundamental cutsets with respect to this tree.</a:t>
            </a: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2(Cont.)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86249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8" name="Oval 37">
            <a:extLst>
              <a:ext uri="{FF2B5EF4-FFF2-40B4-BE49-F238E27FC236}">
                <a16:creationId xmlns:a16="http://schemas.microsoft.com/office/drawing/2014/main" id="{BDD11F87-DA81-9510-C1CB-0AF4093562CB}"/>
              </a:ext>
            </a:extLst>
          </p:cNvPr>
          <p:cNvSpPr/>
          <p:nvPr/>
        </p:nvSpPr>
        <p:spPr>
          <a:xfrm rot="5400000">
            <a:off x="2061720" y="239267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1349347" y="31127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2781800" y="31127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38" idx="5"/>
            <a:endCxn id="39" idx="1"/>
          </p:cNvCxnSpPr>
          <p:nvPr/>
        </p:nvCxnSpPr>
        <p:spPr>
          <a:xfrm flipH="1">
            <a:off x="1472259" y="2515583"/>
            <a:ext cx="610549"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38" idx="7"/>
            <a:endCxn id="40" idx="3"/>
          </p:cNvCxnSpPr>
          <p:nvPr/>
        </p:nvCxnSpPr>
        <p:spPr>
          <a:xfrm>
            <a:off x="2184632" y="2515583"/>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40" idx="4"/>
            <a:endCxn id="39" idx="0"/>
          </p:cNvCxnSpPr>
          <p:nvPr/>
        </p:nvCxnSpPr>
        <p:spPr>
          <a:xfrm flipH="1">
            <a:off x="1493347" y="3184751"/>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4" name="Oval 43">
            <a:extLst>
              <a:ext uri="{FF2B5EF4-FFF2-40B4-BE49-F238E27FC236}">
                <a16:creationId xmlns:a16="http://schemas.microsoft.com/office/drawing/2014/main" id="{BDD11F87-DA81-9510-C1CB-0AF4093562CB}"/>
              </a:ext>
            </a:extLst>
          </p:cNvPr>
          <p:cNvSpPr/>
          <p:nvPr/>
        </p:nvSpPr>
        <p:spPr>
          <a:xfrm rot="5400000">
            <a:off x="1341640" y="45529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2781800" y="45529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6" name="Straight Connector 45">
            <a:extLst>
              <a:ext uri="{FF2B5EF4-FFF2-40B4-BE49-F238E27FC236}">
                <a16:creationId xmlns:a16="http://schemas.microsoft.com/office/drawing/2014/main" id="{6205DD86-315C-53B6-CEEF-A9919650168E}"/>
              </a:ext>
            </a:extLst>
          </p:cNvPr>
          <p:cNvCxnSpPr>
            <a:cxnSpLocks/>
            <a:stCxn id="39" idx="6"/>
            <a:endCxn id="44" idx="2"/>
          </p:cNvCxnSpPr>
          <p:nvPr/>
        </p:nvCxnSpPr>
        <p:spPr>
          <a:xfrm flipH="1">
            <a:off x="1413640" y="3256751"/>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6205DD86-315C-53B6-CEEF-A9919650168E}"/>
              </a:ext>
            </a:extLst>
          </p:cNvPr>
          <p:cNvCxnSpPr>
            <a:cxnSpLocks/>
            <a:stCxn id="40" idx="6"/>
            <a:endCxn id="45" idx="2"/>
          </p:cNvCxnSpPr>
          <p:nvPr/>
        </p:nvCxnSpPr>
        <p:spPr>
          <a:xfrm>
            <a:off x="2853800" y="3256751"/>
            <a:ext cx="0"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45" idx="4"/>
            <a:endCxn id="44" idx="0"/>
          </p:cNvCxnSpPr>
          <p:nvPr/>
        </p:nvCxnSpPr>
        <p:spPr>
          <a:xfrm flipH="1">
            <a:off x="1485640" y="4624911"/>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9" name="TextBox 48"/>
          <p:cNvSpPr txBox="1"/>
          <p:nvPr/>
        </p:nvSpPr>
        <p:spPr>
          <a:xfrm>
            <a:off x="1963090" y="3071262"/>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50" name="TextBox 49"/>
          <p:cNvSpPr txBox="1"/>
          <p:nvPr/>
        </p:nvSpPr>
        <p:spPr>
          <a:xfrm>
            <a:off x="1378208" y="2528075"/>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51" name="TextBox 50"/>
          <p:cNvSpPr txBox="1"/>
          <p:nvPr/>
        </p:nvSpPr>
        <p:spPr>
          <a:xfrm>
            <a:off x="3082758" y="3157812"/>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52" name="TextBox 51"/>
          <p:cNvSpPr txBox="1"/>
          <p:nvPr/>
        </p:nvSpPr>
        <p:spPr>
          <a:xfrm>
            <a:off x="1420552" y="3718497"/>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53" name="TextBox 52"/>
          <p:cNvSpPr txBox="1"/>
          <p:nvPr/>
        </p:nvSpPr>
        <p:spPr>
          <a:xfrm>
            <a:off x="809522" y="3117160"/>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54" name="TextBox 53"/>
          <p:cNvSpPr txBox="1"/>
          <p:nvPr/>
        </p:nvSpPr>
        <p:spPr>
          <a:xfrm>
            <a:off x="2553558" y="364695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5" name="TextBox 54"/>
          <p:cNvSpPr txBox="1"/>
          <p:nvPr/>
        </p:nvSpPr>
        <p:spPr>
          <a:xfrm>
            <a:off x="2447065" y="240584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56" name="TextBox 55"/>
          <p:cNvSpPr txBox="1"/>
          <p:nvPr/>
        </p:nvSpPr>
        <p:spPr>
          <a:xfrm>
            <a:off x="1951706" y="4110098"/>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57" name="Straight Connector 56">
            <a:extLst>
              <a:ext uri="{FF2B5EF4-FFF2-40B4-BE49-F238E27FC236}">
                <a16:creationId xmlns:a16="http://schemas.microsoft.com/office/drawing/2014/main" id="{6205DD86-315C-53B6-CEEF-A9919650168E}"/>
              </a:ext>
            </a:extLst>
          </p:cNvPr>
          <p:cNvCxnSpPr>
            <a:cxnSpLocks/>
            <a:stCxn id="58" idx="3"/>
            <a:endCxn id="44" idx="7"/>
          </p:cNvCxnSpPr>
          <p:nvPr/>
        </p:nvCxnSpPr>
        <p:spPr>
          <a:xfrm flipH="1" flipV="1">
            <a:off x="1464552" y="4675823"/>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58" name="Oval 57">
            <a:extLst>
              <a:ext uri="{FF2B5EF4-FFF2-40B4-BE49-F238E27FC236}">
                <a16:creationId xmlns:a16="http://schemas.microsoft.com/office/drawing/2014/main" id="{BDD11F87-DA81-9510-C1CB-0AF4093562CB}"/>
              </a:ext>
            </a:extLst>
          </p:cNvPr>
          <p:cNvSpPr/>
          <p:nvPr/>
        </p:nvSpPr>
        <p:spPr>
          <a:xfrm rot="5400000">
            <a:off x="2057701" y="52819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9" name="Straight Connector 58">
            <a:extLst>
              <a:ext uri="{FF2B5EF4-FFF2-40B4-BE49-F238E27FC236}">
                <a16:creationId xmlns:a16="http://schemas.microsoft.com/office/drawing/2014/main" id="{6205DD86-315C-53B6-CEEF-A9919650168E}"/>
              </a:ext>
            </a:extLst>
          </p:cNvPr>
          <p:cNvCxnSpPr>
            <a:cxnSpLocks/>
            <a:stCxn id="58" idx="1"/>
            <a:endCxn id="45" idx="5"/>
          </p:cNvCxnSpPr>
          <p:nvPr/>
        </p:nvCxnSpPr>
        <p:spPr>
          <a:xfrm flipV="1">
            <a:off x="2180613" y="4675823"/>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Box 59"/>
          <p:cNvSpPr txBox="1"/>
          <p:nvPr/>
        </p:nvSpPr>
        <p:spPr>
          <a:xfrm>
            <a:off x="3119028" y="4125014"/>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61" name="Oval 60">
            <a:extLst>
              <a:ext uri="{FF2B5EF4-FFF2-40B4-BE49-F238E27FC236}">
                <a16:creationId xmlns:a16="http://schemas.microsoft.com/office/drawing/2014/main" id="{BDD11F87-DA81-9510-C1CB-0AF4093562CB}"/>
              </a:ext>
            </a:extLst>
          </p:cNvPr>
          <p:cNvSpPr/>
          <p:nvPr/>
        </p:nvSpPr>
        <p:spPr>
          <a:xfrm rot="5400000">
            <a:off x="618716" y="385073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2" name="Oval 61">
            <a:extLst>
              <a:ext uri="{FF2B5EF4-FFF2-40B4-BE49-F238E27FC236}">
                <a16:creationId xmlns:a16="http://schemas.microsoft.com/office/drawing/2014/main" id="{BDD11F87-DA81-9510-C1CB-0AF4093562CB}"/>
              </a:ext>
            </a:extLst>
          </p:cNvPr>
          <p:cNvSpPr/>
          <p:nvPr/>
        </p:nvSpPr>
        <p:spPr>
          <a:xfrm rot="5400000">
            <a:off x="3469112" y="379982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3" name="Straight Connector 62">
            <a:extLst>
              <a:ext uri="{FF2B5EF4-FFF2-40B4-BE49-F238E27FC236}">
                <a16:creationId xmlns:a16="http://schemas.microsoft.com/office/drawing/2014/main" id="{6205DD86-315C-53B6-CEEF-A9919650168E}"/>
              </a:ext>
            </a:extLst>
          </p:cNvPr>
          <p:cNvCxnSpPr>
            <a:cxnSpLocks/>
            <a:stCxn id="39" idx="5"/>
            <a:endCxn id="61" idx="1"/>
          </p:cNvCxnSpPr>
          <p:nvPr/>
        </p:nvCxnSpPr>
        <p:spPr>
          <a:xfrm flipH="1">
            <a:off x="741628" y="3235663"/>
            <a:ext cx="628807" cy="63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61" idx="7"/>
            <a:endCxn id="44" idx="3"/>
          </p:cNvCxnSpPr>
          <p:nvPr/>
        </p:nvCxnSpPr>
        <p:spPr>
          <a:xfrm>
            <a:off x="741628" y="3973647"/>
            <a:ext cx="621100" cy="600352"/>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205DD86-315C-53B6-CEEF-A9919650168E}"/>
              </a:ext>
            </a:extLst>
          </p:cNvPr>
          <p:cNvCxnSpPr>
            <a:cxnSpLocks/>
            <a:stCxn id="40" idx="7"/>
            <a:endCxn id="62" idx="3"/>
          </p:cNvCxnSpPr>
          <p:nvPr/>
        </p:nvCxnSpPr>
        <p:spPr>
          <a:xfrm>
            <a:off x="2904712" y="3235663"/>
            <a:ext cx="585488" cy="5852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6205DD86-315C-53B6-CEEF-A9919650168E}"/>
              </a:ext>
            </a:extLst>
          </p:cNvPr>
          <p:cNvCxnSpPr>
            <a:cxnSpLocks/>
            <a:stCxn id="62" idx="5"/>
            <a:endCxn id="45" idx="1"/>
          </p:cNvCxnSpPr>
          <p:nvPr/>
        </p:nvCxnSpPr>
        <p:spPr>
          <a:xfrm flipH="1">
            <a:off x="2904712" y="3922735"/>
            <a:ext cx="585488" cy="651264"/>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67" name="TextBox 66"/>
          <p:cNvSpPr txBox="1"/>
          <p:nvPr/>
        </p:nvSpPr>
        <p:spPr>
          <a:xfrm>
            <a:off x="2502087" y="4834996"/>
            <a:ext cx="26481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j</a:t>
            </a:r>
          </a:p>
        </p:txBody>
      </p:sp>
      <p:sp>
        <p:nvSpPr>
          <p:cNvPr id="68" name="TextBox 67"/>
          <p:cNvSpPr txBox="1"/>
          <p:nvPr/>
        </p:nvSpPr>
        <p:spPr>
          <a:xfrm>
            <a:off x="800149" y="4149514"/>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l</a:t>
            </a:r>
          </a:p>
        </p:txBody>
      </p:sp>
      <p:sp>
        <p:nvSpPr>
          <p:cNvPr id="69" name="TextBox 68"/>
          <p:cNvSpPr txBox="1"/>
          <p:nvPr/>
        </p:nvSpPr>
        <p:spPr>
          <a:xfrm>
            <a:off x="1428567" y="4859779"/>
            <a:ext cx="34657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134" name="Oval 133">
            <a:extLst>
              <a:ext uri="{FF2B5EF4-FFF2-40B4-BE49-F238E27FC236}">
                <a16:creationId xmlns:a16="http://schemas.microsoft.com/office/drawing/2014/main" id="{BDD11F87-DA81-9510-C1CB-0AF4093562CB}"/>
              </a:ext>
            </a:extLst>
          </p:cNvPr>
          <p:cNvSpPr/>
          <p:nvPr/>
        </p:nvSpPr>
        <p:spPr>
          <a:xfrm rot="5400000">
            <a:off x="6087650" y="23946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5" name="Oval 134">
            <a:extLst>
              <a:ext uri="{FF2B5EF4-FFF2-40B4-BE49-F238E27FC236}">
                <a16:creationId xmlns:a16="http://schemas.microsoft.com/office/drawing/2014/main" id="{BDD11F87-DA81-9510-C1CB-0AF4093562CB}"/>
              </a:ext>
            </a:extLst>
          </p:cNvPr>
          <p:cNvSpPr/>
          <p:nvPr/>
        </p:nvSpPr>
        <p:spPr>
          <a:xfrm rot="5400000">
            <a:off x="5375277" y="31147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6" name="Oval 135">
            <a:extLst>
              <a:ext uri="{FF2B5EF4-FFF2-40B4-BE49-F238E27FC236}">
                <a16:creationId xmlns:a16="http://schemas.microsoft.com/office/drawing/2014/main" id="{BDD11F87-DA81-9510-C1CB-0AF4093562CB}"/>
              </a:ext>
            </a:extLst>
          </p:cNvPr>
          <p:cNvSpPr/>
          <p:nvPr/>
        </p:nvSpPr>
        <p:spPr>
          <a:xfrm rot="5400000">
            <a:off x="6807730" y="31147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7" name="Straight Connector 136">
            <a:extLst>
              <a:ext uri="{FF2B5EF4-FFF2-40B4-BE49-F238E27FC236}">
                <a16:creationId xmlns:a16="http://schemas.microsoft.com/office/drawing/2014/main" id="{6205DD86-315C-53B6-CEEF-A9919650168E}"/>
              </a:ext>
            </a:extLst>
          </p:cNvPr>
          <p:cNvCxnSpPr>
            <a:cxnSpLocks/>
            <a:stCxn id="134" idx="5"/>
            <a:endCxn id="135" idx="1"/>
          </p:cNvCxnSpPr>
          <p:nvPr/>
        </p:nvCxnSpPr>
        <p:spPr>
          <a:xfrm flipH="1">
            <a:off x="5498189" y="2517582"/>
            <a:ext cx="610549"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38" name="Straight Connector 137">
            <a:extLst>
              <a:ext uri="{FF2B5EF4-FFF2-40B4-BE49-F238E27FC236}">
                <a16:creationId xmlns:a16="http://schemas.microsoft.com/office/drawing/2014/main" id="{6205DD86-315C-53B6-CEEF-A9919650168E}"/>
              </a:ext>
            </a:extLst>
          </p:cNvPr>
          <p:cNvCxnSpPr>
            <a:cxnSpLocks/>
            <a:stCxn id="134" idx="7"/>
            <a:endCxn id="136" idx="3"/>
          </p:cNvCxnSpPr>
          <p:nvPr/>
        </p:nvCxnSpPr>
        <p:spPr>
          <a:xfrm>
            <a:off x="6210562" y="2517582"/>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39" name="Straight Connector 138">
            <a:extLst>
              <a:ext uri="{FF2B5EF4-FFF2-40B4-BE49-F238E27FC236}">
                <a16:creationId xmlns:a16="http://schemas.microsoft.com/office/drawing/2014/main" id="{6205DD86-315C-53B6-CEEF-A9919650168E}"/>
              </a:ext>
            </a:extLst>
          </p:cNvPr>
          <p:cNvCxnSpPr>
            <a:cxnSpLocks/>
            <a:stCxn id="136" idx="4"/>
            <a:endCxn id="135" idx="0"/>
          </p:cNvCxnSpPr>
          <p:nvPr/>
        </p:nvCxnSpPr>
        <p:spPr>
          <a:xfrm flipH="1">
            <a:off x="5519277" y="3186750"/>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0" name="Oval 139">
            <a:extLst>
              <a:ext uri="{FF2B5EF4-FFF2-40B4-BE49-F238E27FC236}">
                <a16:creationId xmlns:a16="http://schemas.microsoft.com/office/drawing/2014/main" id="{BDD11F87-DA81-9510-C1CB-0AF4093562CB}"/>
              </a:ext>
            </a:extLst>
          </p:cNvPr>
          <p:cNvSpPr/>
          <p:nvPr/>
        </p:nvSpPr>
        <p:spPr>
          <a:xfrm rot="5400000">
            <a:off x="5367570" y="45549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1" name="Oval 140">
            <a:extLst>
              <a:ext uri="{FF2B5EF4-FFF2-40B4-BE49-F238E27FC236}">
                <a16:creationId xmlns:a16="http://schemas.microsoft.com/office/drawing/2014/main" id="{BDD11F87-DA81-9510-C1CB-0AF4093562CB}"/>
              </a:ext>
            </a:extLst>
          </p:cNvPr>
          <p:cNvSpPr/>
          <p:nvPr/>
        </p:nvSpPr>
        <p:spPr>
          <a:xfrm rot="5400000">
            <a:off x="6807730" y="45549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42" name="Straight Connector 141">
            <a:extLst>
              <a:ext uri="{FF2B5EF4-FFF2-40B4-BE49-F238E27FC236}">
                <a16:creationId xmlns:a16="http://schemas.microsoft.com/office/drawing/2014/main" id="{6205DD86-315C-53B6-CEEF-A9919650168E}"/>
              </a:ext>
            </a:extLst>
          </p:cNvPr>
          <p:cNvCxnSpPr>
            <a:cxnSpLocks/>
            <a:stCxn id="135" idx="6"/>
            <a:endCxn id="140" idx="2"/>
          </p:cNvCxnSpPr>
          <p:nvPr/>
        </p:nvCxnSpPr>
        <p:spPr>
          <a:xfrm flipH="1">
            <a:off x="5439570" y="3258750"/>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3" name="Straight Connector 142">
            <a:extLst>
              <a:ext uri="{FF2B5EF4-FFF2-40B4-BE49-F238E27FC236}">
                <a16:creationId xmlns:a16="http://schemas.microsoft.com/office/drawing/2014/main" id="{6205DD86-315C-53B6-CEEF-A9919650168E}"/>
              </a:ext>
            </a:extLst>
          </p:cNvPr>
          <p:cNvCxnSpPr>
            <a:cxnSpLocks/>
            <a:stCxn id="136" idx="6"/>
            <a:endCxn id="141" idx="2"/>
          </p:cNvCxnSpPr>
          <p:nvPr/>
        </p:nvCxnSpPr>
        <p:spPr>
          <a:xfrm>
            <a:off x="6879730" y="3258750"/>
            <a:ext cx="0"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44" name="Straight Connector 143">
            <a:extLst>
              <a:ext uri="{FF2B5EF4-FFF2-40B4-BE49-F238E27FC236}">
                <a16:creationId xmlns:a16="http://schemas.microsoft.com/office/drawing/2014/main" id="{6205DD86-315C-53B6-CEEF-A9919650168E}"/>
              </a:ext>
            </a:extLst>
          </p:cNvPr>
          <p:cNvCxnSpPr>
            <a:cxnSpLocks/>
            <a:stCxn id="141" idx="4"/>
            <a:endCxn id="140" idx="0"/>
          </p:cNvCxnSpPr>
          <p:nvPr/>
        </p:nvCxnSpPr>
        <p:spPr>
          <a:xfrm flipH="1">
            <a:off x="5511570" y="4626910"/>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5" name="TextBox 144"/>
          <p:cNvSpPr txBox="1"/>
          <p:nvPr/>
        </p:nvSpPr>
        <p:spPr>
          <a:xfrm>
            <a:off x="5989020" y="3073261"/>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46" name="TextBox 145"/>
          <p:cNvSpPr txBox="1"/>
          <p:nvPr/>
        </p:nvSpPr>
        <p:spPr>
          <a:xfrm>
            <a:off x="5404138" y="2530074"/>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147" name="TextBox 146"/>
          <p:cNvSpPr txBox="1"/>
          <p:nvPr/>
        </p:nvSpPr>
        <p:spPr>
          <a:xfrm>
            <a:off x="7108688" y="3159811"/>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148" name="TextBox 147"/>
          <p:cNvSpPr txBox="1"/>
          <p:nvPr/>
        </p:nvSpPr>
        <p:spPr>
          <a:xfrm>
            <a:off x="5446482" y="3720496"/>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149" name="TextBox 148"/>
          <p:cNvSpPr txBox="1"/>
          <p:nvPr/>
        </p:nvSpPr>
        <p:spPr>
          <a:xfrm>
            <a:off x="4835452" y="3119159"/>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50" name="TextBox 149"/>
          <p:cNvSpPr txBox="1"/>
          <p:nvPr/>
        </p:nvSpPr>
        <p:spPr>
          <a:xfrm>
            <a:off x="6579488" y="364894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51" name="TextBox 150"/>
          <p:cNvSpPr txBox="1"/>
          <p:nvPr/>
        </p:nvSpPr>
        <p:spPr>
          <a:xfrm>
            <a:off x="6472995" y="2407846"/>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152" name="TextBox 151"/>
          <p:cNvSpPr txBox="1"/>
          <p:nvPr/>
        </p:nvSpPr>
        <p:spPr>
          <a:xfrm>
            <a:off x="5977636" y="4112097"/>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153" name="Straight Connector 152">
            <a:extLst>
              <a:ext uri="{FF2B5EF4-FFF2-40B4-BE49-F238E27FC236}">
                <a16:creationId xmlns:a16="http://schemas.microsoft.com/office/drawing/2014/main" id="{6205DD86-315C-53B6-CEEF-A9919650168E}"/>
              </a:ext>
            </a:extLst>
          </p:cNvPr>
          <p:cNvCxnSpPr>
            <a:cxnSpLocks/>
            <a:stCxn id="154" idx="3"/>
            <a:endCxn id="140" idx="7"/>
          </p:cNvCxnSpPr>
          <p:nvPr/>
        </p:nvCxnSpPr>
        <p:spPr>
          <a:xfrm flipH="1" flipV="1">
            <a:off x="5490482" y="4677822"/>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54" name="Oval 153">
            <a:extLst>
              <a:ext uri="{FF2B5EF4-FFF2-40B4-BE49-F238E27FC236}">
                <a16:creationId xmlns:a16="http://schemas.microsoft.com/office/drawing/2014/main" id="{BDD11F87-DA81-9510-C1CB-0AF4093562CB}"/>
              </a:ext>
            </a:extLst>
          </p:cNvPr>
          <p:cNvSpPr/>
          <p:nvPr/>
        </p:nvSpPr>
        <p:spPr>
          <a:xfrm rot="5400000">
            <a:off x="6083631" y="52839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5" name="Straight Connector 154">
            <a:extLst>
              <a:ext uri="{FF2B5EF4-FFF2-40B4-BE49-F238E27FC236}">
                <a16:creationId xmlns:a16="http://schemas.microsoft.com/office/drawing/2014/main" id="{6205DD86-315C-53B6-CEEF-A9919650168E}"/>
              </a:ext>
            </a:extLst>
          </p:cNvPr>
          <p:cNvCxnSpPr>
            <a:cxnSpLocks/>
            <a:stCxn id="154" idx="1"/>
            <a:endCxn id="141" idx="5"/>
          </p:cNvCxnSpPr>
          <p:nvPr/>
        </p:nvCxnSpPr>
        <p:spPr>
          <a:xfrm flipV="1">
            <a:off x="6206543" y="4677822"/>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56" name="TextBox 155"/>
          <p:cNvSpPr txBox="1"/>
          <p:nvPr/>
        </p:nvSpPr>
        <p:spPr>
          <a:xfrm>
            <a:off x="7144958" y="4127013"/>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157" name="Oval 156">
            <a:extLst>
              <a:ext uri="{FF2B5EF4-FFF2-40B4-BE49-F238E27FC236}">
                <a16:creationId xmlns:a16="http://schemas.microsoft.com/office/drawing/2014/main" id="{BDD11F87-DA81-9510-C1CB-0AF4093562CB}"/>
              </a:ext>
            </a:extLst>
          </p:cNvPr>
          <p:cNvSpPr/>
          <p:nvPr/>
        </p:nvSpPr>
        <p:spPr>
          <a:xfrm rot="5400000">
            <a:off x="4644646" y="38527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8" name="Oval 157">
            <a:extLst>
              <a:ext uri="{FF2B5EF4-FFF2-40B4-BE49-F238E27FC236}">
                <a16:creationId xmlns:a16="http://schemas.microsoft.com/office/drawing/2014/main" id="{BDD11F87-DA81-9510-C1CB-0AF4093562CB}"/>
              </a:ext>
            </a:extLst>
          </p:cNvPr>
          <p:cNvSpPr/>
          <p:nvPr/>
        </p:nvSpPr>
        <p:spPr>
          <a:xfrm rot="5400000">
            <a:off x="7495042" y="38018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9" name="Straight Connector 158">
            <a:extLst>
              <a:ext uri="{FF2B5EF4-FFF2-40B4-BE49-F238E27FC236}">
                <a16:creationId xmlns:a16="http://schemas.microsoft.com/office/drawing/2014/main" id="{6205DD86-315C-53B6-CEEF-A9919650168E}"/>
              </a:ext>
            </a:extLst>
          </p:cNvPr>
          <p:cNvCxnSpPr>
            <a:cxnSpLocks/>
            <a:stCxn id="135" idx="5"/>
            <a:endCxn id="157" idx="1"/>
          </p:cNvCxnSpPr>
          <p:nvPr/>
        </p:nvCxnSpPr>
        <p:spPr>
          <a:xfrm flipH="1">
            <a:off x="4767558" y="3237662"/>
            <a:ext cx="628807" cy="63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60" name="Straight Connector 159">
            <a:extLst>
              <a:ext uri="{FF2B5EF4-FFF2-40B4-BE49-F238E27FC236}">
                <a16:creationId xmlns:a16="http://schemas.microsoft.com/office/drawing/2014/main" id="{6205DD86-315C-53B6-CEEF-A9919650168E}"/>
              </a:ext>
            </a:extLst>
          </p:cNvPr>
          <p:cNvCxnSpPr>
            <a:cxnSpLocks/>
            <a:stCxn id="157" idx="7"/>
            <a:endCxn id="140" idx="3"/>
          </p:cNvCxnSpPr>
          <p:nvPr/>
        </p:nvCxnSpPr>
        <p:spPr>
          <a:xfrm>
            <a:off x="4767558" y="3975646"/>
            <a:ext cx="621100" cy="600352"/>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61" name="Straight Connector 160">
            <a:extLst>
              <a:ext uri="{FF2B5EF4-FFF2-40B4-BE49-F238E27FC236}">
                <a16:creationId xmlns:a16="http://schemas.microsoft.com/office/drawing/2014/main" id="{6205DD86-315C-53B6-CEEF-A9919650168E}"/>
              </a:ext>
            </a:extLst>
          </p:cNvPr>
          <p:cNvCxnSpPr>
            <a:cxnSpLocks/>
            <a:stCxn id="136" idx="7"/>
            <a:endCxn id="158" idx="3"/>
          </p:cNvCxnSpPr>
          <p:nvPr/>
        </p:nvCxnSpPr>
        <p:spPr>
          <a:xfrm>
            <a:off x="6930642" y="3237662"/>
            <a:ext cx="585488" cy="5852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2" name="Straight Connector 161">
            <a:extLst>
              <a:ext uri="{FF2B5EF4-FFF2-40B4-BE49-F238E27FC236}">
                <a16:creationId xmlns:a16="http://schemas.microsoft.com/office/drawing/2014/main" id="{6205DD86-315C-53B6-CEEF-A9919650168E}"/>
              </a:ext>
            </a:extLst>
          </p:cNvPr>
          <p:cNvCxnSpPr>
            <a:cxnSpLocks/>
            <a:stCxn id="158" idx="5"/>
            <a:endCxn id="141" idx="1"/>
          </p:cNvCxnSpPr>
          <p:nvPr/>
        </p:nvCxnSpPr>
        <p:spPr>
          <a:xfrm flipH="1">
            <a:off x="6930642" y="3924734"/>
            <a:ext cx="585488" cy="651264"/>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63" name="TextBox 162"/>
          <p:cNvSpPr txBox="1"/>
          <p:nvPr/>
        </p:nvSpPr>
        <p:spPr>
          <a:xfrm>
            <a:off x="6528017" y="4836995"/>
            <a:ext cx="26481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j</a:t>
            </a:r>
          </a:p>
        </p:txBody>
      </p:sp>
      <p:sp>
        <p:nvSpPr>
          <p:cNvPr id="164" name="TextBox 163"/>
          <p:cNvSpPr txBox="1"/>
          <p:nvPr/>
        </p:nvSpPr>
        <p:spPr>
          <a:xfrm>
            <a:off x="4826079" y="4151513"/>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l</a:t>
            </a:r>
          </a:p>
        </p:txBody>
      </p:sp>
      <p:sp>
        <p:nvSpPr>
          <p:cNvPr id="165" name="TextBox 164"/>
          <p:cNvSpPr txBox="1"/>
          <p:nvPr/>
        </p:nvSpPr>
        <p:spPr>
          <a:xfrm>
            <a:off x="5454497" y="4861778"/>
            <a:ext cx="34657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198" name="Oval 197">
            <a:extLst>
              <a:ext uri="{FF2B5EF4-FFF2-40B4-BE49-F238E27FC236}">
                <a16:creationId xmlns:a16="http://schemas.microsoft.com/office/drawing/2014/main" id="{BDD11F87-DA81-9510-C1CB-0AF4093562CB}"/>
              </a:ext>
            </a:extLst>
          </p:cNvPr>
          <p:cNvSpPr/>
          <p:nvPr/>
        </p:nvSpPr>
        <p:spPr>
          <a:xfrm rot="5400000">
            <a:off x="10118842" y="239267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9" name="Oval 198">
            <a:extLst>
              <a:ext uri="{FF2B5EF4-FFF2-40B4-BE49-F238E27FC236}">
                <a16:creationId xmlns:a16="http://schemas.microsoft.com/office/drawing/2014/main" id="{BDD11F87-DA81-9510-C1CB-0AF4093562CB}"/>
              </a:ext>
            </a:extLst>
          </p:cNvPr>
          <p:cNvSpPr/>
          <p:nvPr/>
        </p:nvSpPr>
        <p:spPr>
          <a:xfrm rot="5400000">
            <a:off x="9406469" y="31127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0" name="Oval 199">
            <a:extLst>
              <a:ext uri="{FF2B5EF4-FFF2-40B4-BE49-F238E27FC236}">
                <a16:creationId xmlns:a16="http://schemas.microsoft.com/office/drawing/2014/main" id="{BDD11F87-DA81-9510-C1CB-0AF4093562CB}"/>
              </a:ext>
            </a:extLst>
          </p:cNvPr>
          <p:cNvSpPr/>
          <p:nvPr/>
        </p:nvSpPr>
        <p:spPr>
          <a:xfrm rot="5400000">
            <a:off x="10838922" y="31127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01" name="Straight Connector 200">
            <a:extLst>
              <a:ext uri="{FF2B5EF4-FFF2-40B4-BE49-F238E27FC236}">
                <a16:creationId xmlns:a16="http://schemas.microsoft.com/office/drawing/2014/main" id="{6205DD86-315C-53B6-CEEF-A9919650168E}"/>
              </a:ext>
            </a:extLst>
          </p:cNvPr>
          <p:cNvCxnSpPr>
            <a:cxnSpLocks/>
            <a:stCxn id="198" idx="5"/>
            <a:endCxn id="199" idx="1"/>
          </p:cNvCxnSpPr>
          <p:nvPr/>
        </p:nvCxnSpPr>
        <p:spPr>
          <a:xfrm flipH="1">
            <a:off x="9529381" y="2515583"/>
            <a:ext cx="610549"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2" name="Straight Connector 201">
            <a:extLst>
              <a:ext uri="{FF2B5EF4-FFF2-40B4-BE49-F238E27FC236}">
                <a16:creationId xmlns:a16="http://schemas.microsoft.com/office/drawing/2014/main" id="{6205DD86-315C-53B6-CEEF-A9919650168E}"/>
              </a:ext>
            </a:extLst>
          </p:cNvPr>
          <p:cNvCxnSpPr>
            <a:cxnSpLocks/>
            <a:stCxn id="198" idx="7"/>
            <a:endCxn id="200" idx="3"/>
          </p:cNvCxnSpPr>
          <p:nvPr/>
        </p:nvCxnSpPr>
        <p:spPr>
          <a:xfrm>
            <a:off x="10241754" y="2515583"/>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3" name="Straight Connector 202">
            <a:extLst>
              <a:ext uri="{FF2B5EF4-FFF2-40B4-BE49-F238E27FC236}">
                <a16:creationId xmlns:a16="http://schemas.microsoft.com/office/drawing/2014/main" id="{6205DD86-315C-53B6-CEEF-A9919650168E}"/>
              </a:ext>
            </a:extLst>
          </p:cNvPr>
          <p:cNvCxnSpPr>
            <a:cxnSpLocks/>
            <a:stCxn id="200" idx="4"/>
            <a:endCxn id="199" idx="0"/>
          </p:cNvCxnSpPr>
          <p:nvPr/>
        </p:nvCxnSpPr>
        <p:spPr>
          <a:xfrm flipH="1">
            <a:off x="9550469" y="3184751"/>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4" name="Oval 203">
            <a:extLst>
              <a:ext uri="{FF2B5EF4-FFF2-40B4-BE49-F238E27FC236}">
                <a16:creationId xmlns:a16="http://schemas.microsoft.com/office/drawing/2014/main" id="{BDD11F87-DA81-9510-C1CB-0AF4093562CB}"/>
              </a:ext>
            </a:extLst>
          </p:cNvPr>
          <p:cNvSpPr/>
          <p:nvPr/>
        </p:nvSpPr>
        <p:spPr>
          <a:xfrm rot="5400000">
            <a:off x="9398762" y="45529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5" name="Oval 204">
            <a:extLst>
              <a:ext uri="{FF2B5EF4-FFF2-40B4-BE49-F238E27FC236}">
                <a16:creationId xmlns:a16="http://schemas.microsoft.com/office/drawing/2014/main" id="{BDD11F87-DA81-9510-C1CB-0AF4093562CB}"/>
              </a:ext>
            </a:extLst>
          </p:cNvPr>
          <p:cNvSpPr/>
          <p:nvPr/>
        </p:nvSpPr>
        <p:spPr>
          <a:xfrm rot="5400000">
            <a:off x="10838922" y="45529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06" name="Straight Connector 205">
            <a:extLst>
              <a:ext uri="{FF2B5EF4-FFF2-40B4-BE49-F238E27FC236}">
                <a16:creationId xmlns:a16="http://schemas.microsoft.com/office/drawing/2014/main" id="{6205DD86-315C-53B6-CEEF-A9919650168E}"/>
              </a:ext>
            </a:extLst>
          </p:cNvPr>
          <p:cNvCxnSpPr>
            <a:cxnSpLocks/>
            <a:stCxn id="199" idx="6"/>
            <a:endCxn id="204" idx="2"/>
          </p:cNvCxnSpPr>
          <p:nvPr/>
        </p:nvCxnSpPr>
        <p:spPr>
          <a:xfrm flipH="1">
            <a:off x="9470762" y="3256751"/>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7" name="Straight Connector 206">
            <a:extLst>
              <a:ext uri="{FF2B5EF4-FFF2-40B4-BE49-F238E27FC236}">
                <a16:creationId xmlns:a16="http://schemas.microsoft.com/office/drawing/2014/main" id="{6205DD86-315C-53B6-CEEF-A9919650168E}"/>
              </a:ext>
            </a:extLst>
          </p:cNvPr>
          <p:cNvCxnSpPr>
            <a:cxnSpLocks/>
            <a:stCxn id="200" idx="6"/>
            <a:endCxn id="205" idx="2"/>
          </p:cNvCxnSpPr>
          <p:nvPr/>
        </p:nvCxnSpPr>
        <p:spPr>
          <a:xfrm>
            <a:off x="10910922" y="3256751"/>
            <a:ext cx="0"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8" name="Straight Connector 207">
            <a:extLst>
              <a:ext uri="{FF2B5EF4-FFF2-40B4-BE49-F238E27FC236}">
                <a16:creationId xmlns:a16="http://schemas.microsoft.com/office/drawing/2014/main" id="{6205DD86-315C-53B6-CEEF-A9919650168E}"/>
              </a:ext>
            </a:extLst>
          </p:cNvPr>
          <p:cNvCxnSpPr>
            <a:cxnSpLocks/>
            <a:stCxn id="205" idx="4"/>
            <a:endCxn id="204" idx="0"/>
          </p:cNvCxnSpPr>
          <p:nvPr/>
        </p:nvCxnSpPr>
        <p:spPr>
          <a:xfrm flipH="1">
            <a:off x="9542762" y="4624911"/>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9" name="TextBox 208"/>
          <p:cNvSpPr txBox="1"/>
          <p:nvPr/>
        </p:nvSpPr>
        <p:spPr>
          <a:xfrm>
            <a:off x="10020212" y="3071262"/>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10" name="TextBox 209"/>
          <p:cNvSpPr txBox="1"/>
          <p:nvPr/>
        </p:nvSpPr>
        <p:spPr>
          <a:xfrm>
            <a:off x="9435330" y="2528075"/>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11" name="TextBox 210"/>
          <p:cNvSpPr txBox="1"/>
          <p:nvPr/>
        </p:nvSpPr>
        <p:spPr>
          <a:xfrm>
            <a:off x="11139880" y="3157812"/>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12" name="TextBox 211"/>
          <p:cNvSpPr txBox="1"/>
          <p:nvPr/>
        </p:nvSpPr>
        <p:spPr>
          <a:xfrm>
            <a:off x="9477674" y="3718497"/>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13" name="TextBox 212"/>
          <p:cNvSpPr txBox="1"/>
          <p:nvPr/>
        </p:nvSpPr>
        <p:spPr>
          <a:xfrm>
            <a:off x="8866644" y="3117160"/>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214" name="TextBox 213"/>
          <p:cNvSpPr txBox="1"/>
          <p:nvPr/>
        </p:nvSpPr>
        <p:spPr>
          <a:xfrm>
            <a:off x="10610680" y="364695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215" name="TextBox 214"/>
          <p:cNvSpPr txBox="1"/>
          <p:nvPr/>
        </p:nvSpPr>
        <p:spPr>
          <a:xfrm>
            <a:off x="10504187" y="240584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16" name="TextBox 215"/>
          <p:cNvSpPr txBox="1"/>
          <p:nvPr/>
        </p:nvSpPr>
        <p:spPr>
          <a:xfrm>
            <a:off x="10008828" y="4110098"/>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217" name="Straight Connector 216">
            <a:extLst>
              <a:ext uri="{FF2B5EF4-FFF2-40B4-BE49-F238E27FC236}">
                <a16:creationId xmlns:a16="http://schemas.microsoft.com/office/drawing/2014/main" id="{6205DD86-315C-53B6-CEEF-A9919650168E}"/>
              </a:ext>
            </a:extLst>
          </p:cNvPr>
          <p:cNvCxnSpPr>
            <a:cxnSpLocks/>
            <a:stCxn id="218" idx="3"/>
            <a:endCxn id="204" idx="7"/>
          </p:cNvCxnSpPr>
          <p:nvPr/>
        </p:nvCxnSpPr>
        <p:spPr>
          <a:xfrm flipH="1" flipV="1">
            <a:off x="9521674" y="4675823"/>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18" name="Oval 217">
            <a:extLst>
              <a:ext uri="{FF2B5EF4-FFF2-40B4-BE49-F238E27FC236}">
                <a16:creationId xmlns:a16="http://schemas.microsoft.com/office/drawing/2014/main" id="{BDD11F87-DA81-9510-C1CB-0AF4093562CB}"/>
              </a:ext>
            </a:extLst>
          </p:cNvPr>
          <p:cNvSpPr/>
          <p:nvPr/>
        </p:nvSpPr>
        <p:spPr>
          <a:xfrm rot="5400000">
            <a:off x="10114823" y="52819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9" name="Straight Connector 218">
            <a:extLst>
              <a:ext uri="{FF2B5EF4-FFF2-40B4-BE49-F238E27FC236}">
                <a16:creationId xmlns:a16="http://schemas.microsoft.com/office/drawing/2014/main" id="{6205DD86-315C-53B6-CEEF-A9919650168E}"/>
              </a:ext>
            </a:extLst>
          </p:cNvPr>
          <p:cNvCxnSpPr>
            <a:cxnSpLocks/>
            <a:stCxn id="218" idx="1"/>
            <a:endCxn id="205" idx="5"/>
          </p:cNvCxnSpPr>
          <p:nvPr/>
        </p:nvCxnSpPr>
        <p:spPr>
          <a:xfrm flipV="1">
            <a:off x="10237735" y="4675823"/>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20" name="TextBox 219"/>
          <p:cNvSpPr txBox="1"/>
          <p:nvPr/>
        </p:nvSpPr>
        <p:spPr>
          <a:xfrm>
            <a:off x="11176150" y="4125014"/>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221" name="Oval 220">
            <a:extLst>
              <a:ext uri="{FF2B5EF4-FFF2-40B4-BE49-F238E27FC236}">
                <a16:creationId xmlns:a16="http://schemas.microsoft.com/office/drawing/2014/main" id="{BDD11F87-DA81-9510-C1CB-0AF4093562CB}"/>
              </a:ext>
            </a:extLst>
          </p:cNvPr>
          <p:cNvSpPr/>
          <p:nvPr/>
        </p:nvSpPr>
        <p:spPr>
          <a:xfrm rot="5400000">
            <a:off x="8675838" y="385073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2" name="Oval 221">
            <a:extLst>
              <a:ext uri="{FF2B5EF4-FFF2-40B4-BE49-F238E27FC236}">
                <a16:creationId xmlns:a16="http://schemas.microsoft.com/office/drawing/2014/main" id="{BDD11F87-DA81-9510-C1CB-0AF4093562CB}"/>
              </a:ext>
            </a:extLst>
          </p:cNvPr>
          <p:cNvSpPr/>
          <p:nvPr/>
        </p:nvSpPr>
        <p:spPr>
          <a:xfrm rot="5400000">
            <a:off x="11526234" y="379982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23" name="Straight Connector 222">
            <a:extLst>
              <a:ext uri="{FF2B5EF4-FFF2-40B4-BE49-F238E27FC236}">
                <a16:creationId xmlns:a16="http://schemas.microsoft.com/office/drawing/2014/main" id="{6205DD86-315C-53B6-CEEF-A9919650168E}"/>
              </a:ext>
            </a:extLst>
          </p:cNvPr>
          <p:cNvCxnSpPr>
            <a:cxnSpLocks/>
            <a:stCxn id="199" idx="5"/>
            <a:endCxn id="221" idx="1"/>
          </p:cNvCxnSpPr>
          <p:nvPr/>
        </p:nvCxnSpPr>
        <p:spPr>
          <a:xfrm flipH="1">
            <a:off x="8798750" y="3235663"/>
            <a:ext cx="628807" cy="63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24" name="Straight Connector 223">
            <a:extLst>
              <a:ext uri="{FF2B5EF4-FFF2-40B4-BE49-F238E27FC236}">
                <a16:creationId xmlns:a16="http://schemas.microsoft.com/office/drawing/2014/main" id="{6205DD86-315C-53B6-CEEF-A9919650168E}"/>
              </a:ext>
            </a:extLst>
          </p:cNvPr>
          <p:cNvCxnSpPr>
            <a:cxnSpLocks/>
            <a:stCxn id="221" idx="7"/>
            <a:endCxn id="204" idx="3"/>
          </p:cNvCxnSpPr>
          <p:nvPr/>
        </p:nvCxnSpPr>
        <p:spPr>
          <a:xfrm>
            <a:off x="8798750" y="3973647"/>
            <a:ext cx="621100" cy="600352"/>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25" name="Straight Connector 224">
            <a:extLst>
              <a:ext uri="{FF2B5EF4-FFF2-40B4-BE49-F238E27FC236}">
                <a16:creationId xmlns:a16="http://schemas.microsoft.com/office/drawing/2014/main" id="{6205DD86-315C-53B6-CEEF-A9919650168E}"/>
              </a:ext>
            </a:extLst>
          </p:cNvPr>
          <p:cNvCxnSpPr>
            <a:cxnSpLocks/>
            <a:stCxn id="200" idx="7"/>
            <a:endCxn id="222" idx="3"/>
          </p:cNvCxnSpPr>
          <p:nvPr/>
        </p:nvCxnSpPr>
        <p:spPr>
          <a:xfrm>
            <a:off x="10961834" y="3235663"/>
            <a:ext cx="585488" cy="5852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26" name="Straight Connector 225">
            <a:extLst>
              <a:ext uri="{FF2B5EF4-FFF2-40B4-BE49-F238E27FC236}">
                <a16:creationId xmlns:a16="http://schemas.microsoft.com/office/drawing/2014/main" id="{6205DD86-315C-53B6-CEEF-A9919650168E}"/>
              </a:ext>
            </a:extLst>
          </p:cNvPr>
          <p:cNvCxnSpPr>
            <a:cxnSpLocks/>
            <a:stCxn id="222" idx="5"/>
            <a:endCxn id="205" idx="1"/>
          </p:cNvCxnSpPr>
          <p:nvPr/>
        </p:nvCxnSpPr>
        <p:spPr>
          <a:xfrm flipH="1">
            <a:off x="10961834" y="3922735"/>
            <a:ext cx="585488" cy="651264"/>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27" name="TextBox 226"/>
          <p:cNvSpPr txBox="1"/>
          <p:nvPr/>
        </p:nvSpPr>
        <p:spPr>
          <a:xfrm>
            <a:off x="10559209" y="4834996"/>
            <a:ext cx="26481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j</a:t>
            </a:r>
          </a:p>
        </p:txBody>
      </p:sp>
      <p:sp>
        <p:nvSpPr>
          <p:cNvPr id="228" name="TextBox 227"/>
          <p:cNvSpPr txBox="1"/>
          <p:nvPr/>
        </p:nvSpPr>
        <p:spPr>
          <a:xfrm>
            <a:off x="8857271" y="4149514"/>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l</a:t>
            </a:r>
          </a:p>
        </p:txBody>
      </p:sp>
      <p:sp>
        <p:nvSpPr>
          <p:cNvPr id="229" name="TextBox 228"/>
          <p:cNvSpPr txBox="1"/>
          <p:nvPr/>
        </p:nvSpPr>
        <p:spPr>
          <a:xfrm>
            <a:off x="9485689" y="4859779"/>
            <a:ext cx="34657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101" name="Arc 100"/>
          <p:cNvSpPr/>
          <p:nvPr/>
        </p:nvSpPr>
        <p:spPr>
          <a:xfrm rot="10515287">
            <a:off x="6530798" y="1650573"/>
            <a:ext cx="855665" cy="4135846"/>
          </a:xfrm>
          <a:prstGeom prst="arc">
            <a:avLst>
              <a:gd name="adj1" fmla="val 16929569"/>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2" name="Arc 101"/>
          <p:cNvSpPr/>
          <p:nvPr/>
        </p:nvSpPr>
        <p:spPr>
          <a:xfrm rot="19764446">
            <a:off x="1452863" y="2173793"/>
            <a:ext cx="851331" cy="4135846"/>
          </a:xfrm>
          <a:prstGeom prst="arc">
            <a:avLst>
              <a:gd name="adj1" fmla="val 16929569"/>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3" name="Arc 102"/>
          <p:cNvSpPr/>
          <p:nvPr/>
        </p:nvSpPr>
        <p:spPr>
          <a:xfrm rot="11780083">
            <a:off x="10579052" y="3137595"/>
            <a:ext cx="654258" cy="3708349"/>
          </a:xfrm>
          <a:prstGeom prst="arc">
            <a:avLst>
              <a:gd name="adj1" fmla="val 18232833"/>
              <a:gd name="adj2" fmla="val 5723794"/>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4" name="Rectangle 103"/>
              <p:cNvSpPr/>
              <p:nvPr/>
            </p:nvSpPr>
            <p:spPr>
              <a:xfrm>
                <a:off x="1267938" y="5553114"/>
                <a:ext cx="1706557"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e</m:t>
                        </m:r>
                        <m:r>
                          <a:rPr lang="en-US" sz="2800" b="0" i="0" dirty="0" smtClean="0">
                            <a:solidFill>
                              <a:srgbClr val="FF0000"/>
                            </a:solidFill>
                            <a:latin typeface="Cambria Math" panose="02040503050406030204" pitchFamily="18" charset="0"/>
                          </a:rPr>
                          <m:t>,</m:t>
                        </m:r>
                        <m:r>
                          <m:rPr>
                            <m:sty m:val="p"/>
                          </m:rPr>
                          <a:rPr lang="en-US" sz="2800" b="0" i="0" dirty="0" smtClean="0">
                            <a:solidFill>
                              <a:srgbClr val="FF0000"/>
                            </a:solidFill>
                            <a:latin typeface="Cambria Math" panose="02040503050406030204" pitchFamily="18" charset="0"/>
                          </a:rPr>
                          <m:t>a</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c</m:t>
                        </m:r>
                        <m:r>
                          <a:rPr lang="en-US" sz="2800" b="0" i="0" dirty="0" smtClean="0">
                            <a:solidFill>
                              <a:srgbClr val="FF0000"/>
                            </a:solidFill>
                            <a:latin typeface="Cambria Math" panose="02040503050406030204" pitchFamily="18" charset="0"/>
                          </a:rPr>
                          <m:t>,</m:t>
                        </m:r>
                        <m:r>
                          <m:rPr>
                            <m:sty m:val="p"/>
                          </m:rPr>
                          <a:rPr lang="en-US" sz="2800" b="0" i="0" dirty="0" smtClean="0">
                            <a:solidFill>
                              <a:srgbClr val="FF0000"/>
                            </a:solidFill>
                            <a:latin typeface="Cambria Math" panose="02040503050406030204" pitchFamily="18" charset="0"/>
                          </a:rPr>
                          <m:t>j</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104" name="Rectangle 103"/>
              <p:cNvSpPr>
                <a:spLocks noRot="1" noChangeAspect="1" noMove="1" noResize="1" noEditPoints="1" noAdjustHandles="1" noChangeArrowheads="1" noChangeShapeType="1" noTextEdit="1"/>
              </p:cNvSpPr>
              <p:nvPr/>
            </p:nvSpPr>
            <p:spPr>
              <a:xfrm>
                <a:off x="1267938" y="5553114"/>
                <a:ext cx="1706557"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Rectangle 104"/>
              <p:cNvSpPr/>
              <p:nvPr/>
            </p:nvSpPr>
            <p:spPr>
              <a:xfrm>
                <a:off x="5377218" y="5410631"/>
                <a:ext cx="1709763"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g</m:t>
                        </m:r>
                        <m:r>
                          <a:rPr lang="en-US" sz="2800" b="0" i="0" dirty="0" smtClean="0">
                            <a:solidFill>
                              <a:srgbClr val="FF0000"/>
                            </a:solidFill>
                            <a:latin typeface="Cambria Math" panose="02040503050406030204" pitchFamily="18" charset="0"/>
                          </a:rPr>
                          <m:t>,</m:t>
                        </m:r>
                        <m:r>
                          <m:rPr>
                            <m:sty m:val="p"/>
                          </m:rPr>
                          <a:rPr lang="en-US" sz="2800" b="0" i="0" dirty="0" smtClean="0">
                            <a:solidFill>
                              <a:srgbClr val="FF0000"/>
                            </a:solidFill>
                            <a:latin typeface="Cambria Math" panose="02040503050406030204" pitchFamily="18" charset="0"/>
                          </a:rPr>
                          <m:t>a</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c</m:t>
                        </m:r>
                        <m:r>
                          <a:rPr lang="en-US" sz="2800" b="0" i="0" dirty="0" smtClean="0">
                            <a:solidFill>
                              <a:srgbClr val="FF0000"/>
                            </a:solidFill>
                            <a:latin typeface="Cambria Math" panose="02040503050406030204" pitchFamily="18" charset="0"/>
                          </a:rPr>
                          <m:t>,</m:t>
                        </m:r>
                        <m:r>
                          <m:rPr>
                            <m:sty m:val="p"/>
                          </m:rPr>
                          <a:rPr lang="en-US" sz="2800" b="0" i="0" dirty="0" smtClean="0">
                            <a:solidFill>
                              <a:srgbClr val="FF0000"/>
                            </a:solidFill>
                            <a:latin typeface="Cambria Math" panose="02040503050406030204" pitchFamily="18" charset="0"/>
                          </a:rPr>
                          <m:t>j</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105" name="Rectangle 104"/>
              <p:cNvSpPr>
                <a:spLocks noRot="1" noChangeAspect="1" noMove="1" noResize="1" noEditPoints="1" noAdjustHandles="1" noChangeArrowheads="1" noChangeShapeType="1" noTextEdit="1"/>
              </p:cNvSpPr>
              <p:nvPr/>
            </p:nvSpPr>
            <p:spPr>
              <a:xfrm>
                <a:off x="5377218" y="5410631"/>
                <a:ext cx="1709763"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Rectangle 105"/>
              <p:cNvSpPr/>
              <p:nvPr/>
            </p:nvSpPr>
            <p:spPr>
              <a:xfrm>
                <a:off x="9521674" y="5420266"/>
                <a:ext cx="1460785"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h</m:t>
                        </m:r>
                        <m:r>
                          <a:rPr lang="en-US" sz="2800" b="0" i="0" dirty="0" smtClean="0">
                            <a:solidFill>
                              <a:srgbClr val="FF0000"/>
                            </a:solidFill>
                            <a:latin typeface="Cambria Math" panose="02040503050406030204" pitchFamily="18" charset="0"/>
                          </a:rPr>
                          <m:t>,</m:t>
                        </m:r>
                        <m:r>
                          <m:rPr>
                            <m:sty m:val="p"/>
                          </m:rPr>
                          <a:rPr lang="en-US" sz="2800" b="0" i="0" dirty="0" smtClean="0">
                            <a:solidFill>
                              <a:srgbClr val="FF0000"/>
                            </a:solidFill>
                            <a:latin typeface="Cambria Math" panose="02040503050406030204" pitchFamily="18" charset="0"/>
                          </a:rPr>
                          <m:t>b</m:t>
                        </m:r>
                        <m:r>
                          <a:rPr lang="en-US" sz="2800" b="0" i="0" dirty="0" smtClean="0">
                            <a:solidFill>
                              <a:srgbClr val="FF0000"/>
                            </a:solidFill>
                            <a:latin typeface="Cambria Math" panose="02040503050406030204" pitchFamily="18" charset="0"/>
                          </a:rPr>
                          <m:t>,</m:t>
                        </m:r>
                        <m:r>
                          <m:rPr>
                            <m:sty m:val="p"/>
                          </m:rPr>
                          <a:rPr lang="en-US" sz="2800" b="0" i="0" dirty="0" smtClean="0">
                            <a:solidFill>
                              <a:srgbClr val="FF0000"/>
                            </a:solidFill>
                            <a:latin typeface="Cambria Math" panose="02040503050406030204" pitchFamily="18" charset="0"/>
                          </a:rPr>
                          <m:t>j</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106" name="Rectangle 105"/>
              <p:cNvSpPr>
                <a:spLocks noRot="1" noChangeAspect="1" noMove="1" noResize="1" noEditPoints="1" noAdjustHandles="1" noChangeArrowheads="1" noChangeShapeType="1" noTextEdit="1"/>
              </p:cNvSpPr>
              <p:nvPr/>
            </p:nvSpPr>
            <p:spPr>
              <a:xfrm>
                <a:off x="9521674" y="5420266"/>
                <a:ext cx="1460785" cy="523220"/>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1136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wipe(up)">
                                      <p:cBhvr>
                                        <p:cTn id="7" dur="500"/>
                                        <p:tgtEl>
                                          <p:spTgt spid="10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01"/>
                                        </p:tgtEl>
                                        <p:attrNameLst>
                                          <p:attrName>style.visibility</p:attrName>
                                        </p:attrNameLst>
                                      </p:cBhvr>
                                      <p:to>
                                        <p:strVal val="visible"/>
                                      </p:to>
                                    </p:set>
                                    <p:animEffect transition="in" filter="wipe(up)">
                                      <p:cBhvr>
                                        <p:cTn id="16" dur="500"/>
                                        <p:tgtEl>
                                          <p:spTgt spid="10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103"/>
                                        </p:tgtEl>
                                        <p:attrNameLst>
                                          <p:attrName>style.visibility</p:attrName>
                                        </p:attrNameLst>
                                      </p:cBhvr>
                                      <p:to>
                                        <p:strVal val="visible"/>
                                      </p:to>
                                    </p:set>
                                    <p:animEffect transition="in" filter="wipe(up)">
                                      <p:cBhvr>
                                        <p:cTn id="25" dur="500"/>
                                        <p:tgtEl>
                                          <p:spTgt spid="103"/>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2" grpId="0" animBg="1"/>
      <p:bldP spid="103" grpId="0" animBg="1"/>
      <p:bldP spid="104" grpId="0"/>
      <p:bldP spid="105" grpId="0"/>
      <p:bldP spid="10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2"/>
          <p:cNvSpPr txBox="1">
            <a:spLocks/>
          </p:cNvSpPr>
          <p:nvPr/>
        </p:nvSpPr>
        <p:spPr>
          <a:xfrm>
            <a:off x="131176" y="867840"/>
            <a:ext cx="12024000" cy="95218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pPr algn="just"/>
            <a:r>
              <a:rPr lang="en-US" sz="2800" dirty="0">
                <a:solidFill>
                  <a:schemeClr val="bg1"/>
                </a:solidFill>
              </a:rPr>
              <a:t>Pick an arbitrary spanning tree in the given graph. List all fundamental cutsets with respect to this tree.</a:t>
            </a:r>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2(Cont.)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86249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134" name="Oval 133">
            <a:extLst>
              <a:ext uri="{FF2B5EF4-FFF2-40B4-BE49-F238E27FC236}">
                <a16:creationId xmlns:a16="http://schemas.microsoft.com/office/drawing/2014/main" id="{BDD11F87-DA81-9510-C1CB-0AF4093562CB}"/>
              </a:ext>
            </a:extLst>
          </p:cNvPr>
          <p:cNvSpPr/>
          <p:nvPr/>
        </p:nvSpPr>
        <p:spPr>
          <a:xfrm rot="5400000">
            <a:off x="6087650" y="23946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5" name="Oval 134">
            <a:extLst>
              <a:ext uri="{FF2B5EF4-FFF2-40B4-BE49-F238E27FC236}">
                <a16:creationId xmlns:a16="http://schemas.microsoft.com/office/drawing/2014/main" id="{BDD11F87-DA81-9510-C1CB-0AF4093562CB}"/>
              </a:ext>
            </a:extLst>
          </p:cNvPr>
          <p:cNvSpPr/>
          <p:nvPr/>
        </p:nvSpPr>
        <p:spPr>
          <a:xfrm rot="5400000">
            <a:off x="5375277" y="31147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6" name="Oval 135">
            <a:extLst>
              <a:ext uri="{FF2B5EF4-FFF2-40B4-BE49-F238E27FC236}">
                <a16:creationId xmlns:a16="http://schemas.microsoft.com/office/drawing/2014/main" id="{BDD11F87-DA81-9510-C1CB-0AF4093562CB}"/>
              </a:ext>
            </a:extLst>
          </p:cNvPr>
          <p:cNvSpPr/>
          <p:nvPr/>
        </p:nvSpPr>
        <p:spPr>
          <a:xfrm rot="5400000">
            <a:off x="6807730" y="31147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7" name="Straight Connector 136">
            <a:extLst>
              <a:ext uri="{FF2B5EF4-FFF2-40B4-BE49-F238E27FC236}">
                <a16:creationId xmlns:a16="http://schemas.microsoft.com/office/drawing/2014/main" id="{6205DD86-315C-53B6-CEEF-A9919650168E}"/>
              </a:ext>
            </a:extLst>
          </p:cNvPr>
          <p:cNvCxnSpPr>
            <a:cxnSpLocks/>
            <a:stCxn id="134" idx="5"/>
            <a:endCxn id="135" idx="1"/>
          </p:cNvCxnSpPr>
          <p:nvPr/>
        </p:nvCxnSpPr>
        <p:spPr>
          <a:xfrm flipH="1">
            <a:off x="5498189" y="2517582"/>
            <a:ext cx="610549"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38" name="Straight Connector 137">
            <a:extLst>
              <a:ext uri="{FF2B5EF4-FFF2-40B4-BE49-F238E27FC236}">
                <a16:creationId xmlns:a16="http://schemas.microsoft.com/office/drawing/2014/main" id="{6205DD86-315C-53B6-CEEF-A9919650168E}"/>
              </a:ext>
            </a:extLst>
          </p:cNvPr>
          <p:cNvCxnSpPr>
            <a:cxnSpLocks/>
            <a:stCxn id="134" idx="7"/>
            <a:endCxn id="136" idx="3"/>
          </p:cNvCxnSpPr>
          <p:nvPr/>
        </p:nvCxnSpPr>
        <p:spPr>
          <a:xfrm>
            <a:off x="6210562" y="2517582"/>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39" name="Straight Connector 138">
            <a:extLst>
              <a:ext uri="{FF2B5EF4-FFF2-40B4-BE49-F238E27FC236}">
                <a16:creationId xmlns:a16="http://schemas.microsoft.com/office/drawing/2014/main" id="{6205DD86-315C-53B6-CEEF-A9919650168E}"/>
              </a:ext>
            </a:extLst>
          </p:cNvPr>
          <p:cNvCxnSpPr>
            <a:cxnSpLocks/>
            <a:stCxn id="136" idx="4"/>
            <a:endCxn id="135" idx="0"/>
          </p:cNvCxnSpPr>
          <p:nvPr/>
        </p:nvCxnSpPr>
        <p:spPr>
          <a:xfrm flipH="1">
            <a:off x="5519277" y="3186750"/>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0" name="Oval 139">
            <a:extLst>
              <a:ext uri="{FF2B5EF4-FFF2-40B4-BE49-F238E27FC236}">
                <a16:creationId xmlns:a16="http://schemas.microsoft.com/office/drawing/2014/main" id="{BDD11F87-DA81-9510-C1CB-0AF4093562CB}"/>
              </a:ext>
            </a:extLst>
          </p:cNvPr>
          <p:cNvSpPr/>
          <p:nvPr/>
        </p:nvSpPr>
        <p:spPr>
          <a:xfrm rot="5400000">
            <a:off x="5367570" y="45549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1" name="Oval 140">
            <a:extLst>
              <a:ext uri="{FF2B5EF4-FFF2-40B4-BE49-F238E27FC236}">
                <a16:creationId xmlns:a16="http://schemas.microsoft.com/office/drawing/2014/main" id="{BDD11F87-DA81-9510-C1CB-0AF4093562CB}"/>
              </a:ext>
            </a:extLst>
          </p:cNvPr>
          <p:cNvSpPr/>
          <p:nvPr/>
        </p:nvSpPr>
        <p:spPr>
          <a:xfrm rot="5400000">
            <a:off x="6807730" y="45549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42" name="Straight Connector 141">
            <a:extLst>
              <a:ext uri="{FF2B5EF4-FFF2-40B4-BE49-F238E27FC236}">
                <a16:creationId xmlns:a16="http://schemas.microsoft.com/office/drawing/2014/main" id="{6205DD86-315C-53B6-CEEF-A9919650168E}"/>
              </a:ext>
            </a:extLst>
          </p:cNvPr>
          <p:cNvCxnSpPr>
            <a:cxnSpLocks/>
            <a:stCxn id="135" idx="6"/>
            <a:endCxn id="140" idx="2"/>
          </p:cNvCxnSpPr>
          <p:nvPr/>
        </p:nvCxnSpPr>
        <p:spPr>
          <a:xfrm flipH="1">
            <a:off x="5439570" y="3258750"/>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3" name="Straight Connector 142">
            <a:extLst>
              <a:ext uri="{FF2B5EF4-FFF2-40B4-BE49-F238E27FC236}">
                <a16:creationId xmlns:a16="http://schemas.microsoft.com/office/drawing/2014/main" id="{6205DD86-315C-53B6-CEEF-A9919650168E}"/>
              </a:ext>
            </a:extLst>
          </p:cNvPr>
          <p:cNvCxnSpPr>
            <a:cxnSpLocks/>
            <a:stCxn id="136" idx="6"/>
            <a:endCxn id="141" idx="2"/>
          </p:cNvCxnSpPr>
          <p:nvPr/>
        </p:nvCxnSpPr>
        <p:spPr>
          <a:xfrm>
            <a:off x="6879730" y="3258750"/>
            <a:ext cx="0"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44" name="Straight Connector 143">
            <a:extLst>
              <a:ext uri="{FF2B5EF4-FFF2-40B4-BE49-F238E27FC236}">
                <a16:creationId xmlns:a16="http://schemas.microsoft.com/office/drawing/2014/main" id="{6205DD86-315C-53B6-CEEF-A9919650168E}"/>
              </a:ext>
            </a:extLst>
          </p:cNvPr>
          <p:cNvCxnSpPr>
            <a:cxnSpLocks/>
            <a:stCxn id="141" idx="4"/>
            <a:endCxn id="140" idx="0"/>
          </p:cNvCxnSpPr>
          <p:nvPr/>
        </p:nvCxnSpPr>
        <p:spPr>
          <a:xfrm flipH="1">
            <a:off x="5511570" y="4626910"/>
            <a:ext cx="129616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5" name="TextBox 144"/>
          <p:cNvSpPr txBox="1"/>
          <p:nvPr/>
        </p:nvSpPr>
        <p:spPr>
          <a:xfrm>
            <a:off x="5989020" y="3073261"/>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46" name="TextBox 145"/>
          <p:cNvSpPr txBox="1"/>
          <p:nvPr/>
        </p:nvSpPr>
        <p:spPr>
          <a:xfrm>
            <a:off x="5404138" y="2530074"/>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147" name="TextBox 146"/>
          <p:cNvSpPr txBox="1"/>
          <p:nvPr/>
        </p:nvSpPr>
        <p:spPr>
          <a:xfrm>
            <a:off x="7108688" y="3159811"/>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148" name="TextBox 147"/>
          <p:cNvSpPr txBox="1"/>
          <p:nvPr/>
        </p:nvSpPr>
        <p:spPr>
          <a:xfrm>
            <a:off x="5446482" y="3720496"/>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149" name="TextBox 148"/>
          <p:cNvSpPr txBox="1"/>
          <p:nvPr/>
        </p:nvSpPr>
        <p:spPr>
          <a:xfrm>
            <a:off x="4835452" y="3119159"/>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50" name="TextBox 149"/>
          <p:cNvSpPr txBox="1"/>
          <p:nvPr/>
        </p:nvSpPr>
        <p:spPr>
          <a:xfrm>
            <a:off x="6579488" y="364894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51" name="TextBox 150"/>
          <p:cNvSpPr txBox="1"/>
          <p:nvPr/>
        </p:nvSpPr>
        <p:spPr>
          <a:xfrm>
            <a:off x="6472995" y="2407846"/>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152" name="TextBox 151"/>
          <p:cNvSpPr txBox="1"/>
          <p:nvPr/>
        </p:nvSpPr>
        <p:spPr>
          <a:xfrm>
            <a:off x="5977636" y="4112097"/>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153" name="Straight Connector 152">
            <a:extLst>
              <a:ext uri="{FF2B5EF4-FFF2-40B4-BE49-F238E27FC236}">
                <a16:creationId xmlns:a16="http://schemas.microsoft.com/office/drawing/2014/main" id="{6205DD86-315C-53B6-CEEF-A9919650168E}"/>
              </a:ext>
            </a:extLst>
          </p:cNvPr>
          <p:cNvCxnSpPr>
            <a:cxnSpLocks/>
            <a:stCxn id="154" idx="3"/>
            <a:endCxn id="140" idx="7"/>
          </p:cNvCxnSpPr>
          <p:nvPr/>
        </p:nvCxnSpPr>
        <p:spPr>
          <a:xfrm flipH="1" flipV="1">
            <a:off x="5490482" y="4677822"/>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54" name="Oval 153">
            <a:extLst>
              <a:ext uri="{FF2B5EF4-FFF2-40B4-BE49-F238E27FC236}">
                <a16:creationId xmlns:a16="http://schemas.microsoft.com/office/drawing/2014/main" id="{BDD11F87-DA81-9510-C1CB-0AF4093562CB}"/>
              </a:ext>
            </a:extLst>
          </p:cNvPr>
          <p:cNvSpPr/>
          <p:nvPr/>
        </p:nvSpPr>
        <p:spPr>
          <a:xfrm rot="5400000">
            <a:off x="6083631" y="52839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5" name="Straight Connector 154">
            <a:extLst>
              <a:ext uri="{FF2B5EF4-FFF2-40B4-BE49-F238E27FC236}">
                <a16:creationId xmlns:a16="http://schemas.microsoft.com/office/drawing/2014/main" id="{6205DD86-315C-53B6-CEEF-A9919650168E}"/>
              </a:ext>
            </a:extLst>
          </p:cNvPr>
          <p:cNvCxnSpPr>
            <a:cxnSpLocks/>
            <a:stCxn id="154" idx="1"/>
            <a:endCxn id="141" idx="5"/>
          </p:cNvCxnSpPr>
          <p:nvPr/>
        </p:nvCxnSpPr>
        <p:spPr>
          <a:xfrm flipV="1">
            <a:off x="6206543" y="4677822"/>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56" name="TextBox 155"/>
          <p:cNvSpPr txBox="1"/>
          <p:nvPr/>
        </p:nvSpPr>
        <p:spPr>
          <a:xfrm>
            <a:off x="7144958" y="4127013"/>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157" name="Oval 156">
            <a:extLst>
              <a:ext uri="{FF2B5EF4-FFF2-40B4-BE49-F238E27FC236}">
                <a16:creationId xmlns:a16="http://schemas.microsoft.com/office/drawing/2014/main" id="{BDD11F87-DA81-9510-C1CB-0AF4093562CB}"/>
              </a:ext>
            </a:extLst>
          </p:cNvPr>
          <p:cNvSpPr/>
          <p:nvPr/>
        </p:nvSpPr>
        <p:spPr>
          <a:xfrm rot="5400000">
            <a:off x="4644646" y="385273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8" name="Oval 157">
            <a:extLst>
              <a:ext uri="{FF2B5EF4-FFF2-40B4-BE49-F238E27FC236}">
                <a16:creationId xmlns:a16="http://schemas.microsoft.com/office/drawing/2014/main" id="{BDD11F87-DA81-9510-C1CB-0AF4093562CB}"/>
              </a:ext>
            </a:extLst>
          </p:cNvPr>
          <p:cNvSpPr/>
          <p:nvPr/>
        </p:nvSpPr>
        <p:spPr>
          <a:xfrm rot="5400000">
            <a:off x="7495042" y="38018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9" name="Straight Connector 158">
            <a:extLst>
              <a:ext uri="{FF2B5EF4-FFF2-40B4-BE49-F238E27FC236}">
                <a16:creationId xmlns:a16="http://schemas.microsoft.com/office/drawing/2014/main" id="{6205DD86-315C-53B6-CEEF-A9919650168E}"/>
              </a:ext>
            </a:extLst>
          </p:cNvPr>
          <p:cNvCxnSpPr>
            <a:cxnSpLocks/>
            <a:stCxn id="135" idx="5"/>
            <a:endCxn id="157" idx="1"/>
          </p:cNvCxnSpPr>
          <p:nvPr/>
        </p:nvCxnSpPr>
        <p:spPr>
          <a:xfrm flipH="1">
            <a:off x="4767558" y="3237662"/>
            <a:ext cx="628807" cy="63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60" name="Straight Connector 159">
            <a:extLst>
              <a:ext uri="{FF2B5EF4-FFF2-40B4-BE49-F238E27FC236}">
                <a16:creationId xmlns:a16="http://schemas.microsoft.com/office/drawing/2014/main" id="{6205DD86-315C-53B6-CEEF-A9919650168E}"/>
              </a:ext>
            </a:extLst>
          </p:cNvPr>
          <p:cNvCxnSpPr>
            <a:cxnSpLocks/>
            <a:stCxn id="157" idx="7"/>
            <a:endCxn id="140" idx="3"/>
          </p:cNvCxnSpPr>
          <p:nvPr/>
        </p:nvCxnSpPr>
        <p:spPr>
          <a:xfrm>
            <a:off x="4767558" y="3975646"/>
            <a:ext cx="621100" cy="600352"/>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61" name="Straight Connector 160">
            <a:extLst>
              <a:ext uri="{FF2B5EF4-FFF2-40B4-BE49-F238E27FC236}">
                <a16:creationId xmlns:a16="http://schemas.microsoft.com/office/drawing/2014/main" id="{6205DD86-315C-53B6-CEEF-A9919650168E}"/>
              </a:ext>
            </a:extLst>
          </p:cNvPr>
          <p:cNvCxnSpPr>
            <a:cxnSpLocks/>
            <a:stCxn id="136" idx="7"/>
            <a:endCxn id="158" idx="3"/>
          </p:cNvCxnSpPr>
          <p:nvPr/>
        </p:nvCxnSpPr>
        <p:spPr>
          <a:xfrm>
            <a:off x="6930642" y="3237662"/>
            <a:ext cx="585488" cy="5852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2" name="Straight Connector 161">
            <a:extLst>
              <a:ext uri="{FF2B5EF4-FFF2-40B4-BE49-F238E27FC236}">
                <a16:creationId xmlns:a16="http://schemas.microsoft.com/office/drawing/2014/main" id="{6205DD86-315C-53B6-CEEF-A9919650168E}"/>
              </a:ext>
            </a:extLst>
          </p:cNvPr>
          <p:cNvCxnSpPr>
            <a:cxnSpLocks/>
            <a:stCxn id="158" idx="5"/>
            <a:endCxn id="141" idx="1"/>
          </p:cNvCxnSpPr>
          <p:nvPr/>
        </p:nvCxnSpPr>
        <p:spPr>
          <a:xfrm flipH="1">
            <a:off x="6930642" y="3924734"/>
            <a:ext cx="585488" cy="651264"/>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63" name="TextBox 162"/>
          <p:cNvSpPr txBox="1"/>
          <p:nvPr/>
        </p:nvSpPr>
        <p:spPr>
          <a:xfrm>
            <a:off x="6528017" y="4836995"/>
            <a:ext cx="26481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j</a:t>
            </a:r>
          </a:p>
        </p:txBody>
      </p:sp>
      <p:sp>
        <p:nvSpPr>
          <p:cNvPr id="164" name="TextBox 163"/>
          <p:cNvSpPr txBox="1"/>
          <p:nvPr/>
        </p:nvSpPr>
        <p:spPr>
          <a:xfrm>
            <a:off x="4826079" y="4151513"/>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l</a:t>
            </a:r>
          </a:p>
        </p:txBody>
      </p:sp>
      <p:sp>
        <p:nvSpPr>
          <p:cNvPr id="165" name="TextBox 164"/>
          <p:cNvSpPr txBox="1"/>
          <p:nvPr/>
        </p:nvSpPr>
        <p:spPr>
          <a:xfrm>
            <a:off x="5454497" y="4861778"/>
            <a:ext cx="34657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101" name="Arc 100"/>
          <p:cNvSpPr/>
          <p:nvPr/>
        </p:nvSpPr>
        <p:spPr>
          <a:xfrm rot="10515287">
            <a:off x="7211209" y="2044173"/>
            <a:ext cx="855665" cy="4135846"/>
          </a:xfrm>
          <a:prstGeom prst="arc">
            <a:avLst>
              <a:gd name="adj1" fmla="val 19090623"/>
              <a:gd name="adj2" fmla="val 4008262"/>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4" name="Rectangle 103"/>
              <p:cNvSpPr/>
              <p:nvPr/>
            </p:nvSpPr>
            <p:spPr>
              <a:xfrm>
                <a:off x="5607698" y="5552256"/>
                <a:ext cx="1133259"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h</m:t>
                        </m:r>
                        <m:r>
                          <a:rPr lang="en-US" sz="2800" b="0" i="0" dirty="0" smtClean="0">
                            <a:solidFill>
                              <a:srgbClr val="FF0000"/>
                            </a:solidFill>
                            <a:latin typeface="Cambria Math" panose="02040503050406030204" pitchFamily="18" charset="0"/>
                          </a:rPr>
                          <m:t>,</m:t>
                        </m:r>
                        <m:r>
                          <m:rPr>
                            <m:sty m:val="p"/>
                          </m:rPr>
                          <a:rPr lang="en-US" sz="2800" b="0" i="0" dirty="0" smtClean="0">
                            <a:solidFill>
                              <a:srgbClr val="FF0000"/>
                            </a:solidFill>
                            <a:latin typeface="Cambria Math" panose="02040503050406030204" pitchFamily="18" charset="0"/>
                          </a:rPr>
                          <m:t>i</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104" name="Rectangle 103"/>
              <p:cNvSpPr>
                <a:spLocks noRot="1" noChangeAspect="1" noMove="1" noResize="1" noEditPoints="1" noAdjustHandles="1" noChangeArrowheads="1" noChangeShapeType="1" noTextEdit="1"/>
              </p:cNvSpPr>
              <p:nvPr/>
            </p:nvSpPr>
            <p:spPr>
              <a:xfrm>
                <a:off x="5607698" y="5552256"/>
                <a:ext cx="1133259" cy="523220"/>
              </a:xfrm>
              <a:prstGeom prst="rect">
                <a:avLst/>
              </a:prstGeom>
              <a:blipFill rotWithShape="0">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0577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wipe(up)">
                                      <p:cBhvr>
                                        <p:cTn id="7" dur="500"/>
                                        <p:tgtEl>
                                          <p:spTgt spid="10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animBg="1"/>
      <p:bldP spid="10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0"/>
                <a:ext cx="12024000" cy="95218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all fundamental cut-sets with respect to spanning tree</a:t>
                </a:r>
                <a14:m>
                  <m:oMath xmlns:m="http://schemas.openxmlformats.org/officeDocument/2006/math">
                    <m:r>
                      <a:rPr lang="en-US" sz="2800" dirty="0">
                        <a:solidFill>
                          <a:schemeClr val="bg1"/>
                        </a:solidFill>
                        <a:latin typeface="Cambria Math" panose="02040503050406030204" pitchFamily="18" charset="0"/>
                      </a:rPr>
                      <m:t> {</m:t>
                    </m:r>
                    <m:r>
                      <m:rPr>
                        <m:sty m:val="p"/>
                      </m:rPr>
                      <a:rPr lang="en-US" sz="2800" dirty="0" err="1">
                        <a:solidFill>
                          <a:schemeClr val="bg1"/>
                        </a:solidFill>
                        <a:latin typeface="Cambria Math" panose="02040503050406030204" pitchFamily="18" charset="0"/>
                      </a:rPr>
                      <m:t>f</m:t>
                    </m:r>
                    <m:r>
                      <a:rPr lang="en-US" sz="2800" dirty="0" err="1">
                        <a:solidFill>
                          <a:schemeClr val="bg1"/>
                        </a:solidFill>
                        <a:latin typeface="Cambria Math" panose="02040503050406030204" pitchFamily="18" charset="0"/>
                      </a:rPr>
                      <m:t>,</m:t>
                    </m:r>
                    <m:r>
                      <m:rPr>
                        <m:sty m:val="p"/>
                      </m:rPr>
                      <a:rPr lang="en-US" sz="2800" dirty="0" err="1">
                        <a:solidFill>
                          <a:schemeClr val="bg1"/>
                        </a:solidFill>
                        <a:latin typeface="Cambria Math" panose="02040503050406030204" pitchFamily="18" charset="0"/>
                      </a:rPr>
                      <m:t>h</m:t>
                    </m:r>
                    <m:r>
                      <a:rPr lang="en-US" sz="2800" dirty="0" err="1">
                        <a:solidFill>
                          <a:schemeClr val="bg1"/>
                        </a:solidFill>
                        <a:latin typeface="Cambria Math" panose="02040503050406030204" pitchFamily="18" charset="0"/>
                      </a:rPr>
                      <m:t>,</m:t>
                    </m:r>
                    <m:r>
                      <m:rPr>
                        <m:sty m:val="p"/>
                      </m:rPr>
                      <a:rPr lang="en-US" sz="2800" dirty="0" err="1">
                        <a:solidFill>
                          <a:schemeClr val="bg1"/>
                        </a:solidFill>
                        <a:latin typeface="Cambria Math" panose="02040503050406030204" pitchFamily="18" charset="0"/>
                      </a:rPr>
                      <m:t>i</m:t>
                    </m:r>
                    <m:r>
                      <a:rPr lang="en-US" sz="2800" dirty="0" err="1">
                        <a:solidFill>
                          <a:schemeClr val="bg1"/>
                        </a:solidFill>
                        <a:latin typeface="Cambria Math" panose="02040503050406030204" pitchFamily="18" charset="0"/>
                      </a:rPr>
                      <m:t>,</m:t>
                    </m:r>
                    <m:r>
                      <m:rPr>
                        <m:sty m:val="p"/>
                      </m:rPr>
                      <a:rPr lang="en-US" sz="2800" dirty="0" err="1">
                        <a:solidFill>
                          <a:schemeClr val="bg1"/>
                        </a:solidFill>
                        <a:latin typeface="Cambria Math" panose="02040503050406030204" pitchFamily="18" charset="0"/>
                      </a:rPr>
                      <m:t>g</m:t>
                    </m:r>
                    <m:r>
                      <a:rPr lang="en-US" sz="2800" dirty="0" err="1">
                        <a:solidFill>
                          <a:schemeClr val="bg1"/>
                        </a:solidFill>
                        <a:latin typeface="Cambria Math" panose="02040503050406030204" pitchFamily="18" charset="0"/>
                      </a:rPr>
                      <m:t>,</m:t>
                    </m:r>
                    <m:r>
                      <m:rPr>
                        <m:sty m:val="p"/>
                      </m:rPr>
                      <a:rPr lang="en-US" sz="2800" dirty="0" err="1">
                        <a:solidFill>
                          <a:schemeClr val="bg1"/>
                        </a:solidFill>
                        <a:latin typeface="Cambria Math" panose="02040503050406030204" pitchFamily="18" charset="0"/>
                      </a:rPr>
                      <m:t>a</m:t>
                    </m:r>
                    <m:r>
                      <a:rPr lang="en-US" sz="2800" dirty="0">
                        <a:solidFill>
                          <a:schemeClr val="bg1"/>
                        </a:solidFill>
                        <a:latin typeface="Cambria Math" panose="02040503050406030204" pitchFamily="18" charset="0"/>
                      </a:rPr>
                      <m:t>}</m:t>
                    </m:r>
                  </m:oMath>
                </a14:m>
                <a:r>
                  <a:rPr lang="en-US" sz="2800" dirty="0">
                    <a:solidFill>
                      <a:schemeClr val="bg1"/>
                    </a:solidFill>
                  </a:rPr>
                  <a:t> for </a:t>
                </a:r>
                <a:r>
                  <a:rPr lang="en-US" sz="2800" dirty="0" err="1">
                    <a:solidFill>
                      <a:schemeClr val="bg1"/>
                    </a:solidFill>
                  </a:rPr>
                  <a:t>for</a:t>
                </a:r>
                <a:r>
                  <a:rPr lang="en-US" sz="2800" dirty="0">
                    <a:solidFill>
                      <a:schemeClr val="bg1"/>
                    </a:solidFill>
                  </a:rPr>
                  <a:t> following graph.</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0"/>
                <a:ext cx="12024000" cy="952182"/>
              </a:xfrm>
              <a:prstGeom prst="rect">
                <a:avLst/>
              </a:prstGeom>
              <a:blipFill rotWithShape="0">
                <a:blip r:embed="rId2"/>
                <a:stretch>
                  <a:fillRect l="-1065" t="-6369" b="-16561"/>
                </a:stretch>
              </a:blipFill>
              <a:ln>
                <a:noFill/>
              </a:ln>
            </p:spPr>
            <p:txBody>
              <a:bodyPr/>
              <a:lstStyle/>
              <a:p>
                <a:r>
                  <a:rPr lang="en-US">
                    <a:noFill/>
                  </a:rPr>
                  <a:t> </a:t>
                </a:r>
              </a:p>
            </p:txBody>
          </p:sp>
        </mc:Fallback>
      </mc:AlternateContent>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3</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86249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9873557" y="24171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9161184" y="31372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10593637" y="31372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31" idx="5"/>
            <a:endCxn id="39" idx="1"/>
          </p:cNvCxnSpPr>
          <p:nvPr/>
        </p:nvCxnSpPr>
        <p:spPr>
          <a:xfrm flipH="1">
            <a:off x="9284096" y="2540102"/>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31" idx="7"/>
            <a:endCxn id="40" idx="3"/>
          </p:cNvCxnSpPr>
          <p:nvPr/>
        </p:nvCxnSpPr>
        <p:spPr>
          <a:xfrm>
            <a:off x="9996469" y="2540102"/>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40" idx="4"/>
            <a:endCxn id="39" idx="0"/>
          </p:cNvCxnSpPr>
          <p:nvPr/>
        </p:nvCxnSpPr>
        <p:spPr>
          <a:xfrm flipH="1">
            <a:off x="9305184" y="3209270"/>
            <a:ext cx="1288453"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44" name="Oval 43">
            <a:extLst>
              <a:ext uri="{FF2B5EF4-FFF2-40B4-BE49-F238E27FC236}">
                <a16:creationId xmlns:a16="http://schemas.microsoft.com/office/drawing/2014/main" id="{BDD11F87-DA81-9510-C1CB-0AF4093562CB}"/>
              </a:ext>
            </a:extLst>
          </p:cNvPr>
          <p:cNvSpPr/>
          <p:nvPr/>
        </p:nvSpPr>
        <p:spPr>
          <a:xfrm rot="5400000">
            <a:off x="9153477" y="457743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10593637" y="457743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6" name="Straight Connector 45">
            <a:extLst>
              <a:ext uri="{FF2B5EF4-FFF2-40B4-BE49-F238E27FC236}">
                <a16:creationId xmlns:a16="http://schemas.microsoft.com/office/drawing/2014/main" id="{6205DD86-315C-53B6-CEEF-A9919650168E}"/>
              </a:ext>
            </a:extLst>
          </p:cNvPr>
          <p:cNvCxnSpPr>
            <a:cxnSpLocks/>
            <a:stCxn id="39" idx="6"/>
            <a:endCxn id="44" idx="2"/>
          </p:cNvCxnSpPr>
          <p:nvPr/>
        </p:nvCxnSpPr>
        <p:spPr>
          <a:xfrm flipH="1">
            <a:off x="9225477" y="3281270"/>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40" idx="6"/>
            <a:endCxn id="45" idx="2"/>
          </p:cNvCxnSpPr>
          <p:nvPr/>
        </p:nvCxnSpPr>
        <p:spPr>
          <a:xfrm>
            <a:off x="10665637" y="3281270"/>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45" idx="4"/>
            <a:endCxn id="44" idx="0"/>
          </p:cNvCxnSpPr>
          <p:nvPr/>
        </p:nvCxnSpPr>
        <p:spPr>
          <a:xfrm flipH="1">
            <a:off x="9297477" y="4649430"/>
            <a:ext cx="1296160"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45" idx="3"/>
            <a:endCxn id="39" idx="7"/>
          </p:cNvCxnSpPr>
          <p:nvPr/>
        </p:nvCxnSpPr>
        <p:spPr>
          <a:xfrm flipH="1" flipV="1">
            <a:off x="9284096" y="3260182"/>
            <a:ext cx="1330629" cy="133833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51" name="TextBox 50"/>
          <p:cNvSpPr txBox="1"/>
          <p:nvPr/>
        </p:nvSpPr>
        <p:spPr>
          <a:xfrm>
            <a:off x="9268351" y="4888198"/>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52" name="TextBox 51"/>
          <p:cNvSpPr txBox="1"/>
          <p:nvPr/>
        </p:nvSpPr>
        <p:spPr>
          <a:xfrm>
            <a:off x="9253181" y="2424440"/>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53" name="TextBox 52"/>
          <p:cNvSpPr txBox="1"/>
          <p:nvPr/>
        </p:nvSpPr>
        <p:spPr>
          <a:xfrm>
            <a:off x="9804988" y="2724883"/>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54" name="TextBox 53"/>
          <p:cNvSpPr txBox="1"/>
          <p:nvPr/>
        </p:nvSpPr>
        <p:spPr>
          <a:xfrm>
            <a:off x="10686709" y="3663014"/>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55" name="TextBox 54"/>
          <p:cNvSpPr txBox="1"/>
          <p:nvPr/>
        </p:nvSpPr>
        <p:spPr>
          <a:xfrm>
            <a:off x="10283098" y="2450725"/>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56" name="TextBox 55"/>
          <p:cNvSpPr txBox="1"/>
          <p:nvPr/>
        </p:nvSpPr>
        <p:spPr>
          <a:xfrm>
            <a:off x="10325713" y="492725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7" name="TextBox 56"/>
          <p:cNvSpPr txBox="1"/>
          <p:nvPr/>
        </p:nvSpPr>
        <p:spPr>
          <a:xfrm>
            <a:off x="9794884" y="450503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58" name="TextBox 57"/>
          <p:cNvSpPr txBox="1"/>
          <p:nvPr/>
        </p:nvSpPr>
        <p:spPr>
          <a:xfrm>
            <a:off x="8829513" y="3585802"/>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59" name="Straight Connector 58">
            <a:extLst>
              <a:ext uri="{FF2B5EF4-FFF2-40B4-BE49-F238E27FC236}">
                <a16:creationId xmlns:a16="http://schemas.microsoft.com/office/drawing/2014/main" id="{6205DD86-315C-53B6-CEEF-A9919650168E}"/>
              </a:ext>
            </a:extLst>
          </p:cNvPr>
          <p:cNvCxnSpPr>
            <a:cxnSpLocks/>
            <a:stCxn id="60" idx="3"/>
            <a:endCxn id="44" idx="7"/>
          </p:cNvCxnSpPr>
          <p:nvPr/>
        </p:nvCxnSpPr>
        <p:spPr>
          <a:xfrm flipH="1" flipV="1">
            <a:off x="9276389" y="4700342"/>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60" name="Oval 59">
            <a:extLst>
              <a:ext uri="{FF2B5EF4-FFF2-40B4-BE49-F238E27FC236}">
                <a16:creationId xmlns:a16="http://schemas.microsoft.com/office/drawing/2014/main" id="{BDD11F87-DA81-9510-C1CB-0AF4093562CB}"/>
              </a:ext>
            </a:extLst>
          </p:cNvPr>
          <p:cNvSpPr/>
          <p:nvPr/>
        </p:nvSpPr>
        <p:spPr>
          <a:xfrm rot="5400000">
            <a:off x="9869538" y="530647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6205DD86-315C-53B6-CEEF-A9919650168E}"/>
              </a:ext>
            </a:extLst>
          </p:cNvPr>
          <p:cNvCxnSpPr>
            <a:cxnSpLocks/>
            <a:stCxn id="60" idx="1"/>
            <a:endCxn id="45" idx="5"/>
          </p:cNvCxnSpPr>
          <p:nvPr/>
        </p:nvCxnSpPr>
        <p:spPr>
          <a:xfrm flipV="1">
            <a:off x="9992450" y="4700342"/>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2" name="TextBox 61"/>
          <p:cNvSpPr txBox="1"/>
          <p:nvPr/>
        </p:nvSpPr>
        <p:spPr>
          <a:xfrm>
            <a:off x="9825954" y="3411796"/>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mc:AlternateContent xmlns:mc="http://schemas.openxmlformats.org/markup-compatibility/2006" xmlns:a14="http://schemas.microsoft.com/office/drawing/2010/main">
        <mc:Choice Requires="a14">
          <p:sp>
            <p:nvSpPr>
              <p:cNvPr id="64" name="Content Placeholder 2">
                <a:extLst>
                  <a:ext uri="{FF2B5EF4-FFF2-40B4-BE49-F238E27FC236}">
                    <a16:creationId xmlns:a16="http://schemas.microsoft.com/office/drawing/2014/main" id="{9CB3AA53-5FE6-7420-2832-B8AB64C9E95F}"/>
                  </a:ext>
                </a:extLst>
              </p:cNvPr>
              <p:cNvSpPr txBox="1">
                <a:spLocks/>
              </p:cNvSpPr>
              <p:nvPr/>
            </p:nvSpPr>
            <p:spPr>
              <a:xfrm>
                <a:off x="131176" y="2530606"/>
                <a:ext cx="7848144" cy="345937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Spanning tree:</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T</m:t>
                    </m:r>
                    <m:r>
                      <a:rPr lang="en-US" i="0" dirty="0">
                        <a:latin typeface="Cambria Math" panose="02040503050406030204" pitchFamily="18" charset="0"/>
                      </a:rPr>
                      <m:t>={</m:t>
                    </m:r>
                    <m:r>
                      <m:rPr>
                        <m:sty m:val="p"/>
                      </m:rPr>
                      <a:rPr lang="en-US" i="0" dirty="0" err="1" smtClean="0">
                        <a:latin typeface="Cambria Math" panose="02040503050406030204" pitchFamily="18" charset="0"/>
                      </a:rPr>
                      <m:t>f</m:t>
                    </m:r>
                    <m:r>
                      <a:rPr lang="en-US" i="0" dirty="0" err="1" smtClean="0">
                        <a:latin typeface="Cambria Math" panose="02040503050406030204" pitchFamily="18" charset="0"/>
                      </a:rPr>
                      <m:t>,</m:t>
                    </m:r>
                    <m:r>
                      <m:rPr>
                        <m:sty m:val="p"/>
                      </m:rPr>
                      <a:rPr lang="en-US" i="0" dirty="0" err="1" smtClean="0">
                        <a:latin typeface="Cambria Math" panose="02040503050406030204" pitchFamily="18" charset="0"/>
                      </a:rPr>
                      <m:t>h</m:t>
                    </m:r>
                    <m:r>
                      <a:rPr lang="en-US" i="0" dirty="0" err="1" smtClean="0">
                        <a:latin typeface="Cambria Math" panose="02040503050406030204" pitchFamily="18" charset="0"/>
                      </a:rPr>
                      <m:t>,</m:t>
                    </m:r>
                    <m:r>
                      <m:rPr>
                        <m:sty m:val="p"/>
                      </m:rPr>
                      <a:rPr lang="en-US" i="0" dirty="0" err="1" smtClean="0">
                        <a:latin typeface="Cambria Math" panose="02040503050406030204" pitchFamily="18" charset="0"/>
                      </a:rPr>
                      <m:t>i</m:t>
                    </m:r>
                    <m:r>
                      <a:rPr lang="en-US" i="0" dirty="0" err="1" smtClean="0">
                        <a:latin typeface="Cambria Math" panose="02040503050406030204" pitchFamily="18" charset="0"/>
                      </a:rPr>
                      <m:t>,</m:t>
                    </m:r>
                    <m:r>
                      <m:rPr>
                        <m:sty m:val="p"/>
                      </m:rPr>
                      <a:rPr lang="en-US" i="0" dirty="0" err="1" smtClean="0">
                        <a:latin typeface="Cambria Math" panose="02040503050406030204" pitchFamily="18" charset="0"/>
                      </a:rPr>
                      <m:t>g</m:t>
                    </m:r>
                    <m:r>
                      <a:rPr lang="en-US" i="0" dirty="0" err="1" smtClean="0">
                        <a:latin typeface="Cambria Math" panose="02040503050406030204" pitchFamily="18" charset="0"/>
                      </a:rPr>
                      <m:t>,</m:t>
                    </m:r>
                    <m:r>
                      <m:rPr>
                        <m:sty m:val="p"/>
                      </m:rPr>
                      <a:rPr lang="en-US" i="0" dirty="0" err="1" smtClean="0">
                        <a:latin typeface="Cambria Math" panose="02040503050406030204" pitchFamily="18" charset="0"/>
                      </a:rPr>
                      <m:t>a</m:t>
                    </m:r>
                    <m:r>
                      <a:rPr lang="en-US" i="0" dirty="0" smtClean="0">
                        <a:latin typeface="Cambria Math" panose="02040503050406030204" pitchFamily="18" charset="0"/>
                      </a:rPr>
                      <m:t>}.</m:t>
                    </m:r>
                  </m:oMath>
                </a14:m>
                <a:endParaRPr lang="en-US" dirty="0"/>
              </a:p>
              <a:p>
                <a:r>
                  <a:rPr lang="en-US" dirty="0"/>
                  <a:t>Each </a:t>
                </a:r>
                <a:r>
                  <a:rPr lang="en-US" b="1" dirty="0"/>
                  <a:t>branch of</a:t>
                </a:r>
                <a14:m>
                  <m:oMath xmlns:m="http://schemas.openxmlformats.org/officeDocument/2006/math">
                    <m:r>
                      <a:rPr lang="en-US" b="1" i="0" dirty="0" smtClean="0">
                        <a:latin typeface="Cambria Math" panose="02040503050406030204" pitchFamily="18" charset="0"/>
                      </a:rPr>
                      <m:t> </m:t>
                    </m:r>
                    <m:r>
                      <a:rPr lang="en-US" b="1" i="0" dirty="0" smtClean="0">
                        <a:latin typeface="Cambria Math" panose="02040503050406030204" pitchFamily="18" charset="0"/>
                      </a:rPr>
                      <m:t>𝐓</m:t>
                    </m:r>
                  </m:oMath>
                </a14:m>
                <a:r>
                  <a:rPr lang="en-US" dirty="0"/>
                  <a:t> gives </a:t>
                </a:r>
                <a:r>
                  <a:rPr lang="en-US" b="1" dirty="0"/>
                  <a:t>one fundamental cut-set.</a:t>
                </a:r>
              </a:p>
              <a:p>
                <a:r>
                  <a:rPr lang="en-US" dirty="0"/>
                  <a:t>Here, Number of branches is 5. So total fundamental cut-sets is 5.</a:t>
                </a:r>
              </a:p>
              <a:p>
                <a:r>
                  <a:rPr lang="en-US" dirty="0"/>
                  <a:t> Now we are listing all 5 fundamental cut-sets.</a:t>
                </a:r>
              </a:p>
            </p:txBody>
          </p:sp>
        </mc:Choice>
        <mc:Fallback xmlns="">
          <p:sp>
            <p:nvSpPr>
              <p:cNvPr id="64" name="Content Placeholder 2">
                <a:extLst>
                  <a:ext uri="{FF2B5EF4-FFF2-40B4-BE49-F238E27FC236}">
                    <a16:creationId xmlns:a14="http://schemas.microsoft.com/office/drawing/2010/main" xmlns="" xmlns:a16="http://schemas.microsoft.com/office/drawing/2014/main" id="{9CB3AA53-5FE6-7420-2832-B8AB64C9E95F}"/>
                  </a:ext>
                </a:extLst>
              </p:cNvPr>
              <p:cNvSpPr txBox="1">
                <a:spLocks noRot="1" noChangeAspect="1" noMove="1" noResize="1" noEditPoints="1" noAdjustHandles="1" noChangeArrowheads="1" noChangeShapeType="1" noTextEdit="1"/>
              </p:cNvSpPr>
              <p:nvPr/>
            </p:nvSpPr>
            <p:spPr>
              <a:xfrm>
                <a:off x="131176" y="2530606"/>
                <a:ext cx="7848144" cy="3459377"/>
              </a:xfrm>
              <a:prstGeom prst="rect">
                <a:avLst/>
              </a:prstGeom>
              <a:blipFill rotWithShape="0">
                <a:blip r:embed="rId3"/>
                <a:stretch>
                  <a:fillRect l="-1476" t="-2993" r="-1554"/>
                </a:stretch>
              </a:blipFill>
            </p:spPr>
            <p:txBody>
              <a:bodyPr/>
              <a:lstStyle/>
              <a:p>
                <a:r>
                  <a:rPr lang="en-US">
                    <a:noFill/>
                  </a:rPr>
                  <a:t> </a:t>
                </a:r>
              </a:p>
            </p:txBody>
          </p:sp>
        </mc:Fallback>
      </mc:AlternateContent>
    </p:spTree>
    <p:extLst>
      <p:ext uri="{BB962C8B-B14F-4D97-AF65-F5344CB8AC3E}">
        <p14:creationId xmlns:p14="http://schemas.microsoft.com/office/powerpoint/2010/main" val="3799880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 name="Content Placeholder 2"/>
              <p:cNvSpPr txBox="1">
                <a:spLocks/>
              </p:cNvSpPr>
              <p:nvPr/>
            </p:nvSpPr>
            <p:spPr>
              <a:xfrm>
                <a:off x="131176" y="867840"/>
                <a:ext cx="12024000" cy="952182"/>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Find all fundamental cut-sets with respect to spanning tree</a:t>
                </a:r>
                <a14:m>
                  <m:oMath xmlns:m="http://schemas.openxmlformats.org/officeDocument/2006/math">
                    <m:r>
                      <a:rPr lang="en-US" sz="2800" dirty="0">
                        <a:solidFill>
                          <a:schemeClr val="bg1"/>
                        </a:solidFill>
                        <a:latin typeface="Cambria Math" panose="02040503050406030204" pitchFamily="18" charset="0"/>
                      </a:rPr>
                      <m:t> {</m:t>
                    </m:r>
                    <m:r>
                      <m:rPr>
                        <m:sty m:val="p"/>
                      </m:rPr>
                      <a:rPr lang="en-US" sz="2800" dirty="0" err="1">
                        <a:solidFill>
                          <a:schemeClr val="bg1"/>
                        </a:solidFill>
                        <a:latin typeface="Cambria Math" panose="02040503050406030204" pitchFamily="18" charset="0"/>
                      </a:rPr>
                      <m:t>f</m:t>
                    </m:r>
                    <m:r>
                      <a:rPr lang="en-US" sz="2800" dirty="0" err="1">
                        <a:solidFill>
                          <a:schemeClr val="bg1"/>
                        </a:solidFill>
                        <a:latin typeface="Cambria Math" panose="02040503050406030204" pitchFamily="18" charset="0"/>
                      </a:rPr>
                      <m:t>,</m:t>
                    </m:r>
                    <m:r>
                      <m:rPr>
                        <m:sty m:val="p"/>
                      </m:rPr>
                      <a:rPr lang="en-US" sz="2800" dirty="0" err="1">
                        <a:solidFill>
                          <a:schemeClr val="bg1"/>
                        </a:solidFill>
                        <a:latin typeface="Cambria Math" panose="02040503050406030204" pitchFamily="18" charset="0"/>
                      </a:rPr>
                      <m:t>h</m:t>
                    </m:r>
                    <m:r>
                      <a:rPr lang="en-US" sz="2800" dirty="0" err="1">
                        <a:solidFill>
                          <a:schemeClr val="bg1"/>
                        </a:solidFill>
                        <a:latin typeface="Cambria Math" panose="02040503050406030204" pitchFamily="18" charset="0"/>
                      </a:rPr>
                      <m:t>,</m:t>
                    </m:r>
                    <m:r>
                      <m:rPr>
                        <m:sty m:val="p"/>
                      </m:rPr>
                      <a:rPr lang="en-US" sz="2800" dirty="0" err="1">
                        <a:solidFill>
                          <a:schemeClr val="bg1"/>
                        </a:solidFill>
                        <a:latin typeface="Cambria Math" panose="02040503050406030204" pitchFamily="18" charset="0"/>
                      </a:rPr>
                      <m:t>i</m:t>
                    </m:r>
                    <m:r>
                      <a:rPr lang="en-US" sz="2800" dirty="0" err="1">
                        <a:solidFill>
                          <a:schemeClr val="bg1"/>
                        </a:solidFill>
                        <a:latin typeface="Cambria Math" panose="02040503050406030204" pitchFamily="18" charset="0"/>
                      </a:rPr>
                      <m:t>,</m:t>
                    </m:r>
                    <m:r>
                      <m:rPr>
                        <m:sty m:val="p"/>
                      </m:rPr>
                      <a:rPr lang="en-US" sz="2800" dirty="0" err="1">
                        <a:solidFill>
                          <a:schemeClr val="bg1"/>
                        </a:solidFill>
                        <a:latin typeface="Cambria Math" panose="02040503050406030204" pitchFamily="18" charset="0"/>
                      </a:rPr>
                      <m:t>g</m:t>
                    </m:r>
                    <m:r>
                      <a:rPr lang="en-US" sz="2800" dirty="0" err="1">
                        <a:solidFill>
                          <a:schemeClr val="bg1"/>
                        </a:solidFill>
                        <a:latin typeface="Cambria Math" panose="02040503050406030204" pitchFamily="18" charset="0"/>
                      </a:rPr>
                      <m:t>,</m:t>
                    </m:r>
                    <m:r>
                      <m:rPr>
                        <m:sty m:val="p"/>
                      </m:rPr>
                      <a:rPr lang="en-US" sz="2800" dirty="0" err="1">
                        <a:solidFill>
                          <a:schemeClr val="bg1"/>
                        </a:solidFill>
                        <a:latin typeface="Cambria Math" panose="02040503050406030204" pitchFamily="18" charset="0"/>
                      </a:rPr>
                      <m:t>a</m:t>
                    </m:r>
                    <m:r>
                      <a:rPr lang="en-US" sz="2800" dirty="0">
                        <a:solidFill>
                          <a:schemeClr val="bg1"/>
                        </a:solidFill>
                        <a:latin typeface="Cambria Math" panose="02040503050406030204" pitchFamily="18" charset="0"/>
                      </a:rPr>
                      <m:t>}</m:t>
                    </m:r>
                  </m:oMath>
                </a14:m>
                <a:r>
                  <a:rPr lang="en-US" sz="2800" dirty="0">
                    <a:solidFill>
                      <a:schemeClr val="bg1"/>
                    </a:solidFill>
                  </a:rPr>
                  <a:t> for following graph.</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31176" y="867840"/>
                <a:ext cx="12024000" cy="952182"/>
              </a:xfrm>
              <a:prstGeom prst="rect">
                <a:avLst/>
              </a:prstGeom>
              <a:blipFill rotWithShape="0">
                <a:blip r:embed="rId2"/>
                <a:stretch>
                  <a:fillRect l="-1065" t="-6369" r="-558" b="-16561"/>
                </a:stretch>
              </a:blipFill>
              <a:ln>
                <a:noFill/>
              </a:ln>
            </p:spPr>
            <p:txBody>
              <a:bodyPr/>
              <a:lstStyle/>
              <a:p>
                <a:r>
                  <a:rPr lang="en-US">
                    <a:noFill/>
                  </a:rPr>
                  <a:t> </a:t>
                </a:r>
              </a:p>
            </p:txBody>
          </p:sp>
        </mc:Fallback>
      </mc:AlternateContent>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2 ⇝ Example 3(Cont.)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86249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3550118" y="25489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9" name="Oval 38">
            <a:extLst>
              <a:ext uri="{FF2B5EF4-FFF2-40B4-BE49-F238E27FC236}">
                <a16:creationId xmlns:a16="http://schemas.microsoft.com/office/drawing/2014/main" id="{BDD11F87-DA81-9510-C1CB-0AF4093562CB}"/>
              </a:ext>
            </a:extLst>
          </p:cNvPr>
          <p:cNvSpPr/>
          <p:nvPr/>
        </p:nvSpPr>
        <p:spPr>
          <a:xfrm rot="5400000">
            <a:off x="2837745" y="326904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4270198" y="326904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31" idx="5"/>
            <a:endCxn id="39" idx="1"/>
          </p:cNvCxnSpPr>
          <p:nvPr/>
        </p:nvCxnSpPr>
        <p:spPr>
          <a:xfrm flipH="1">
            <a:off x="2960657" y="2671874"/>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31" idx="7"/>
            <a:endCxn id="40" idx="3"/>
          </p:cNvCxnSpPr>
          <p:nvPr/>
        </p:nvCxnSpPr>
        <p:spPr>
          <a:xfrm>
            <a:off x="3673030" y="2671874"/>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40" idx="4"/>
            <a:endCxn id="39" idx="0"/>
          </p:cNvCxnSpPr>
          <p:nvPr/>
        </p:nvCxnSpPr>
        <p:spPr>
          <a:xfrm flipH="1">
            <a:off x="2981745" y="3341042"/>
            <a:ext cx="1288453"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44" name="Oval 43">
            <a:extLst>
              <a:ext uri="{FF2B5EF4-FFF2-40B4-BE49-F238E27FC236}">
                <a16:creationId xmlns:a16="http://schemas.microsoft.com/office/drawing/2014/main" id="{BDD11F87-DA81-9510-C1CB-0AF4093562CB}"/>
              </a:ext>
            </a:extLst>
          </p:cNvPr>
          <p:cNvSpPr/>
          <p:nvPr/>
        </p:nvSpPr>
        <p:spPr>
          <a:xfrm rot="5400000">
            <a:off x="2830038" y="47092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5" name="Oval 44">
            <a:extLst>
              <a:ext uri="{FF2B5EF4-FFF2-40B4-BE49-F238E27FC236}">
                <a16:creationId xmlns:a16="http://schemas.microsoft.com/office/drawing/2014/main" id="{BDD11F87-DA81-9510-C1CB-0AF4093562CB}"/>
              </a:ext>
            </a:extLst>
          </p:cNvPr>
          <p:cNvSpPr/>
          <p:nvPr/>
        </p:nvSpPr>
        <p:spPr>
          <a:xfrm rot="5400000">
            <a:off x="4270198" y="47092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6" name="Straight Connector 45">
            <a:extLst>
              <a:ext uri="{FF2B5EF4-FFF2-40B4-BE49-F238E27FC236}">
                <a16:creationId xmlns:a16="http://schemas.microsoft.com/office/drawing/2014/main" id="{6205DD86-315C-53B6-CEEF-A9919650168E}"/>
              </a:ext>
            </a:extLst>
          </p:cNvPr>
          <p:cNvCxnSpPr>
            <a:cxnSpLocks/>
            <a:stCxn id="39" idx="6"/>
            <a:endCxn id="44" idx="2"/>
          </p:cNvCxnSpPr>
          <p:nvPr/>
        </p:nvCxnSpPr>
        <p:spPr>
          <a:xfrm flipH="1">
            <a:off x="2902038" y="3413042"/>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40" idx="6"/>
            <a:endCxn id="45" idx="2"/>
          </p:cNvCxnSpPr>
          <p:nvPr/>
        </p:nvCxnSpPr>
        <p:spPr>
          <a:xfrm>
            <a:off x="4342198" y="3413042"/>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45" idx="4"/>
            <a:endCxn id="44" idx="0"/>
          </p:cNvCxnSpPr>
          <p:nvPr/>
        </p:nvCxnSpPr>
        <p:spPr>
          <a:xfrm flipH="1">
            <a:off x="2974038" y="4781202"/>
            <a:ext cx="1296160"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45" idx="3"/>
            <a:endCxn id="39" idx="7"/>
          </p:cNvCxnSpPr>
          <p:nvPr/>
        </p:nvCxnSpPr>
        <p:spPr>
          <a:xfrm flipH="1" flipV="1">
            <a:off x="2960657" y="3391954"/>
            <a:ext cx="1330629" cy="133833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51" name="TextBox 50"/>
          <p:cNvSpPr txBox="1"/>
          <p:nvPr/>
        </p:nvSpPr>
        <p:spPr>
          <a:xfrm>
            <a:off x="2944912" y="501997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52" name="TextBox 51"/>
          <p:cNvSpPr txBox="1"/>
          <p:nvPr/>
        </p:nvSpPr>
        <p:spPr>
          <a:xfrm>
            <a:off x="3112390" y="2437783"/>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53" name="TextBox 52"/>
          <p:cNvSpPr txBox="1"/>
          <p:nvPr/>
        </p:nvSpPr>
        <p:spPr>
          <a:xfrm>
            <a:off x="3481549" y="2856655"/>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54" name="TextBox 53"/>
          <p:cNvSpPr txBox="1"/>
          <p:nvPr/>
        </p:nvSpPr>
        <p:spPr>
          <a:xfrm>
            <a:off x="4363270" y="3794786"/>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55" name="TextBox 54"/>
          <p:cNvSpPr txBox="1"/>
          <p:nvPr/>
        </p:nvSpPr>
        <p:spPr>
          <a:xfrm>
            <a:off x="3801016" y="2423818"/>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56" name="TextBox 55"/>
          <p:cNvSpPr txBox="1"/>
          <p:nvPr/>
        </p:nvSpPr>
        <p:spPr>
          <a:xfrm>
            <a:off x="4002274" y="505903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7" name="TextBox 56"/>
          <p:cNvSpPr txBox="1"/>
          <p:nvPr/>
        </p:nvSpPr>
        <p:spPr>
          <a:xfrm>
            <a:off x="3471445" y="463681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58" name="TextBox 57"/>
          <p:cNvSpPr txBox="1"/>
          <p:nvPr/>
        </p:nvSpPr>
        <p:spPr>
          <a:xfrm>
            <a:off x="2921845" y="3788198"/>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59" name="Straight Connector 58">
            <a:extLst>
              <a:ext uri="{FF2B5EF4-FFF2-40B4-BE49-F238E27FC236}">
                <a16:creationId xmlns:a16="http://schemas.microsoft.com/office/drawing/2014/main" id="{6205DD86-315C-53B6-CEEF-A9919650168E}"/>
              </a:ext>
            </a:extLst>
          </p:cNvPr>
          <p:cNvCxnSpPr>
            <a:cxnSpLocks/>
            <a:stCxn id="60" idx="3"/>
            <a:endCxn id="44" idx="7"/>
          </p:cNvCxnSpPr>
          <p:nvPr/>
        </p:nvCxnSpPr>
        <p:spPr>
          <a:xfrm flipH="1" flipV="1">
            <a:off x="2952950" y="4832114"/>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60" name="Oval 59">
            <a:extLst>
              <a:ext uri="{FF2B5EF4-FFF2-40B4-BE49-F238E27FC236}">
                <a16:creationId xmlns:a16="http://schemas.microsoft.com/office/drawing/2014/main" id="{BDD11F87-DA81-9510-C1CB-0AF4093562CB}"/>
              </a:ext>
            </a:extLst>
          </p:cNvPr>
          <p:cNvSpPr/>
          <p:nvPr/>
        </p:nvSpPr>
        <p:spPr>
          <a:xfrm rot="5400000">
            <a:off x="3546099" y="54382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6205DD86-315C-53B6-CEEF-A9919650168E}"/>
              </a:ext>
            </a:extLst>
          </p:cNvPr>
          <p:cNvCxnSpPr>
            <a:cxnSpLocks/>
            <a:stCxn id="60" idx="1"/>
            <a:endCxn id="45" idx="5"/>
          </p:cNvCxnSpPr>
          <p:nvPr/>
        </p:nvCxnSpPr>
        <p:spPr>
          <a:xfrm flipV="1">
            <a:off x="3669011" y="4832114"/>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2" name="TextBox 61"/>
          <p:cNvSpPr txBox="1"/>
          <p:nvPr/>
        </p:nvSpPr>
        <p:spPr>
          <a:xfrm>
            <a:off x="3502515" y="3543568"/>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30" name="Oval 29">
            <a:extLst>
              <a:ext uri="{FF2B5EF4-FFF2-40B4-BE49-F238E27FC236}">
                <a16:creationId xmlns:a16="http://schemas.microsoft.com/office/drawing/2014/main" id="{BDD11F87-DA81-9510-C1CB-0AF4093562CB}"/>
              </a:ext>
            </a:extLst>
          </p:cNvPr>
          <p:cNvSpPr/>
          <p:nvPr/>
        </p:nvSpPr>
        <p:spPr>
          <a:xfrm rot="5400000">
            <a:off x="1499365" y="25489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2" name="Oval 31">
            <a:extLst>
              <a:ext uri="{FF2B5EF4-FFF2-40B4-BE49-F238E27FC236}">
                <a16:creationId xmlns:a16="http://schemas.microsoft.com/office/drawing/2014/main" id="{BDD11F87-DA81-9510-C1CB-0AF4093562CB}"/>
              </a:ext>
            </a:extLst>
          </p:cNvPr>
          <p:cNvSpPr/>
          <p:nvPr/>
        </p:nvSpPr>
        <p:spPr>
          <a:xfrm rot="5400000">
            <a:off x="786992" y="326904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BDD11F87-DA81-9510-C1CB-0AF4093562CB}"/>
              </a:ext>
            </a:extLst>
          </p:cNvPr>
          <p:cNvSpPr/>
          <p:nvPr/>
        </p:nvSpPr>
        <p:spPr>
          <a:xfrm rot="5400000">
            <a:off x="2219445" y="326904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4" name="Straight Connector 33">
            <a:extLst>
              <a:ext uri="{FF2B5EF4-FFF2-40B4-BE49-F238E27FC236}">
                <a16:creationId xmlns:a16="http://schemas.microsoft.com/office/drawing/2014/main" id="{6205DD86-315C-53B6-CEEF-A9919650168E}"/>
              </a:ext>
            </a:extLst>
          </p:cNvPr>
          <p:cNvCxnSpPr>
            <a:cxnSpLocks/>
            <a:stCxn id="30" idx="5"/>
            <a:endCxn id="32" idx="1"/>
          </p:cNvCxnSpPr>
          <p:nvPr/>
        </p:nvCxnSpPr>
        <p:spPr>
          <a:xfrm flipH="1">
            <a:off x="909904" y="2671874"/>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6205DD86-315C-53B6-CEEF-A9919650168E}"/>
              </a:ext>
            </a:extLst>
          </p:cNvPr>
          <p:cNvCxnSpPr>
            <a:cxnSpLocks/>
            <a:stCxn id="30" idx="7"/>
            <a:endCxn id="33" idx="3"/>
          </p:cNvCxnSpPr>
          <p:nvPr/>
        </p:nvCxnSpPr>
        <p:spPr>
          <a:xfrm>
            <a:off x="1622277" y="2671874"/>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6205DD86-315C-53B6-CEEF-A9919650168E}"/>
              </a:ext>
            </a:extLst>
          </p:cNvPr>
          <p:cNvCxnSpPr>
            <a:cxnSpLocks/>
            <a:stCxn id="33" idx="4"/>
            <a:endCxn id="32" idx="0"/>
          </p:cNvCxnSpPr>
          <p:nvPr/>
        </p:nvCxnSpPr>
        <p:spPr>
          <a:xfrm flipH="1">
            <a:off x="930992" y="3341042"/>
            <a:ext cx="1288453"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38" name="Oval 37">
            <a:extLst>
              <a:ext uri="{FF2B5EF4-FFF2-40B4-BE49-F238E27FC236}">
                <a16:creationId xmlns:a16="http://schemas.microsoft.com/office/drawing/2014/main" id="{BDD11F87-DA81-9510-C1CB-0AF4093562CB}"/>
              </a:ext>
            </a:extLst>
          </p:cNvPr>
          <p:cNvSpPr/>
          <p:nvPr/>
        </p:nvSpPr>
        <p:spPr>
          <a:xfrm rot="5400000">
            <a:off x="779285" y="47092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7" name="Oval 46">
            <a:extLst>
              <a:ext uri="{FF2B5EF4-FFF2-40B4-BE49-F238E27FC236}">
                <a16:creationId xmlns:a16="http://schemas.microsoft.com/office/drawing/2014/main" id="{BDD11F87-DA81-9510-C1CB-0AF4093562CB}"/>
              </a:ext>
            </a:extLst>
          </p:cNvPr>
          <p:cNvSpPr/>
          <p:nvPr/>
        </p:nvSpPr>
        <p:spPr>
          <a:xfrm rot="5400000">
            <a:off x="2219445" y="47092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3" name="Straight Connector 62">
            <a:extLst>
              <a:ext uri="{FF2B5EF4-FFF2-40B4-BE49-F238E27FC236}">
                <a16:creationId xmlns:a16="http://schemas.microsoft.com/office/drawing/2014/main" id="{6205DD86-315C-53B6-CEEF-A9919650168E}"/>
              </a:ext>
            </a:extLst>
          </p:cNvPr>
          <p:cNvCxnSpPr>
            <a:cxnSpLocks/>
            <a:stCxn id="32" idx="6"/>
            <a:endCxn id="38" idx="2"/>
          </p:cNvCxnSpPr>
          <p:nvPr/>
        </p:nvCxnSpPr>
        <p:spPr>
          <a:xfrm flipH="1">
            <a:off x="851285" y="3413042"/>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205DD86-315C-53B6-CEEF-A9919650168E}"/>
              </a:ext>
            </a:extLst>
          </p:cNvPr>
          <p:cNvCxnSpPr>
            <a:cxnSpLocks/>
            <a:stCxn id="33" idx="6"/>
            <a:endCxn id="47" idx="2"/>
          </p:cNvCxnSpPr>
          <p:nvPr/>
        </p:nvCxnSpPr>
        <p:spPr>
          <a:xfrm>
            <a:off x="2291445" y="3413042"/>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6" name="Straight Connector 65">
            <a:extLst>
              <a:ext uri="{FF2B5EF4-FFF2-40B4-BE49-F238E27FC236}">
                <a16:creationId xmlns:a16="http://schemas.microsoft.com/office/drawing/2014/main" id="{6205DD86-315C-53B6-CEEF-A9919650168E}"/>
              </a:ext>
            </a:extLst>
          </p:cNvPr>
          <p:cNvCxnSpPr>
            <a:cxnSpLocks/>
            <a:stCxn id="47" idx="4"/>
            <a:endCxn id="38" idx="0"/>
          </p:cNvCxnSpPr>
          <p:nvPr/>
        </p:nvCxnSpPr>
        <p:spPr>
          <a:xfrm flipH="1">
            <a:off x="923285" y="4781202"/>
            <a:ext cx="1296160"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Straight Connector 66">
            <a:extLst>
              <a:ext uri="{FF2B5EF4-FFF2-40B4-BE49-F238E27FC236}">
                <a16:creationId xmlns:a16="http://schemas.microsoft.com/office/drawing/2014/main" id="{6205DD86-315C-53B6-CEEF-A9919650168E}"/>
              </a:ext>
            </a:extLst>
          </p:cNvPr>
          <p:cNvCxnSpPr>
            <a:cxnSpLocks/>
            <a:stCxn id="47" idx="3"/>
            <a:endCxn id="32" idx="7"/>
          </p:cNvCxnSpPr>
          <p:nvPr/>
        </p:nvCxnSpPr>
        <p:spPr>
          <a:xfrm flipH="1" flipV="1">
            <a:off x="909904" y="3391954"/>
            <a:ext cx="1330629" cy="133833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68" name="TextBox 67"/>
          <p:cNvSpPr txBox="1"/>
          <p:nvPr/>
        </p:nvSpPr>
        <p:spPr>
          <a:xfrm>
            <a:off x="894159" y="501997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69" name="TextBox 68"/>
          <p:cNvSpPr txBox="1"/>
          <p:nvPr/>
        </p:nvSpPr>
        <p:spPr>
          <a:xfrm>
            <a:off x="1024450" y="2423818"/>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70" name="TextBox 69"/>
          <p:cNvSpPr txBox="1"/>
          <p:nvPr/>
        </p:nvSpPr>
        <p:spPr>
          <a:xfrm>
            <a:off x="1429958" y="2923074"/>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71" name="TextBox 70"/>
          <p:cNvSpPr txBox="1"/>
          <p:nvPr/>
        </p:nvSpPr>
        <p:spPr>
          <a:xfrm>
            <a:off x="2312517" y="3794786"/>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72" name="TextBox 71"/>
          <p:cNvSpPr txBox="1"/>
          <p:nvPr/>
        </p:nvSpPr>
        <p:spPr>
          <a:xfrm>
            <a:off x="1696729" y="2384808"/>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73" name="TextBox 72"/>
          <p:cNvSpPr txBox="1"/>
          <p:nvPr/>
        </p:nvSpPr>
        <p:spPr>
          <a:xfrm>
            <a:off x="1951521" y="505903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74" name="TextBox 73"/>
          <p:cNvSpPr txBox="1"/>
          <p:nvPr/>
        </p:nvSpPr>
        <p:spPr>
          <a:xfrm>
            <a:off x="1420692" y="463681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75" name="TextBox 74"/>
          <p:cNvSpPr txBox="1"/>
          <p:nvPr/>
        </p:nvSpPr>
        <p:spPr>
          <a:xfrm>
            <a:off x="868749" y="3687243"/>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76" name="Straight Connector 75">
            <a:extLst>
              <a:ext uri="{FF2B5EF4-FFF2-40B4-BE49-F238E27FC236}">
                <a16:creationId xmlns:a16="http://schemas.microsoft.com/office/drawing/2014/main" id="{6205DD86-315C-53B6-CEEF-A9919650168E}"/>
              </a:ext>
            </a:extLst>
          </p:cNvPr>
          <p:cNvCxnSpPr>
            <a:cxnSpLocks/>
            <a:stCxn id="77" idx="3"/>
            <a:endCxn id="38" idx="7"/>
          </p:cNvCxnSpPr>
          <p:nvPr/>
        </p:nvCxnSpPr>
        <p:spPr>
          <a:xfrm flipH="1" flipV="1">
            <a:off x="902197" y="4832114"/>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77" name="Oval 76">
            <a:extLst>
              <a:ext uri="{FF2B5EF4-FFF2-40B4-BE49-F238E27FC236}">
                <a16:creationId xmlns:a16="http://schemas.microsoft.com/office/drawing/2014/main" id="{BDD11F87-DA81-9510-C1CB-0AF4093562CB}"/>
              </a:ext>
            </a:extLst>
          </p:cNvPr>
          <p:cNvSpPr/>
          <p:nvPr/>
        </p:nvSpPr>
        <p:spPr>
          <a:xfrm rot="5400000">
            <a:off x="1495346" y="543825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8" name="Straight Connector 77">
            <a:extLst>
              <a:ext uri="{FF2B5EF4-FFF2-40B4-BE49-F238E27FC236}">
                <a16:creationId xmlns:a16="http://schemas.microsoft.com/office/drawing/2014/main" id="{6205DD86-315C-53B6-CEEF-A9919650168E}"/>
              </a:ext>
            </a:extLst>
          </p:cNvPr>
          <p:cNvCxnSpPr>
            <a:cxnSpLocks/>
            <a:stCxn id="77" idx="1"/>
            <a:endCxn id="47" idx="5"/>
          </p:cNvCxnSpPr>
          <p:nvPr/>
        </p:nvCxnSpPr>
        <p:spPr>
          <a:xfrm flipV="1">
            <a:off x="1618258" y="4832114"/>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9" name="TextBox 78"/>
          <p:cNvSpPr txBox="1"/>
          <p:nvPr/>
        </p:nvSpPr>
        <p:spPr>
          <a:xfrm>
            <a:off x="1451762" y="3543568"/>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176" name="Oval 175">
            <a:extLst>
              <a:ext uri="{FF2B5EF4-FFF2-40B4-BE49-F238E27FC236}">
                <a16:creationId xmlns:a16="http://schemas.microsoft.com/office/drawing/2014/main" id="{BDD11F87-DA81-9510-C1CB-0AF4093562CB}"/>
              </a:ext>
            </a:extLst>
          </p:cNvPr>
          <p:cNvSpPr/>
          <p:nvPr/>
        </p:nvSpPr>
        <p:spPr>
          <a:xfrm rot="5400000">
            <a:off x="7619638" y="25546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7" name="Oval 176">
            <a:extLst>
              <a:ext uri="{FF2B5EF4-FFF2-40B4-BE49-F238E27FC236}">
                <a16:creationId xmlns:a16="http://schemas.microsoft.com/office/drawing/2014/main" id="{BDD11F87-DA81-9510-C1CB-0AF4093562CB}"/>
              </a:ext>
            </a:extLst>
          </p:cNvPr>
          <p:cNvSpPr/>
          <p:nvPr/>
        </p:nvSpPr>
        <p:spPr>
          <a:xfrm rot="5400000">
            <a:off x="6907265" y="32747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8" name="Oval 177">
            <a:extLst>
              <a:ext uri="{FF2B5EF4-FFF2-40B4-BE49-F238E27FC236}">
                <a16:creationId xmlns:a16="http://schemas.microsoft.com/office/drawing/2014/main" id="{BDD11F87-DA81-9510-C1CB-0AF4093562CB}"/>
              </a:ext>
            </a:extLst>
          </p:cNvPr>
          <p:cNvSpPr/>
          <p:nvPr/>
        </p:nvSpPr>
        <p:spPr>
          <a:xfrm rot="5400000">
            <a:off x="8339718" y="32747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79" name="Straight Connector 178">
            <a:extLst>
              <a:ext uri="{FF2B5EF4-FFF2-40B4-BE49-F238E27FC236}">
                <a16:creationId xmlns:a16="http://schemas.microsoft.com/office/drawing/2014/main" id="{6205DD86-315C-53B6-CEEF-A9919650168E}"/>
              </a:ext>
            </a:extLst>
          </p:cNvPr>
          <p:cNvCxnSpPr>
            <a:cxnSpLocks/>
            <a:stCxn id="176" idx="5"/>
            <a:endCxn id="177" idx="1"/>
          </p:cNvCxnSpPr>
          <p:nvPr/>
        </p:nvCxnSpPr>
        <p:spPr>
          <a:xfrm flipH="1">
            <a:off x="7030177" y="2677540"/>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0" name="Straight Connector 179">
            <a:extLst>
              <a:ext uri="{FF2B5EF4-FFF2-40B4-BE49-F238E27FC236}">
                <a16:creationId xmlns:a16="http://schemas.microsoft.com/office/drawing/2014/main" id="{6205DD86-315C-53B6-CEEF-A9919650168E}"/>
              </a:ext>
            </a:extLst>
          </p:cNvPr>
          <p:cNvCxnSpPr>
            <a:cxnSpLocks/>
            <a:stCxn id="176" idx="7"/>
            <a:endCxn id="178" idx="3"/>
          </p:cNvCxnSpPr>
          <p:nvPr/>
        </p:nvCxnSpPr>
        <p:spPr>
          <a:xfrm>
            <a:off x="7742550" y="2677540"/>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1" name="Straight Connector 180">
            <a:extLst>
              <a:ext uri="{FF2B5EF4-FFF2-40B4-BE49-F238E27FC236}">
                <a16:creationId xmlns:a16="http://schemas.microsoft.com/office/drawing/2014/main" id="{6205DD86-315C-53B6-CEEF-A9919650168E}"/>
              </a:ext>
            </a:extLst>
          </p:cNvPr>
          <p:cNvCxnSpPr>
            <a:cxnSpLocks/>
            <a:stCxn id="178" idx="4"/>
            <a:endCxn id="177" idx="0"/>
          </p:cNvCxnSpPr>
          <p:nvPr/>
        </p:nvCxnSpPr>
        <p:spPr>
          <a:xfrm flipH="1">
            <a:off x="7051265" y="3346708"/>
            <a:ext cx="1288453"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82" name="Oval 181">
            <a:extLst>
              <a:ext uri="{FF2B5EF4-FFF2-40B4-BE49-F238E27FC236}">
                <a16:creationId xmlns:a16="http://schemas.microsoft.com/office/drawing/2014/main" id="{BDD11F87-DA81-9510-C1CB-0AF4093562CB}"/>
              </a:ext>
            </a:extLst>
          </p:cNvPr>
          <p:cNvSpPr/>
          <p:nvPr/>
        </p:nvSpPr>
        <p:spPr>
          <a:xfrm rot="5400000">
            <a:off x="6899558" y="47148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3" name="Oval 182">
            <a:extLst>
              <a:ext uri="{FF2B5EF4-FFF2-40B4-BE49-F238E27FC236}">
                <a16:creationId xmlns:a16="http://schemas.microsoft.com/office/drawing/2014/main" id="{BDD11F87-DA81-9510-C1CB-0AF4093562CB}"/>
              </a:ext>
            </a:extLst>
          </p:cNvPr>
          <p:cNvSpPr/>
          <p:nvPr/>
        </p:nvSpPr>
        <p:spPr>
          <a:xfrm rot="5400000">
            <a:off x="8339718" y="47148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84" name="Straight Connector 183">
            <a:extLst>
              <a:ext uri="{FF2B5EF4-FFF2-40B4-BE49-F238E27FC236}">
                <a16:creationId xmlns:a16="http://schemas.microsoft.com/office/drawing/2014/main" id="{6205DD86-315C-53B6-CEEF-A9919650168E}"/>
              </a:ext>
            </a:extLst>
          </p:cNvPr>
          <p:cNvCxnSpPr>
            <a:cxnSpLocks/>
            <a:stCxn id="177" idx="6"/>
            <a:endCxn id="182" idx="2"/>
          </p:cNvCxnSpPr>
          <p:nvPr/>
        </p:nvCxnSpPr>
        <p:spPr>
          <a:xfrm flipH="1">
            <a:off x="6971558" y="3418708"/>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5" name="Straight Connector 184">
            <a:extLst>
              <a:ext uri="{FF2B5EF4-FFF2-40B4-BE49-F238E27FC236}">
                <a16:creationId xmlns:a16="http://schemas.microsoft.com/office/drawing/2014/main" id="{6205DD86-315C-53B6-CEEF-A9919650168E}"/>
              </a:ext>
            </a:extLst>
          </p:cNvPr>
          <p:cNvCxnSpPr>
            <a:cxnSpLocks/>
            <a:stCxn id="178" idx="6"/>
            <a:endCxn id="183" idx="2"/>
          </p:cNvCxnSpPr>
          <p:nvPr/>
        </p:nvCxnSpPr>
        <p:spPr>
          <a:xfrm>
            <a:off x="8411718" y="3418708"/>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6" name="Straight Connector 185">
            <a:extLst>
              <a:ext uri="{FF2B5EF4-FFF2-40B4-BE49-F238E27FC236}">
                <a16:creationId xmlns:a16="http://schemas.microsoft.com/office/drawing/2014/main" id="{6205DD86-315C-53B6-CEEF-A9919650168E}"/>
              </a:ext>
            </a:extLst>
          </p:cNvPr>
          <p:cNvCxnSpPr>
            <a:cxnSpLocks/>
            <a:stCxn id="183" idx="4"/>
            <a:endCxn id="182" idx="0"/>
          </p:cNvCxnSpPr>
          <p:nvPr/>
        </p:nvCxnSpPr>
        <p:spPr>
          <a:xfrm flipH="1">
            <a:off x="7043558" y="4786868"/>
            <a:ext cx="1296160"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7" name="Straight Connector 186">
            <a:extLst>
              <a:ext uri="{FF2B5EF4-FFF2-40B4-BE49-F238E27FC236}">
                <a16:creationId xmlns:a16="http://schemas.microsoft.com/office/drawing/2014/main" id="{6205DD86-315C-53B6-CEEF-A9919650168E}"/>
              </a:ext>
            </a:extLst>
          </p:cNvPr>
          <p:cNvCxnSpPr>
            <a:cxnSpLocks/>
            <a:stCxn id="183" idx="3"/>
            <a:endCxn id="177" idx="7"/>
          </p:cNvCxnSpPr>
          <p:nvPr/>
        </p:nvCxnSpPr>
        <p:spPr>
          <a:xfrm flipH="1" flipV="1">
            <a:off x="7030177" y="3397620"/>
            <a:ext cx="1330629" cy="133833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88" name="TextBox 187"/>
          <p:cNvSpPr txBox="1"/>
          <p:nvPr/>
        </p:nvSpPr>
        <p:spPr>
          <a:xfrm>
            <a:off x="7014432" y="5025636"/>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89" name="TextBox 188"/>
          <p:cNvSpPr txBox="1"/>
          <p:nvPr/>
        </p:nvSpPr>
        <p:spPr>
          <a:xfrm>
            <a:off x="6999262" y="2561878"/>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190" name="TextBox 189"/>
          <p:cNvSpPr txBox="1"/>
          <p:nvPr/>
        </p:nvSpPr>
        <p:spPr>
          <a:xfrm>
            <a:off x="7551069" y="2862321"/>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191" name="TextBox 190"/>
          <p:cNvSpPr txBox="1"/>
          <p:nvPr/>
        </p:nvSpPr>
        <p:spPr>
          <a:xfrm>
            <a:off x="8432790" y="3800452"/>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192" name="TextBox 191"/>
          <p:cNvSpPr txBox="1"/>
          <p:nvPr/>
        </p:nvSpPr>
        <p:spPr>
          <a:xfrm>
            <a:off x="8029179" y="2588163"/>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93" name="TextBox 192"/>
          <p:cNvSpPr txBox="1"/>
          <p:nvPr/>
        </p:nvSpPr>
        <p:spPr>
          <a:xfrm>
            <a:off x="7845040" y="528158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94" name="TextBox 193"/>
          <p:cNvSpPr txBox="1"/>
          <p:nvPr/>
        </p:nvSpPr>
        <p:spPr>
          <a:xfrm>
            <a:off x="7408755" y="464247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195" name="TextBox 194"/>
          <p:cNvSpPr txBox="1"/>
          <p:nvPr/>
        </p:nvSpPr>
        <p:spPr>
          <a:xfrm>
            <a:off x="6938078" y="4138940"/>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196" name="Straight Connector 195">
            <a:extLst>
              <a:ext uri="{FF2B5EF4-FFF2-40B4-BE49-F238E27FC236}">
                <a16:creationId xmlns:a16="http://schemas.microsoft.com/office/drawing/2014/main" id="{6205DD86-315C-53B6-CEEF-A9919650168E}"/>
              </a:ext>
            </a:extLst>
          </p:cNvPr>
          <p:cNvCxnSpPr>
            <a:cxnSpLocks/>
            <a:stCxn id="197" idx="3"/>
            <a:endCxn id="182" idx="7"/>
          </p:cNvCxnSpPr>
          <p:nvPr/>
        </p:nvCxnSpPr>
        <p:spPr>
          <a:xfrm flipH="1" flipV="1">
            <a:off x="7022470" y="4837780"/>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97" name="Oval 196">
            <a:extLst>
              <a:ext uri="{FF2B5EF4-FFF2-40B4-BE49-F238E27FC236}">
                <a16:creationId xmlns:a16="http://schemas.microsoft.com/office/drawing/2014/main" id="{BDD11F87-DA81-9510-C1CB-0AF4093562CB}"/>
              </a:ext>
            </a:extLst>
          </p:cNvPr>
          <p:cNvSpPr/>
          <p:nvPr/>
        </p:nvSpPr>
        <p:spPr>
          <a:xfrm rot="5400000">
            <a:off x="7615619" y="54439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98" name="Straight Connector 197">
            <a:extLst>
              <a:ext uri="{FF2B5EF4-FFF2-40B4-BE49-F238E27FC236}">
                <a16:creationId xmlns:a16="http://schemas.microsoft.com/office/drawing/2014/main" id="{6205DD86-315C-53B6-CEEF-A9919650168E}"/>
              </a:ext>
            </a:extLst>
          </p:cNvPr>
          <p:cNvCxnSpPr>
            <a:cxnSpLocks/>
            <a:stCxn id="197" idx="1"/>
            <a:endCxn id="183" idx="5"/>
          </p:cNvCxnSpPr>
          <p:nvPr/>
        </p:nvCxnSpPr>
        <p:spPr>
          <a:xfrm flipV="1">
            <a:off x="7738531" y="4837780"/>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99" name="TextBox 198"/>
          <p:cNvSpPr txBox="1"/>
          <p:nvPr/>
        </p:nvSpPr>
        <p:spPr>
          <a:xfrm>
            <a:off x="7572035" y="3549234"/>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200" name="Oval 199">
            <a:extLst>
              <a:ext uri="{FF2B5EF4-FFF2-40B4-BE49-F238E27FC236}">
                <a16:creationId xmlns:a16="http://schemas.microsoft.com/office/drawing/2014/main" id="{BDD11F87-DA81-9510-C1CB-0AF4093562CB}"/>
              </a:ext>
            </a:extLst>
          </p:cNvPr>
          <p:cNvSpPr/>
          <p:nvPr/>
        </p:nvSpPr>
        <p:spPr>
          <a:xfrm rot="5400000">
            <a:off x="5568885" y="25546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1" name="Oval 200">
            <a:extLst>
              <a:ext uri="{FF2B5EF4-FFF2-40B4-BE49-F238E27FC236}">
                <a16:creationId xmlns:a16="http://schemas.microsoft.com/office/drawing/2014/main" id="{BDD11F87-DA81-9510-C1CB-0AF4093562CB}"/>
              </a:ext>
            </a:extLst>
          </p:cNvPr>
          <p:cNvSpPr/>
          <p:nvPr/>
        </p:nvSpPr>
        <p:spPr>
          <a:xfrm rot="5400000">
            <a:off x="4856512" y="32747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2" name="Oval 201">
            <a:extLst>
              <a:ext uri="{FF2B5EF4-FFF2-40B4-BE49-F238E27FC236}">
                <a16:creationId xmlns:a16="http://schemas.microsoft.com/office/drawing/2014/main" id="{BDD11F87-DA81-9510-C1CB-0AF4093562CB}"/>
              </a:ext>
            </a:extLst>
          </p:cNvPr>
          <p:cNvSpPr/>
          <p:nvPr/>
        </p:nvSpPr>
        <p:spPr>
          <a:xfrm rot="5400000">
            <a:off x="6288965" y="32747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03" name="Straight Connector 202">
            <a:extLst>
              <a:ext uri="{FF2B5EF4-FFF2-40B4-BE49-F238E27FC236}">
                <a16:creationId xmlns:a16="http://schemas.microsoft.com/office/drawing/2014/main" id="{6205DD86-315C-53B6-CEEF-A9919650168E}"/>
              </a:ext>
            </a:extLst>
          </p:cNvPr>
          <p:cNvCxnSpPr>
            <a:cxnSpLocks/>
            <a:stCxn id="200" idx="5"/>
            <a:endCxn id="201" idx="1"/>
          </p:cNvCxnSpPr>
          <p:nvPr/>
        </p:nvCxnSpPr>
        <p:spPr>
          <a:xfrm flipH="1">
            <a:off x="4979424" y="2677540"/>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4" name="Straight Connector 203">
            <a:extLst>
              <a:ext uri="{FF2B5EF4-FFF2-40B4-BE49-F238E27FC236}">
                <a16:creationId xmlns:a16="http://schemas.microsoft.com/office/drawing/2014/main" id="{6205DD86-315C-53B6-CEEF-A9919650168E}"/>
              </a:ext>
            </a:extLst>
          </p:cNvPr>
          <p:cNvCxnSpPr>
            <a:cxnSpLocks/>
            <a:stCxn id="200" idx="7"/>
            <a:endCxn id="202" idx="3"/>
          </p:cNvCxnSpPr>
          <p:nvPr/>
        </p:nvCxnSpPr>
        <p:spPr>
          <a:xfrm>
            <a:off x="5691797" y="2677540"/>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05" name="Straight Connector 204">
            <a:extLst>
              <a:ext uri="{FF2B5EF4-FFF2-40B4-BE49-F238E27FC236}">
                <a16:creationId xmlns:a16="http://schemas.microsoft.com/office/drawing/2014/main" id="{6205DD86-315C-53B6-CEEF-A9919650168E}"/>
              </a:ext>
            </a:extLst>
          </p:cNvPr>
          <p:cNvCxnSpPr>
            <a:cxnSpLocks/>
            <a:stCxn id="202" idx="4"/>
            <a:endCxn id="201" idx="0"/>
          </p:cNvCxnSpPr>
          <p:nvPr/>
        </p:nvCxnSpPr>
        <p:spPr>
          <a:xfrm flipH="1">
            <a:off x="5000512" y="3346708"/>
            <a:ext cx="1288453"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06" name="Oval 205">
            <a:extLst>
              <a:ext uri="{FF2B5EF4-FFF2-40B4-BE49-F238E27FC236}">
                <a16:creationId xmlns:a16="http://schemas.microsoft.com/office/drawing/2014/main" id="{BDD11F87-DA81-9510-C1CB-0AF4093562CB}"/>
              </a:ext>
            </a:extLst>
          </p:cNvPr>
          <p:cNvSpPr/>
          <p:nvPr/>
        </p:nvSpPr>
        <p:spPr>
          <a:xfrm rot="5400000">
            <a:off x="4848805" y="47148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7" name="Oval 206">
            <a:extLst>
              <a:ext uri="{FF2B5EF4-FFF2-40B4-BE49-F238E27FC236}">
                <a16:creationId xmlns:a16="http://schemas.microsoft.com/office/drawing/2014/main" id="{BDD11F87-DA81-9510-C1CB-0AF4093562CB}"/>
              </a:ext>
            </a:extLst>
          </p:cNvPr>
          <p:cNvSpPr/>
          <p:nvPr/>
        </p:nvSpPr>
        <p:spPr>
          <a:xfrm rot="5400000">
            <a:off x="6288965" y="47148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08" name="Straight Connector 207">
            <a:extLst>
              <a:ext uri="{FF2B5EF4-FFF2-40B4-BE49-F238E27FC236}">
                <a16:creationId xmlns:a16="http://schemas.microsoft.com/office/drawing/2014/main" id="{6205DD86-315C-53B6-CEEF-A9919650168E}"/>
              </a:ext>
            </a:extLst>
          </p:cNvPr>
          <p:cNvCxnSpPr>
            <a:cxnSpLocks/>
            <a:stCxn id="201" idx="6"/>
            <a:endCxn id="206" idx="2"/>
          </p:cNvCxnSpPr>
          <p:nvPr/>
        </p:nvCxnSpPr>
        <p:spPr>
          <a:xfrm flipH="1">
            <a:off x="4920805" y="3418708"/>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9" name="Straight Connector 208">
            <a:extLst>
              <a:ext uri="{FF2B5EF4-FFF2-40B4-BE49-F238E27FC236}">
                <a16:creationId xmlns:a16="http://schemas.microsoft.com/office/drawing/2014/main" id="{6205DD86-315C-53B6-CEEF-A9919650168E}"/>
              </a:ext>
            </a:extLst>
          </p:cNvPr>
          <p:cNvCxnSpPr>
            <a:cxnSpLocks/>
            <a:stCxn id="202" idx="6"/>
            <a:endCxn id="207" idx="2"/>
          </p:cNvCxnSpPr>
          <p:nvPr/>
        </p:nvCxnSpPr>
        <p:spPr>
          <a:xfrm>
            <a:off x="6360965" y="3418708"/>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10" name="Straight Connector 209">
            <a:extLst>
              <a:ext uri="{FF2B5EF4-FFF2-40B4-BE49-F238E27FC236}">
                <a16:creationId xmlns:a16="http://schemas.microsoft.com/office/drawing/2014/main" id="{6205DD86-315C-53B6-CEEF-A9919650168E}"/>
              </a:ext>
            </a:extLst>
          </p:cNvPr>
          <p:cNvCxnSpPr>
            <a:cxnSpLocks/>
            <a:stCxn id="207" idx="4"/>
            <a:endCxn id="206" idx="0"/>
          </p:cNvCxnSpPr>
          <p:nvPr/>
        </p:nvCxnSpPr>
        <p:spPr>
          <a:xfrm flipH="1">
            <a:off x="4992805" y="4786868"/>
            <a:ext cx="1296160"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11" name="Straight Connector 210">
            <a:extLst>
              <a:ext uri="{FF2B5EF4-FFF2-40B4-BE49-F238E27FC236}">
                <a16:creationId xmlns:a16="http://schemas.microsoft.com/office/drawing/2014/main" id="{6205DD86-315C-53B6-CEEF-A9919650168E}"/>
              </a:ext>
            </a:extLst>
          </p:cNvPr>
          <p:cNvCxnSpPr>
            <a:cxnSpLocks/>
            <a:stCxn id="207" idx="3"/>
            <a:endCxn id="201" idx="7"/>
          </p:cNvCxnSpPr>
          <p:nvPr/>
        </p:nvCxnSpPr>
        <p:spPr>
          <a:xfrm flipH="1" flipV="1">
            <a:off x="4979424" y="3397620"/>
            <a:ext cx="1330629" cy="133833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12" name="TextBox 211"/>
          <p:cNvSpPr txBox="1"/>
          <p:nvPr/>
        </p:nvSpPr>
        <p:spPr>
          <a:xfrm>
            <a:off x="4963679" y="5025636"/>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13" name="TextBox 212"/>
          <p:cNvSpPr txBox="1"/>
          <p:nvPr/>
        </p:nvSpPr>
        <p:spPr>
          <a:xfrm>
            <a:off x="4948509" y="2561878"/>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14" name="TextBox 213"/>
          <p:cNvSpPr txBox="1"/>
          <p:nvPr/>
        </p:nvSpPr>
        <p:spPr>
          <a:xfrm>
            <a:off x="5500316" y="2862321"/>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15" name="TextBox 214"/>
          <p:cNvSpPr txBox="1"/>
          <p:nvPr/>
        </p:nvSpPr>
        <p:spPr>
          <a:xfrm>
            <a:off x="6382037" y="3800452"/>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16" name="TextBox 215"/>
          <p:cNvSpPr txBox="1"/>
          <p:nvPr/>
        </p:nvSpPr>
        <p:spPr>
          <a:xfrm>
            <a:off x="5978426" y="2588163"/>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217" name="TextBox 216"/>
          <p:cNvSpPr txBox="1"/>
          <p:nvPr/>
        </p:nvSpPr>
        <p:spPr>
          <a:xfrm>
            <a:off x="6021041" y="506469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218" name="TextBox 217"/>
          <p:cNvSpPr txBox="1"/>
          <p:nvPr/>
        </p:nvSpPr>
        <p:spPr>
          <a:xfrm>
            <a:off x="5490212" y="464247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19" name="TextBox 218"/>
          <p:cNvSpPr txBox="1"/>
          <p:nvPr/>
        </p:nvSpPr>
        <p:spPr>
          <a:xfrm>
            <a:off x="4938269" y="3692909"/>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220" name="Straight Connector 219">
            <a:extLst>
              <a:ext uri="{FF2B5EF4-FFF2-40B4-BE49-F238E27FC236}">
                <a16:creationId xmlns:a16="http://schemas.microsoft.com/office/drawing/2014/main" id="{6205DD86-315C-53B6-CEEF-A9919650168E}"/>
              </a:ext>
            </a:extLst>
          </p:cNvPr>
          <p:cNvCxnSpPr>
            <a:cxnSpLocks/>
            <a:stCxn id="221" idx="3"/>
            <a:endCxn id="206" idx="7"/>
          </p:cNvCxnSpPr>
          <p:nvPr/>
        </p:nvCxnSpPr>
        <p:spPr>
          <a:xfrm flipH="1" flipV="1">
            <a:off x="4971717" y="4837780"/>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21" name="Oval 220">
            <a:extLst>
              <a:ext uri="{FF2B5EF4-FFF2-40B4-BE49-F238E27FC236}">
                <a16:creationId xmlns:a16="http://schemas.microsoft.com/office/drawing/2014/main" id="{BDD11F87-DA81-9510-C1CB-0AF4093562CB}"/>
              </a:ext>
            </a:extLst>
          </p:cNvPr>
          <p:cNvSpPr/>
          <p:nvPr/>
        </p:nvSpPr>
        <p:spPr>
          <a:xfrm rot="5400000">
            <a:off x="5564866" y="54439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22" name="Straight Connector 221">
            <a:extLst>
              <a:ext uri="{FF2B5EF4-FFF2-40B4-BE49-F238E27FC236}">
                <a16:creationId xmlns:a16="http://schemas.microsoft.com/office/drawing/2014/main" id="{6205DD86-315C-53B6-CEEF-A9919650168E}"/>
              </a:ext>
            </a:extLst>
          </p:cNvPr>
          <p:cNvCxnSpPr>
            <a:cxnSpLocks/>
            <a:stCxn id="221" idx="1"/>
            <a:endCxn id="207" idx="5"/>
          </p:cNvCxnSpPr>
          <p:nvPr/>
        </p:nvCxnSpPr>
        <p:spPr>
          <a:xfrm flipV="1">
            <a:off x="5687778" y="4837780"/>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23" name="TextBox 222"/>
          <p:cNvSpPr txBox="1"/>
          <p:nvPr/>
        </p:nvSpPr>
        <p:spPr>
          <a:xfrm>
            <a:off x="5521282" y="3549234"/>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224" name="Oval 223">
            <a:extLst>
              <a:ext uri="{FF2B5EF4-FFF2-40B4-BE49-F238E27FC236}">
                <a16:creationId xmlns:a16="http://schemas.microsoft.com/office/drawing/2014/main" id="{BDD11F87-DA81-9510-C1CB-0AF4093562CB}"/>
              </a:ext>
            </a:extLst>
          </p:cNvPr>
          <p:cNvSpPr/>
          <p:nvPr/>
        </p:nvSpPr>
        <p:spPr>
          <a:xfrm rot="5400000">
            <a:off x="9696740" y="25834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5" name="Oval 224">
            <a:extLst>
              <a:ext uri="{FF2B5EF4-FFF2-40B4-BE49-F238E27FC236}">
                <a16:creationId xmlns:a16="http://schemas.microsoft.com/office/drawing/2014/main" id="{BDD11F87-DA81-9510-C1CB-0AF4093562CB}"/>
              </a:ext>
            </a:extLst>
          </p:cNvPr>
          <p:cNvSpPr/>
          <p:nvPr/>
        </p:nvSpPr>
        <p:spPr>
          <a:xfrm rot="5400000">
            <a:off x="8984367" y="33034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26" name="Oval 225">
            <a:extLst>
              <a:ext uri="{FF2B5EF4-FFF2-40B4-BE49-F238E27FC236}">
                <a16:creationId xmlns:a16="http://schemas.microsoft.com/office/drawing/2014/main" id="{BDD11F87-DA81-9510-C1CB-0AF4093562CB}"/>
              </a:ext>
            </a:extLst>
          </p:cNvPr>
          <p:cNvSpPr/>
          <p:nvPr/>
        </p:nvSpPr>
        <p:spPr>
          <a:xfrm rot="5400000">
            <a:off x="10416820" y="33034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27" name="Straight Connector 226">
            <a:extLst>
              <a:ext uri="{FF2B5EF4-FFF2-40B4-BE49-F238E27FC236}">
                <a16:creationId xmlns:a16="http://schemas.microsoft.com/office/drawing/2014/main" id="{6205DD86-315C-53B6-CEEF-A9919650168E}"/>
              </a:ext>
            </a:extLst>
          </p:cNvPr>
          <p:cNvCxnSpPr>
            <a:cxnSpLocks/>
            <a:stCxn id="224" idx="5"/>
            <a:endCxn id="225" idx="1"/>
          </p:cNvCxnSpPr>
          <p:nvPr/>
        </p:nvCxnSpPr>
        <p:spPr>
          <a:xfrm flipH="1">
            <a:off x="9107279" y="2706331"/>
            <a:ext cx="610549" cy="6182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28" name="Straight Connector 227">
            <a:extLst>
              <a:ext uri="{FF2B5EF4-FFF2-40B4-BE49-F238E27FC236}">
                <a16:creationId xmlns:a16="http://schemas.microsoft.com/office/drawing/2014/main" id="{6205DD86-315C-53B6-CEEF-A9919650168E}"/>
              </a:ext>
            </a:extLst>
          </p:cNvPr>
          <p:cNvCxnSpPr>
            <a:cxnSpLocks/>
            <a:stCxn id="224" idx="7"/>
            <a:endCxn id="226" idx="3"/>
          </p:cNvCxnSpPr>
          <p:nvPr/>
        </p:nvCxnSpPr>
        <p:spPr>
          <a:xfrm>
            <a:off x="9819652" y="2706331"/>
            <a:ext cx="618256"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29" name="Straight Connector 228">
            <a:extLst>
              <a:ext uri="{FF2B5EF4-FFF2-40B4-BE49-F238E27FC236}">
                <a16:creationId xmlns:a16="http://schemas.microsoft.com/office/drawing/2014/main" id="{6205DD86-315C-53B6-CEEF-A9919650168E}"/>
              </a:ext>
            </a:extLst>
          </p:cNvPr>
          <p:cNvCxnSpPr>
            <a:cxnSpLocks/>
            <a:stCxn id="226" idx="4"/>
            <a:endCxn id="225" idx="0"/>
          </p:cNvCxnSpPr>
          <p:nvPr/>
        </p:nvCxnSpPr>
        <p:spPr>
          <a:xfrm flipH="1">
            <a:off x="9128367" y="3375499"/>
            <a:ext cx="1288453"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30" name="Oval 229">
            <a:extLst>
              <a:ext uri="{FF2B5EF4-FFF2-40B4-BE49-F238E27FC236}">
                <a16:creationId xmlns:a16="http://schemas.microsoft.com/office/drawing/2014/main" id="{BDD11F87-DA81-9510-C1CB-0AF4093562CB}"/>
              </a:ext>
            </a:extLst>
          </p:cNvPr>
          <p:cNvSpPr/>
          <p:nvPr/>
        </p:nvSpPr>
        <p:spPr>
          <a:xfrm rot="5400000">
            <a:off x="8976660" y="47436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31" name="Oval 230">
            <a:extLst>
              <a:ext uri="{FF2B5EF4-FFF2-40B4-BE49-F238E27FC236}">
                <a16:creationId xmlns:a16="http://schemas.microsoft.com/office/drawing/2014/main" id="{BDD11F87-DA81-9510-C1CB-0AF4093562CB}"/>
              </a:ext>
            </a:extLst>
          </p:cNvPr>
          <p:cNvSpPr/>
          <p:nvPr/>
        </p:nvSpPr>
        <p:spPr>
          <a:xfrm rot="5400000">
            <a:off x="10416820" y="47436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32" name="Straight Connector 231">
            <a:extLst>
              <a:ext uri="{FF2B5EF4-FFF2-40B4-BE49-F238E27FC236}">
                <a16:creationId xmlns:a16="http://schemas.microsoft.com/office/drawing/2014/main" id="{6205DD86-315C-53B6-CEEF-A9919650168E}"/>
              </a:ext>
            </a:extLst>
          </p:cNvPr>
          <p:cNvCxnSpPr>
            <a:cxnSpLocks/>
            <a:stCxn id="225" idx="6"/>
            <a:endCxn id="230" idx="2"/>
          </p:cNvCxnSpPr>
          <p:nvPr/>
        </p:nvCxnSpPr>
        <p:spPr>
          <a:xfrm flipH="1">
            <a:off x="9048660" y="3447499"/>
            <a:ext cx="7707"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33" name="Straight Connector 232">
            <a:extLst>
              <a:ext uri="{FF2B5EF4-FFF2-40B4-BE49-F238E27FC236}">
                <a16:creationId xmlns:a16="http://schemas.microsoft.com/office/drawing/2014/main" id="{6205DD86-315C-53B6-CEEF-A9919650168E}"/>
              </a:ext>
            </a:extLst>
          </p:cNvPr>
          <p:cNvCxnSpPr>
            <a:cxnSpLocks/>
            <a:stCxn id="226" idx="6"/>
            <a:endCxn id="231" idx="2"/>
          </p:cNvCxnSpPr>
          <p:nvPr/>
        </p:nvCxnSpPr>
        <p:spPr>
          <a:xfrm>
            <a:off x="10488820" y="3447499"/>
            <a:ext cx="0" cy="12961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34" name="Straight Connector 233">
            <a:extLst>
              <a:ext uri="{FF2B5EF4-FFF2-40B4-BE49-F238E27FC236}">
                <a16:creationId xmlns:a16="http://schemas.microsoft.com/office/drawing/2014/main" id="{6205DD86-315C-53B6-CEEF-A9919650168E}"/>
              </a:ext>
            </a:extLst>
          </p:cNvPr>
          <p:cNvCxnSpPr>
            <a:cxnSpLocks/>
            <a:stCxn id="231" idx="4"/>
            <a:endCxn id="230" idx="0"/>
          </p:cNvCxnSpPr>
          <p:nvPr/>
        </p:nvCxnSpPr>
        <p:spPr>
          <a:xfrm flipH="1">
            <a:off x="9120660" y="4815659"/>
            <a:ext cx="1296160"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35" name="Straight Connector 234">
            <a:extLst>
              <a:ext uri="{FF2B5EF4-FFF2-40B4-BE49-F238E27FC236}">
                <a16:creationId xmlns:a16="http://schemas.microsoft.com/office/drawing/2014/main" id="{6205DD86-315C-53B6-CEEF-A9919650168E}"/>
              </a:ext>
            </a:extLst>
          </p:cNvPr>
          <p:cNvCxnSpPr>
            <a:cxnSpLocks/>
            <a:stCxn id="231" idx="3"/>
            <a:endCxn id="225" idx="7"/>
          </p:cNvCxnSpPr>
          <p:nvPr/>
        </p:nvCxnSpPr>
        <p:spPr>
          <a:xfrm flipH="1" flipV="1">
            <a:off x="9107279" y="3426411"/>
            <a:ext cx="1330629" cy="133833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36" name="TextBox 235"/>
          <p:cNvSpPr txBox="1"/>
          <p:nvPr/>
        </p:nvSpPr>
        <p:spPr>
          <a:xfrm>
            <a:off x="9250752" y="5197729"/>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37" name="TextBox 236"/>
          <p:cNvSpPr txBox="1"/>
          <p:nvPr/>
        </p:nvSpPr>
        <p:spPr>
          <a:xfrm>
            <a:off x="9076364" y="2590669"/>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38" name="TextBox 237"/>
          <p:cNvSpPr txBox="1"/>
          <p:nvPr/>
        </p:nvSpPr>
        <p:spPr>
          <a:xfrm>
            <a:off x="9628171" y="2891112"/>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39" name="TextBox 238"/>
          <p:cNvSpPr txBox="1"/>
          <p:nvPr/>
        </p:nvSpPr>
        <p:spPr>
          <a:xfrm>
            <a:off x="10509892" y="3829243"/>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40" name="TextBox 239"/>
          <p:cNvSpPr txBox="1"/>
          <p:nvPr/>
        </p:nvSpPr>
        <p:spPr>
          <a:xfrm>
            <a:off x="10106281" y="2616954"/>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241" name="TextBox 240"/>
          <p:cNvSpPr txBox="1"/>
          <p:nvPr/>
        </p:nvSpPr>
        <p:spPr>
          <a:xfrm>
            <a:off x="9963154" y="5224664"/>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242" name="TextBox 241"/>
          <p:cNvSpPr txBox="1"/>
          <p:nvPr/>
        </p:nvSpPr>
        <p:spPr>
          <a:xfrm>
            <a:off x="9618067" y="4671268"/>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43" name="TextBox 242"/>
          <p:cNvSpPr txBox="1"/>
          <p:nvPr/>
        </p:nvSpPr>
        <p:spPr>
          <a:xfrm>
            <a:off x="9068467" y="3822655"/>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cxnSp>
        <p:nvCxnSpPr>
          <p:cNvPr id="244" name="Straight Connector 243">
            <a:extLst>
              <a:ext uri="{FF2B5EF4-FFF2-40B4-BE49-F238E27FC236}">
                <a16:creationId xmlns:a16="http://schemas.microsoft.com/office/drawing/2014/main" id="{6205DD86-315C-53B6-CEEF-A9919650168E}"/>
              </a:ext>
            </a:extLst>
          </p:cNvPr>
          <p:cNvCxnSpPr>
            <a:cxnSpLocks/>
            <a:stCxn id="245" idx="3"/>
            <a:endCxn id="230" idx="7"/>
          </p:cNvCxnSpPr>
          <p:nvPr/>
        </p:nvCxnSpPr>
        <p:spPr>
          <a:xfrm flipH="1" flipV="1">
            <a:off x="9099572" y="4866571"/>
            <a:ext cx="614237" cy="627225"/>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45" name="Oval 244">
            <a:extLst>
              <a:ext uri="{FF2B5EF4-FFF2-40B4-BE49-F238E27FC236}">
                <a16:creationId xmlns:a16="http://schemas.microsoft.com/office/drawing/2014/main" id="{BDD11F87-DA81-9510-C1CB-0AF4093562CB}"/>
              </a:ext>
            </a:extLst>
          </p:cNvPr>
          <p:cNvSpPr/>
          <p:nvPr/>
        </p:nvSpPr>
        <p:spPr>
          <a:xfrm rot="5400000">
            <a:off x="9692721" y="547270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46" name="Straight Connector 245">
            <a:extLst>
              <a:ext uri="{FF2B5EF4-FFF2-40B4-BE49-F238E27FC236}">
                <a16:creationId xmlns:a16="http://schemas.microsoft.com/office/drawing/2014/main" id="{6205DD86-315C-53B6-CEEF-A9919650168E}"/>
              </a:ext>
            </a:extLst>
          </p:cNvPr>
          <p:cNvCxnSpPr>
            <a:cxnSpLocks/>
            <a:stCxn id="245" idx="1"/>
            <a:endCxn id="231" idx="5"/>
          </p:cNvCxnSpPr>
          <p:nvPr/>
        </p:nvCxnSpPr>
        <p:spPr>
          <a:xfrm flipV="1">
            <a:off x="9815633" y="4866571"/>
            <a:ext cx="622275" cy="6272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47" name="TextBox 246"/>
          <p:cNvSpPr txBox="1"/>
          <p:nvPr/>
        </p:nvSpPr>
        <p:spPr>
          <a:xfrm>
            <a:off x="9649137" y="3578025"/>
            <a:ext cx="26642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i</a:t>
            </a:r>
          </a:p>
        </p:txBody>
      </p:sp>
      <p:sp>
        <p:nvSpPr>
          <p:cNvPr id="248" name="Arc 247"/>
          <p:cNvSpPr/>
          <p:nvPr/>
        </p:nvSpPr>
        <p:spPr>
          <a:xfrm rot="4444161">
            <a:off x="1176746" y="1192441"/>
            <a:ext cx="851331" cy="2563985"/>
          </a:xfrm>
          <a:prstGeom prst="arc">
            <a:avLst>
              <a:gd name="adj1" fmla="val 18295239"/>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9" name="Arc 248"/>
          <p:cNvSpPr/>
          <p:nvPr/>
        </p:nvSpPr>
        <p:spPr>
          <a:xfrm rot="7560593">
            <a:off x="3179437" y="1626744"/>
            <a:ext cx="1851760" cy="2262430"/>
          </a:xfrm>
          <a:prstGeom prst="arc">
            <a:avLst>
              <a:gd name="adj1" fmla="val 18098409"/>
              <a:gd name="adj2" fmla="val 3421167"/>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0" name="Arc 249"/>
          <p:cNvSpPr/>
          <p:nvPr/>
        </p:nvSpPr>
        <p:spPr>
          <a:xfrm rot="6480599">
            <a:off x="4761559" y="2550696"/>
            <a:ext cx="1851760" cy="2262430"/>
          </a:xfrm>
          <a:prstGeom prst="arc">
            <a:avLst>
              <a:gd name="adj1" fmla="val 15962789"/>
              <a:gd name="adj2" fmla="val 2954134"/>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1" name="Arc 250"/>
          <p:cNvSpPr/>
          <p:nvPr/>
        </p:nvSpPr>
        <p:spPr>
          <a:xfrm rot="8485988">
            <a:off x="7132998" y="1963521"/>
            <a:ext cx="1269414" cy="3770452"/>
          </a:xfrm>
          <a:prstGeom prst="arc">
            <a:avLst>
              <a:gd name="adj1" fmla="val 17180749"/>
              <a:gd name="adj2" fmla="val 3409820"/>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2" name="Arc 251"/>
          <p:cNvSpPr/>
          <p:nvPr/>
        </p:nvSpPr>
        <p:spPr>
          <a:xfrm rot="15972919">
            <a:off x="9146650" y="4407548"/>
            <a:ext cx="851331" cy="2563985"/>
          </a:xfrm>
          <a:prstGeom prst="arc">
            <a:avLst>
              <a:gd name="adj1" fmla="val 18295239"/>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Rectangle 1"/>
              <p:cNvSpPr/>
              <p:nvPr/>
            </p:nvSpPr>
            <p:spPr>
              <a:xfrm>
                <a:off x="1007930" y="5647195"/>
                <a:ext cx="1118832"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e</m:t>
                        </m:r>
                        <m:r>
                          <a:rPr lang="en-US" sz="2800" b="0" i="0" dirty="0" smtClean="0">
                            <a:solidFill>
                              <a:srgbClr val="FF0000"/>
                            </a:solidFill>
                            <a:latin typeface="Cambria Math" panose="02040503050406030204" pitchFamily="18" charset="0"/>
                          </a:rPr>
                          <m:t>, </m:t>
                        </m:r>
                        <m:r>
                          <m:rPr>
                            <m:sty m:val="p"/>
                          </m:rPr>
                          <a:rPr lang="en-US" sz="2800" dirty="0" err="1">
                            <a:solidFill>
                              <a:srgbClr val="FF0000"/>
                            </a:solidFill>
                            <a:latin typeface="Cambria Math" panose="02040503050406030204" pitchFamily="18" charset="0"/>
                          </a:rPr>
                          <m:t>f</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2" name="Rectangle 1"/>
              <p:cNvSpPr>
                <a:spLocks noRot="1" noChangeAspect="1" noMove="1" noResize="1" noEditPoints="1" noAdjustHandles="1" noChangeArrowheads="1" noChangeShapeType="1" noTextEdit="1"/>
              </p:cNvSpPr>
              <p:nvPr/>
            </p:nvSpPr>
            <p:spPr>
              <a:xfrm>
                <a:off x="1007930" y="5647195"/>
                <a:ext cx="1118832"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3" name="Rectangle 252"/>
              <p:cNvSpPr/>
              <p:nvPr/>
            </p:nvSpPr>
            <p:spPr>
              <a:xfrm>
                <a:off x="2884489" y="5642191"/>
                <a:ext cx="1540935"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e</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h</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d</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253" name="Rectangle 252"/>
              <p:cNvSpPr>
                <a:spLocks noRot="1" noChangeAspect="1" noMove="1" noResize="1" noEditPoints="1" noAdjustHandles="1" noChangeArrowheads="1" noChangeShapeType="1" noTextEdit="1"/>
              </p:cNvSpPr>
              <p:nvPr/>
            </p:nvSpPr>
            <p:spPr>
              <a:xfrm>
                <a:off x="2884489" y="5642191"/>
                <a:ext cx="1540935"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4" name="Rectangle 253"/>
              <p:cNvSpPr/>
              <p:nvPr/>
            </p:nvSpPr>
            <p:spPr>
              <a:xfrm>
                <a:off x="5017909" y="5651079"/>
                <a:ext cx="1425518"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c</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i</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d</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254" name="Rectangle 253"/>
              <p:cNvSpPr>
                <a:spLocks noRot="1" noChangeAspect="1" noMove="1" noResize="1" noEditPoints="1" noAdjustHandles="1" noChangeArrowheads="1" noChangeShapeType="1" noTextEdit="1"/>
              </p:cNvSpPr>
              <p:nvPr/>
            </p:nvSpPr>
            <p:spPr>
              <a:xfrm>
                <a:off x="5017909" y="5651079"/>
                <a:ext cx="1425518" cy="523220"/>
              </a:xfrm>
              <a:prstGeom prst="rect">
                <a:avLst/>
              </a:prstGeom>
              <a:blipFill rotWithShape="0">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5" name="Rectangle 254"/>
              <p:cNvSpPr/>
              <p:nvPr/>
            </p:nvSpPr>
            <p:spPr>
              <a:xfrm>
                <a:off x="6954013" y="5621874"/>
                <a:ext cx="1502463"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c</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g</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b</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255" name="Rectangle 254"/>
              <p:cNvSpPr>
                <a:spLocks noRot="1" noChangeAspect="1" noMove="1" noResize="1" noEditPoints="1" noAdjustHandles="1" noChangeArrowheads="1" noChangeShapeType="1" noTextEdit="1"/>
              </p:cNvSpPr>
              <p:nvPr/>
            </p:nvSpPr>
            <p:spPr>
              <a:xfrm>
                <a:off x="6954013" y="5621874"/>
                <a:ext cx="1502463" cy="523220"/>
              </a:xfrm>
              <a:prstGeom prst="rect">
                <a:avLst/>
              </a:prstGeom>
              <a:blipFill rotWithShape="0">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6" name="Rectangle 255"/>
              <p:cNvSpPr/>
              <p:nvPr/>
            </p:nvSpPr>
            <p:spPr>
              <a:xfrm>
                <a:off x="9174290" y="5646729"/>
                <a:ext cx="1206997" cy="523220"/>
              </a:xfrm>
              <a:prstGeom prst="rect">
                <a:avLst/>
              </a:prstGeom>
            </p:spPr>
            <p:txBody>
              <a:bodyPr wrap="none">
                <a:spAutoFit/>
              </a:bodyPr>
              <a:lstStyle/>
              <a:p>
                <a14:m>
                  <m:oMath xmlns:m="http://schemas.openxmlformats.org/officeDocument/2006/math">
                    <m:d>
                      <m:dPr>
                        <m:begChr m:val="{"/>
                        <m:endChr m:val="}"/>
                        <m:ctrlPr>
                          <a:rPr lang="en-US" sz="2800" b="0" i="1" dirty="0" smtClean="0">
                            <a:solidFill>
                              <a:srgbClr val="FF0000"/>
                            </a:solidFill>
                            <a:latin typeface="Cambria Math" panose="02040503050406030204" pitchFamily="18" charset="0"/>
                          </a:rPr>
                        </m:ctrlPr>
                      </m:dPr>
                      <m:e>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a</m:t>
                        </m:r>
                        <m:r>
                          <a:rPr lang="en-US" sz="2800" b="0" i="0" dirty="0" smtClean="0">
                            <a:solidFill>
                              <a:srgbClr val="FF0000"/>
                            </a:solidFill>
                            <a:latin typeface="Cambria Math" panose="02040503050406030204" pitchFamily="18" charset="0"/>
                          </a:rPr>
                          <m:t>, </m:t>
                        </m:r>
                        <m:r>
                          <m:rPr>
                            <m:sty m:val="p"/>
                          </m:rPr>
                          <a:rPr lang="en-US" sz="2800" b="0" i="0" dirty="0" smtClean="0">
                            <a:solidFill>
                              <a:srgbClr val="FF0000"/>
                            </a:solidFill>
                            <a:latin typeface="Cambria Math" panose="02040503050406030204" pitchFamily="18" charset="0"/>
                          </a:rPr>
                          <m:t>b</m:t>
                        </m:r>
                        <m:r>
                          <a:rPr lang="en-US" sz="2800" b="0" i="0" dirty="0" smtClean="0">
                            <a:solidFill>
                              <a:srgbClr val="FF0000"/>
                            </a:solidFill>
                            <a:latin typeface="Cambria Math" panose="02040503050406030204" pitchFamily="18" charset="0"/>
                          </a:rPr>
                          <m:t> </m:t>
                        </m:r>
                      </m:e>
                    </m:d>
                  </m:oMath>
                </a14:m>
                <a:r>
                  <a:rPr lang="en-US" sz="2800" dirty="0">
                    <a:solidFill>
                      <a:srgbClr val="FF0000"/>
                    </a:solidFill>
                  </a:rPr>
                  <a:t> </a:t>
                </a:r>
              </a:p>
            </p:txBody>
          </p:sp>
        </mc:Choice>
        <mc:Fallback xmlns="">
          <p:sp>
            <p:nvSpPr>
              <p:cNvPr id="256" name="Rectangle 255"/>
              <p:cNvSpPr>
                <a:spLocks noRot="1" noChangeAspect="1" noMove="1" noResize="1" noEditPoints="1" noAdjustHandles="1" noChangeArrowheads="1" noChangeShapeType="1" noTextEdit="1"/>
              </p:cNvSpPr>
              <p:nvPr/>
            </p:nvSpPr>
            <p:spPr>
              <a:xfrm>
                <a:off x="9174290" y="5646729"/>
                <a:ext cx="1206997" cy="523220"/>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27662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48"/>
                                        </p:tgtEl>
                                        <p:attrNameLst>
                                          <p:attrName>style.visibility</p:attrName>
                                        </p:attrNameLst>
                                      </p:cBhvr>
                                      <p:to>
                                        <p:strVal val="visible"/>
                                      </p:to>
                                    </p:set>
                                    <p:animEffect transition="in" filter="wipe(up)">
                                      <p:cBhvr>
                                        <p:cTn id="7" dur="500"/>
                                        <p:tgtEl>
                                          <p:spTgt spid="24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49"/>
                                        </p:tgtEl>
                                        <p:attrNameLst>
                                          <p:attrName>style.visibility</p:attrName>
                                        </p:attrNameLst>
                                      </p:cBhvr>
                                      <p:to>
                                        <p:strVal val="visible"/>
                                      </p:to>
                                    </p:set>
                                    <p:animEffect transition="in" filter="wipe(up)">
                                      <p:cBhvr>
                                        <p:cTn id="16" dur="500"/>
                                        <p:tgtEl>
                                          <p:spTgt spid="249"/>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50"/>
                                        </p:tgtEl>
                                        <p:attrNameLst>
                                          <p:attrName>style.visibility</p:attrName>
                                        </p:attrNameLst>
                                      </p:cBhvr>
                                      <p:to>
                                        <p:strVal val="visible"/>
                                      </p:to>
                                    </p:set>
                                    <p:animEffect transition="in" filter="wipe(up)">
                                      <p:cBhvr>
                                        <p:cTn id="25" dur="500"/>
                                        <p:tgtEl>
                                          <p:spTgt spid="250"/>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54"/>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51"/>
                                        </p:tgtEl>
                                        <p:attrNameLst>
                                          <p:attrName>style.visibility</p:attrName>
                                        </p:attrNameLst>
                                      </p:cBhvr>
                                      <p:to>
                                        <p:strVal val="visible"/>
                                      </p:to>
                                    </p:set>
                                    <p:animEffect transition="in" filter="wipe(up)">
                                      <p:cBhvr>
                                        <p:cTn id="34" dur="500"/>
                                        <p:tgtEl>
                                          <p:spTgt spid="251"/>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252"/>
                                        </p:tgtEl>
                                        <p:attrNameLst>
                                          <p:attrName>style.visibility</p:attrName>
                                        </p:attrNameLst>
                                      </p:cBhvr>
                                      <p:to>
                                        <p:strVal val="visible"/>
                                      </p:to>
                                    </p:set>
                                    <p:animEffect transition="in" filter="wipe(up)">
                                      <p:cBhvr>
                                        <p:cTn id="43" dur="500"/>
                                        <p:tgtEl>
                                          <p:spTgt spid="252"/>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 grpId="0" animBg="1"/>
      <p:bldP spid="249" grpId="0" animBg="1"/>
      <p:bldP spid="250" grpId="0" animBg="1"/>
      <p:bldP spid="251" grpId="0" animBg="1"/>
      <p:bldP spid="252" grpId="0" animBg="1"/>
      <p:bldP spid="2" grpId="0"/>
      <p:bldP spid="253" grpId="0"/>
      <p:bldP spid="254" grpId="0"/>
      <p:bldP spid="255" grpId="0"/>
      <p:bldP spid="25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a:uFill>
                  <a:solidFill>
                    <a:schemeClr val="bg1"/>
                  </a:solidFill>
                </a:uFill>
              </a:rPr>
              <a:t>Method – 3</a:t>
            </a:r>
            <a:br>
              <a:rPr lang="en-US" dirty="0">
                <a:hlinkClick r:id="" action="ppaction://noaction">
                  <a:extLst>
                    <a:ext uri="{A12FA001-AC4F-418D-AE19-62706E023703}">
                      <ahyp:hlinkClr xmlns:ahyp="http://schemas.microsoft.com/office/drawing/2018/hyperlinkcolor" val="tx"/>
                    </a:ext>
                  </a:extLst>
                </a:hlinkClick>
              </a:rPr>
            </a:br>
            <a:r>
              <a:rPr lang="en-US" dirty="0"/>
              <a:t>Relationship between Fundamental Cut-Set and Fundamental Circuit</a:t>
            </a:r>
          </a:p>
        </p:txBody>
      </p:sp>
    </p:spTree>
    <p:extLst>
      <p:ext uri="{BB962C8B-B14F-4D97-AF65-F5344CB8AC3E}">
        <p14:creationId xmlns:p14="http://schemas.microsoft.com/office/powerpoint/2010/main" val="145459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Relationship: Fundamental Circuits </a:t>
            </a:r>
            <a:r>
              <a:rPr lang="en-US" dirty="0" err="1"/>
              <a:t>vs</a:t>
            </a:r>
            <a:r>
              <a:rPr lang="en-US" dirty="0"/>
              <a:t> Cut-Sets</a:t>
            </a:r>
          </a:p>
        </p:txBody>
      </p:sp>
      <p:sp>
        <p:nvSpPr>
          <p:cNvPr id="4" name="Content Placeholder 3"/>
          <p:cNvSpPr>
            <a:spLocks noGrp="1"/>
          </p:cNvSpPr>
          <p:nvPr>
            <p:ph idx="1"/>
          </p:nvPr>
        </p:nvSpPr>
        <p:spPr>
          <a:xfrm>
            <a:off x="131180" y="863445"/>
            <a:ext cx="11929641" cy="1905513"/>
          </a:xfrm>
        </p:spPr>
        <p:txBody>
          <a:bodyPr/>
          <a:lstStyle/>
          <a:p>
            <a:pPr lvl="0"/>
            <a:r>
              <a:rPr lang="en-US" dirty="0"/>
              <a:t>As we know, </a:t>
            </a:r>
            <a:r>
              <a:rPr lang="en-US" b="1" dirty="0"/>
              <a:t>fundamental circuits</a:t>
            </a:r>
            <a:r>
              <a:rPr lang="en-US" dirty="0"/>
              <a:t> and </a:t>
            </a:r>
            <a:r>
              <a:rPr lang="en-US" b="1" dirty="0"/>
              <a:t>fundamental cut-sets</a:t>
            </a:r>
            <a:r>
              <a:rPr lang="en-US" dirty="0"/>
              <a:t> are key concepts derived from a </a:t>
            </a:r>
            <a:r>
              <a:rPr lang="en-US" b="1" dirty="0"/>
              <a:t>spanning tree</a:t>
            </a:r>
            <a:r>
              <a:rPr lang="en-US" dirty="0"/>
              <a:t> of a connected graph. </a:t>
            </a:r>
          </a:p>
          <a:p>
            <a:pPr lvl="0"/>
            <a:r>
              <a:rPr lang="en-US" b="1" dirty="0"/>
              <a:t>The relationship</a:t>
            </a:r>
            <a:r>
              <a:rPr lang="en-US" dirty="0"/>
              <a:t> between them provides insight into how connectivity and cycles interact in a graph.</a:t>
            </a:r>
          </a:p>
        </p:txBody>
      </p:sp>
      <p:graphicFrame>
        <p:nvGraphicFramePr>
          <p:cNvPr id="5" name="Table 4"/>
          <p:cNvGraphicFramePr>
            <a:graphicFrameLocks noGrp="1"/>
          </p:cNvGraphicFramePr>
          <p:nvPr>
            <p:extLst>
              <p:ext uri="{D42A27DB-BD31-4B8C-83A1-F6EECF244321}">
                <p14:modId xmlns:p14="http://schemas.microsoft.com/office/powerpoint/2010/main" val="2539435101"/>
              </p:ext>
            </p:extLst>
          </p:nvPr>
        </p:nvGraphicFramePr>
        <p:xfrm>
          <a:off x="838200" y="3452654"/>
          <a:ext cx="10515600" cy="1097280"/>
        </p:xfrm>
        <a:graphic>
          <a:graphicData uri="http://schemas.openxmlformats.org/drawingml/2006/table">
            <a:tbl>
              <a:tblPr>
                <a:tableStyleId>{5940675A-B579-460E-94D1-54222C63F5DA}</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0">
                <a:tc>
                  <a:txBody>
                    <a:bodyPr/>
                    <a:lstStyle/>
                    <a:p>
                      <a:pPr algn="ctr"/>
                      <a:r>
                        <a:rPr lang="en-US" dirty="0"/>
                        <a:t>Concept</a:t>
                      </a:r>
                    </a:p>
                  </a:txBody>
                  <a:tcPr anchor="ctr">
                    <a:solidFill>
                      <a:schemeClr val="accent3">
                        <a:lumMod val="20000"/>
                        <a:lumOff val="80000"/>
                      </a:schemeClr>
                    </a:solidFill>
                  </a:tcPr>
                </a:tc>
                <a:tc>
                  <a:txBody>
                    <a:bodyPr/>
                    <a:lstStyle/>
                    <a:p>
                      <a:pPr algn="ctr"/>
                      <a:r>
                        <a:rPr lang="en-US" dirty="0"/>
                        <a:t>Based on</a:t>
                      </a:r>
                    </a:p>
                  </a:txBody>
                  <a:tcPr anchor="ctr">
                    <a:solidFill>
                      <a:schemeClr val="accent3">
                        <a:lumMod val="20000"/>
                        <a:lumOff val="80000"/>
                      </a:schemeClr>
                    </a:solidFill>
                  </a:tcPr>
                </a:tc>
                <a:tc>
                  <a:txBody>
                    <a:bodyPr/>
                    <a:lstStyle/>
                    <a:p>
                      <a:pPr algn="ctr"/>
                      <a:r>
                        <a:rPr lang="en-US" dirty="0"/>
                        <a:t>Result</a:t>
                      </a:r>
                    </a:p>
                  </a:txBody>
                  <a:tcPr anchor="ctr">
                    <a:solidFill>
                      <a:schemeClr val="accent3">
                        <a:lumMod val="20000"/>
                        <a:lumOff val="80000"/>
                      </a:schemeClr>
                    </a:solidFill>
                  </a:tcPr>
                </a:tc>
                <a:extLst>
                  <a:ext uri="{0D108BD9-81ED-4DB2-BD59-A6C34878D82A}">
                    <a16:rowId xmlns:a16="http://schemas.microsoft.com/office/drawing/2014/main" val="10000"/>
                  </a:ext>
                </a:extLst>
              </a:tr>
              <a:tr h="0">
                <a:tc>
                  <a:txBody>
                    <a:bodyPr/>
                    <a:lstStyle/>
                    <a:p>
                      <a:pPr algn="ctr"/>
                      <a:r>
                        <a:rPr lang="en-US" dirty="0"/>
                        <a:t>Fundamental Circuit</a:t>
                      </a:r>
                    </a:p>
                  </a:txBody>
                  <a:tcPr anchor="ctr">
                    <a:solidFill>
                      <a:schemeClr val="accent6">
                        <a:lumMod val="20000"/>
                        <a:lumOff val="80000"/>
                      </a:schemeClr>
                    </a:solidFill>
                  </a:tcPr>
                </a:tc>
                <a:tc>
                  <a:txBody>
                    <a:bodyPr/>
                    <a:lstStyle/>
                    <a:p>
                      <a:pPr algn="ctr"/>
                      <a:r>
                        <a:rPr lang="en-US"/>
                        <a:t>Add a chord to tree</a:t>
                      </a:r>
                    </a:p>
                  </a:txBody>
                  <a:tcPr anchor="ctr">
                    <a:solidFill>
                      <a:schemeClr val="accent6">
                        <a:lumMod val="20000"/>
                        <a:lumOff val="80000"/>
                      </a:schemeClr>
                    </a:solidFill>
                  </a:tcPr>
                </a:tc>
                <a:tc>
                  <a:txBody>
                    <a:bodyPr/>
                    <a:lstStyle/>
                    <a:p>
                      <a:pPr algn="ctr"/>
                      <a:r>
                        <a:rPr lang="en-US" dirty="0"/>
                        <a:t>Creates a cycle</a:t>
                      </a:r>
                    </a:p>
                  </a:txBody>
                  <a:tcPr anchor="ctr">
                    <a:solidFill>
                      <a:schemeClr val="accent6">
                        <a:lumMod val="20000"/>
                        <a:lumOff val="80000"/>
                      </a:schemeClr>
                    </a:solidFill>
                  </a:tcPr>
                </a:tc>
                <a:extLst>
                  <a:ext uri="{0D108BD9-81ED-4DB2-BD59-A6C34878D82A}">
                    <a16:rowId xmlns:a16="http://schemas.microsoft.com/office/drawing/2014/main" val="10001"/>
                  </a:ext>
                </a:extLst>
              </a:tr>
              <a:tr h="0">
                <a:tc>
                  <a:txBody>
                    <a:bodyPr/>
                    <a:lstStyle/>
                    <a:p>
                      <a:pPr algn="ctr"/>
                      <a:r>
                        <a:rPr lang="en-US" dirty="0"/>
                        <a:t>Fundamental Cut-Set</a:t>
                      </a:r>
                    </a:p>
                  </a:txBody>
                  <a:tcPr anchor="ctr">
                    <a:solidFill>
                      <a:schemeClr val="accent6">
                        <a:lumMod val="20000"/>
                        <a:lumOff val="80000"/>
                      </a:schemeClr>
                    </a:solidFill>
                  </a:tcPr>
                </a:tc>
                <a:tc>
                  <a:txBody>
                    <a:bodyPr/>
                    <a:lstStyle/>
                    <a:p>
                      <a:pPr algn="ctr"/>
                      <a:r>
                        <a:rPr lang="en-US" dirty="0"/>
                        <a:t>Remove a branch from tree</a:t>
                      </a:r>
                    </a:p>
                  </a:txBody>
                  <a:tcPr anchor="ctr">
                    <a:solidFill>
                      <a:schemeClr val="accent6">
                        <a:lumMod val="20000"/>
                        <a:lumOff val="80000"/>
                      </a:schemeClr>
                    </a:solidFill>
                  </a:tcPr>
                </a:tc>
                <a:tc>
                  <a:txBody>
                    <a:bodyPr/>
                    <a:lstStyle/>
                    <a:p>
                      <a:pPr algn="ctr"/>
                      <a:r>
                        <a:rPr lang="en-US" dirty="0"/>
                        <a:t>Creates a cut (disconnect)</a:t>
                      </a:r>
                    </a:p>
                  </a:txBody>
                  <a:tcPr anchor="ctr">
                    <a:solidFill>
                      <a:schemeClr val="accent6">
                        <a:lumMod val="20000"/>
                        <a:lumOff val="80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91571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34" name="Isosceles Triangle 33"/>
          <p:cNvSpPr/>
          <p:nvPr/>
        </p:nvSpPr>
        <p:spPr>
          <a:xfrm rot="5400000">
            <a:off x="10048541" y="3037325"/>
            <a:ext cx="2109074" cy="1480240"/>
          </a:xfrm>
          <a:prstGeom prst="triangle">
            <a:avLst>
              <a:gd name="adj" fmla="val 48403"/>
            </a:avLst>
          </a:prstGeom>
          <a:solidFill>
            <a:schemeClr val="accent6">
              <a:lumMod val="60000"/>
              <a:lumOff val="4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Relationship: Chord &amp; Fundamental Cut-Sets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5"/>
                <a:ext cx="11712018" cy="820951"/>
              </a:xfrm>
            </p:spPr>
            <p:txBody>
              <a:bodyPr/>
              <a:lstStyle/>
              <a:p>
                <a:pPr lvl="0"/>
                <a:r>
                  <a:rPr lang="en-US" b="1" dirty="0"/>
                  <a:t>A chord </a:t>
                </a:r>
                <a:r>
                  <a:rPr lang="en-US" dirty="0"/>
                  <a:t>that forms a fundamental circuit</a:t>
                </a:r>
                <a14:m>
                  <m:oMath xmlns:m="http://schemas.openxmlformats.org/officeDocument/2006/math">
                    <m:r>
                      <a:rPr lang="en-US" b="1" i="0" dirty="0" smtClean="0">
                        <a:latin typeface="Cambria Math" panose="02040503050406030204" pitchFamily="18" charset="0"/>
                      </a:rPr>
                      <m:t> </m:t>
                    </m:r>
                    <m:r>
                      <m:rPr>
                        <m:sty m:val="p"/>
                      </m:rPr>
                      <a:rPr lang="en-US" b="0" i="0" dirty="0" smtClean="0">
                        <a:latin typeface="Cambria Math" panose="02040503050406030204" pitchFamily="18" charset="0"/>
                      </a:rPr>
                      <m:t>C</m:t>
                    </m:r>
                  </m:oMath>
                </a14:m>
                <a:r>
                  <a:rPr lang="en-US" dirty="0"/>
                  <a:t>, </a:t>
                </a:r>
                <a:r>
                  <a:rPr lang="en-US" b="1" dirty="0"/>
                  <a:t>appears</a:t>
                </a:r>
                <a:r>
                  <a:rPr lang="en-US" dirty="0"/>
                  <a:t> in </a:t>
                </a:r>
                <a:r>
                  <a:rPr lang="en-US" dirty="0">
                    <a:solidFill>
                      <a:srgbClr val="C00000"/>
                    </a:solidFill>
                  </a:rPr>
                  <a:t>all fundamental cut-sets </a:t>
                </a:r>
                <a:r>
                  <a:rPr lang="en-US" dirty="0"/>
                  <a:t>corresponding to the branches of</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C</m:t>
                    </m:r>
                  </m:oMath>
                </a14:m>
                <a:r>
                  <a:rPr lang="en-US" dirty="0"/>
                  <a:t>, and in no other fundamental cut-sets.</a:t>
                </a:r>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5"/>
                <a:ext cx="11712018" cy="820951"/>
              </a:xfrm>
              <a:blipFill rotWithShape="0">
                <a:blip r:embed="rId2"/>
                <a:stretch>
                  <a:fillRect l="-989" t="-13433" r="-1041" b="-26119"/>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BDD11F87-DA81-9510-C1CB-0AF4093562CB}"/>
              </a:ext>
            </a:extLst>
          </p:cNvPr>
          <p:cNvSpPr/>
          <p:nvPr/>
        </p:nvSpPr>
        <p:spPr>
          <a:xfrm rot="5400000">
            <a:off x="6741947" y="26368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10318033" y="26368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 name="Straight Connector 6">
            <a:extLst>
              <a:ext uri="{FF2B5EF4-FFF2-40B4-BE49-F238E27FC236}">
                <a16:creationId xmlns:a16="http://schemas.microsoft.com/office/drawing/2014/main" id="{6205DD86-315C-53B6-CEEF-A9919650168E}"/>
              </a:ext>
            </a:extLst>
          </p:cNvPr>
          <p:cNvCxnSpPr>
            <a:cxnSpLocks/>
            <a:stCxn id="6" idx="4"/>
            <a:endCxn id="5" idx="0"/>
          </p:cNvCxnSpPr>
          <p:nvPr/>
        </p:nvCxnSpPr>
        <p:spPr>
          <a:xfrm flipH="1">
            <a:off x="6885947" y="2708836"/>
            <a:ext cx="343208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 name="Oval 7">
            <a:extLst>
              <a:ext uri="{FF2B5EF4-FFF2-40B4-BE49-F238E27FC236}">
                <a16:creationId xmlns:a16="http://schemas.microsoft.com/office/drawing/2014/main" id="{BDD11F87-DA81-9510-C1CB-0AF4093562CB}"/>
              </a:ext>
            </a:extLst>
          </p:cNvPr>
          <p:cNvSpPr/>
          <p:nvPr/>
        </p:nvSpPr>
        <p:spPr>
          <a:xfrm rot="5400000">
            <a:off x="10318033" y="479707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 name="Straight Connector 8">
            <a:extLst>
              <a:ext uri="{FF2B5EF4-FFF2-40B4-BE49-F238E27FC236}">
                <a16:creationId xmlns:a16="http://schemas.microsoft.com/office/drawing/2014/main" id="{6205DD86-315C-53B6-CEEF-A9919650168E}"/>
              </a:ext>
            </a:extLst>
          </p:cNvPr>
          <p:cNvCxnSpPr>
            <a:cxnSpLocks/>
            <a:stCxn id="5" idx="6"/>
            <a:endCxn id="16" idx="2"/>
          </p:cNvCxnSpPr>
          <p:nvPr/>
        </p:nvCxnSpPr>
        <p:spPr>
          <a:xfrm>
            <a:off x="6813947" y="2780836"/>
            <a:ext cx="0" cy="2030057"/>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6205DD86-315C-53B6-CEEF-A9919650168E}"/>
              </a:ext>
            </a:extLst>
          </p:cNvPr>
          <p:cNvCxnSpPr>
            <a:cxnSpLocks/>
            <a:stCxn id="6" idx="6"/>
            <a:endCxn id="8" idx="2"/>
          </p:cNvCxnSpPr>
          <p:nvPr/>
        </p:nvCxnSpPr>
        <p:spPr>
          <a:xfrm>
            <a:off x="10390033" y="2780836"/>
            <a:ext cx="0" cy="20162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6205DD86-315C-53B6-CEEF-A9919650168E}"/>
              </a:ext>
            </a:extLst>
          </p:cNvPr>
          <p:cNvCxnSpPr>
            <a:cxnSpLocks/>
            <a:stCxn id="8" idx="4"/>
            <a:endCxn id="16" idx="0"/>
          </p:cNvCxnSpPr>
          <p:nvPr/>
        </p:nvCxnSpPr>
        <p:spPr>
          <a:xfrm flipH="1">
            <a:off x="6885947" y="4869076"/>
            <a:ext cx="3432086" cy="138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 name="TextBox 11"/>
          <p:cNvSpPr txBox="1"/>
          <p:nvPr/>
        </p:nvSpPr>
        <p:spPr>
          <a:xfrm>
            <a:off x="5844497" y="2700237"/>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3" name="TextBox 12"/>
          <p:cNvSpPr txBox="1"/>
          <p:nvPr/>
        </p:nvSpPr>
        <p:spPr>
          <a:xfrm>
            <a:off x="8420690" y="4954893"/>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4" name="TextBox 13"/>
          <p:cNvSpPr txBox="1"/>
          <p:nvPr/>
        </p:nvSpPr>
        <p:spPr>
          <a:xfrm>
            <a:off x="5859732" y="4294944"/>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5" name="TextBox 14"/>
          <p:cNvSpPr txBox="1"/>
          <p:nvPr/>
        </p:nvSpPr>
        <p:spPr>
          <a:xfrm>
            <a:off x="6818809" y="3530457"/>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6" name="Oval 15">
            <a:extLst>
              <a:ext uri="{FF2B5EF4-FFF2-40B4-BE49-F238E27FC236}">
                <a16:creationId xmlns:a16="http://schemas.microsoft.com/office/drawing/2014/main" id="{BDD11F87-DA81-9510-C1CB-0AF4093562CB}"/>
              </a:ext>
            </a:extLst>
          </p:cNvPr>
          <p:cNvSpPr/>
          <p:nvPr/>
        </p:nvSpPr>
        <p:spPr>
          <a:xfrm rot="5400000">
            <a:off x="6741947" y="48108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7" name="Straight Connector 16">
            <a:extLst>
              <a:ext uri="{FF2B5EF4-FFF2-40B4-BE49-F238E27FC236}">
                <a16:creationId xmlns:a16="http://schemas.microsoft.com/office/drawing/2014/main" id="{6205DD86-315C-53B6-CEEF-A9919650168E}"/>
              </a:ext>
            </a:extLst>
          </p:cNvPr>
          <p:cNvCxnSpPr>
            <a:cxnSpLocks/>
            <a:stCxn id="19" idx="5"/>
            <a:endCxn id="8" idx="1"/>
          </p:cNvCxnSpPr>
          <p:nvPr/>
        </p:nvCxnSpPr>
        <p:spPr>
          <a:xfrm flipH="1">
            <a:off x="10440945" y="3803868"/>
            <a:ext cx="1359469" cy="1014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6205DD86-315C-53B6-CEEF-A9919650168E}"/>
              </a:ext>
            </a:extLst>
          </p:cNvPr>
          <p:cNvCxnSpPr>
            <a:cxnSpLocks/>
            <a:stCxn id="6" idx="7"/>
            <a:endCxn id="19" idx="3"/>
          </p:cNvCxnSpPr>
          <p:nvPr/>
        </p:nvCxnSpPr>
        <p:spPr>
          <a:xfrm>
            <a:off x="10440945" y="2759748"/>
            <a:ext cx="1359469" cy="942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9" name="Oval 18">
            <a:extLst>
              <a:ext uri="{FF2B5EF4-FFF2-40B4-BE49-F238E27FC236}">
                <a16:creationId xmlns:a16="http://schemas.microsoft.com/office/drawing/2014/main" id="{BDD11F87-DA81-9510-C1CB-0AF4093562CB}"/>
              </a:ext>
            </a:extLst>
          </p:cNvPr>
          <p:cNvSpPr/>
          <p:nvPr/>
        </p:nvSpPr>
        <p:spPr>
          <a:xfrm rot="5400000">
            <a:off x="11779326" y="368095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5351556" y="367599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5" idx="5"/>
            <a:endCxn id="20" idx="1"/>
          </p:cNvCxnSpPr>
          <p:nvPr/>
        </p:nvCxnSpPr>
        <p:spPr>
          <a:xfrm flipH="1">
            <a:off x="5474468" y="2759748"/>
            <a:ext cx="1288567" cy="93733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6205DD86-315C-53B6-CEEF-A9919650168E}"/>
              </a:ext>
            </a:extLst>
          </p:cNvPr>
          <p:cNvCxnSpPr>
            <a:cxnSpLocks/>
            <a:stCxn id="20" idx="7"/>
            <a:endCxn id="16" idx="3"/>
          </p:cNvCxnSpPr>
          <p:nvPr/>
        </p:nvCxnSpPr>
        <p:spPr>
          <a:xfrm>
            <a:off x="5474468" y="3798905"/>
            <a:ext cx="1288567" cy="103307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3" name="TextBox 22"/>
          <p:cNvSpPr txBox="1"/>
          <p:nvPr/>
        </p:nvSpPr>
        <p:spPr>
          <a:xfrm>
            <a:off x="8425499" y="3272644"/>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4" name="TextBox 23"/>
          <p:cNvSpPr txBox="1"/>
          <p:nvPr/>
        </p:nvSpPr>
        <p:spPr>
          <a:xfrm>
            <a:off x="8420690" y="2113616"/>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cxnSp>
        <p:nvCxnSpPr>
          <p:cNvPr id="25" name="Straight Connector 24">
            <a:extLst>
              <a:ext uri="{FF2B5EF4-FFF2-40B4-BE49-F238E27FC236}">
                <a16:creationId xmlns:a16="http://schemas.microsoft.com/office/drawing/2014/main" id="{6205DD86-315C-53B6-CEEF-A9919650168E}"/>
              </a:ext>
            </a:extLst>
          </p:cNvPr>
          <p:cNvCxnSpPr>
            <a:cxnSpLocks/>
            <a:stCxn id="6" idx="5"/>
            <a:endCxn id="16" idx="1"/>
          </p:cNvCxnSpPr>
          <p:nvPr/>
        </p:nvCxnSpPr>
        <p:spPr>
          <a:xfrm flipH="1">
            <a:off x="6864859" y="2759748"/>
            <a:ext cx="3474262" cy="2072233"/>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6" name="TextBox 25"/>
          <p:cNvSpPr txBox="1"/>
          <p:nvPr/>
        </p:nvSpPr>
        <p:spPr>
          <a:xfrm>
            <a:off x="11065729" y="2780836"/>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7" name="TextBox 26"/>
          <p:cNvSpPr txBox="1"/>
          <p:nvPr/>
        </p:nvSpPr>
        <p:spPr>
          <a:xfrm>
            <a:off x="10036734" y="3486383"/>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8" name="TextBox 27"/>
          <p:cNvSpPr txBox="1"/>
          <p:nvPr/>
        </p:nvSpPr>
        <p:spPr>
          <a:xfrm>
            <a:off x="11065729" y="4294944"/>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29" name="Arc 28"/>
          <p:cNvSpPr/>
          <p:nvPr/>
        </p:nvSpPr>
        <p:spPr>
          <a:xfrm rot="593460">
            <a:off x="4890564" y="2828234"/>
            <a:ext cx="756761" cy="2367956"/>
          </a:xfrm>
          <a:prstGeom prst="arc">
            <a:avLst>
              <a:gd name="adj1" fmla="val 17305548"/>
              <a:gd name="adj2" fmla="val 2786345"/>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Arc 29"/>
          <p:cNvSpPr/>
          <p:nvPr/>
        </p:nvSpPr>
        <p:spPr>
          <a:xfrm rot="5029352">
            <a:off x="6166460" y="1970689"/>
            <a:ext cx="1064785" cy="1158294"/>
          </a:xfrm>
          <a:prstGeom prst="arc">
            <a:avLst>
              <a:gd name="adj1" fmla="val 15496395"/>
              <a:gd name="adj2" fmla="val 4199016"/>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Arc 30"/>
          <p:cNvSpPr/>
          <p:nvPr/>
        </p:nvSpPr>
        <p:spPr>
          <a:xfrm rot="593460">
            <a:off x="6241999" y="1138216"/>
            <a:ext cx="2081693" cy="5937996"/>
          </a:xfrm>
          <a:prstGeom prst="arc">
            <a:avLst>
              <a:gd name="adj1" fmla="val 17305548"/>
              <a:gd name="adj2" fmla="val 3340295"/>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Arc 31"/>
          <p:cNvSpPr/>
          <p:nvPr/>
        </p:nvSpPr>
        <p:spPr>
          <a:xfrm rot="15724463">
            <a:off x="10021616" y="4406892"/>
            <a:ext cx="1064785" cy="1158294"/>
          </a:xfrm>
          <a:prstGeom prst="arc">
            <a:avLst>
              <a:gd name="adj1" fmla="val 15496395"/>
              <a:gd name="adj2" fmla="val 4199016"/>
            </a:avLst>
          </a:prstGeom>
          <a:noFill/>
          <a:ln w="76200">
            <a:solidFill>
              <a:schemeClr val="accent3"/>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Arc 32"/>
          <p:cNvSpPr/>
          <p:nvPr/>
        </p:nvSpPr>
        <p:spPr>
          <a:xfrm rot="18846957">
            <a:off x="8137053" y="3429988"/>
            <a:ext cx="4817660" cy="323159"/>
          </a:xfrm>
          <a:prstGeom prst="arc">
            <a:avLst>
              <a:gd name="adj1" fmla="val 10849602"/>
              <a:gd name="adj2" fmla="val 21234126"/>
            </a:avLst>
          </a:prstGeom>
          <a:noFill/>
          <a:ln w="76200">
            <a:solidFill>
              <a:schemeClr val="accent3"/>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Content Placeholder 3"/>
              <p:cNvSpPr txBox="1">
                <a:spLocks/>
              </p:cNvSpPr>
              <p:nvPr/>
            </p:nvSpPr>
            <p:spPr>
              <a:xfrm>
                <a:off x="131179" y="1764212"/>
                <a:ext cx="4456404" cy="4513758"/>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Let a </a:t>
                </a:r>
                <a:r>
                  <a:rPr lang="en-US" b="1" dirty="0">
                    <a:solidFill>
                      <a:srgbClr val="002060"/>
                    </a:solidFill>
                  </a:rPr>
                  <a:t>chord</a:t>
                </a:r>
                <a14:m>
                  <m:oMath xmlns:m="http://schemas.openxmlformats.org/officeDocument/2006/math">
                    <m:r>
                      <a:rPr lang="en-US" b="1" i="0" dirty="0" smtClean="0">
                        <a:solidFill>
                          <a:srgbClr val="002060"/>
                        </a:solidFill>
                        <a:latin typeface="Cambria Math" panose="02040503050406030204" pitchFamily="18" charset="0"/>
                      </a:rPr>
                      <m:t> </m:t>
                    </m:r>
                    <m:r>
                      <a:rPr lang="en-US" b="1" i="0" dirty="0" smtClean="0">
                        <a:solidFill>
                          <a:srgbClr val="002060"/>
                        </a:solidFill>
                        <a:latin typeface="Cambria Math" panose="02040503050406030204" pitchFamily="18" charset="0"/>
                      </a:rPr>
                      <m:t>𝐠</m:t>
                    </m:r>
                  </m:oMath>
                </a14:m>
                <a:r>
                  <a:rPr lang="en-US" dirty="0">
                    <a:solidFill>
                      <a:srgbClr val="002060"/>
                    </a:solidFill>
                  </a:rPr>
                  <a:t> </a:t>
                </a:r>
                <a:r>
                  <a:rPr lang="en-US" dirty="0"/>
                  <a:t>form a </a:t>
                </a:r>
                <a:r>
                  <a:rPr lang="en-US" b="1" dirty="0"/>
                  <a:t>fundamental circuit</a:t>
                </a:r>
                <a14:m>
                  <m:oMath xmlns:m="http://schemas.openxmlformats.org/officeDocument/2006/math">
                    <m:r>
                      <a:rPr lang="en-US" b="1" i="0" dirty="0" smtClean="0">
                        <a:latin typeface="Cambria Math" panose="02040503050406030204" pitchFamily="18" charset="0"/>
                      </a:rPr>
                      <m:t> </m:t>
                    </m:r>
                    <m:r>
                      <a:rPr lang="en-US" b="1" i="0" dirty="0" smtClean="0">
                        <a:latin typeface="Cambria Math" panose="02040503050406030204" pitchFamily="18" charset="0"/>
                      </a:rPr>
                      <m:t>𝐂</m:t>
                    </m:r>
                  </m:oMath>
                </a14:m>
                <a:r>
                  <a:rPr lang="en-US" b="1" dirty="0"/>
                  <a:t>.</a:t>
                </a:r>
              </a:p>
              <a:p>
                <a:pPr algn="l"/>
                <a:r>
                  <a:rPr lang="en-US" dirty="0"/>
                  <a:t>That chord appears in </a:t>
                </a:r>
              </a:p>
              <a:p>
                <a:pPr lvl="1" algn="l"/>
                <a:r>
                  <a:rPr lang="en-US" dirty="0"/>
                  <a:t>all fundamental cut-sets corresponding to the </a:t>
                </a:r>
                <a:r>
                  <a:rPr lang="en-US" b="1" dirty="0"/>
                  <a:t>branches in that</a:t>
                </a:r>
                <a14:m>
                  <m:oMath xmlns:m="http://schemas.openxmlformats.org/officeDocument/2006/math">
                    <m:r>
                      <a:rPr lang="en-US" b="1" i="0" dirty="0" smtClean="0">
                        <a:latin typeface="Cambria Math" panose="02040503050406030204" pitchFamily="18" charset="0"/>
                      </a:rPr>
                      <m:t> </m:t>
                    </m:r>
                    <m:r>
                      <a:rPr lang="en-US" b="1" i="0" dirty="0" smtClean="0">
                        <a:latin typeface="Cambria Math" panose="02040503050406030204" pitchFamily="18" charset="0"/>
                      </a:rPr>
                      <m:t>𝐂</m:t>
                    </m:r>
                  </m:oMath>
                </a14:m>
                <a:r>
                  <a:rPr lang="en-US" dirty="0"/>
                  <a:t>. </a:t>
                </a:r>
              </a:p>
              <a:p>
                <a:pPr lvl="1" algn="l"/>
                <a:r>
                  <a:rPr lang="en-US" dirty="0"/>
                  <a:t>And in </a:t>
                </a:r>
                <a:r>
                  <a:rPr lang="en-US" b="1" dirty="0"/>
                  <a:t>no other fundamental cut-sets.</a:t>
                </a:r>
                <a:endParaRPr lang="en-US" dirty="0"/>
              </a:p>
            </p:txBody>
          </p:sp>
        </mc:Choice>
        <mc:Fallback xmlns="">
          <p:sp>
            <p:nvSpPr>
              <p:cNvPr id="35" name="Content Placeholder 3"/>
              <p:cNvSpPr txBox="1">
                <a:spLocks noRot="1" noChangeAspect="1" noMove="1" noResize="1" noEditPoints="1" noAdjustHandles="1" noChangeArrowheads="1" noChangeShapeType="1" noTextEdit="1"/>
              </p:cNvSpPr>
              <p:nvPr/>
            </p:nvSpPr>
            <p:spPr>
              <a:xfrm>
                <a:off x="131179" y="1764212"/>
                <a:ext cx="4456404" cy="4513758"/>
              </a:xfrm>
              <a:prstGeom prst="rect">
                <a:avLst/>
              </a:prstGeom>
              <a:blipFill rotWithShape="0">
                <a:blip r:embed="rId3"/>
                <a:stretch>
                  <a:fillRect l="-2599" t="-2294" r="-27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p:cNvSpPr/>
              <p:nvPr/>
            </p:nvSpPr>
            <p:spPr>
              <a:xfrm>
                <a:off x="10701351" y="3611554"/>
                <a:ext cx="42832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400" dirty="0">
                          <a:latin typeface="Cambria Math" panose="02040503050406030204" pitchFamily="18" charset="0"/>
                        </a:rPr>
                        <m:t>C</m:t>
                      </m:r>
                    </m:oMath>
                  </m:oMathPara>
                </a14:m>
                <a:endParaRPr lang="en-US" sz="2400" dirty="0"/>
              </a:p>
            </p:txBody>
          </p:sp>
        </mc:Choice>
        <mc:Fallback xmlns="">
          <p:sp>
            <p:nvSpPr>
              <p:cNvPr id="36" name="Rectangle 35"/>
              <p:cNvSpPr>
                <a:spLocks noRot="1" noChangeAspect="1" noMove="1" noResize="1" noEditPoints="1" noAdjustHandles="1" noChangeArrowheads="1" noChangeShapeType="1" noTextEdit="1"/>
              </p:cNvSpPr>
              <p:nvPr/>
            </p:nvSpPr>
            <p:spPr>
              <a:xfrm>
                <a:off x="10701351" y="3611554"/>
                <a:ext cx="428322" cy="461665"/>
              </a:xfrm>
              <a:prstGeom prst="rect">
                <a:avLst/>
              </a:prstGeom>
              <a:blipFill rotWithShape="0">
                <a:blip r:embed="rId4"/>
                <a:stretch>
                  <a:fillRect/>
                </a:stretch>
              </a:blipFill>
            </p:spPr>
            <p:txBody>
              <a:bodyPr/>
              <a:lstStyle/>
              <a:p>
                <a:r>
                  <a:rPr lang="en-US">
                    <a:noFill/>
                  </a:rPr>
                  <a:t> </a:t>
                </a:r>
              </a:p>
            </p:txBody>
          </p:sp>
        </mc:Fallback>
      </mc:AlternateContent>
      <p:sp>
        <p:nvSpPr>
          <p:cNvPr id="37" name="Rectangle 36"/>
          <p:cNvSpPr/>
          <p:nvPr/>
        </p:nvSpPr>
        <p:spPr>
          <a:xfrm>
            <a:off x="1984137" y="5713400"/>
            <a:ext cx="8223726" cy="523220"/>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US" sz="2800" dirty="0">
                <a:solidFill>
                  <a:schemeClr val="accent6"/>
                </a:solidFill>
              </a:rPr>
              <a:t>A chord belongs only to cut-sets of branches in its circuit</a:t>
            </a:r>
          </a:p>
        </p:txBody>
      </p:sp>
    </p:spTree>
    <p:extLst>
      <p:ext uri="{BB962C8B-B14F-4D97-AF65-F5344CB8AC3E}">
        <p14:creationId xmlns:p14="http://schemas.microsoft.com/office/powerpoint/2010/main" val="308590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2000" fill="hold"/>
                                        <p:tgtEl>
                                          <p:spTgt spid="10"/>
                                        </p:tgtEl>
                                        <p:attrNameLst>
                                          <p:attrName>stroke.color</p:attrName>
                                        </p:attrNameLst>
                                      </p:cBhvr>
                                      <p:to>
                                        <a:srgbClr val="FFFF00"/>
                                      </p:to>
                                    </p:animClr>
                                    <p:set>
                                      <p:cBhvr>
                                        <p:cTn id="15" dur="2000" fill="hold"/>
                                        <p:tgtEl>
                                          <p:spTgt spid="10"/>
                                        </p:tgtEl>
                                        <p:attrNameLst>
                                          <p:attrName>stroke.on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4"/>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5">
                                            <p:txEl>
                                              <p:pRg st="1" end="1"/>
                                            </p:txEl>
                                          </p:spTgt>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down)">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35">
                                            <p:txEl>
                                              <p:pRg st="3" end="3"/>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down)">
                                      <p:cBhvr>
                                        <p:cTn id="46" dur="500"/>
                                        <p:tgtEl>
                                          <p:spTgt spid="30"/>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down)">
                                      <p:cBhvr>
                                        <p:cTn id="49" dur="500"/>
                                        <p:tgtEl>
                                          <p:spTgt spid="29"/>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wipe(down)">
                                      <p:cBhvr>
                                        <p:cTn id="5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29" grpId="0" animBg="1"/>
      <p:bldP spid="30" grpId="0" animBg="1"/>
      <p:bldP spid="31" grpId="0" animBg="1"/>
      <p:bldP spid="32" grpId="0" animBg="1"/>
      <p:bldP spid="3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34" name="Isosceles Triangle 33"/>
          <p:cNvSpPr/>
          <p:nvPr/>
        </p:nvSpPr>
        <p:spPr>
          <a:xfrm rot="5400000">
            <a:off x="5168518" y="2804546"/>
            <a:ext cx="2144553" cy="3594953"/>
          </a:xfrm>
          <a:prstGeom prst="triangle">
            <a:avLst>
              <a:gd name="adj" fmla="val 0"/>
            </a:avLst>
          </a:prstGeom>
          <a:solidFill>
            <a:schemeClr val="accent6">
              <a:lumMod val="60000"/>
              <a:lumOff val="4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Relationship: Chord &amp; Fundamental Cut-Sets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5"/>
                <a:ext cx="11929641" cy="5485840"/>
              </a:xfrm>
            </p:spPr>
            <p:txBody>
              <a:bodyPr/>
              <a:lstStyle/>
              <a:p>
                <a:pPr lvl="0"/>
                <a:r>
                  <a:rPr lang="en-US" dirty="0"/>
                  <a:t>Consider another chord, </a:t>
                </a:r>
                <a14:m>
                  <m:oMath xmlns:m="http://schemas.openxmlformats.org/officeDocument/2006/math">
                    <m:r>
                      <a:rPr lang="en-US" i="0" dirty="0" smtClean="0">
                        <a:latin typeface="Cambria Math" panose="02040503050406030204" pitchFamily="18" charset="0"/>
                      </a:rPr>
                      <m:t> </m:t>
                    </m:r>
                    <m:r>
                      <m:rPr>
                        <m:sty m:val="p"/>
                      </m:rPr>
                      <a:rPr lang="en-US" b="0" i="0" dirty="0" smtClean="0">
                        <a:latin typeface="Cambria Math" panose="02040503050406030204" pitchFamily="18" charset="0"/>
                      </a:rPr>
                      <m:t>d</m:t>
                    </m:r>
                  </m:oMath>
                </a14:m>
                <a:r>
                  <a:rPr lang="en-US" dirty="0"/>
                  <a:t> forming a </a:t>
                </a:r>
                <a:r>
                  <a:rPr lang="en-US" b="1" dirty="0"/>
                  <a:t>fundamental circuit</a:t>
                </a:r>
                <a14:m>
                  <m:oMath xmlns:m="http://schemas.openxmlformats.org/officeDocument/2006/math">
                    <m:r>
                      <a:rPr lang="en-US" b="1" i="0" dirty="0" smtClean="0">
                        <a:latin typeface="Cambria Math" panose="02040503050406030204" pitchFamily="18" charset="0"/>
                      </a:rPr>
                      <m:t> </m:t>
                    </m:r>
                    <m:r>
                      <a:rPr lang="en-US" b="1" i="0" dirty="0" smtClean="0">
                        <a:latin typeface="Cambria Math" panose="02040503050406030204" pitchFamily="18" charset="0"/>
                      </a:rPr>
                      <m:t>𝐂</m:t>
                    </m:r>
                  </m:oMath>
                </a14:m>
                <a:r>
                  <a:rPr lang="en-US" dirty="0"/>
                  <a:t>.</a:t>
                </a:r>
              </a:p>
              <a:p>
                <a:pPr algn="l"/>
                <a:r>
                  <a:rPr lang="en-US" dirty="0"/>
                  <a:t>That chord</a:t>
                </a:r>
                <a14:m>
                  <m:oMath xmlns:m="http://schemas.openxmlformats.org/officeDocument/2006/math">
                    <m:r>
                      <a:rPr lang="en-US" dirty="0">
                        <a:latin typeface="Cambria Math" panose="02040503050406030204" pitchFamily="18" charset="0"/>
                      </a:rPr>
                      <m:t> </m:t>
                    </m:r>
                    <m:r>
                      <m:rPr>
                        <m:sty m:val="p"/>
                      </m:rPr>
                      <a:rPr lang="en-US" b="0" i="0" dirty="0" smtClean="0">
                        <a:latin typeface="Cambria Math" panose="02040503050406030204" pitchFamily="18" charset="0"/>
                      </a:rPr>
                      <m:t>d</m:t>
                    </m:r>
                  </m:oMath>
                </a14:m>
                <a:r>
                  <a:rPr lang="en-US" dirty="0"/>
                  <a:t> appears in all fundamental cut-sets corresponding to the </a:t>
                </a:r>
                <a:r>
                  <a:rPr lang="en-US" b="1" dirty="0"/>
                  <a:t>branches in that</a:t>
                </a:r>
                <a14:m>
                  <m:oMath xmlns:m="http://schemas.openxmlformats.org/officeDocument/2006/math">
                    <m:r>
                      <a:rPr lang="en-US" b="1" dirty="0">
                        <a:latin typeface="Cambria Math" panose="02040503050406030204" pitchFamily="18" charset="0"/>
                      </a:rPr>
                      <m:t> </m:t>
                    </m:r>
                    <m:r>
                      <a:rPr lang="en-US" b="1" dirty="0">
                        <a:latin typeface="Cambria Math" panose="02040503050406030204" pitchFamily="18" charset="0"/>
                      </a:rPr>
                      <m:t>𝐂</m:t>
                    </m:r>
                  </m:oMath>
                </a14:m>
                <a:r>
                  <a:rPr lang="en-US" dirty="0"/>
                  <a:t>. And in </a:t>
                </a:r>
                <a:r>
                  <a:rPr lang="en-US" b="1" dirty="0"/>
                  <a:t>no other fundamental cut-sets</a:t>
                </a:r>
                <a:r>
                  <a:rPr lang="en-US" dirty="0"/>
                  <a:t>.</a:t>
                </a:r>
              </a:p>
              <a:p>
                <a:pPr lvl="0"/>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5"/>
                <a:ext cx="11929641" cy="5485840"/>
              </a:xfrm>
              <a:blipFill rotWithShape="0">
                <a:blip r:embed="rId2"/>
                <a:stretch>
                  <a:fillRect l="-971" t="-2000"/>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BDD11F87-DA81-9510-C1CB-0AF4093562CB}"/>
              </a:ext>
            </a:extLst>
          </p:cNvPr>
          <p:cNvSpPr/>
          <p:nvPr/>
        </p:nvSpPr>
        <p:spPr>
          <a:xfrm rot="5400000">
            <a:off x="4380885" y="34420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 name="Oval 5">
            <a:extLst>
              <a:ext uri="{FF2B5EF4-FFF2-40B4-BE49-F238E27FC236}">
                <a16:creationId xmlns:a16="http://schemas.microsoft.com/office/drawing/2014/main" id="{BDD11F87-DA81-9510-C1CB-0AF4093562CB}"/>
              </a:ext>
            </a:extLst>
          </p:cNvPr>
          <p:cNvSpPr/>
          <p:nvPr/>
        </p:nvSpPr>
        <p:spPr>
          <a:xfrm rot="5400000">
            <a:off x="7956971" y="34420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 name="Straight Connector 6">
            <a:extLst>
              <a:ext uri="{FF2B5EF4-FFF2-40B4-BE49-F238E27FC236}">
                <a16:creationId xmlns:a16="http://schemas.microsoft.com/office/drawing/2014/main" id="{6205DD86-315C-53B6-CEEF-A9919650168E}"/>
              </a:ext>
            </a:extLst>
          </p:cNvPr>
          <p:cNvCxnSpPr>
            <a:cxnSpLocks/>
            <a:stCxn id="6" idx="4"/>
            <a:endCxn id="5" idx="0"/>
          </p:cNvCxnSpPr>
          <p:nvPr/>
        </p:nvCxnSpPr>
        <p:spPr>
          <a:xfrm flipH="1">
            <a:off x="4524885" y="3514057"/>
            <a:ext cx="343208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 name="Oval 7">
            <a:extLst>
              <a:ext uri="{FF2B5EF4-FFF2-40B4-BE49-F238E27FC236}">
                <a16:creationId xmlns:a16="http://schemas.microsoft.com/office/drawing/2014/main" id="{BDD11F87-DA81-9510-C1CB-0AF4093562CB}"/>
              </a:ext>
            </a:extLst>
          </p:cNvPr>
          <p:cNvSpPr/>
          <p:nvPr/>
        </p:nvSpPr>
        <p:spPr>
          <a:xfrm rot="5400000">
            <a:off x="7956971" y="56022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 name="Straight Connector 8">
            <a:extLst>
              <a:ext uri="{FF2B5EF4-FFF2-40B4-BE49-F238E27FC236}">
                <a16:creationId xmlns:a16="http://schemas.microsoft.com/office/drawing/2014/main" id="{6205DD86-315C-53B6-CEEF-A9919650168E}"/>
              </a:ext>
            </a:extLst>
          </p:cNvPr>
          <p:cNvCxnSpPr>
            <a:cxnSpLocks/>
            <a:stCxn id="5" idx="6"/>
            <a:endCxn id="16" idx="2"/>
          </p:cNvCxnSpPr>
          <p:nvPr/>
        </p:nvCxnSpPr>
        <p:spPr>
          <a:xfrm>
            <a:off x="4452885" y="3586057"/>
            <a:ext cx="0" cy="2030057"/>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6205DD86-315C-53B6-CEEF-A9919650168E}"/>
              </a:ext>
            </a:extLst>
          </p:cNvPr>
          <p:cNvCxnSpPr>
            <a:cxnSpLocks/>
            <a:stCxn id="6" idx="6"/>
            <a:endCxn id="8" idx="2"/>
          </p:cNvCxnSpPr>
          <p:nvPr/>
        </p:nvCxnSpPr>
        <p:spPr>
          <a:xfrm>
            <a:off x="8028971" y="3586057"/>
            <a:ext cx="0" cy="20162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6205DD86-315C-53B6-CEEF-A9919650168E}"/>
              </a:ext>
            </a:extLst>
          </p:cNvPr>
          <p:cNvCxnSpPr>
            <a:cxnSpLocks/>
            <a:stCxn id="8" idx="4"/>
            <a:endCxn id="16" idx="0"/>
          </p:cNvCxnSpPr>
          <p:nvPr/>
        </p:nvCxnSpPr>
        <p:spPr>
          <a:xfrm flipH="1">
            <a:off x="4524885" y="5674297"/>
            <a:ext cx="3432086" cy="138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 name="TextBox 11"/>
          <p:cNvSpPr txBox="1"/>
          <p:nvPr/>
        </p:nvSpPr>
        <p:spPr>
          <a:xfrm>
            <a:off x="3483435" y="3505458"/>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3" name="TextBox 12"/>
          <p:cNvSpPr txBox="1"/>
          <p:nvPr/>
        </p:nvSpPr>
        <p:spPr>
          <a:xfrm>
            <a:off x="6059628" y="5760114"/>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4" name="TextBox 13"/>
          <p:cNvSpPr txBox="1"/>
          <p:nvPr/>
        </p:nvSpPr>
        <p:spPr>
          <a:xfrm>
            <a:off x="3498670" y="510016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5" name="TextBox 14"/>
          <p:cNvSpPr txBox="1"/>
          <p:nvPr/>
        </p:nvSpPr>
        <p:spPr>
          <a:xfrm>
            <a:off x="4457747" y="4335678"/>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6" name="Oval 15">
            <a:extLst>
              <a:ext uri="{FF2B5EF4-FFF2-40B4-BE49-F238E27FC236}">
                <a16:creationId xmlns:a16="http://schemas.microsoft.com/office/drawing/2014/main" id="{BDD11F87-DA81-9510-C1CB-0AF4093562CB}"/>
              </a:ext>
            </a:extLst>
          </p:cNvPr>
          <p:cNvSpPr/>
          <p:nvPr/>
        </p:nvSpPr>
        <p:spPr>
          <a:xfrm rot="5400000">
            <a:off x="4380885" y="56161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7" name="Straight Connector 16">
            <a:extLst>
              <a:ext uri="{FF2B5EF4-FFF2-40B4-BE49-F238E27FC236}">
                <a16:creationId xmlns:a16="http://schemas.microsoft.com/office/drawing/2014/main" id="{6205DD86-315C-53B6-CEEF-A9919650168E}"/>
              </a:ext>
            </a:extLst>
          </p:cNvPr>
          <p:cNvCxnSpPr>
            <a:cxnSpLocks/>
            <a:stCxn id="19" idx="5"/>
            <a:endCxn id="8" idx="1"/>
          </p:cNvCxnSpPr>
          <p:nvPr/>
        </p:nvCxnSpPr>
        <p:spPr>
          <a:xfrm flipH="1">
            <a:off x="8079883" y="4609089"/>
            <a:ext cx="1359469" cy="1014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6205DD86-315C-53B6-CEEF-A9919650168E}"/>
              </a:ext>
            </a:extLst>
          </p:cNvPr>
          <p:cNvCxnSpPr>
            <a:cxnSpLocks/>
            <a:stCxn id="6" idx="7"/>
            <a:endCxn id="19" idx="3"/>
          </p:cNvCxnSpPr>
          <p:nvPr/>
        </p:nvCxnSpPr>
        <p:spPr>
          <a:xfrm>
            <a:off x="8079883" y="3564969"/>
            <a:ext cx="1359469" cy="942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19" name="Oval 18">
            <a:extLst>
              <a:ext uri="{FF2B5EF4-FFF2-40B4-BE49-F238E27FC236}">
                <a16:creationId xmlns:a16="http://schemas.microsoft.com/office/drawing/2014/main" id="{BDD11F87-DA81-9510-C1CB-0AF4093562CB}"/>
              </a:ext>
            </a:extLst>
          </p:cNvPr>
          <p:cNvSpPr/>
          <p:nvPr/>
        </p:nvSpPr>
        <p:spPr>
          <a:xfrm rot="5400000">
            <a:off x="9418264" y="448617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2990494" y="44812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5" idx="5"/>
            <a:endCxn id="20" idx="1"/>
          </p:cNvCxnSpPr>
          <p:nvPr/>
        </p:nvCxnSpPr>
        <p:spPr>
          <a:xfrm flipH="1">
            <a:off x="3113406" y="3564969"/>
            <a:ext cx="1288567" cy="93733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6205DD86-315C-53B6-CEEF-A9919650168E}"/>
              </a:ext>
            </a:extLst>
          </p:cNvPr>
          <p:cNvCxnSpPr>
            <a:cxnSpLocks/>
            <a:stCxn id="20" idx="7"/>
            <a:endCxn id="16" idx="3"/>
          </p:cNvCxnSpPr>
          <p:nvPr/>
        </p:nvCxnSpPr>
        <p:spPr>
          <a:xfrm>
            <a:off x="3113406" y="4604126"/>
            <a:ext cx="1288567" cy="103307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3" name="TextBox 22"/>
          <p:cNvSpPr txBox="1"/>
          <p:nvPr/>
        </p:nvSpPr>
        <p:spPr>
          <a:xfrm>
            <a:off x="6064437" y="4077865"/>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4" name="TextBox 23"/>
          <p:cNvSpPr txBox="1"/>
          <p:nvPr/>
        </p:nvSpPr>
        <p:spPr>
          <a:xfrm>
            <a:off x="6059628" y="2918837"/>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cxnSp>
        <p:nvCxnSpPr>
          <p:cNvPr id="25" name="Straight Connector 24">
            <a:extLst>
              <a:ext uri="{FF2B5EF4-FFF2-40B4-BE49-F238E27FC236}">
                <a16:creationId xmlns:a16="http://schemas.microsoft.com/office/drawing/2014/main" id="{6205DD86-315C-53B6-CEEF-A9919650168E}"/>
              </a:ext>
            </a:extLst>
          </p:cNvPr>
          <p:cNvCxnSpPr>
            <a:cxnSpLocks/>
            <a:stCxn id="6" idx="5"/>
            <a:endCxn id="16" idx="1"/>
          </p:cNvCxnSpPr>
          <p:nvPr/>
        </p:nvCxnSpPr>
        <p:spPr>
          <a:xfrm flipH="1">
            <a:off x="4503797" y="3564969"/>
            <a:ext cx="3474262" cy="2072233"/>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6" name="TextBox 25"/>
          <p:cNvSpPr txBox="1"/>
          <p:nvPr/>
        </p:nvSpPr>
        <p:spPr>
          <a:xfrm>
            <a:off x="8704667" y="3586057"/>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7" name="TextBox 26"/>
          <p:cNvSpPr txBox="1"/>
          <p:nvPr/>
        </p:nvSpPr>
        <p:spPr>
          <a:xfrm>
            <a:off x="7675672" y="4291604"/>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8" name="TextBox 27"/>
          <p:cNvSpPr txBox="1"/>
          <p:nvPr/>
        </p:nvSpPr>
        <p:spPr>
          <a:xfrm>
            <a:off x="8704667" y="5100165"/>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29" name="Arc 28"/>
          <p:cNvSpPr/>
          <p:nvPr/>
        </p:nvSpPr>
        <p:spPr>
          <a:xfrm rot="593460">
            <a:off x="2529502" y="3633455"/>
            <a:ext cx="756761" cy="2367956"/>
          </a:xfrm>
          <a:prstGeom prst="arc">
            <a:avLst>
              <a:gd name="adj1" fmla="val 17305548"/>
              <a:gd name="adj2" fmla="val 2786345"/>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Arc 29"/>
          <p:cNvSpPr/>
          <p:nvPr/>
        </p:nvSpPr>
        <p:spPr>
          <a:xfrm rot="5029352">
            <a:off x="3805398" y="2775910"/>
            <a:ext cx="1064785" cy="1158294"/>
          </a:xfrm>
          <a:prstGeom prst="arc">
            <a:avLst>
              <a:gd name="adj1" fmla="val 15496395"/>
              <a:gd name="adj2" fmla="val 4199016"/>
            </a:avLst>
          </a:prstGeom>
          <a:noFill/>
          <a:ln w="76200">
            <a:solidFill>
              <a:schemeClr val="accent3"/>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Arc 30"/>
          <p:cNvSpPr/>
          <p:nvPr/>
        </p:nvSpPr>
        <p:spPr>
          <a:xfrm rot="593460">
            <a:off x="3880937" y="1943437"/>
            <a:ext cx="2081693" cy="5937996"/>
          </a:xfrm>
          <a:prstGeom prst="arc">
            <a:avLst>
              <a:gd name="adj1" fmla="val 17305548"/>
              <a:gd name="adj2" fmla="val 3340295"/>
            </a:avLst>
          </a:prstGeom>
          <a:noFill/>
          <a:ln w="76200">
            <a:solidFill>
              <a:schemeClr val="accent3"/>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Arc 31"/>
          <p:cNvSpPr/>
          <p:nvPr/>
        </p:nvSpPr>
        <p:spPr>
          <a:xfrm rot="15724463">
            <a:off x="7660554" y="5212113"/>
            <a:ext cx="1064785" cy="1158294"/>
          </a:xfrm>
          <a:prstGeom prst="arc">
            <a:avLst>
              <a:gd name="adj1" fmla="val 15496395"/>
              <a:gd name="adj2" fmla="val 4199016"/>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Arc 32"/>
          <p:cNvSpPr/>
          <p:nvPr/>
        </p:nvSpPr>
        <p:spPr>
          <a:xfrm rot="18846957">
            <a:off x="5775991" y="4235209"/>
            <a:ext cx="4817660" cy="323159"/>
          </a:xfrm>
          <a:prstGeom prst="arc">
            <a:avLst>
              <a:gd name="adj1" fmla="val 10849602"/>
              <a:gd name="adj2" fmla="val 21234126"/>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21835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2000" fill="hold"/>
                                        <p:tgtEl>
                                          <p:spTgt spid="7"/>
                                        </p:tgtEl>
                                        <p:attrNameLst>
                                          <p:attrName>stroke.color</p:attrName>
                                        </p:attrNameLst>
                                      </p:cBhvr>
                                      <p:to>
                                        <a:srgbClr val="FFFF00"/>
                                      </p:to>
                                    </p:animClr>
                                    <p:set>
                                      <p:cBhvr>
                                        <p:cTn id="15" dur="2000" fill="hold"/>
                                        <p:tgtEl>
                                          <p:spTgt spid="7"/>
                                        </p:tgtEl>
                                        <p:attrNameLst>
                                          <p:attrName>stroke.on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wipe(down)">
                                      <p:cBhvr>
                                        <p:cTn id="24" dur="500"/>
                                        <p:tgtEl>
                                          <p:spTgt spid="3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down)">
                                      <p:cBhvr>
                                        <p:cTn id="29" dur="500"/>
                                        <p:tgtEl>
                                          <p:spTgt spid="3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wipe(down)">
                                      <p:cBhvr>
                                        <p:cTn id="34" dur="500"/>
                                        <p:tgtEl>
                                          <p:spTgt spid="33"/>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wipe(left)">
                                      <p:cBhvr>
                                        <p:cTn id="37" dur="500"/>
                                        <p:tgtEl>
                                          <p:spTgt spid="32"/>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down)">
                                      <p:cBhvr>
                                        <p:cTn id="4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29" grpId="0" animBg="1"/>
      <p:bldP spid="30" grpId="0" animBg="1"/>
      <p:bldP spid="31" grpId="0" animBg="1"/>
      <p:bldP spid="3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Relationship: Branch &amp; Fundamental Circuits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5"/>
                <a:ext cx="11929641" cy="1140907"/>
              </a:xfrm>
            </p:spPr>
            <p:txBody>
              <a:bodyPr/>
              <a:lstStyle/>
              <a:p>
                <a:r>
                  <a:rPr lang="en-US" b="1" dirty="0"/>
                  <a:t>A branch </a:t>
                </a:r>
                <a:r>
                  <a:rPr lang="en-US" dirty="0"/>
                  <a:t>that determines a fundamental cut-set</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S</m:t>
                    </m:r>
                  </m:oMath>
                </a14:m>
                <a:r>
                  <a:rPr lang="en-US" dirty="0"/>
                  <a:t> </a:t>
                </a:r>
                <a:r>
                  <a:rPr lang="en-US" b="1" dirty="0"/>
                  <a:t>appears</a:t>
                </a:r>
                <a:r>
                  <a:rPr lang="en-US" dirty="0">
                    <a:solidFill>
                      <a:srgbClr val="C00000"/>
                    </a:solidFill>
                  </a:rPr>
                  <a:t> </a:t>
                </a:r>
                <a:r>
                  <a:rPr lang="en-US" dirty="0"/>
                  <a:t>in </a:t>
                </a:r>
                <a:r>
                  <a:rPr lang="en-US" dirty="0">
                    <a:solidFill>
                      <a:srgbClr val="C00000"/>
                    </a:solidFill>
                  </a:rPr>
                  <a:t>all fundamental circuits </a:t>
                </a:r>
                <a:r>
                  <a:rPr lang="en-US" dirty="0"/>
                  <a:t>corresponding to the chords of</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S</m:t>
                    </m:r>
                  </m:oMath>
                </a14:m>
                <a:r>
                  <a:rPr lang="en-US" dirty="0"/>
                  <a:t>, and in no other fundamental circuits. </a:t>
                </a:r>
              </a:p>
              <a:p>
                <a:pPr marL="457200" lvl="1" indent="0">
                  <a:buNone/>
                </a:pPr>
                <a:endParaRPr lang="en-US" dirty="0"/>
              </a:p>
              <a:p>
                <a:pPr lvl="0"/>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5"/>
                <a:ext cx="11929641" cy="1140907"/>
              </a:xfrm>
              <a:blipFill rotWithShape="0">
                <a:blip r:embed="rId2"/>
                <a:stretch>
                  <a:fillRect l="-971" t="-9626" r="-1074"/>
                </a:stretch>
              </a:blipFill>
            </p:spPr>
            <p:txBody>
              <a:bodyPr/>
              <a:lstStyle/>
              <a:p>
                <a:r>
                  <a:rPr lang="en-US">
                    <a:noFill/>
                  </a:rPr>
                  <a:t> </a:t>
                </a:r>
              </a:p>
            </p:txBody>
          </p:sp>
        </mc:Fallback>
      </mc:AlternateContent>
      <p:sp>
        <p:nvSpPr>
          <p:cNvPr id="5" name="Isosceles Triangle 4"/>
          <p:cNvSpPr/>
          <p:nvPr/>
        </p:nvSpPr>
        <p:spPr>
          <a:xfrm rot="16200000">
            <a:off x="5070452" y="3111930"/>
            <a:ext cx="2141467" cy="1400119"/>
          </a:xfrm>
          <a:prstGeom prst="triangle">
            <a:avLst>
              <a:gd name="adj" fmla="val 52341"/>
            </a:avLst>
          </a:prstGeom>
          <a:solidFill>
            <a:schemeClr val="accent6">
              <a:lumMod val="60000"/>
              <a:lumOff val="4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BDD11F87-DA81-9510-C1CB-0AF4093562CB}"/>
              </a:ext>
            </a:extLst>
          </p:cNvPr>
          <p:cNvSpPr/>
          <p:nvPr/>
        </p:nvSpPr>
        <p:spPr>
          <a:xfrm rot="5400000">
            <a:off x="6769245" y="26504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10345331" y="265048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205DD86-315C-53B6-CEEF-A9919650168E}"/>
              </a:ext>
            </a:extLst>
          </p:cNvPr>
          <p:cNvCxnSpPr>
            <a:cxnSpLocks/>
            <a:stCxn id="7" idx="4"/>
            <a:endCxn id="6" idx="0"/>
          </p:cNvCxnSpPr>
          <p:nvPr/>
        </p:nvCxnSpPr>
        <p:spPr>
          <a:xfrm flipH="1">
            <a:off x="6913245" y="2722484"/>
            <a:ext cx="343208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Oval 8">
            <a:extLst>
              <a:ext uri="{FF2B5EF4-FFF2-40B4-BE49-F238E27FC236}">
                <a16:creationId xmlns:a16="http://schemas.microsoft.com/office/drawing/2014/main" id="{BDD11F87-DA81-9510-C1CB-0AF4093562CB}"/>
              </a:ext>
            </a:extLst>
          </p:cNvPr>
          <p:cNvSpPr/>
          <p:nvPr/>
        </p:nvSpPr>
        <p:spPr>
          <a:xfrm rot="5400000">
            <a:off x="10345331" y="481072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 name="Straight Connector 9">
            <a:extLst>
              <a:ext uri="{FF2B5EF4-FFF2-40B4-BE49-F238E27FC236}">
                <a16:creationId xmlns:a16="http://schemas.microsoft.com/office/drawing/2014/main" id="{6205DD86-315C-53B6-CEEF-A9919650168E}"/>
              </a:ext>
            </a:extLst>
          </p:cNvPr>
          <p:cNvCxnSpPr>
            <a:cxnSpLocks/>
            <a:stCxn id="6" idx="6"/>
            <a:endCxn id="17" idx="2"/>
          </p:cNvCxnSpPr>
          <p:nvPr/>
        </p:nvCxnSpPr>
        <p:spPr>
          <a:xfrm>
            <a:off x="6841245" y="2794484"/>
            <a:ext cx="0" cy="2030057"/>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6205DD86-315C-53B6-CEEF-A9919650168E}"/>
              </a:ext>
            </a:extLst>
          </p:cNvPr>
          <p:cNvCxnSpPr>
            <a:cxnSpLocks/>
            <a:stCxn id="7" idx="6"/>
            <a:endCxn id="9" idx="2"/>
          </p:cNvCxnSpPr>
          <p:nvPr/>
        </p:nvCxnSpPr>
        <p:spPr>
          <a:xfrm>
            <a:off x="10417331" y="2794484"/>
            <a:ext cx="0" cy="20162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6205DD86-315C-53B6-CEEF-A9919650168E}"/>
              </a:ext>
            </a:extLst>
          </p:cNvPr>
          <p:cNvCxnSpPr>
            <a:cxnSpLocks/>
            <a:stCxn id="9" idx="4"/>
            <a:endCxn id="17" idx="0"/>
          </p:cNvCxnSpPr>
          <p:nvPr/>
        </p:nvCxnSpPr>
        <p:spPr>
          <a:xfrm flipH="1">
            <a:off x="6913245" y="4882724"/>
            <a:ext cx="3432086" cy="138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 name="TextBox 12"/>
          <p:cNvSpPr txBox="1"/>
          <p:nvPr/>
        </p:nvSpPr>
        <p:spPr>
          <a:xfrm>
            <a:off x="5871795" y="2713885"/>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4" name="TextBox 13"/>
          <p:cNvSpPr txBox="1"/>
          <p:nvPr/>
        </p:nvSpPr>
        <p:spPr>
          <a:xfrm>
            <a:off x="8447988" y="4968541"/>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5" name="TextBox 14"/>
          <p:cNvSpPr txBox="1"/>
          <p:nvPr/>
        </p:nvSpPr>
        <p:spPr>
          <a:xfrm>
            <a:off x="5887030" y="4308592"/>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6" name="TextBox 15"/>
          <p:cNvSpPr txBox="1"/>
          <p:nvPr/>
        </p:nvSpPr>
        <p:spPr>
          <a:xfrm>
            <a:off x="7083594" y="3572032"/>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7" name="Oval 16">
            <a:extLst>
              <a:ext uri="{FF2B5EF4-FFF2-40B4-BE49-F238E27FC236}">
                <a16:creationId xmlns:a16="http://schemas.microsoft.com/office/drawing/2014/main" id="{BDD11F87-DA81-9510-C1CB-0AF4093562CB}"/>
              </a:ext>
            </a:extLst>
          </p:cNvPr>
          <p:cNvSpPr/>
          <p:nvPr/>
        </p:nvSpPr>
        <p:spPr>
          <a:xfrm rot="5400000">
            <a:off x="6769245" y="48245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8" name="Straight Connector 17">
            <a:extLst>
              <a:ext uri="{FF2B5EF4-FFF2-40B4-BE49-F238E27FC236}">
                <a16:creationId xmlns:a16="http://schemas.microsoft.com/office/drawing/2014/main" id="{6205DD86-315C-53B6-CEEF-A9919650168E}"/>
              </a:ext>
            </a:extLst>
          </p:cNvPr>
          <p:cNvCxnSpPr>
            <a:cxnSpLocks/>
            <a:stCxn id="20" idx="5"/>
            <a:endCxn id="9" idx="1"/>
          </p:cNvCxnSpPr>
          <p:nvPr/>
        </p:nvCxnSpPr>
        <p:spPr>
          <a:xfrm flipH="1">
            <a:off x="10468243" y="3817516"/>
            <a:ext cx="1359469" cy="1014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6205DD86-315C-53B6-CEEF-A9919650168E}"/>
              </a:ext>
            </a:extLst>
          </p:cNvPr>
          <p:cNvCxnSpPr>
            <a:cxnSpLocks/>
            <a:stCxn id="7" idx="7"/>
            <a:endCxn id="20" idx="3"/>
          </p:cNvCxnSpPr>
          <p:nvPr/>
        </p:nvCxnSpPr>
        <p:spPr>
          <a:xfrm>
            <a:off x="10468243" y="2773396"/>
            <a:ext cx="1359469" cy="942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BDD11F87-DA81-9510-C1CB-0AF4093562CB}"/>
              </a:ext>
            </a:extLst>
          </p:cNvPr>
          <p:cNvSpPr/>
          <p:nvPr/>
        </p:nvSpPr>
        <p:spPr>
          <a:xfrm rot="5400000">
            <a:off x="11806624" y="36946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1" name="Oval 20">
            <a:extLst>
              <a:ext uri="{FF2B5EF4-FFF2-40B4-BE49-F238E27FC236}">
                <a16:creationId xmlns:a16="http://schemas.microsoft.com/office/drawing/2014/main" id="{BDD11F87-DA81-9510-C1CB-0AF4093562CB}"/>
              </a:ext>
            </a:extLst>
          </p:cNvPr>
          <p:cNvSpPr/>
          <p:nvPr/>
        </p:nvSpPr>
        <p:spPr>
          <a:xfrm rot="5400000">
            <a:off x="5378854" y="36896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2" name="Straight Connector 21">
            <a:extLst>
              <a:ext uri="{FF2B5EF4-FFF2-40B4-BE49-F238E27FC236}">
                <a16:creationId xmlns:a16="http://schemas.microsoft.com/office/drawing/2014/main" id="{6205DD86-315C-53B6-CEEF-A9919650168E}"/>
              </a:ext>
            </a:extLst>
          </p:cNvPr>
          <p:cNvCxnSpPr>
            <a:cxnSpLocks/>
            <a:stCxn id="6" idx="5"/>
            <a:endCxn id="21" idx="1"/>
          </p:cNvCxnSpPr>
          <p:nvPr/>
        </p:nvCxnSpPr>
        <p:spPr>
          <a:xfrm flipH="1">
            <a:off x="5501766" y="2773396"/>
            <a:ext cx="1288567" cy="93733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21" idx="7"/>
            <a:endCxn id="17" idx="3"/>
          </p:cNvCxnSpPr>
          <p:nvPr/>
        </p:nvCxnSpPr>
        <p:spPr>
          <a:xfrm>
            <a:off x="5501766" y="3812553"/>
            <a:ext cx="1288567" cy="103307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4" name="TextBox 23"/>
          <p:cNvSpPr txBox="1"/>
          <p:nvPr/>
        </p:nvSpPr>
        <p:spPr>
          <a:xfrm>
            <a:off x="8452797" y="3286292"/>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5" name="TextBox 24"/>
          <p:cNvSpPr txBox="1"/>
          <p:nvPr/>
        </p:nvSpPr>
        <p:spPr>
          <a:xfrm>
            <a:off x="8447988" y="2127264"/>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cxnSp>
        <p:nvCxnSpPr>
          <p:cNvPr id="26" name="Straight Connector 25">
            <a:extLst>
              <a:ext uri="{FF2B5EF4-FFF2-40B4-BE49-F238E27FC236}">
                <a16:creationId xmlns:a16="http://schemas.microsoft.com/office/drawing/2014/main" id="{6205DD86-315C-53B6-CEEF-A9919650168E}"/>
              </a:ext>
            </a:extLst>
          </p:cNvPr>
          <p:cNvCxnSpPr>
            <a:cxnSpLocks/>
            <a:stCxn id="7" idx="5"/>
            <a:endCxn id="17" idx="1"/>
          </p:cNvCxnSpPr>
          <p:nvPr/>
        </p:nvCxnSpPr>
        <p:spPr>
          <a:xfrm flipH="1">
            <a:off x="6892157" y="2773396"/>
            <a:ext cx="3474262" cy="2072233"/>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7" name="TextBox 26"/>
          <p:cNvSpPr txBox="1"/>
          <p:nvPr/>
        </p:nvSpPr>
        <p:spPr>
          <a:xfrm>
            <a:off x="11093027" y="2794484"/>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8" name="TextBox 27"/>
          <p:cNvSpPr txBox="1"/>
          <p:nvPr/>
        </p:nvSpPr>
        <p:spPr>
          <a:xfrm>
            <a:off x="10064032" y="3500031"/>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9" name="TextBox 28"/>
          <p:cNvSpPr txBox="1"/>
          <p:nvPr/>
        </p:nvSpPr>
        <p:spPr>
          <a:xfrm>
            <a:off x="11093027" y="4308592"/>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32" name="Arc 31"/>
          <p:cNvSpPr/>
          <p:nvPr/>
        </p:nvSpPr>
        <p:spPr>
          <a:xfrm rot="5109145">
            <a:off x="4742961" y="3522475"/>
            <a:ext cx="1666671" cy="588395"/>
          </a:xfrm>
          <a:prstGeom prst="arc">
            <a:avLst>
              <a:gd name="adj1" fmla="val 10849602"/>
              <a:gd name="adj2" fmla="val 21234126"/>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Content Placeholder 3"/>
              <p:cNvSpPr txBox="1">
                <a:spLocks/>
              </p:cNvSpPr>
              <p:nvPr/>
            </p:nvSpPr>
            <p:spPr>
              <a:xfrm>
                <a:off x="131179" y="1764212"/>
                <a:ext cx="4456404" cy="313232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Let a </a:t>
                </a:r>
                <a:r>
                  <a:rPr lang="en-US" b="1" dirty="0"/>
                  <a:t>branch </a:t>
                </a:r>
                <a14:m>
                  <m:oMath xmlns:m="http://schemas.openxmlformats.org/officeDocument/2006/math">
                    <m:r>
                      <a:rPr lang="en-US" b="1" i="0" smtClean="0">
                        <a:latin typeface="Cambria Math" panose="02040503050406030204" pitchFamily="18" charset="0"/>
                      </a:rPr>
                      <m:t>𝐛</m:t>
                    </m:r>
                  </m:oMath>
                </a14:m>
                <a:r>
                  <a:rPr lang="en-US" dirty="0"/>
                  <a:t> determine a </a:t>
                </a:r>
                <a:r>
                  <a:rPr lang="en-US" b="1" dirty="0"/>
                  <a:t>fundamental cut-set</a:t>
                </a:r>
                <a14:m>
                  <m:oMath xmlns:m="http://schemas.openxmlformats.org/officeDocument/2006/math">
                    <m:r>
                      <a:rPr lang="en-US" b="1" i="0" dirty="0" smtClean="0">
                        <a:latin typeface="Cambria Math" panose="02040503050406030204" pitchFamily="18" charset="0"/>
                      </a:rPr>
                      <m:t> </m:t>
                    </m:r>
                    <m:r>
                      <m:rPr>
                        <m:sty m:val="p"/>
                      </m:rPr>
                      <a:rPr lang="en-US" b="0" i="0" dirty="0" err="1" smtClean="0">
                        <a:latin typeface="Cambria Math" panose="02040503050406030204" pitchFamily="18" charset="0"/>
                      </a:rPr>
                      <m:t>S</m:t>
                    </m:r>
                  </m:oMath>
                </a14:m>
                <a:r>
                  <a:rPr lang="en-US" dirty="0"/>
                  <a:t>.</a:t>
                </a:r>
              </a:p>
              <a:p>
                <a:r>
                  <a:rPr lang="en-US" dirty="0"/>
                  <a:t>Then branch</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b</m:t>
                    </m:r>
                  </m:oMath>
                </a14:m>
                <a:r>
                  <a:rPr lang="en-US" dirty="0"/>
                  <a:t> appears in:</a:t>
                </a:r>
              </a:p>
              <a:p>
                <a:pPr lvl="1"/>
                <a:r>
                  <a:rPr lang="en-US" dirty="0"/>
                  <a:t>All fundamental circuits of </a:t>
                </a:r>
                <a:r>
                  <a:rPr lang="en-US" b="1" dirty="0"/>
                  <a:t>chords in S. </a:t>
                </a:r>
              </a:p>
              <a:p>
                <a:pPr lvl="1"/>
                <a:r>
                  <a:rPr lang="en-US" dirty="0"/>
                  <a:t>Not in circuits of other chords.</a:t>
                </a:r>
              </a:p>
            </p:txBody>
          </p:sp>
        </mc:Choice>
        <mc:Fallback xmlns="">
          <p:sp>
            <p:nvSpPr>
              <p:cNvPr id="30" name="Content Placeholder 3"/>
              <p:cNvSpPr txBox="1">
                <a:spLocks noRot="1" noChangeAspect="1" noMove="1" noResize="1" noEditPoints="1" noAdjustHandles="1" noChangeArrowheads="1" noChangeShapeType="1" noTextEdit="1"/>
              </p:cNvSpPr>
              <p:nvPr/>
            </p:nvSpPr>
            <p:spPr>
              <a:xfrm>
                <a:off x="131179" y="1764212"/>
                <a:ext cx="4456404" cy="3132329"/>
              </a:xfrm>
              <a:prstGeom prst="rect">
                <a:avLst/>
              </a:prstGeom>
              <a:blipFill rotWithShape="0">
                <a:blip r:embed="rId3"/>
                <a:stretch>
                  <a:fillRect l="-2599" t="-3307" r="-2736" b="-23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5510196" y="4647146"/>
                <a:ext cx="4443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dirty="0" smtClean="0">
                          <a:solidFill>
                            <a:srgbClr val="002060"/>
                          </a:solidFill>
                          <a:latin typeface="Cambria Math" panose="02040503050406030204" pitchFamily="18" charset="0"/>
                        </a:rPr>
                        <m:t>S</m:t>
                      </m:r>
                    </m:oMath>
                  </m:oMathPara>
                </a14:m>
                <a:endParaRPr lang="en-US" sz="2800" dirty="0">
                  <a:solidFill>
                    <a:srgbClr val="002060"/>
                  </a:solidFill>
                </a:endParaRPr>
              </a:p>
            </p:txBody>
          </p:sp>
        </mc:Choice>
        <mc:Fallback xmlns="">
          <p:sp>
            <p:nvSpPr>
              <p:cNvPr id="3" name="Rectangle 2"/>
              <p:cNvSpPr>
                <a:spLocks noRot="1" noChangeAspect="1" noMove="1" noResize="1" noEditPoints="1" noAdjustHandles="1" noChangeArrowheads="1" noChangeShapeType="1" noTextEdit="1"/>
              </p:cNvSpPr>
              <p:nvPr/>
            </p:nvSpPr>
            <p:spPr>
              <a:xfrm>
                <a:off x="5510196" y="4647146"/>
                <a:ext cx="444352" cy="523220"/>
              </a:xfrm>
              <a:prstGeom prst="rect">
                <a:avLst/>
              </a:prstGeom>
              <a:blipFill rotWithShape="0">
                <a:blip r:embed="rId4"/>
                <a:stretch>
                  <a:fillRect/>
                </a:stretch>
              </a:blipFill>
            </p:spPr>
            <p:txBody>
              <a:bodyPr/>
              <a:lstStyle/>
              <a:p>
                <a:r>
                  <a:rPr lang="en-US">
                    <a:noFill/>
                  </a:rPr>
                  <a:t> </a:t>
                </a:r>
              </a:p>
            </p:txBody>
          </p:sp>
        </mc:Fallback>
      </mc:AlternateContent>
      <p:sp>
        <p:nvSpPr>
          <p:cNvPr id="33" name="Rectangle 32"/>
          <p:cNvSpPr/>
          <p:nvPr/>
        </p:nvSpPr>
        <p:spPr>
          <a:xfrm>
            <a:off x="1984137" y="5713400"/>
            <a:ext cx="8223726" cy="523220"/>
          </a:xfrm>
          <a:prstGeom prst="rect">
            <a:avLst/>
          </a:prstGeom>
        </p:spPr>
        <p:style>
          <a:lnRef idx="2">
            <a:schemeClr val="accent4"/>
          </a:lnRef>
          <a:fillRef idx="1">
            <a:schemeClr val="lt1"/>
          </a:fillRef>
          <a:effectRef idx="0">
            <a:schemeClr val="accent4"/>
          </a:effectRef>
          <a:fontRef idx="minor">
            <a:schemeClr val="dk1"/>
          </a:fontRef>
        </p:style>
        <p:txBody>
          <a:bodyPr wrap="none">
            <a:spAutoFit/>
          </a:bodyPr>
          <a:lstStyle/>
          <a:p>
            <a:r>
              <a:rPr lang="en-US" sz="2800" dirty="0">
                <a:solidFill>
                  <a:schemeClr val="accent6"/>
                </a:solidFill>
              </a:rPr>
              <a:t>A branch belongs only to circuits of chords in its cut-set</a:t>
            </a:r>
          </a:p>
        </p:txBody>
      </p:sp>
    </p:spTree>
    <p:extLst>
      <p:ext uri="{BB962C8B-B14F-4D97-AF65-F5344CB8AC3E}">
        <p14:creationId xmlns:p14="http://schemas.microsoft.com/office/powerpoint/2010/main" val="79512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2000" fill="hold"/>
                                        <p:tgtEl>
                                          <p:spTgt spid="23"/>
                                        </p:tgtEl>
                                        <p:attrNameLst>
                                          <p:attrName>stroke.color</p:attrName>
                                        </p:attrNameLst>
                                      </p:cBhvr>
                                      <p:to>
                                        <a:srgbClr val="FFFF00"/>
                                      </p:to>
                                    </p:animClr>
                                    <p:set>
                                      <p:cBhvr>
                                        <p:cTn id="15" dur="2000" fill="hold"/>
                                        <p:tgtEl>
                                          <p:spTgt spid="23"/>
                                        </p:tgtEl>
                                        <p:attrNameLst>
                                          <p:attrName>stroke.on</p:attrName>
                                        </p:attrNameLst>
                                      </p:cBhvr>
                                      <p:to>
                                        <p:strVal val="tru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2"/>
                                        </p:tgtEl>
                                        <p:attrNameLst>
                                          <p:attrName>style.visibility</p:attrName>
                                        </p:attrNameLst>
                                      </p:cBhvr>
                                      <p:to>
                                        <p:strVal val="visible"/>
                                      </p:to>
                                    </p:set>
                                    <p:animEffect transition="in" filter="wipe(down)">
                                      <p:cBhvr>
                                        <p:cTn id="20" dur="500"/>
                                        <p:tgtEl>
                                          <p:spTgt spid="32"/>
                                        </p:tgtEl>
                                      </p:cBhvr>
                                    </p:animEffect>
                                  </p:childTnLst>
                                </p:cTn>
                              </p:par>
                              <p:par>
                                <p:cTn id="21" presetID="1" presetClass="entr" presetSubtype="0" fill="hold" grpId="0" nodeType="with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2" grpId="0" animBg="1"/>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Relationship: Branch &amp; Fundamental Circuits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1355755"/>
              </a:xfrm>
            </p:spPr>
            <p:txBody>
              <a:bodyPr/>
              <a:lstStyle/>
              <a:p>
                <a:r>
                  <a:rPr lang="en-US" dirty="0"/>
                  <a:t>Consider another branch,</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 </m:t>
                    </m:r>
                    <m:r>
                      <m:rPr>
                        <m:sty m:val="p"/>
                      </m:rPr>
                      <a:rPr lang="en-US" b="0" i="0" smtClean="0">
                        <a:latin typeface="Cambria Math" panose="02040503050406030204" pitchFamily="18" charset="0"/>
                      </a:rPr>
                      <m:t>h</m:t>
                    </m:r>
                  </m:oMath>
                </a14:m>
                <a:r>
                  <a:rPr lang="en-US" dirty="0"/>
                  <a:t> forming a </a:t>
                </a:r>
                <a:r>
                  <a:rPr lang="en-US" b="1" dirty="0"/>
                  <a:t>fundamental c</a:t>
                </a:r>
                <a:r>
                  <a:rPr lang="en-US" b="1" i="0" dirty="0">
                    <a:latin typeface="+mj-lt"/>
                  </a:rPr>
                  <a:t>ut-set </a:t>
                </a:r>
                <a14:m>
                  <m:oMath xmlns:m="http://schemas.openxmlformats.org/officeDocument/2006/math">
                    <m:r>
                      <m:rPr>
                        <m:sty m:val="p"/>
                      </m:rPr>
                      <a:rPr lang="en-US" b="0" i="0" smtClean="0">
                        <a:latin typeface="Cambria Math" panose="02040503050406030204" pitchFamily="18" charset="0"/>
                      </a:rPr>
                      <m:t>S</m:t>
                    </m:r>
                  </m:oMath>
                </a14:m>
                <a:r>
                  <a:rPr lang="en-US" dirty="0"/>
                  <a:t>.</a:t>
                </a:r>
                <a:endParaRPr lang="en-US" dirty="0">
                  <a:effectLst/>
                </a:endParaRPr>
              </a:p>
              <a:p>
                <a:r>
                  <a:rPr lang="en-US" dirty="0"/>
                  <a:t>That branch</a:t>
                </a:r>
                <a14:m>
                  <m:oMath xmlns:m="http://schemas.openxmlformats.org/officeDocument/2006/math">
                    <m:r>
                      <a:rPr lang="en-US" i="0" dirty="0" smtClean="0">
                        <a:latin typeface="Cambria Math" panose="02040503050406030204" pitchFamily="18" charset="0"/>
                      </a:rPr>
                      <m:t> </m:t>
                    </m:r>
                    <m:r>
                      <m:rPr>
                        <m:sty m:val="p"/>
                      </m:rPr>
                      <a:rPr lang="en-US" b="0" i="0" dirty="0" smtClean="0">
                        <a:latin typeface="Cambria Math" panose="02040503050406030204" pitchFamily="18" charset="0"/>
                      </a:rPr>
                      <m:t>h</m:t>
                    </m:r>
                  </m:oMath>
                </a14:m>
                <a:r>
                  <a:rPr lang="en-US" dirty="0"/>
                  <a:t> appears in all fundamental circuits corresponding to the chords in that</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S</m:t>
                    </m:r>
                  </m:oMath>
                </a14:m>
                <a:r>
                  <a:rPr lang="en-US" dirty="0"/>
                  <a:t>, and in no other fundamental circuits.</a:t>
                </a:r>
              </a:p>
              <a:p>
                <a:pPr marL="0" lvl="0" indent="0">
                  <a:buNone/>
                </a:pPr>
                <a:r>
                  <a:rPr lang="en-US" dirty="0"/>
                  <a:t> </a:t>
                </a:r>
              </a:p>
              <a:p>
                <a:pPr marL="457200" lvl="1" indent="0">
                  <a:buNone/>
                </a:pPr>
                <a:endParaRPr lang="en-US" dirty="0"/>
              </a:p>
              <a:p>
                <a:pPr lvl="0"/>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1355755"/>
              </a:xfrm>
              <a:blipFill rotWithShape="0">
                <a:blip r:embed="rId2"/>
                <a:stretch>
                  <a:fillRect l="-971" t="-8108" r="-1074" b="-13964"/>
                </a:stretch>
              </a:blipFill>
            </p:spPr>
            <p:txBody>
              <a:bodyPr/>
              <a:lstStyle/>
              <a:p>
                <a:r>
                  <a:rPr lang="en-US">
                    <a:noFill/>
                  </a:rPr>
                  <a:t> </a:t>
                </a:r>
              </a:p>
            </p:txBody>
          </p:sp>
        </mc:Fallback>
      </mc:AlternateContent>
      <p:sp>
        <p:nvSpPr>
          <p:cNvPr id="5" name="Isosceles Triangle 4"/>
          <p:cNvSpPr/>
          <p:nvPr/>
        </p:nvSpPr>
        <p:spPr>
          <a:xfrm rot="5400000">
            <a:off x="7733986" y="3669492"/>
            <a:ext cx="2057197" cy="1448629"/>
          </a:xfrm>
          <a:prstGeom prst="triangle">
            <a:avLst>
              <a:gd name="adj" fmla="val 47711"/>
            </a:avLst>
          </a:prstGeom>
          <a:solidFill>
            <a:schemeClr val="accent6">
              <a:lumMod val="60000"/>
              <a:lumOff val="40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BDD11F87-DA81-9510-C1CB-0AF4093562CB}"/>
              </a:ext>
            </a:extLst>
          </p:cNvPr>
          <p:cNvSpPr/>
          <p:nvPr/>
        </p:nvSpPr>
        <p:spPr>
          <a:xfrm rot="5400000">
            <a:off x="4380885" y="32272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7956971" y="322725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205DD86-315C-53B6-CEEF-A9919650168E}"/>
              </a:ext>
            </a:extLst>
          </p:cNvPr>
          <p:cNvCxnSpPr>
            <a:cxnSpLocks/>
            <a:stCxn id="7" idx="4"/>
            <a:endCxn id="6" idx="0"/>
          </p:cNvCxnSpPr>
          <p:nvPr/>
        </p:nvCxnSpPr>
        <p:spPr>
          <a:xfrm flipH="1">
            <a:off x="4524885" y="3299259"/>
            <a:ext cx="343208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Oval 8">
            <a:extLst>
              <a:ext uri="{FF2B5EF4-FFF2-40B4-BE49-F238E27FC236}">
                <a16:creationId xmlns:a16="http://schemas.microsoft.com/office/drawing/2014/main" id="{BDD11F87-DA81-9510-C1CB-0AF4093562CB}"/>
              </a:ext>
            </a:extLst>
          </p:cNvPr>
          <p:cNvSpPr/>
          <p:nvPr/>
        </p:nvSpPr>
        <p:spPr>
          <a:xfrm rot="5400000">
            <a:off x="7956971" y="538749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 name="Straight Connector 9">
            <a:extLst>
              <a:ext uri="{FF2B5EF4-FFF2-40B4-BE49-F238E27FC236}">
                <a16:creationId xmlns:a16="http://schemas.microsoft.com/office/drawing/2014/main" id="{6205DD86-315C-53B6-CEEF-A9919650168E}"/>
              </a:ext>
            </a:extLst>
          </p:cNvPr>
          <p:cNvCxnSpPr>
            <a:cxnSpLocks/>
            <a:stCxn id="6" idx="6"/>
            <a:endCxn id="17" idx="2"/>
          </p:cNvCxnSpPr>
          <p:nvPr/>
        </p:nvCxnSpPr>
        <p:spPr>
          <a:xfrm>
            <a:off x="4452885" y="3371259"/>
            <a:ext cx="0" cy="2030057"/>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6205DD86-315C-53B6-CEEF-A9919650168E}"/>
              </a:ext>
            </a:extLst>
          </p:cNvPr>
          <p:cNvCxnSpPr>
            <a:cxnSpLocks/>
            <a:stCxn id="7" idx="6"/>
            <a:endCxn id="9" idx="2"/>
          </p:cNvCxnSpPr>
          <p:nvPr/>
        </p:nvCxnSpPr>
        <p:spPr>
          <a:xfrm>
            <a:off x="8028971" y="3371259"/>
            <a:ext cx="0" cy="20162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6205DD86-315C-53B6-CEEF-A9919650168E}"/>
              </a:ext>
            </a:extLst>
          </p:cNvPr>
          <p:cNvCxnSpPr>
            <a:cxnSpLocks/>
            <a:stCxn id="9" idx="4"/>
            <a:endCxn id="17" idx="0"/>
          </p:cNvCxnSpPr>
          <p:nvPr/>
        </p:nvCxnSpPr>
        <p:spPr>
          <a:xfrm flipH="1">
            <a:off x="4524885" y="5459499"/>
            <a:ext cx="3432086" cy="138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 name="TextBox 12"/>
          <p:cNvSpPr txBox="1"/>
          <p:nvPr/>
        </p:nvSpPr>
        <p:spPr>
          <a:xfrm>
            <a:off x="3483435" y="329066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4" name="TextBox 13"/>
          <p:cNvSpPr txBox="1"/>
          <p:nvPr/>
        </p:nvSpPr>
        <p:spPr>
          <a:xfrm>
            <a:off x="6059628" y="5545316"/>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5" name="TextBox 14"/>
          <p:cNvSpPr txBox="1"/>
          <p:nvPr/>
        </p:nvSpPr>
        <p:spPr>
          <a:xfrm>
            <a:off x="3498670" y="4885367"/>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6" name="TextBox 15"/>
          <p:cNvSpPr txBox="1"/>
          <p:nvPr/>
        </p:nvSpPr>
        <p:spPr>
          <a:xfrm>
            <a:off x="4695234" y="4148807"/>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7" name="Oval 16">
            <a:extLst>
              <a:ext uri="{FF2B5EF4-FFF2-40B4-BE49-F238E27FC236}">
                <a16:creationId xmlns:a16="http://schemas.microsoft.com/office/drawing/2014/main" id="{BDD11F87-DA81-9510-C1CB-0AF4093562CB}"/>
              </a:ext>
            </a:extLst>
          </p:cNvPr>
          <p:cNvSpPr/>
          <p:nvPr/>
        </p:nvSpPr>
        <p:spPr>
          <a:xfrm rot="5400000">
            <a:off x="4380885" y="54013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8" name="Straight Connector 17">
            <a:extLst>
              <a:ext uri="{FF2B5EF4-FFF2-40B4-BE49-F238E27FC236}">
                <a16:creationId xmlns:a16="http://schemas.microsoft.com/office/drawing/2014/main" id="{6205DD86-315C-53B6-CEEF-A9919650168E}"/>
              </a:ext>
            </a:extLst>
          </p:cNvPr>
          <p:cNvCxnSpPr>
            <a:cxnSpLocks/>
            <a:stCxn id="20" idx="5"/>
            <a:endCxn id="9" idx="1"/>
          </p:cNvCxnSpPr>
          <p:nvPr/>
        </p:nvCxnSpPr>
        <p:spPr>
          <a:xfrm flipH="1">
            <a:off x="8079883" y="4394291"/>
            <a:ext cx="1359469" cy="1014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6205DD86-315C-53B6-CEEF-A9919650168E}"/>
              </a:ext>
            </a:extLst>
          </p:cNvPr>
          <p:cNvCxnSpPr>
            <a:cxnSpLocks/>
            <a:stCxn id="7" idx="7"/>
            <a:endCxn id="20" idx="3"/>
          </p:cNvCxnSpPr>
          <p:nvPr/>
        </p:nvCxnSpPr>
        <p:spPr>
          <a:xfrm>
            <a:off x="8079883" y="3350171"/>
            <a:ext cx="1359469" cy="942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BDD11F87-DA81-9510-C1CB-0AF4093562CB}"/>
              </a:ext>
            </a:extLst>
          </p:cNvPr>
          <p:cNvSpPr/>
          <p:nvPr/>
        </p:nvSpPr>
        <p:spPr>
          <a:xfrm rot="5400000">
            <a:off x="9418264" y="427137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1" name="Oval 20">
            <a:extLst>
              <a:ext uri="{FF2B5EF4-FFF2-40B4-BE49-F238E27FC236}">
                <a16:creationId xmlns:a16="http://schemas.microsoft.com/office/drawing/2014/main" id="{BDD11F87-DA81-9510-C1CB-0AF4093562CB}"/>
              </a:ext>
            </a:extLst>
          </p:cNvPr>
          <p:cNvSpPr/>
          <p:nvPr/>
        </p:nvSpPr>
        <p:spPr>
          <a:xfrm rot="5400000">
            <a:off x="2990494" y="42664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2" name="Straight Connector 21">
            <a:extLst>
              <a:ext uri="{FF2B5EF4-FFF2-40B4-BE49-F238E27FC236}">
                <a16:creationId xmlns:a16="http://schemas.microsoft.com/office/drawing/2014/main" id="{6205DD86-315C-53B6-CEEF-A9919650168E}"/>
              </a:ext>
            </a:extLst>
          </p:cNvPr>
          <p:cNvCxnSpPr>
            <a:cxnSpLocks/>
            <a:stCxn id="6" idx="5"/>
            <a:endCxn id="21" idx="1"/>
          </p:cNvCxnSpPr>
          <p:nvPr/>
        </p:nvCxnSpPr>
        <p:spPr>
          <a:xfrm flipH="1">
            <a:off x="3113406" y="3350171"/>
            <a:ext cx="1288567" cy="93733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21" idx="7"/>
            <a:endCxn id="17" idx="3"/>
          </p:cNvCxnSpPr>
          <p:nvPr/>
        </p:nvCxnSpPr>
        <p:spPr>
          <a:xfrm>
            <a:off x="3113406" y="4389328"/>
            <a:ext cx="1288567" cy="103307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4" name="TextBox 23"/>
          <p:cNvSpPr txBox="1"/>
          <p:nvPr/>
        </p:nvSpPr>
        <p:spPr>
          <a:xfrm>
            <a:off x="6064437" y="3863067"/>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5" name="TextBox 24"/>
          <p:cNvSpPr txBox="1"/>
          <p:nvPr/>
        </p:nvSpPr>
        <p:spPr>
          <a:xfrm>
            <a:off x="6059628" y="2704039"/>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cxnSp>
        <p:nvCxnSpPr>
          <p:cNvPr id="26" name="Straight Connector 25">
            <a:extLst>
              <a:ext uri="{FF2B5EF4-FFF2-40B4-BE49-F238E27FC236}">
                <a16:creationId xmlns:a16="http://schemas.microsoft.com/office/drawing/2014/main" id="{6205DD86-315C-53B6-CEEF-A9919650168E}"/>
              </a:ext>
            </a:extLst>
          </p:cNvPr>
          <p:cNvCxnSpPr>
            <a:cxnSpLocks/>
            <a:stCxn id="7" idx="5"/>
            <a:endCxn id="17" idx="1"/>
          </p:cNvCxnSpPr>
          <p:nvPr/>
        </p:nvCxnSpPr>
        <p:spPr>
          <a:xfrm flipH="1">
            <a:off x="4503797" y="3350171"/>
            <a:ext cx="3474262" cy="2072233"/>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7" name="TextBox 26"/>
          <p:cNvSpPr txBox="1"/>
          <p:nvPr/>
        </p:nvSpPr>
        <p:spPr>
          <a:xfrm>
            <a:off x="8704667" y="3371259"/>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8" name="TextBox 27"/>
          <p:cNvSpPr txBox="1"/>
          <p:nvPr/>
        </p:nvSpPr>
        <p:spPr>
          <a:xfrm>
            <a:off x="7675672" y="4076806"/>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9" name="TextBox 28"/>
          <p:cNvSpPr txBox="1"/>
          <p:nvPr/>
        </p:nvSpPr>
        <p:spPr>
          <a:xfrm>
            <a:off x="8704667" y="4885367"/>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32" name="Arc 31"/>
          <p:cNvSpPr/>
          <p:nvPr/>
        </p:nvSpPr>
        <p:spPr>
          <a:xfrm rot="19774242">
            <a:off x="6563088" y="4261328"/>
            <a:ext cx="4536587" cy="1564501"/>
          </a:xfrm>
          <a:prstGeom prst="arc">
            <a:avLst>
              <a:gd name="adj1" fmla="val 11443810"/>
              <a:gd name="adj2" fmla="val 19488944"/>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Rectangle 32"/>
              <p:cNvSpPr/>
              <p:nvPr/>
            </p:nvSpPr>
            <p:spPr>
              <a:xfrm>
                <a:off x="9248848" y="3676772"/>
                <a:ext cx="4443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S</m:t>
                      </m:r>
                    </m:oMath>
                  </m:oMathPara>
                </a14:m>
                <a:endParaRPr lang="en-US" sz="2800" dirty="0">
                  <a:solidFill>
                    <a:srgbClr val="002060"/>
                  </a:solidFill>
                </a:endParaRPr>
              </a:p>
            </p:txBody>
          </p:sp>
        </mc:Choice>
        <mc:Fallback xmlns="">
          <p:sp>
            <p:nvSpPr>
              <p:cNvPr id="33" name="Rectangle 32"/>
              <p:cNvSpPr>
                <a:spLocks noRot="1" noChangeAspect="1" noMove="1" noResize="1" noEditPoints="1" noAdjustHandles="1" noChangeArrowheads="1" noChangeShapeType="1" noTextEdit="1"/>
              </p:cNvSpPr>
              <p:nvPr/>
            </p:nvSpPr>
            <p:spPr>
              <a:xfrm>
                <a:off x="9248848" y="3676772"/>
                <a:ext cx="444352" cy="523220"/>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79692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7" presetClass="emph" presetSubtype="2" fill="hold" nodeType="clickEffect">
                                  <p:stCondLst>
                                    <p:cond delay="0"/>
                                  </p:stCondLst>
                                  <p:childTnLst>
                                    <p:animClr clrSpc="rgb" dir="cw">
                                      <p:cBhvr>
                                        <p:cTn id="10" dur="250" fill="hold"/>
                                        <p:tgtEl>
                                          <p:spTgt spid="19"/>
                                        </p:tgtEl>
                                        <p:attrNameLst>
                                          <p:attrName>stroke.color</p:attrName>
                                        </p:attrNameLst>
                                      </p:cBhvr>
                                      <p:to>
                                        <a:srgbClr val="FFFF00"/>
                                      </p:to>
                                    </p:animClr>
                                    <p:set>
                                      <p:cBhvr>
                                        <p:cTn id="11" dur="250" fill="hold"/>
                                        <p:tgtEl>
                                          <p:spTgt spid="19"/>
                                        </p:tgtEl>
                                        <p:attrNameLst>
                                          <p:attrName>stroke.on</p:attrName>
                                        </p:attrNameLst>
                                      </p:cBhvr>
                                      <p:to>
                                        <p:strVal val="tru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wipe(down)">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3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31" name="Rectangle 34"/>
          <p:cNvSpPr/>
          <p:nvPr/>
        </p:nvSpPr>
        <p:spPr>
          <a:xfrm>
            <a:off x="4449328" y="3193211"/>
            <a:ext cx="5010150" cy="2162175"/>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2324100"/>
              <a:gd name="connsiteY0" fmla="*/ 200025 h 1114425"/>
              <a:gd name="connsiteX1" fmla="*/ 2324100 w 2324100"/>
              <a:gd name="connsiteY1" fmla="*/ 0 h 1114425"/>
              <a:gd name="connsiteX2" fmla="*/ 914400 w 2324100"/>
              <a:gd name="connsiteY2" fmla="*/ 1114425 h 1114425"/>
              <a:gd name="connsiteX3" fmla="*/ 0 w 2324100"/>
              <a:gd name="connsiteY3" fmla="*/ 1114425 h 1114425"/>
              <a:gd name="connsiteX4" fmla="*/ 0 w 2324100"/>
              <a:gd name="connsiteY4" fmla="*/ 200025 h 1114425"/>
              <a:gd name="connsiteX0" fmla="*/ 876300 w 2324100"/>
              <a:gd name="connsiteY0" fmla="*/ 0 h 2152650"/>
              <a:gd name="connsiteX1" fmla="*/ 2324100 w 2324100"/>
              <a:gd name="connsiteY1" fmla="*/ 1038225 h 2152650"/>
              <a:gd name="connsiteX2" fmla="*/ 914400 w 2324100"/>
              <a:gd name="connsiteY2" fmla="*/ 2152650 h 2152650"/>
              <a:gd name="connsiteX3" fmla="*/ 0 w 2324100"/>
              <a:gd name="connsiteY3" fmla="*/ 2152650 h 2152650"/>
              <a:gd name="connsiteX4" fmla="*/ 876300 w 2324100"/>
              <a:gd name="connsiteY4" fmla="*/ 0 h 2152650"/>
              <a:gd name="connsiteX0" fmla="*/ 3562350 w 5010150"/>
              <a:gd name="connsiteY0" fmla="*/ 0 h 2162175"/>
              <a:gd name="connsiteX1" fmla="*/ 5010150 w 5010150"/>
              <a:gd name="connsiteY1" fmla="*/ 1038225 h 2162175"/>
              <a:gd name="connsiteX2" fmla="*/ 3600450 w 5010150"/>
              <a:gd name="connsiteY2" fmla="*/ 2152650 h 2162175"/>
              <a:gd name="connsiteX3" fmla="*/ 0 w 5010150"/>
              <a:gd name="connsiteY3" fmla="*/ 2162175 h 2162175"/>
              <a:gd name="connsiteX4" fmla="*/ 3562350 w 5010150"/>
              <a:gd name="connsiteY4" fmla="*/ 0 h 216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0" h="2162175">
                <a:moveTo>
                  <a:pt x="3562350" y="0"/>
                </a:moveTo>
                <a:lnTo>
                  <a:pt x="5010150" y="1038225"/>
                </a:lnTo>
                <a:lnTo>
                  <a:pt x="3600450" y="2152650"/>
                </a:lnTo>
                <a:lnTo>
                  <a:pt x="0" y="2162175"/>
                </a:lnTo>
                <a:lnTo>
                  <a:pt x="3562350"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Relationship: Branch &amp; Fundamental Circuits</a:t>
            </a:r>
          </a:p>
        </p:txBody>
      </p:sp>
      <mc:AlternateContent xmlns:mc="http://schemas.openxmlformats.org/markup-compatibility/2006" xmlns:a14="http://schemas.microsoft.com/office/drawing/2010/main">
        <mc:Choice Requires="a14">
          <p:sp>
            <p:nvSpPr>
              <p:cNvPr id="4" name="Content Placeholder 3"/>
              <p:cNvSpPr>
                <a:spLocks noGrp="1"/>
              </p:cNvSpPr>
              <p:nvPr>
                <p:ph idx="1"/>
              </p:nvPr>
            </p:nvSpPr>
            <p:spPr>
              <a:xfrm>
                <a:off x="131180" y="863444"/>
                <a:ext cx="11929641" cy="1355755"/>
              </a:xfrm>
            </p:spPr>
            <p:txBody>
              <a:bodyPr/>
              <a:lstStyle/>
              <a:p>
                <a:r>
                  <a:rPr lang="en-US" dirty="0"/>
                  <a:t>Consider another branch,</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 </m:t>
                    </m:r>
                    <m:r>
                      <m:rPr>
                        <m:sty m:val="p"/>
                      </m:rPr>
                      <a:rPr lang="en-US" b="0" i="0" smtClean="0">
                        <a:latin typeface="Cambria Math" panose="02040503050406030204" pitchFamily="18" charset="0"/>
                      </a:rPr>
                      <m:t>h</m:t>
                    </m:r>
                  </m:oMath>
                </a14:m>
                <a:r>
                  <a:rPr lang="en-US" dirty="0"/>
                  <a:t> forming a </a:t>
                </a:r>
                <a:r>
                  <a:rPr lang="en-US" b="1" dirty="0"/>
                  <a:t>fundamental c</a:t>
                </a:r>
                <a:r>
                  <a:rPr lang="en-US" b="1" i="0" dirty="0">
                    <a:latin typeface="+mj-lt"/>
                  </a:rPr>
                  <a:t>ut-set </a:t>
                </a:r>
                <a14:m>
                  <m:oMath xmlns:m="http://schemas.openxmlformats.org/officeDocument/2006/math">
                    <m:r>
                      <m:rPr>
                        <m:sty m:val="p"/>
                      </m:rPr>
                      <a:rPr lang="en-US" b="0" i="0" smtClean="0">
                        <a:latin typeface="Cambria Math" panose="02040503050406030204" pitchFamily="18" charset="0"/>
                      </a:rPr>
                      <m:t>S</m:t>
                    </m:r>
                  </m:oMath>
                </a14:m>
                <a:r>
                  <a:rPr lang="en-US" dirty="0"/>
                  <a:t>.</a:t>
                </a:r>
                <a:endParaRPr lang="en-US" dirty="0">
                  <a:effectLst/>
                </a:endParaRPr>
              </a:p>
              <a:p>
                <a:r>
                  <a:rPr lang="en-US" dirty="0"/>
                  <a:t>That branch</a:t>
                </a:r>
                <a14:m>
                  <m:oMath xmlns:m="http://schemas.openxmlformats.org/officeDocument/2006/math">
                    <m:r>
                      <a:rPr lang="en-US" i="0" dirty="0" smtClean="0">
                        <a:latin typeface="Cambria Math" panose="02040503050406030204" pitchFamily="18" charset="0"/>
                      </a:rPr>
                      <m:t> </m:t>
                    </m:r>
                    <m:r>
                      <m:rPr>
                        <m:sty m:val="p"/>
                      </m:rPr>
                      <a:rPr lang="en-US" b="0" i="0" dirty="0" smtClean="0">
                        <a:latin typeface="Cambria Math" panose="02040503050406030204" pitchFamily="18" charset="0"/>
                      </a:rPr>
                      <m:t>h</m:t>
                    </m:r>
                  </m:oMath>
                </a14:m>
                <a:r>
                  <a:rPr lang="en-US" dirty="0"/>
                  <a:t> appears in all fundamental circuits corresponding to the chords in that</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S</m:t>
                    </m:r>
                  </m:oMath>
                </a14:m>
                <a:r>
                  <a:rPr lang="en-US" dirty="0"/>
                  <a:t>, and in no other fundamental circuits.</a:t>
                </a:r>
              </a:p>
              <a:p>
                <a:pPr marL="0" lvl="0" indent="0">
                  <a:buNone/>
                </a:pPr>
                <a:r>
                  <a:rPr lang="en-US" dirty="0"/>
                  <a:t> </a:t>
                </a:r>
              </a:p>
              <a:p>
                <a:pPr marL="457200" lvl="1" indent="0">
                  <a:buNone/>
                </a:pPr>
                <a:endParaRPr lang="en-US" dirty="0"/>
              </a:p>
              <a:p>
                <a:pPr lvl="0"/>
                <a:endParaRPr lang="en-US" dirty="0"/>
              </a:p>
            </p:txBody>
          </p:sp>
        </mc:Choice>
        <mc:Fallback xmlns="">
          <p:sp>
            <p:nvSpPr>
              <p:cNvPr id="4" name="Content Placeholder 3"/>
              <p:cNvSpPr>
                <a:spLocks noGrp="1" noRot="1" noChangeAspect="1" noMove="1" noResize="1" noEditPoints="1" noAdjustHandles="1" noChangeArrowheads="1" noChangeShapeType="1" noTextEdit="1"/>
              </p:cNvSpPr>
              <p:nvPr>
                <p:ph idx="1"/>
              </p:nvPr>
            </p:nvSpPr>
            <p:spPr>
              <a:xfrm>
                <a:off x="131180" y="863444"/>
                <a:ext cx="11929641" cy="1355755"/>
              </a:xfrm>
              <a:blipFill rotWithShape="0">
                <a:blip r:embed="rId2"/>
                <a:stretch>
                  <a:fillRect l="-971" t="-8108" r="-1074" b="-13964"/>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BDD11F87-DA81-9510-C1CB-0AF4093562CB}"/>
              </a:ext>
            </a:extLst>
          </p:cNvPr>
          <p:cNvSpPr/>
          <p:nvPr/>
        </p:nvSpPr>
        <p:spPr>
          <a:xfrm rot="5400000">
            <a:off x="4380885" y="31147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7956971" y="31147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205DD86-315C-53B6-CEEF-A9919650168E}"/>
              </a:ext>
            </a:extLst>
          </p:cNvPr>
          <p:cNvCxnSpPr>
            <a:cxnSpLocks/>
            <a:stCxn id="7" idx="4"/>
            <a:endCxn id="6" idx="0"/>
          </p:cNvCxnSpPr>
          <p:nvPr/>
        </p:nvCxnSpPr>
        <p:spPr>
          <a:xfrm flipH="1">
            <a:off x="4524885" y="3186717"/>
            <a:ext cx="343208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Oval 8">
            <a:extLst>
              <a:ext uri="{FF2B5EF4-FFF2-40B4-BE49-F238E27FC236}">
                <a16:creationId xmlns:a16="http://schemas.microsoft.com/office/drawing/2014/main" id="{BDD11F87-DA81-9510-C1CB-0AF4093562CB}"/>
              </a:ext>
            </a:extLst>
          </p:cNvPr>
          <p:cNvSpPr/>
          <p:nvPr/>
        </p:nvSpPr>
        <p:spPr>
          <a:xfrm rot="5400000">
            <a:off x="7956971" y="52749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 name="Straight Connector 9">
            <a:extLst>
              <a:ext uri="{FF2B5EF4-FFF2-40B4-BE49-F238E27FC236}">
                <a16:creationId xmlns:a16="http://schemas.microsoft.com/office/drawing/2014/main" id="{6205DD86-315C-53B6-CEEF-A9919650168E}"/>
              </a:ext>
            </a:extLst>
          </p:cNvPr>
          <p:cNvCxnSpPr>
            <a:cxnSpLocks/>
            <a:stCxn id="6" idx="6"/>
            <a:endCxn id="17" idx="2"/>
          </p:cNvCxnSpPr>
          <p:nvPr/>
        </p:nvCxnSpPr>
        <p:spPr>
          <a:xfrm>
            <a:off x="4452885" y="3258717"/>
            <a:ext cx="0" cy="2030057"/>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Straight Connector 10">
            <a:extLst>
              <a:ext uri="{FF2B5EF4-FFF2-40B4-BE49-F238E27FC236}">
                <a16:creationId xmlns:a16="http://schemas.microsoft.com/office/drawing/2014/main" id="{6205DD86-315C-53B6-CEEF-A9919650168E}"/>
              </a:ext>
            </a:extLst>
          </p:cNvPr>
          <p:cNvCxnSpPr>
            <a:cxnSpLocks/>
            <a:stCxn id="7" idx="6"/>
            <a:endCxn id="9" idx="2"/>
          </p:cNvCxnSpPr>
          <p:nvPr/>
        </p:nvCxnSpPr>
        <p:spPr>
          <a:xfrm>
            <a:off x="8028971" y="3258717"/>
            <a:ext cx="0" cy="20162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6205DD86-315C-53B6-CEEF-A9919650168E}"/>
              </a:ext>
            </a:extLst>
          </p:cNvPr>
          <p:cNvCxnSpPr>
            <a:cxnSpLocks/>
            <a:stCxn id="9" idx="4"/>
            <a:endCxn id="17" idx="0"/>
          </p:cNvCxnSpPr>
          <p:nvPr/>
        </p:nvCxnSpPr>
        <p:spPr>
          <a:xfrm flipH="1">
            <a:off x="4524885" y="5346957"/>
            <a:ext cx="3432086" cy="138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 name="TextBox 12"/>
          <p:cNvSpPr txBox="1"/>
          <p:nvPr/>
        </p:nvSpPr>
        <p:spPr>
          <a:xfrm>
            <a:off x="3483435" y="3178118"/>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4" name="TextBox 13"/>
          <p:cNvSpPr txBox="1"/>
          <p:nvPr/>
        </p:nvSpPr>
        <p:spPr>
          <a:xfrm>
            <a:off x="6059628" y="5432774"/>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5" name="TextBox 14"/>
          <p:cNvSpPr txBox="1"/>
          <p:nvPr/>
        </p:nvSpPr>
        <p:spPr>
          <a:xfrm>
            <a:off x="3498670" y="4772825"/>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6" name="TextBox 15"/>
          <p:cNvSpPr txBox="1"/>
          <p:nvPr/>
        </p:nvSpPr>
        <p:spPr>
          <a:xfrm>
            <a:off x="4695234" y="4036265"/>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7" name="Oval 16">
            <a:extLst>
              <a:ext uri="{FF2B5EF4-FFF2-40B4-BE49-F238E27FC236}">
                <a16:creationId xmlns:a16="http://schemas.microsoft.com/office/drawing/2014/main" id="{BDD11F87-DA81-9510-C1CB-0AF4093562CB}"/>
              </a:ext>
            </a:extLst>
          </p:cNvPr>
          <p:cNvSpPr/>
          <p:nvPr/>
        </p:nvSpPr>
        <p:spPr>
          <a:xfrm rot="5400000">
            <a:off x="4380885" y="52887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8" name="Straight Connector 17">
            <a:extLst>
              <a:ext uri="{FF2B5EF4-FFF2-40B4-BE49-F238E27FC236}">
                <a16:creationId xmlns:a16="http://schemas.microsoft.com/office/drawing/2014/main" id="{6205DD86-315C-53B6-CEEF-A9919650168E}"/>
              </a:ext>
            </a:extLst>
          </p:cNvPr>
          <p:cNvCxnSpPr>
            <a:cxnSpLocks/>
            <a:stCxn id="20" idx="5"/>
            <a:endCxn id="9" idx="1"/>
          </p:cNvCxnSpPr>
          <p:nvPr/>
        </p:nvCxnSpPr>
        <p:spPr>
          <a:xfrm flipH="1">
            <a:off x="8079883" y="4281749"/>
            <a:ext cx="1359469" cy="1014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6205DD86-315C-53B6-CEEF-A9919650168E}"/>
              </a:ext>
            </a:extLst>
          </p:cNvPr>
          <p:cNvCxnSpPr>
            <a:cxnSpLocks/>
            <a:stCxn id="7" idx="7"/>
            <a:endCxn id="20" idx="3"/>
          </p:cNvCxnSpPr>
          <p:nvPr/>
        </p:nvCxnSpPr>
        <p:spPr>
          <a:xfrm>
            <a:off x="8079883" y="3237629"/>
            <a:ext cx="1359469" cy="942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BDD11F87-DA81-9510-C1CB-0AF4093562CB}"/>
              </a:ext>
            </a:extLst>
          </p:cNvPr>
          <p:cNvSpPr/>
          <p:nvPr/>
        </p:nvSpPr>
        <p:spPr>
          <a:xfrm rot="5400000">
            <a:off x="9418264" y="41588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1" name="Oval 20">
            <a:extLst>
              <a:ext uri="{FF2B5EF4-FFF2-40B4-BE49-F238E27FC236}">
                <a16:creationId xmlns:a16="http://schemas.microsoft.com/office/drawing/2014/main" id="{BDD11F87-DA81-9510-C1CB-0AF4093562CB}"/>
              </a:ext>
            </a:extLst>
          </p:cNvPr>
          <p:cNvSpPr/>
          <p:nvPr/>
        </p:nvSpPr>
        <p:spPr>
          <a:xfrm rot="5400000">
            <a:off x="2990494" y="41538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2" name="Straight Connector 21">
            <a:extLst>
              <a:ext uri="{FF2B5EF4-FFF2-40B4-BE49-F238E27FC236}">
                <a16:creationId xmlns:a16="http://schemas.microsoft.com/office/drawing/2014/main" id="{6205DD86-315C-53B6-CEEF-A9919650168E}"/>
              </a:ext>
            </a:extLst>
          </p:cNvPr>
          <p:cNvCxnSpPr>
            <a:cxnSpLocks/>
            <a:stCxn id="6" idx="5"/>
            <a:endCxn id="21" idx="1"/>
          </p:cNvCxnSpPr>
          <p:nvPr/>
        </p:nvCxnSpPr>
        <p:spPr>
          <a:xfrm flipH="1">
            <a:off x="3113406" y="3237629"/>
            <a:ext cx="1288567" cy="93733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21" idx="7"/>
            <a:endCxn id="17" idx="3"/>
          </p:cNvCxnSpPr>
          <p:nvPr/>
        </p:nvCxnSpPr>
        <p:spPr>
          <a:xfrm>
            <a:off x="3113406" y="4276786"/>
            <a:ext cx="1288567" cy="103307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4" name="TextBox 23"/>
          <p:cNvSpPr txBox="1"/>
          <p:nvPr/>
        </p:nvSpPr>
        <p:spPr>
          <a:xfrm>
            <a:off x="6064437" y="3750525"/>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5" name="TextBox 24"/>
          <p:cNvSpPr txBox="1"/>
          <p:nvPr/>
        </p:nvSpPr>
        <p:spPr>
          <a:xfrm>
            <a:off x="6059628" y="2591497"/>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cxnSp>
        <p:nvCxnSpPr>
          <p:cNvPr id="26" name="Straight Connector 25">
            <a:extLst>
              <a:ext uri="{FF2B5EF4-FFF2-40B4-BE49-F238E27FC236}">
                <a16:creationId xmlns:a16="http://schemas.microsoft.com/office/drawing/2014/main" id="{6205DD86-315C-53B6-CEEF-A9919650168E}"/>
              </a:ext>
            </a:extLst>
          </p:cNvPr>
          <p:cNvCxnSpPr>
            <a:cxnSpLocks/>
            <a:stCxn id="7" idx="5"/>
            <a:endCxn id="17" idx="1"/>
          </p:cNvCxnSpPr>
          <p:nvPr/>
        </p:nvCxnSpPr>
        <p:spPr>
          <a:xfrm flipH="1">
            <a:off x="4503797" y="3237629"/>
            <a:ext cx="3474262" cy="2072233"/>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27" name="TextBox 26"/>
          <p:cNvSpPr txBox="1"/>
          <p:nvPr/>
        </p:nvSpPr>
        <p:spPr>
          <a:xfrm>
            <a:off x="8704667" y="3258717"/>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8" name="TextBox 27"/>
          <p:cNvSpPr txBox="1"/>
          <p:nvPr/>
        </p:nvSpPr>
        <p:spPr>
          <a:xfrm>
            <a:off x="7675672" y="3964264"/>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9" name="TextBox 28"/>
          <p:cNvSpPr txBox="1"/>
          <p:nvPr/>
        </p:nvSpPr>
        <p:spPr>
          <a:xfrm>
            <a:off x="8704667" y="4772825"/>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32" name="Arc 31"/>
          <p:cNvSpPr/>
          <p:nvPr/>
        </p:nvSpPr>
        <p:spPr>
          <a:xfrm rot="19774242">
            <a:off x="6563088" y="4148786"/>
            <a:ext cx="4536587" cy="1564501"/>
          </a:xfrm>
          <a:prstGeom prst="arc">
            <a:avLst>
              <a:gd name="adj1" fmla="val 11443810"/>
              <a:gd name="adj2" fmla="val 19488944"/>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Rectangle 32"/>
              <p:cNvSpPr/>
              <p:nvPr/>
            </p:nvSpPr>
            <p:spPr>
              <a:xfrm>
                <a:off x="9248848" y="3564230"/>
                <a:ext cx="44435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US" sz="2800" smtClean="0">
                          <a:solidFill>
                            <a:srgbClr val="002060"/>
                          </a:solidFill>
                          <a:latin typeface="Cambria Math" panose="02040503050406030204" pitchFamily="18" charset="0"/>
                        </a:rPr>
                        <m:t>S</m:t>
                      </m:r>
                    </m:oMath>
                  </m:oMathPara>
                </a14:m>
                <a:endParaRPr lang="en-US" sz="2800" dirty="0">
                  <a:solidFill>
                    <a:srgbClr val="002060"/>
                  </a:solidFill>
                </a:endParaRPr>
              </a:p>
            </p:txBody>
          </p:sp>
        </mc:Choice>
        <mc:Fallback xmlns="">
          <p:sp>
            <p:nvSpPr>
              <p:cNvPr id="33" name="Rectangle 32"/>
              <p:cNvSpPr>
                <a:spLocks noRot="1" noChangeAspect="1" noMove="1" noResize="1" noEditPoints="1" noAdjustHandles="1" noChangeArrowheads="1" noChangeShapeType="1" noTextEdit="1"/>
              </p:cNvSpPr>
              <p:nvPr/>
            </p:nvSpPr>
            <p:spPr>
              <a:xfrm>
                <a:off x="9248848" y="3564230"/>
                <a:ext cx="444352" cy="523220"/>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57358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7" presetClass="emph" presetSubtype="2" fill="hold" nodeType="clickEffect">
                                  <p:stCondLst>
                                    <p:cond delay="0"/>
                                  </p:stCondLst>
                                  <p:childTnLst>
                                    <p:animClr clrSpc="rgb" dir="cw">
                                      <p:cBhvr>
                                        <p:cTn id="10" dur="250" fill="hold"/>
                                        <p:tgtEl>
                                          <p:spTgt spid="19"/>
                                        </p:tgtEl>
                                        <p:attrNameLst>
                                          <p:attrName>stroke.color</p:attrName>
                                        </p:attrNameLst>
                                      </p:cBhvr>
                                      <p:to>
                                        <a:srgbClr val="FFFF00"/>
                                      </p:to>
                                    </p:animClr>
                                    <p:set>
                                      <p:cBhvr>
                                        <p:cTn id="11" dur="250" fill="hold"/>
                                        <p:tgtEl>
                                          <p:spTgt spid="19"/>
                                        </p:tgtEl>
                                        <p:attrNameLst>
                                          <p:attrName>stroke.on</p:attrName>
                                        </p:attrNameLst>
                                      </p:cBhvr>
                                      <p:to>
                                        <p:strVal val="tru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wipe(down)">
                                      <p:cBhvr>
                                        <p:cTn id="16" dur="500"/>
                                        <p:tgtEl>
                                          <p:spTgt spid="3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normAutofit/>
          </a:bodyPr>
          <a:lstStyle/>
          <a:p>
            <a:r>
              <a:rPr lang="en-US" dirty="0"/>
              <a:t>For you ?</a:t>
            </a:r>
          </a:p>
        </p:txBody>
      </p:sp>
      <mc:AlternateContent xmlns:mc="http://schemas.openxmlformats.org/markup-compatibility/2006" xmlns:a14="http://schemas.microsoft.com/office/drawing/2010/main">
        <mc:Choice Requires="a14">
          <p:sp>
            <p:nvSpPr>
              <p:cNvPr id="34" name="Content Placeholder 3"/>
              <p:cNvSpPr txBox="1">
                <a:spLocks/>
              </p:cNvSpPr>
              <p:nvPr/>
            </p:nvSpPr>
            <p:spPr>
              <a:xfrm>
                <a:off x="131179" y="867999"/>
                <a:ext cx="11929641" cy="87586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Explain property 1 for the spanning tree is</a:t>
                </a:r>
                <a14:m>
                  <m:oMath xmlns:m="http://schemas.openxmlformats.org/officeDocument/2006/math">
                    <m:r>
                      <a:rPr lang="en-US" i="1">
                        <a:latin typeface="Cambria Math" panose="02040503050406030204" pitchFamily="18" charset="0"/>
                      </a:rPr>
                      <m:t> </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b</m:t>
                        </m:r>
                        <m:r>
                          <a:rPr lang="en-US">
                            <a:latin typeface="Cambria Math" panose="02040503050406030204" pitchFamily="18" charset="0"/>
                          </a:rPr>
                          <m:t>, </m:t>
                        </m:r>
                        <m:r>
                          <m:rPr>
                            <m:sty m:val="p"/>
                          </m:rPr>
                          <a:rPr lang="en-US">
                            <a:latin typeface="Cambria Math" panose="02040503050406030204" pitchFamily="18" charset="0"/>
                          </a:rPr>
                          <m:t>c</m:t>
                        </m:r>
                        <m:r>
                          <a:rPr lang="en-US">
                            <a:latin typeface="Cambria Math" panose="02040503050406030204" pitchFamily="18" charset="0"/>
                          </a:rPr>
                          <m:t>, </m:t>
                        </m:r>
                        <m:r>
                          <m:rPr>
                            <m:sty m:val="p"/>
                          </m:rPr>
                          <a:rPr lang="en-US">
                            <a:latin typeface="Cambria Math" panose="02040503050406030204" pitchFamily="18" charset="0"/>
                          </a:rPr>
                          <m:t>e</m:t>
                        </m:r>
                        <m:r>
                          <a:rPr lang="en-US">
                            <a:latin typeface="Cambria Math" panose="02040503050406030204" pitchFamily="18" charset="0"/>
                          </a:rPr>
                          <m:t>, </m:t>
                        </m:r>
                        <m:r>
                          <m:rPr>
                            <m:sty m:val="p"/>
                          </m:rPr>
                          <a:rPr lang="en-US">
                            <a:latin typeface="Cambria Math" panose="02040503050406030204" pitchFamily="18" charset="0"/>
                          </a:rPr>
                          <m:t>h</m:t>
                        </m:r>
                        <m:r>
                          <a:rPr lang="en-US">
                            <a:latin typeface="Cambria Math" panose="02040503050406030204" pitchFamily="18" charset="0"/>
                          </a:rPr>
                          <m:t>, </m:t>
                        </m:r>
                        <m:r>
                          <m:rPr>
                            <m:sty m:val="p"/>
                          </m:rPr>
                          <a:rPr lang="en-US">
                            <a:latin typeface="Cambria Math" panose="02040503050406030204" pitchFamily="18" charset="0"/>
                          </a:rPr>
                          <m:t>k</m:t>
                        </m:r>
                      </m:e>
                    </m:d>
                  </m:oMath>
                </a14:m>
                <a:r>
                  <a:rPr lang="en-US" dirty="0"/>
                  <a:t> and the fundamental circuit made by chord</a:t>
                </a:r>
                <a14:m>
                  <m:oMath xmlns:m="http://schemas.openxmlformats.org/officeDocument/2006/math">
                    <m:r>
                      <a:rPr lang="en-US" i="1">
                        <a:latin typeface="Cambria Math" panose="02040503050406030204" pitchFamily="18" charset="0"/>
                      </a:rPr>
                      <m:t> </m:t>
                    </m:r>
                    <m:r>
                      <m:rPr>
                        <m:sty m:val="p"/>
                      </m:rPr>
                      <a:rPr lang="en-US">
                        <a:latin typeface="Cambria Math" panose="02040503050406030204" pitchFamily="18" charset="0"/>
                      </a:rPr>
                      <m:t>f</m:t>
                    </m:r>
                  </m:oMath>
                </a14:m>
                <a:r>
                  <a:rPr lang="en-US" sz="1200" dirty="0">
                    <a:latin typeface="Cambria" panose="02040503050406030204" pitchFamily="18" charset="0"/>
                    <a:ea typeface="Times New Roman" panose="02020603050405020304" pitchFamily="18" charset="0"/>
                    <a:cs typeface="Shruti" panose="020B0502040204020203" pitchFamily="34" charset="0"/>
                  </a:rPr>
                  <a:t>.</a:t>
                </a:r>
              </a:p>
              <a:p>
                <a:endParaRPr lang="en-US" dirty="0"/>
              </a:p>
              <a:p>
                <a:endParaRPr lang="en-US" dirty="0"/>
              </a:p>
            </p:txBody>
          </p:sp>
        </mc:Choice>
        <mc:Fallback xmlns="">
          <p:sp>
            <p:nvSpPr>
              <p:cNvPr id="34" name="Content Placeholder 3"/>
              <p:cNvSpPr txBox="1">
                <a:spLocks noRot="1" noChangeAspect="1" noMove="1" noResize="1" noEditPoints="1" noAdjustHandles="1" noChangeArrowheads="1" noChangeShapeType="1" noTextEdit="1"/>
              </p:cNvSpPr>
              <p:nvPr/>
            </p:nvSpPr>
            <p:spPr>
              <a:xfrm>
                <a:off x="131179" y="867999"/>
                <a:ext cx="11929641" cy="875866"/>
              </a:xfrm>
              <a:prstGeom prst="rect">
                <a:avLst/>
              </a:prstGeom>
              <a:blipFill rotWithShape="0">
                <a:blip r:embed="rId2"/>
                <a:stretch>
                  <a:fillRect l="-971" t="-11806" r="-1074" b="-173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284296" y="2910418"/>
                <a:ext cx="4861267" cy="523220"/>
              </a:xfrm>
              <a:prstGeom prst="rect">
                <a:avLst/>
              </a:prstGeom>
              <a:ln w="38100"/>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800" dirty="0">
                    <a:solidFill>
                      <a:srgbClr val="002060"/>
                    </a:solidFill>
                  </a:rPr>
                  <a:t>Determined by branch</a:t>
                </a:r>
                <a14:m>
                  <m:oMath xmlns:m="http://schemas.openxmlformats.org/officeDocument/2006/math">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d>
                      <m:dPr>
                        <m:begChr m:val="{"/>
                        <m:endChr m:val="}"/>
                        <m:ctrlPr>
                          <a:rPr lang="en-US" sz="2800" i="1">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d</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f</m:t>
                        </m:r>
                      </m:e>
                    </m:d>
                  </m:oMath>
                </a14:m>
                <a:r>
                  <a:rPr lang="en-US" sz="2800" dirty="0">
                    <a:latin typeface="Cambria" panose="02040503050406030204" pitchFamily="18" charset="0"/>
                    <a:ea typeface="Times New Roman" panose="02020603050405020304" pitchFamily="18" charset="0"/>
                    <a:cs typeface="Shruti" panose="020B0502040204020203" pitchFamily="34" charset="0"/>
                  </a:rPr>
                  <a:t>. </a:t>
                </a:r>
              </a:p>
            </p:txBody>
          </p:sp>
        </mc:Choice>
        <mc:Fallback xmlns="">
          <p:sp>
            <p:nvSpPr>
              <p:cNvPr id="36" name="TextBox 35"/>
              <p:cNvSpPr txBox="1">
                <a:spLocks noRot="1" noChangeAspect="1" noMove="1" noResize="1" noEditPoints="1" noAdjustHandles="1" noChangeArrowheads="1" noChangeShapeType="1" noTextEdit="1"/>
              </p:cNvSpPr>
              <p:nvPr/>
            </p:nvSpPr>
            <p:spPr>
              <a:xfrm>
                <a:off x="284296" y="2910418"/>
                <a:ext cx="4861267" cy="523220"/>
              </a:xfrm>
              <a:prstGeom prst="rect">
                <a:avLst/>
              </a:prstGeom>
              <a:blipFill rotWithShape="0">
                <a:blip r:embed="rId4"/>
                <a:stretch>
                  <a:fillRect l="-2242" t="-8696" r="-1245" b="-27174"/>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284296" y="4151338"/>
                <a:ext cx="4852495" cy="523220"/>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marL="0" lvl="2">
                  <a:spcBef>
                    <a:spcPts val="1000"/>
                  </a:spcBef>
                </a:pPr>
                <a:r>
                  <a:rPr lang="en-US" sz="2800" dirty="0">
                    <a:solidFill>
                      <a:srgbClr val="002060"/>
                    </a:solidFill>
                  </a:rPr>
                  <a:t>Determined by branch </a:t>
                </a:r>
                <a14:m>
                  <m:oMath xmlns:m="http://schemas.openxmlformats.org/officeDocument/2006/math">
                    <m:r>
                      <m:rPr>
                        <m:sty m:val="p"/>
                      </m:rPr>
                      <a:rPr lang="en-US" sz="2800">
                        <a:solidFill>
                          <a:srgbClr val="002060"/>
                        </a:solidFill>
                        <a:latin typeface="Cambria Math" panose="02040503050406030204" pitchFamily="18" charset="0"/>
                      </a:rPr>
                      <m:t>h</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f</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g</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m:t>
                    </m:r>
                    <m:r>
                      <a:rPr lang="en-US" sz="2800">
                        <a:solidFill>
                          <a:srgbClr val="002060"/>
                        </a:solidFill>
                        <a:latin typeface="Cambria Math" panose="02040503050406030204" pitchFamily="18" charset="0"/>
                      </a:rPr>
                      <m:t>}</m:t>
                    </m:r>
                  </m:oMath>
                </a14:m>
                <a:r>
                  <a:rPr lang="en-US" sz="2800" dirty="0">
                    <a:latin typeface="Cambria" panose="02040503050406030204" pitchFamily="18" charset="0"/>
                    <a:ea typeface="Times New Roman" panose="02020603050405020304" pitchFamily="18" charset="0"/>
                    <a:cs typeface="Shruti" panose="020B0502040204020203" pitchFamily="34" charset="0"/>
                  </a:rPr>
                  <a:t>.</a:t>
                </a:r>
                <a:r>
                  <a:rPr lang="en-US" dirty="0">
                    <a:latin typeface="Cambria" panose="02040503050406030204" pitchFamily="18" charset="0"/>
                    <a:ea typeface="Times New Roman" panose="02020603050405020304" pitchFamily="18" charset="0"/>
                    <a:cs typeface="Shruti" panose="020B0502040204020203" pitchFamily="34" charset="0"/>
                  </a:rPr>
                  <a:t> </a:t>
                </a:r>
              </a:p>
            </p:txBody>
          </p:sp>
        </mc:Choice>
        <mc:Fallback xmlns="">
          <p:sp>
            <p:nvSpPr>
              <p:cNvPr id="37" name="TextBox 36"/>
              <p:cNvSpPr txBox="1">
                <a:spLocks noRot="1" noChangeAspect="1" noMove="1" noResize="1" noEditPoints="1" noAdjustHandles="1" noChangeArrowheads="1" noChangeShapeType="1" noTextEdit="1"/>
              </p:cNvSpPr>
              <p:nvPr/>
            </p:nvSpPr>
            <p:spPr>
              <a:xfrm>
                <a:off x="284296" y="4151338"/>
                <a:ext cx="4852495" cy="523220"/>
              </a:xfrm>
              <a:prstGeom prst="rect">
                <a:avLst/>
              </a:prstGeom>
              <a:blipFill rotWithShape="0">
                <a:blip r:embed="rId5"/>
                <a:stretch>
                  <a:fillRect l="-2244" t="-9783" r="-1995" b="-27174"/>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84296" y="5433598"/>
                <a:ext cx="4861267" cy="523220"/>
              </a:xfrm>
              <a:prstGeom prst="rect">
                <a:avLst/>
              </a:prstGeom>
              <a:ln w="38100"/>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800" dirty="0">
                    <a:solidFill>
                      <a:srgbClr val="002060"/>
                    </a:solidFill>
                  </a:rPr>
                  <a:t>Determined by branch</a:t>
                </a:r>
                <a14:m>
                  <m:oMath xmlns:m="http://schemas.openxmlformats.org/officeDocument/2006/math">
                    <m:r>
                      <a:rPr lang="en-US" sz="2800" b="0" i="0" smtClean="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k</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f</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g</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k</m:t>
                    </m:r>
                    <m:r>
                      <a:rPr lang="en-US" sz="2800">
                        <a:solidFill>
                          <a:srgbClr val="002060"/>
                        </a:solidFill>
                        <a:latin typeface="Cambria Math" panose="02040503050406030204" pitchFamily="18" charset="0"/>
                      </a:rPr>
                      <m:t>}</m:t>
                    </m:r>
                  </m:oMath>
                </a14:m>
                <a:r>
                  <a:rPr lang="en-US" sz="2800" dirty="0">
                    <a:latin typeface="Cambria" panose="02040503050406030204" pitchFamily="18" charset="0"/>
                    <a:ea typeface="Times New Roman" panose="02020603050405020304" pitchFamily="18" charset="0"/>
                    <a:cs typeface="Shruti" panose="020B0502040204020203" pitchFamily="34" charset="0"/>
                  </a:rPr>
                  <a:t>.</a:t>
                </a:r>
              </a:p>
            </p:txBody>
          </p:sp>
        </mc:Choice>
        <mc:Fallback xmlns="">
          <p:sp>
            <p:nvSpPr>
              <p:cNvPr id="38" name="TextBox 37"/>
              <p:cNvSpPr txBox="1">
                <a:spLocks noRot="1" noChangeAspect="1" noMove="1" noResize="1" noEditPoints="1" noAdjustHandles="1" noChangeArrowheads="1" noChangeShapeType="1" noTextEdit="1"/>
              </p:cNvSpPr>
              <p:nvPr/>
            </p:nvSpPr>
            <p:spPr>
              <a:xfrm>
                <a:off x="284296" y="5433598"/>
                <a:ext cx="4861267" cy="523220"/>
              </a:xfrm>
              <a:prstGeom prst="rect">
                <a:avLst/>
              </a:prstGeom>
              <a:blipFill rotWithShape="0">
                <a:blip r:embed="rId6"/>
                <a:stretch>
                  <a:fillRect l="-2242" t="-8696" r="-1370" b="-27174"/>
                </a:stretch>
              </a:blipFill>
              <a:ln w="38100"/>
            </p:spPr>
            <p:txBody>
              <a:bodyPr/>
              <a:lstStyle/>
              <a:p>
                <a:r>
                  <a:rPr lang="en-US">
                    <a:noFill/>
                  </a:rPr>
                  <a:t> </a:t>
                </a:r>
              </a:p>
            </p:txBody>
          </p:sp>
        </mc:Fallback>
      </mc:AlternateContent>
      <p:sp>
        <p:nvSpPr>
          <p:cNvPr id="38" name="Rectangle 34"/>
          <p:cNvSpPr/>
          <p:nvPr/>
        </p:nvSpPr>
        <p:spPr>
          <a:xfrm>
            <a:off x="6947885" y="3070250"/>
            <a:ext cx="5010150" cy="2162175"/>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2324100"/>
              <a:gd name="connsiteY0" fmla="*/ 200025 h 1114425"/>
              <a:gd name="connsiteX1" fmla="*/ 2324100 w 2324100"/>
              <a:gd name="connsiteY1" fmla="*/ 0 h 1114425"/>
              <a:gd name="connsiteX2" fmla="*/ 914400 w 2324100"/>
              <a:gd name="connsiteY2" fmla="*/ 1114425 h 1114425"/>
              <a:gd name="connsiteX3" fmla="*/ 0 w 2324100"/>
              <a:gd name="connsiteY3" fmla="*/ 1114425 h 1114425"/>
              <a:gd name="connsiteX4" fmla="*/ 0 w 2324100"/>
              <a:gd name="connsiteY4" fmla="*/ 200025 h 1114425"/>
              <a:gd name="connsiteX0" fmla="*/ 876300 w 2324100"/>
              <a:gd name="connsiteY0" fmla="*/ 0 h 2152650"/>
              <a:gd name="connsiteX1" fmla="*/ 2324100 w 2324100"/>
              <a:gd name="connsiteY1" fmla="*/ 1038225 h 2152650"/>
              <a:gd name="connsiteX2" fmla="*/ 914400 w 2324100"/>
              <a:gd name="connsiteY2" fmla="*/ 2152650 h 2152650"/>
              <a:gd name="connsiteX3" fmla="*/ 0 w 2324100"/>
              <a:gd name="connsiteY3" fmla="*/ 2152650 h 2152650"/>
              <a:gd name="connsiteX4" fmla="*/ 876300 w 2324100"/>
              <a:gd name="connsiteY4" fmla="*/ 0 h 2152650"/>
              <a:gd name="connsiteX0" fmla="*/ 3562350 w 5010150"/>
              <a:gd name="connsiteY0" fmla="*/ 0 h 2162175"/>
              <a:gd name="connsiteX1" fmla="*/ 5010150 w 5010150"/>
              <a:gd name="connsiteY1" fmla="*/ 1038225 h 2162175"/>
              <a:gd name="connsiteX2" fmla="*/ 3600450 w 5010150"/>
              <a:gd name="connsiteY2" fmla="*/ 2152650 h 2162175"/>
              <a:gd name="connsiteX3" fmla="*/ 0 w 5010150"/>
              <a:gd name="connsiteY3" fmla="*/ 2162175 h 2162175"/>
              <a:gd name="connsiteX4" fmla="*/ 3562350 w 5010150"/>
              <a:gd name="connsiteY4" fmla="*/ 0 h 216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0" h="2162175">
                <a:moveTo>
                  <a:pt x="3562350" y="0"/>
                </a:moveTo>
                <a:lnTo>
                  <a:pt x="5010150" y="1038225"/>
                </a:lnTo>
                <a:lnTo>
                  <a:pt x="3600450" y="2152650"/>
                </a:lnTo>
                <a:lnTo>
                  <a:pt x="0" y="2162175"/>
                </a:lnTo>
                <a:lnTo>
                  <a:pt x="3562350" y="0"/>
                </a:lnTo>
                <a:close/>
              </a:path>
            </a:pathLst>
          </a:cu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39" name="Oval 38">
            <a:extLst>
              <a:ext uri="{FF2B5EF4-FFF2-40B4-BE49-F238E27FC236}">
                <a16:creationId xmlns:a16="http://schemas.microsoft.com/office/drawing/2014/main" id="{BDD11F87-DA81-9510-C1CB-0AF4093562CB}"/>
              </a:ext>
            </a:extLst>
          </p:cNvPr>
          <p:cNvSpPr/>
          <p:nvPr/>
        </p:nvSpPr>
        <p:spPr>
          <a:xfrm rot="5400000">
            <a:off x="6879442" y="299175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10455528" y="299175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40" idx="4"/>
            <a:endCxn id="39" idx="0"/>
          </p:cNvCxnSpPr>
          <p:nvPr/>
        </p:nvCxnSpPr>
        <p:spPr>
          <a:xfrm flipH="1">
            <a:off x="7023442" y="3063756"/>
            <a:ext cx="343208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2" name="Oval 41">
            <a:extLst>
              <a:ext uri="{FF2B5EF4-FFF2-40B4-BE49-F238E27FC236}">
                <a16:creationId xmlns:a16="http://schemas.microsoft.com/office/drawing/2014/main" id="{BDD11F87-DA81-9510-C1CB-0AF4093562CB}"/>
              </a:ext>
            </a:extLst>
          </p:cNvPr>
          <p:cNvSpPr/>
          <p:nvPr/>
        </p:nvSpPr>
        <p:spPr>
          <a:xfrm rot="5400000">
            <a:off x="10455528" y="515199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3" name="Straight Connector 42">
            <a:extLst>
              <a:ext uri="{FF2B5EF4-FFF2-40B4-BE49-F238E27FC236}">
                <a16:creationId xmlns:a16="http://schemas.microsoft.com/office/drawing/2014/main" id="{6205DD86-315C-53B6-CEEF-A9919650168E}"/>
              </a:ext>
            </a:extLst>
          </p:cNvPr>
          <p:cNvCxnSpPr>
            <a:cxnSpLocks/>
            <a:stCxn id="39" idx="6"/>
            <a:endCxn id="50" idx="2"/>
          </p:cNvCxnSpPr>
          <p:nvPr/>
        </p:nvCxnSpPr>
        <p:spPr>
          <a:xfrm>
            <a:off x="6951442" y="3135756"/>
            <a:ext cx="0" cy="2030057"/>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40" idx="6"/>
            <a:endCxn id="42" idx="2"/>
          </p:cNvCxnSpPr>
          <p:nvPr/>
        </p:nvCxnSpPr>
        <p:spPr>
          <a:xfrm>
            <a:off x="10527528" y="3135756"/>
            <a:ext cx="0" cy="20162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6205DD86-315C-53B6-CEEF-A9919650168E}"/>
              </a:ext>
            </a:extLst>
          </p:cNvPr>
          <p:cNvCxnSpPr>
            <a:cxnSpLocks/>
            <a:stCxn id="42" idx="4"/>
            <a:endCxn id="50" idx="0"/>
          </p:cNvCxnSpPr>
          <p:nvPr/>
        </p:nvCxnSpPr>
        <p:spPr>
          <a:xfrm flipH="1">
            <a:off x="7023442" y="5223996"/>
            <a:ext cx="3432086" cy="138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6" name="TextBox 45"/>
          <p:cNvSpPr txBox="1"/>
          <p:nvPr/>
        </p:nvSpPr>
        <p:spPr>
          <a:xfrm>
            <a:off x="5981992" y="3055157"/>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47" name="TextBox 46"/>
          <p:cNvSpPr txBox="1"/>
          <p:nvPr/>
        </p:nvSpPr>
        <p:spPr>
          <a:xfrm>
            <a:off x="8558185" y="5309813"/>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48" name="TextBox 47"/>
          <p:cNvSpPr txBox="1"/>
          <p:nvPr/>
        </p:nvSpPr>
        <p:spPr>
          <a:xfrm>
            <a:off x="5997227" y="4649864"/>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49" name="TextBox 48"/>
          <p:cNvSpPr txBox="1"/>
          <p:nvPr/>
        </p:nvSpPr>
        <p:spPr>
          <a:xfrm>
            <a:off x="7193791" y="3913304"/>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50" name="Oval 49">
            <a:extLst>
              <a:ext uri="{FF2B5EF4-FFF2-40B4-BE49-F238E27FC236}">
                <a16:creationId xmlns:a16="http://schemas.microsoft.com/office/drawing/2014/main" id="{BDD11F87-DA81-9510-C1CB-0AF4093562CB}"/>
              </a:ext>
            </a:extLst>
          </p:cNvPr>
          <p:cNvSpPr/>
          <p:nvPr/>
        </p:nvSpPr>
        <p:spPr>
          <a:xfrm rot="5400000">
            <a:off x="6879442" y="51658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1" name="Straight Connector 50">
            <a:extLst>
              <a:ext uri="{FF2B5EF4-FFF2-40B4-BE49-F238E27FC236}">
                <a16:creationId xmlns:a16="http://schemas.microsoft.com/office/drawing/2014/main" id="{6205DD86-315C-53B6-CEEF-A9919650168E}"/>
              </a:ext>
            </a:extLst>
          </p:cNvPr>
          <p:cNvCxnSpPr>
            <a:cxnSpLocks/>
            <a:stCxn id="53" idx="5"/>
            <a:endCxn id="42" idx="1"/>
          </p:cNvCxnSpPr>
          <p:nvPr/>
        </p:nvCxnSpPr>
        <p:spPr>
          <a:xfrm flipH="1">
            <a:off x="10578440" y="4158788"/>
            <a:ext cx="1359469" cy="1014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6205DD86-315C-53B6-CEEF-A9919650168E}"/>
              </a:ext>
            </a:extLst>
          </p:cNvPr>
          <p:cNvCxnSpPr>
            <a:cxnSpLocks/>
            <a:stCxn id="40" idx="7"/>
            <a:endCxn id="53" idx="3"/>
          </p:cNvCxnSpPr>
          <p:nvPr/>
        </p:nvCxnSpPr>
        <p:spPr>
          <a:xfrm>
            <a:off x="10578440" y="3114668"/>
            <a:ext cx="1359469" cy="942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53" name="Oval 52">
            <a:extLst>
              <a:ext uri="{FF2B5EF4-FFF2-40B4-BE49-F238E27FC236}">
                <a16:creationId xmlns:a16="http://schemas.microsoft.com/office/drawing/2014/main" id="{BDD11F87-DA81-9510-C1CB-0AF4093562CB}"/>
              </a:ext>
            </a:extLst>
          </p:cNvPr>
          <p:cNvSpPr/>
          <p:nvPr/>
        </p:nvSpPr>
        <p:spPr>
          <a:xfrm rot="5400000">
            <a:off x="11916821" y="403587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4" name="Oval 53">
            <a:extLst>
              <a:ext uri="{FF2B5EF4-FFF2-40B4-BE49-F238E27FC236}">
                <a16:creationId xmlns:a16="http://schemas.microsoft.com/office/drawing/2014/main" id="{BDD11F87-DA81-9510-C1CB-0AF4093562CB}"/>
              </a:ext>
            </a:extLst>
          </p:cNvPr>
          <p:cNvSpPr/>
          <p:nvPr/>
        </p:nvSpPr>
        <p:spPr>
          <a:xfrm rot="5400000">
            <a:off x="5489051" y="40309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5" name="Straight Connector 54">
            <a:extLst>
              <a:ext uri="{FF2B5EF4-FFF2-40B4-BE49-F238E27FC236}">
                <a16:creationId xmlns:a16="http://schemas.microsoft.com/office/drawing/2014/main" id="{6205DD86-315C-53B6-CEEF-A9919650168E}"/>
              </a:ext>
            </a:extLst>
          </p:cNvPr>
          <p:cNvCxnSpPr>
            <a:cxnSpLocks/>
            <a:stCxn id="39" idx="5"/>
            <a:endCxn id="54" idx="1"/>
          </p:cNvCxnSpPr>
          <p:nvPr/>
        </p:nvCxnSpPr>
        <p:spPr>
          <a:xfrm flipH="1">
            <a:off x="5611963" y="3114668"/>
            <a:ext cx="1288567" cy="93733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a:extLst>
              <a:ext uri="{FF2B5EF4-FFF2-40B4-BE49-F238E27FC236}">
                <a16:creationId xmlns:a16="http://schemas.microsoft.com/office/drawing/2014/main" id="{6205DD86-315C-53B6-CEEF-A9919650168E}"/>
              </a:ext>
            </a:extLst>
          </p:cNvPr>
          <p:cNvCxnSpPr>
            <a:cxnSpLocks/>
            <a:stCxn id="54" idx="7"/>
            <a:endCxn id="50" idx="3"/>
          </p:cNvCxnSpPr>
          <p:nvPr/>
        </p:nvCxnSpPr>
        <p:spPr>
          <a:xfrm>
            <a:off x="5611963" y="4153825"/>
            <a:ext cx="1288567" cy="103307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57" name="TextBox 56"/>
          <p:cNvSpPr txBox="1"/>
          <p:nvPr/>
        </p:nvSpPr>
        <p:spPr>
          <a:xfrm>
            <a:off x="8562994" y="3627564"/>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58" name="TextBox 57"/>
          <p:cNvSpPr txBox="1"/>
          <p:nvPr/>
        </p:nvSpPr>
        <p:spPr>
          <a:xfrm>
            <a:off x="8558185" y="2468536"/>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cxnSp>
        <p:nvCxnSpPr>
          <p:cNvPr id="59" name="Straight Connector 58">
            <a:extLst>
              <a:ext uri="{FF2B5EF4-FFF2-40B4-BE49-F238E27FC236}">
                <a16:creationId xmlns:a16="http://schemas.microsoft.com/office/drawing/2014/main" id="{6205DD86-315C-53B6-CEEF-A9919650168E}"/>
              </a:ext>
            </a:extLst>
          </p:cNvPr>
          <p:cNvCxnSpPr>
            <a:cxnSpLocks/>
            <a:stCxn id="40" idx="5"/>
            <a:endCxn id="50" idx="1"/>
          </p:cNvCxnSpPr>
          <p:nvPr/>
        </p:nvCxnSpPr>
        <p:spPr>
          <a:xfrm flipH="1">
            <a:off x="7002354" y="3114668"/>
            <a:ext cx="3474262" cy="2072233"/>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60" name="TextBox 59"/>
          <p:cNvSpPr txBox="1"/>
          <p:nvPr/>
        </p:nvSpPr>
        <p:spPr>
          <a:xfrm>
            <a:off x="11203224" y="3135756"/>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61" name="TextBox 60"/>
          <p:cNvSpPr txBox="1"/>
          <p:nvPr/>
        </p:nvSpPr>
        <p:spPr>
          <a:xfrm>
            <a:off x="10174229" y="3841303"/>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62" name="TextBox 61"/>
          <p:cNvSpPr txBox="1"/>
          <p:nvPr/>
        </p:nvSpPr>
        <p:spPr>
          <a:xfrm>
            <a:off x="11203224" y="4649864"/>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63" name="Arc 62"/>
          <p:cNvSpPr/>
          <p:nvPr/>
        </p:nvSpPr>
        <p:spPr>
          <a:xfrm rot="593460">
            <a:off x="6295746" y="1585775"/>
            <a:ext cx="2081693" cy="5937996"/>
          </a:xfrm>
          <a:prstGeom prst="arc">
            <a:avLst>
              <a:gd name="adj1" fmla="val 17305548"/>
              <a:gd name="adj2" fmla="val 3340295"/>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Arc 63"/>
          <p:cNvSpPr/>
          <p:nvPr/>
        </p:nvSpPr>
        <p:spPr>
          <a:xfrm rot="15724463">
            <a:off x="10075363" y="4854451"/>
            <a:ext cx="1064785" cy="1158294"/>
          </a:xfrm>
          <a:prstGeom prst="arc">
            <a:avLst>
              <a:gd name="adj1" fmla="val 15496395"/>
              <a:gd name="adj2" fmla="val 4199016"/>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Arc 64"/>
          <p:cNvSpPr/>
          <p:nvPr/>
        </p:nvSpPr>
        <p:spPr>
          <a:xfrm rot="18846957">
            <a:off x="8160187" y="3736585"/>
            <a:ext cx="4817660" cy="323159"/>
          </a:xfrm>
          <a:prstGeom prst="arc">
            <a:avLst>
              <a:gd name="adj1" fmla="val 10849602"/>
              <a:gd name="adj2" fmla="val 21234126"/>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34266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7" presetClass="emph" presetSubtype="2" fill="hold" nodeType="clickEffect">
                                  <p:stCondLst>
                                    <p:cond delay="0"/>
                                  </p:stCondLst>
                                  <p:childTnLst>
                                    <p:animClr clrSpc="rgb" dir="cw">
                                      <p:cBhvr>
                                        <p:cTn id="10" dur="2000" fill="hold"/>
                                        <p:tgtEl>
                                          <p:spTgt spid="45"/>
                                        </p:tgtEl>
                                        <p:attrNameLst>
                                          <p:attrName>stroke.color</p:attrName>
                                        </p:attrNameLst>
                                      </p:cBhvr>
                                      <p:to>
                                        <a:srgbClr val="FFFF00"/>
                                      </p:to>
                                    </p:animClr>
                                    <p:set>
                                      <p:cBhvr>
                                        <p:cTn id="11" dur="2000" fill="hold"/>
                                        <p:tgtEl>
                                          <p:spTgt spid="45"/>
                                        </p:tgtEl>
                                        <p:attrNameLst>
                                          <p:attrName>stroke.on</p:attrName>
                                        </p:attrNameLst>
                                      </p:cBhvr>
                                      <p:to>
                                        <p:strVal val="tru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5"/>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6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6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7"/>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63" grpId="0" animBg="1"/>
      <p:bldP spid="64" grpId="0" animBg="1"/>
      <p:bldP spid="6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normAutofit/>
          </a:bodyPr>
          <a:lstStyle/>
          <a:p>
            <a:r>
              <a:rPr lang="en-US" dirty="0"/>
              <a:t>For you ?</a:t>
            </a:r>
          </a:p>
        </p:txBody>
      </p:sp>
      <mc:AlternateContent xmlns:mc="http://schemas.openxmlformats.org/markup-compatibility/2006" xmlns:a14="http://schemas.microsoft.com/office/drawing/2010/main">
        <mc:Choice Requires="a14">
          <p:sp>
            <p:nvSpPr>
              <p:cNvPr id="34" name="Content Placeholder 3"/>
              <p:cNvSpPr txBox="1">
                <a:spLocks/>
              </p:cNvSpPr>
              <p:nvPr/>
            </p:nvSpPr>
            <p:spPr>
              <a:xfrm>
                <a:off x="131179" y="867999"/>
                <a:ext cx="11929641" cy="875866"/>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Explain property 2 for the spanning tree is</a:t>
                </a:r>
                <a14:m>
                  <m:oMath xmlns:m="http://schemas.openxmlformats.org/officeDocument/2006/math">
                    <m:r>
                      <a:rPr lang="en-US" i="1">
                        <a:latin typeface="Cambria Math" panose="02040503050406030204" pitchFamily="18" charset="0"/>
                      </a:rPr>
                      <m:t> </m:t>
                    </m:r>
                    <m:d>
                      <m:dPr>
                        <m:begChr m:val="{"/>
                        <m:endChr m:val="}"/>
                        <m:ctrlPr>
                          <a:rPr lang="en-US" i="1">
                            <a:latin typeface="Cambria Math" panose="02040503050406030204" pitchFamily="18" charset="0"/>
                          </a:rPr>
                        </m:ctrlPr>
                      </m:dPr>
                      <m:e>
                        <m:r>
                          <m:rPr>
                            <m:sty m:val="p"/>
                          </m:rPr>
                          <a:rPr lang="en-US">
                            <a:latin typeface="Cambria Math" panose="02040503050406030204" pitchFamily="18" charset="0"/>
                          </a:rPr>
                          <m:t>b</m:t>
                        </m:r>
                        <m:r>
                          <a:rPr lang="en-US">
                            <a:latin typeface="Cambria Math" panose="02040503050406030204" pitchFamily="18" charset="0"/>
                          </a:rPr>
                          <m:t>, </m:t>
                        </m:r>
                        <m:r>
                          <m:rPr>
                            <m:sty m:val="p"/>
                          </m:rPr>
                          <a:rPr lang="en-US">
                            <a:latin typeface="Cambria Math" panose="02040503050406030204" pitchFamily="18" charset="0"/>
                          </a:rPr>
                          <m:t>c</m:t>
                        </m:r>
                        <m:r>
                          <a:rPr lang="en-US">
                            <a:latin typeface="Cambria Math" panose="02040503050406030204" pitchFamily="18" charset="0"/>
                          </a:rPr>
                          <m:t>, </m:t>
                        </m:r>
                        <m:r>
                          <m:rPr>
                            <m:sty m:val="p"/>
                          </m:rPr>
                          <a:rPr lang="en-US">
                            <a:latin typeface="Cambria Math" panose="02040503050406030204" pitchFamily="18" charset="0"/>
                          </a:rPr>
                          <m:t>e</m:t>
                        </m:r>
                        <m:r>
                          <a:rPr lang="en-US">
                            <a:latin typeface="Cambria Math" panose="02040503050406030204" pitchFamily="18" charset="0"/>
                          </a:rPr>
                          <m:t>, </m:t>
                        </m:r>
                        <m:r>
                          <m:rPr>
                            <m:sty m:val="p"/>
                          </m:rPr>
                          <a:rPr lang="en-US">
                            <a:latin typeface="Cambria Math" panose="02040503050406030204" pitchFamily="18" charset="0"/>
                          </a:rPr>
                          <m:t>h</m:t>
                        </m:r>
                        <m:r>
                          <a:rPr lang="en-US">
                            <a:latin typeface="Cambria Math" panose="02040503050406030204" pitchFamily="18" charset="0"/>
                          </a:rPr>
                          <m:t>, </m:t>
                        </m:r>
                        <m:r>
                          <m:rPr>
                            <m:sty m:val="p"/>
                          </m:rPr>
                          <a:rPr lang="en-US">
                            <a:latin typeface="Cambria Math" panose="02040503050406030204" pitchFamily="18" charset="0"/>
                          </a:rPr>
                          <m:t>k</m:t>
                        </m:r>
                      </m:e>
                    </m:d>
                  </m:oMath>
                </a14:m>
                <a:r>
                  <a:rPr lang="en-US" dirty="0"/>
                  <a:t> and the fundamental cut-set made by branch</a:t>
                </a:r>
                <a14:m>
                  <m:oMath xmlns:m="http://schemas.openxmlformats.org/officeDocument/2006/math">
                    <m:r>
                      <a:rPr lang="en-US" i="1">
                        <a:latin typeface="Cambria Math" panose="02040503050406030204" pitchFamily="18" charset="0"/>
                      </a:rPr>
                      <m:t> </m:t>
                    </m:r>
                    <m:r>
                      <m:rPr>
                        <m:sty m:val="p"/>
                      </m:rPr>
                      <a:rPr lang="en-US">
                        <a:latin typeface="Cambria Math" panose="02040503050406030204" pitchFamily="18" charset="0"/>
                      </a:rPr>
                      <m:t>e</m:t>
                    </m:r>
                  </m:oMath>
                </a14:m>
                <a:r>
                  <a:rPr lang="en-US" dirty="0"/>
                  <a:t> is</a:t>
                </a:r>
                <a14:m>
                  <m:oMath xmlns:m="http://schemas.openxmlformats.org/officeDocument/2006/math">
                    <m:r>
                      <a:rPr lang="en-US">
                        <a:latin typeface="Cambria Math" panose="02040503050406030204" pitchFamily="18" charset="0"/>
                      </a:rPr>
                      <m:t> {</m:t>
                    </m:r>
                    <m:r>
                      <m:rPr>
                        <m:sty m:val="p"/>
                      </m:rPr>
                      <a:rPr lang="en-US">
                        <a:latin typeface="Cambria Math" panose="02040503050406030204" pitchFamily="18" charset="0"/>
                      </a:rPr>
                      <m:t>d</m:t>
                    </m:r>
                    <m:r>
                      <a:rPr lang="en-US">
                        <a:latin typeface="Cambria Math" panose="02040503050406030204" pitchFamily="18" charset="0"/>
                      </a:rPr>
                      <m:t>,</m:t>
                    </m:r>
                    <m:r>
                      <m:rPr>
                        <m:sty m:val="p"/>
                      </m:rPr>
                      <a:rPr lang="en-US">
                        <a:latin typeface="Cambria Math" panose="02040503050406030204" pitchFamily="18" charset="0"/>
                      </a:rPr>
                      <m:t>e</m:t>
                    </m:r>
                    <m:r>
                      <a:rPr lang="en-US">
                        <a:latin typeface="Cambria Math" panose="02040503050406030204" pitchFamily="18" charset="0"/>
                      </a:rPr>
                      <m:t>,</m:t>
                    </m:r>
                    <m:r>
                      <m:rPr>
                        <m:sty m:val="p"/>
                      </m:rPr>
                      <a:rPr lang="en-US">
                        <a:latin typeface="Cambria Math" panose="02040503050406030204" pitchFamily="18" charset="0"/>
                      </a:rPr>
                      <m:t>f</m:t>
                    </m:r>
                    <m:r>
                      <a:rPr lang="en-US">
                        <a:latin typeface="Cambria Math" panose="02040503050406030204" pitchFamily="18" charset="0"/>
                      </a:rPr>
                      <m:t>}</m:t>
                    </m:r>
                  </m:oMath>
                </a14:m>
                <a:r>
                  <a:rPr lang="en-US" dirty="0"/>
                  <a:t>.</a:t>
                </a:r>
              </a:p>
              <a:p>
                <a:endParaRPr lang="en-US" sz="1200" dirty="0">
                  <a:latin typeface="Cambria" panose="02040503050406030204" pitchFamily="18" charset="0"/>
                  <a:ea typeface="Times New Roman" panose="02020603050405020304" pitchFamily="18" charset="0"/>
                  <a:cs typeface="Shruti" panose="020B0502040204020203" pitchFamily="34" charset="0"/>
                </a:endParaRPr>
              </a:p>
              <a:p>
                <a:endParaRPr lang="en-US" dirty="0"/>
              </a:p>
              <a:p>
                <a:endParaRPr lang="en-US" dirty="0"/>
              </a:p>
            </p:txBody>
          </p:sp>
        </mc:Choice>
        <mc:Fallback xmlns="">
          <p:sp>
            <p:nvSpPr>
              <p:cNvPr id="34" name="Content Placeholder 3"/>
              <p:cNvSpPr txBox="1">
                <a:spLocks noRot="1" noChangeAspect="1" noMove="1" noResize="1" noEditPoints="1" noAdjustHandles="1" noChangeArrowheads="1" noChangeShapeType="1" noTextEdit="1"/>
              </p:cNvSpPr>
              <p:nvPr/>
            </p:nvSpPr>
            <p:spPr>
              <a:xfrm>
                <a:off x="131179" y="867999"/>
                <a:ext cx="11929641" cy="875866"/>
              </a:xfrm>
              <a:prstGeom prst="rect">
                <a:avLst/>
              </a:prstGeom>
              <a:blipFill rotWithShape="0">
                <a:blip r:embed="rId2"/>
                <a:stretch>
                  <a:fillRect l="-971" t="-11806" r="-1074" b="-17361"/>
                </a:stretch>
              </a:blipFill>
            </p:spPr>
            <p:txBody>
              <a:bodyPr/>
              <a:lstStyle/>
              <a:p>
                <a:r>
                  <a:rPr lang="en-US">
                    <a:noFill/>
                  </a:rPr>
                  <a:t> </a:t>
                </a:r>
              </a:p>
            </p:txBody>
          </p:sp>
        </mc:Fallback>
      </mc:AlternateContent>
      <p:sp>
        <p:nvSpPr>
          <p:cNvPr id="66" name="Rectangle 34"/>
          <p:cNvSpPr/>
          <p:nvPr/>
        </p:nvSpPr>
        <p:spPr>
          <a:xfrm>
            <a:off x="6891728" y="2972458"/>
            <a:ext cx="5010150" cy="2162175"/>
          </a:xfrm>
          <a:custGeom>
            <a:avLst/>
            <a:gdLst>
              <a:gd name="connsiteX0" fmla="*/ 0 w 914400"/>
              <a:gd name="connsiteY0" fmla="*/ 0 h 914400"/>
              <a:gd name="connsiteX1" fmla="*/ 914400 w 914400"/>
              <a:gd name="connsiteY1" fmla="*/ 0 h 914400"/>
              <a:gd name="connsiteX2" fmla="*/ 914400 w 914400"/>
              <a:gd name="connsiteY2" fmla="*/ 914400 h 914400"/>
              <a:gd name="connsiteX3" fmla="*/ 0 w 914400"/>
              <a:gd name="connsiteY3" fmla="*/ 914400 h 914400"/>
              <a:gd name="connsiteX4" fmla="*/ 0 w 914400"/>
              <a:gd name="connsiteY4" fmla="*/ 0 h 914400"/>
              <a:gd name="connsiteX0" fmla="*/ 0 w 2324100"/>
              <a:gd name="connsiteY0" fmla="*/ 200025 h 1114425"/>
              <a:gd name="connsiteX1" fmla="*/ 2324100 w 2324100"/>
              <a:gd name="connsiteY1" fmla="*/ 0 h 1114425"/>
              <a:gd name="connsiteX2" fmla="*/ 914400 w 2324100"/>
              <a:gd name="connsiteY2" fmla="*/ 1114425 h 1114425"/>
              <a:gd name="connsiteX3" fmla="*/ 0 w 2324100"/>
              <a:gd name="connsiteY3" fmla="*/ 1114425 h 1114425"/>
              <a:gd name="connsiteX4" fmla="*/ 0 w 2324100"/>
              <a:gd name="connsiteY4" fmla="*/ 200025 h 1114425"/>
              <a:gd name="connsiteX0" fmla="*/ 876300 w 2324100"/>
              <a:gd name="connsiteY0" fmla="*/ 0 h 2152650"/>
              <a:gd name="connsiteX1" fmla="*/ 2324100 w 2324100"/>
              <a:gd name="connsiteY1" fmla="*/ 1038225 h 2152650"/>
              <a:gd name="connsiteX2" fmla="*/ 914400 w 2324100"/>
              <a:gd name="connsiteY2" fmla="*/ 2152650 h 2152650"/>
              <a:gd name="connsiteX3" fmla="*/ 0 w 2324100"/>
              <a:gd name="connsiteY3" fmla="*/ 2152650 h 2152650"/>
              <a:gd name="connsiteX4" fmla="*/ 876300 w 2324100"/>
              <a:gd name="connsiteY4" fmla="*/ 0 h 2152650"/>
              <a:gd name="connsiteX0" fmla="*/ 3562350 w 5010150"/>
              <a:gd name="connsiteY0" fmla="*/ 0 h 2162175"/>
              <a:gd name="connsiteX1" fmla="*/ 5010150 w 5010150"/>
              <a:gd name="connsiteY1" fmla="*/ 1038225 h 2162175"/>
              <a:gd name="connsiteX2" fmla="*/ 3600450 w 5010150"/>
              <a:gd name="connsiteY2" fmla="*/ 2152650 h 2162175"/>
              <a:gd name="connsiteX3" fmla="*/ 0 w 5010150"/>
              <a:gd name="connsiteY3" fmla="*/ 2162175 h 2162175"/>
              <a:gd name="connsiteX4" fmla="*/ 3562350 w 5010150"/>
              <a:gd name="connsiteY4" fmla="*/ 0 h 21621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10150" h="2162175">
                <a:moveTo>
                  <a:pt x="3562350" y="0"/>
                </a:moveTo>
                <a:lnTo>
                  <a:pt x="5010150" y="1038225"/>
                </a:lnTo>
                <a:lnTo>
                  <a:pt x="3600450" y="2152650"/>
                </a:lnTo>
                <a:lnTo>
                  <a:pt x="0" y="2162175"/>
                </a:lnTo>
                <a:lnTo>
                  <a:pt x="3562350" y="0"/>
                </a:lnTo>
                <a:close/>
              </a:path>
            </a:pathLst>
          </a:cu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67" name="Isosceles Triangle 28"/>
          <p:cNvSpPr/>
          <p:nvPr/>
        </p:nvSpPr>
        <p:spPr>
          <a:xfrm>
            <a:off x="6846841" y="2959447"/>
            <a:ext cx="3548902" cy="2224649"/>
          </a:xfrm>
          <a:custGeom>
            <a:avLst/>
            <a:gdLst>
              <a:gd name="connsiteX0" fmla="*/ 0 w 2680550"/>
              <a:gd name="connsiteY0" fmla="*/ 1633806 h 1633806"/>
              <a:gd name="connsiteX1" fmla="*/ 1340275 w 2680550"/>
              <a:gd name="connsiteY1" fmla="*/ 0 h 1633806"/>
              <a:gd name="connsiteX2" fmla="*/ 2680550 w 2680550"/>
              <a:gd name="connsiteY2" fmla="*/ 1633806 h 1633806"/>
              <a:gd name="connsiteX3" fmla="*/ 0 w 2680550"/>
              <a:gd name="connsiteY3" fmla="*/ 1633806 h 1633806"/>
              <a:gd name="connsiteX0" fmla="*/ 52426 w 2732976"/>
              <a:gd name="connsiteY0" fmla="*/ 1718212 h 1718212"/>
              <a:gd name="connsiteX1" fmla="*/ 0 w 2732976"/>
              <a:gd name="connsiteY1" fmla="*/ 0 h 1718212"/>
              <a:gd name="connsiteX2" fmla="*/ 2732976 w 2732976"/>
              <a:gd name="connsiteY2" fmla="*/ 1718212 h 1718212"/>
              <a:gd name="connsiteX3" fmla="*/ 52426 w 2732976"/>
              <a:gd name="connsiteY3" fmla="*/ 1718212 h 1718212"/>
              <a:gd name="connsiteX0" fmla="*/ 24291 w 2732976"/>
              <a:gd name="connsiteY0" fmla="*/ 2224649 h 2224649"/>
              <a:gd name="connsiteX1" fmla="*/ 0 w 2732976"/>
              <a:gd name="connsiteY1" fmla="*/ 0 h 2224649"/>
              <a:gd name="connsiteX2" fmla="*/ 2732976 w 2732976"/>
              <a:gd name="connsiteY2" fmla="*/ 1718212 h 2224649"/>
              <a:gd name="connsiteX3" fmla="*/ 24291 w 2732976"/>
              <a:gd name="connsiteY3" fmla="*/ 2224649 h 2224649"/>
              <a:gd name="connsiteX0" fmla="*/ 24291 w 3548902"/>
              <a:gd name="connsiteY0" fmla="*/ 2224649 h 2224649"/>
              <a:gd name="connsiteX1" fmla="*/ 0 w 3548902"/>
              <a:gd name="connsiteY1" fmla="*/ 0 h 2224649"/>
              <a:gd name="connsiteX2" fmla="*/ 3548902 w 3548902"/>
              <a:gd name="connsiteY2" fmla="*/ 72292 h 2224649"/>
              <a:gd name="connsiteX3" fmla="*/ 24291 w 3548902"/>
              <a:gd name="connsiteY3" fmla="*/ 2224649 h 2224649"/>
            </a:gdLst>
            <a:ahLst/>
            <a:cxnLst>
              <a:cxn ang="0">
                <a:pos x="connsiteX0" y="connsiteY0"/>
              </a:cxn>
              <a:cxn ang="0">
                <a:pos x="connsiteX1" y="connsiteY1"/>
              </a:cxn>
              <a:cxn ang="0">
                <a:pos x="connsiteX2" y="connsiteY2"/>
              </a:cxn>
              <a:cxn ang="0">
                <a:pos x="connsiteX3" y="connsiteY3"/>
              </a:cxn>
            </a:cxnLst>
            <a:rect l="l" t="t" r="r" b="b"/>
            <a:pathLst>
              <a:path w="3548902" h="2224649">
                <a:moveTo>
                  <a:pt x="24291" y="2224649"/>
                </a:moveTo>
                <a:lnTo>
                  <a:pt x="0" y="0"/>
                </a:lnTo>
                <a:lnTo>
                  <a:pt x="3548902" y="72292"/>
                </a:lnTo>
                <a:lnTo>
                  <a:pt x="24291" y="2224649"/>
                </a:lnTo>
                <a:close/>
              </a:path>
            </a:pathLst>
          </a:cu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68" name="Oval 67">
            <a:extLst>
              <a:ext uri="{FF2B5EF4-FFF2-40B4-BE49-F238E27FC236}">
                <a16:creationId xmlns:a16="http://schemas.microsoft.com/office/drawing/2014/main" id="{BDD11F87-DA81-9510-C1CB-0AF4093562CB}"/>
              </a:ext>
            </a:extLst>
          </p:cNvPr>
          <p:cNvSpPr/>
          <p:nvPr/>
        </p:nvSpPr>
        <p:spPr>
          <a:xfrm rot="5400000">
            <a:off x="6776355" y="29209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9" name="Oval 68">
            <a:extLst>
              <a:ext uri="{FF2B5EF4-FFF2-40B4-BE49-F238E27FC236}">
                <a16:creationId xmlns:a16="http://schemas.microsoft.com/office/drawing/2014/main" id="{BDD11F87-DA81-9510-C1CB-0AF4093562CB}"/>
              </a:ext>
            </a:extLst>
          </p:cNvPr>
          <p:cNvSpPr/>
          <p:nvPr/>
        </p:nvSpPr>
        <p:spPr>
          <a:xfrm rot="5400000">
            <a:off x="10352441" y="29209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0" name="Straight Connector 69">
            <a:extLst>
              <a:ext uri="{FF2B5EF4-FFF2-40B4-BE49-F238E27FC236}">
                <a16:creationId xmlns:a16="http://schemas.microsoft.com/office/drawing/2014/main" id="{6205DD86-315C-53B6-CEEF-A9919650168E}"/>
              </a:ext>
            </a:extLst>
          </p:cNvPr>
          <p:cNvCxnSpPr>
            <a:cxnSpLocks/>
            <a:stCxn id="69" idx="4"/>
            <a:endCxn id="68" idx="0"/>
          </p:cNvCxnSpPr>
          <p:nvPr/>
        </p:nvCxnSpPr>
        <p:spPr>
          <a:xfrm flipH="1">
            <a:off x="6920355" y="2992941"/>
            <a:ext cx="343208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1" name="Oval 70">
            <a:extLst>
              <a:ext uri="{FF2B5EF4-FFF2-40B4-BE49-F238E27FC236}">
                <a16:creationId xmlns:a16="http://schemas.microsoft.com/office/drawing/2014/main" id="{BDD11F87-DA81-9510-C1CB-0AF4093562CB}"/>
              </a:ext>
            </a:extLst>
          </p:cNvPr>
          <p:cNvSpPr/>
          <p:nvPr/>
        </p:nvSpPr>
        <p:spPr>
          <a:xfrm rot="5400000">
            <a:off x="10352441" y="508118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2" name="Straight Connector 71">
            <a:extLst>
              <a:ext uri="{FF2B5EF4-FFF2-40B4-BE49-F238E27FC236}">
                <a16:creationId xmlns:a16="http://schemas.microsoft.com/office/drawing/2014/main" id="{6205DD86-315C-53B6-CEEF-A9919650168E}"/>
              </a:ext>
            </a:extLst>
          </p:cNvPr>
          <p:cNvCxnSpPr>
            <a:cxnSpLocks/>
            <a:stCxn id="68" idx="6"/>
            <a:endCxn id="79" idx="2"/>
          </p:cNvCxnSpPr>
          <p:nvPr/>
        </p:nvCxnSpPr>
        <p:spPr>
          <a:xfrm>
            <a:off x="6848355" y="3064941"/>
            <a:ext cx="0" cy="2030057"/>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Straight Connector 72">
            <a:extLst>
              <a:ext uri="{FF2B5EF4-FFF2-40B4-BE49-F238E27FC236}">
                <a16:creationId xmlns:a16="http://schemas.microsoft.com/office/drawing/2014/main" id="{6205DD86-315C-53B6-CEEF-A9919650168E}"/>
              </a:ext>
            </a:extLst>
          </p:cNvPr>
          <p:cNvCxnSpPr>
            <a:cxnSpLocks/>
            <a:stCxn id="69" idx="6"/>
            <a:endCxn id="71" idx="2"/>
          </p:cNvCxnSpPr>
          <p:nvPr/>
        </p:nvCxnSpPr>
        <p:spPr>
          <a:xfrm>
            <a:off x="10424441" y="3064941"/>
            <a:ext cx="0" cy="20162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73">
            <a:extLst>
              <a:ext uri="{FF2B5EF4-FFF2-40B4-BE49-F238E27FC236}">
                <a16:creationId xmlns:a16="http://schemas.microsoft.com/office/drawing/2014/main" id="{6205DD86-315C-53B6-CEEF-A9919650168E}"/>
              </a:ext>
            </a:extLst>
          </p:cNvPr>
          <p:cNvCxnSpPr>
            <a:cxnSpLocks/>
            <a:stCxn id="71" idx="4"/>
            <a:endCxn id="79" idx="0"/>
          </p:cNvCxnSpPr>
          <p:nvPr/>
        </p:nvCxnSpPr>
        <p:spPr>
          <a:xfrm flipH="1">
            <a:off x="6920355" y="5153181"/>
            <a:ext cx="3432086" cy="138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5" name="TextBox 74"/>
          <p:cNvSpPr txBox="1"/>
          <p:nvPr/>
        </p:nvSpPr>
        <p:spPr>
          <a:xfrm>
            <a:off x="5878905" y="2984342"/>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76" name="TextBox 75"/>
          <p:cNvSpPr txBox="1"/>
          <p:nvPr/>
        </p:nvSpPr>
        <p:spPr>
          <a:xfrm>
            <a:off x="8455098" y="5238998"/>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77" name="TextBox 76"/>
          <p:cNvSpPr txBox="1"/>
          <p:nvPr/>
        </p:nvSpPr>
        <p:spPr>
          <a:xfrm>
            <a:off x="5894140" y="4579049"/>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78" name="TextBox 77"/>
          <p:cNvSpPr txBox="1"/>
          <p:nvPr/>
        </p:nvSpPr>
        <p:spPr>
          <a:xfrm>
            <a:off x="6853217" y="3814562"/>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79" name="Oval 78">
            <a:extLst>
              <a:ext uri="{FF2B5EF4-FFF2-40B4-BE49-F238E27FC236}">
                <a16:creationId xmlns:a16="http://schemas.microsoft.com/office/drawing/2014/main" id="{BDD11F87-DA81-9510-C1CB-0AF4093562CB}"/>
              </a:ext>
            </a:extLst>
          </p:cNvPr>
          <p:cNvSpPr/>
          <p:nvPr/>
        </p:nvSpPr>
        <p:spPr>
          <a:xfrm rot="5400000">
            <a:off x="6776355" y="509499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0" name="Straight Connector 79">
            <a:extLst>
              <a:ext uri="{FF2B5EF4-FFF2-40B4-BE49-F238E27FC236}">
                <a16:creationId xmlns:a16="http://schemas.microsoft.com/office/drawing/2014/main" id="{6205DD86-315C-53B6-CEEF-A9919650168E}"/>
              </a:ext>
            </a:extLst>
          </p:cNvPr>
          <p:cNvCxnSpPr>
            <a:cxnSpLocks/>
            <a:stCxn id="82" idx="5"/>
            <a:endCxn id="71" idx="1"/>
          </p:cNvCxnSpPr>
          <p:nvPr/>
        </p:nvCxnSpPr>
        <p:spPr>
          <a:xfrm flipH="1">
            <a:off x="10475353" y="4087973"/>
            <a:ext cx="1359469" cy="1014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81" name="Straight Connector 80">
            <a:extLst>
              <a:ext uri="{FF2B5EF4-FFF2-40B4-BE49-F238E27FC236}">
                <a16:creationId xmlns:a16="http://schemas.microsoft.com/office/drawing/2014/main" id="{6205DD86-315C-53B6-CEEF-A9919650168E}"/>
              </a:ext>
            </a:extLst>
          </p:cNvPr>
          <p:cNvCxnSpPr>
            <a:cxnSpLocks/>
            <a:stCxn id="69" idx="7"/>
            <a:endCxn id="82" idx="3"/>
          </p:cNvCxnSpPr>
          <p:nvPr/>
        </p:nvCxnSpPr>
        <p:spPr>
          <a:xfrm>
            <a:off x="10475353" y="3043853"/>
            <a:ext cx="1359469" cy="94229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82" name="Oval 81">
            <a:extLst>
              <a:ext uri="{FF2B5EF4-FFF2-40B4-BE49-F238E27FC236}">
                <a16:creationId xmlns:a16="http://schemas.microsoft.com/office/drawing/2014/main" id="{BDD11F87-DA81-9510-C1CB-0AF4093562CB}"/>
              </a:ext>
            </a:extLst>
          </p:cNvPr>
          <p:cNvSpPr/>
          <p:nvPr/>
        </p:nvSpPr>
        <p:spPr>
          <a:xfrm rot="5400000">
            <a:off x="11813734" y="396506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3" name="Oval 82">
            <a:extLst>
              <a:ext uri="{FF2B5EF4-FFF2-40B4-BE49-F238E27FC236}">
                <a16:creationId xmlns:a16="http://schemas.microsoft.com/office/drawing/2014/main" id="{BDD11F87-DA81-9510-C1CB-0AF4093562CB}"/>
              </a:ext>
            </a:extLst>
          </p:cNvPr>
          <p:cNvSpPr/>
          <p:nvPr/>
        </p:nvSpPr>
        <p:spPr>
          <a:xfrm rot="5400000">
            <a:off x="5385964" y="396009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4" name="Straight Connector 83">
            <a:extLst>
              <a:ext uri="{FF2B5EF4-FFF2-40B4-BE49-F238E27FC236}">
                <a16:creationId xmlns:a16="http://schemas.microsoft.com/office/drawing/2014/main" id="{6205DD86-315C-53B6-CEEF-A9919650168E}"/>
              </a:ext>
            </a:extLst>
          </p:cNvPr>
          <p:cNvCxnSpPr>
            <a:cxnSpLocks/>
            <a:stCxn id="68" idx="5"/>
            <a:endCxn id="83" idx="1"/>
          </p:cNvCxnSpPr>
          <p:nvPr/>
        </p:nvCxnSpPr>
        <p:spPr>
          <a:xfrm flipH="1">
            <a:off x="5508876" y="3043853"/>
            <a:ext cx="1288567" cy="93733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5" name="Straight Connector 84">
            <a:extLst>
              <a:ext uri="{FF2B5EF4-FFF2-40B4-BE49-F238E27FC236}">
                <a16:creationId xmlns:a16="http://schemas.microsoft.com/office/drawing/2014/main" id="{6205DD86-315C-53B6-CEEF-A9919650168E}"/>
              </a:ext>
            </a:extLst>
          </p:cNvPr>
          <p:cNvCxnSpPr>
            <a:cxnSpLocks/>
            <a:stCxn id="83" idx="7"/>
            <a:endCxn id="79" idx="3"/>
          </p:cNvCxnSpPr>
          <p:nvPr/>
        </p:nvCxnSpPr>
        <p:spPr>
          <a:xfrm>
            <a:off x="5508876" y="4083010"/>
            <a:ext cx="1288567" cy="103307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86" name="TextBox 85"/>
          <p:cNvSpPr txBox="1"/>
          <p:nvPr/>
        </p:nvSpPr>
        <p:spPr>
          <a:xfrm>
            <a:off x="8459907" y="3556749"/>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87" name="TextBox 86"/>
          <p:cNvSpPr txBox="1"/>
          <p:nvPr/>
        </p:nvSpPr>
        <p:spPr>
          <a:xfrm>
            <a:off x="8455098" y="2397721"/>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cxnSp>
        <p:nvCxnSpPr>
          <p:cNvPr id="88" name="Straight Connector 87">
            <a:extLst>
              <a:ext uri="{FF2B5EF4-FFF2-40B4-BE49-F238E27FC236}">
                <a16:creationId xmlns:a16="http://schemas.microsoft.com/office/drawing/2014/main" id="{6205DD86-315C-53B6-CEEF-A9919650168E}"/>
              </a:ext>
            </a:extLst>
          </p:cNvPr>
          <p:cNvCxnSpPr>
            <a:cxnSpLocks/>
            <a:stCxn id="69" idx="5"/>
            <a:endCxn id="79" idx="1"/>
          </p:cNvCxnSpPr>
          <p:nvPr/>
        </p:nvCxnSpPr>
        <p:spPr>
          <a:xfrm flipH="1">
            <a:off x="6899267" y="3043853"/>
            <a:ext cx="3474262" cy="2072233"/>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
        <p:nvSpPr>
          <p:cNvPr id="89" name="TextBox 88"/>
          <p:cNvSpPr txBox="1"/>
          <p:nvPr/>
        </p:nvSpPr>
        <p:spPr>
          <a:xfrm>
            <a:off x="11100137" y="3064941"/>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90" name="TextBox 89"/>
          <p:cNvSpPr txBox="1"/>
          <p:nvPr/>
        </p:nvSpPr>
        <p:spPr>
          <a:xfrm>
            <a:off x="10071142" y="3770488"/>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91" name="TextBox 90"/>
          <p:cNvSpPr txBox="1"/>
          <p:nvPr/>
        </p:nvSpPr>
        <p:spPr>
          <a:xfrm>
            <a:off x="11100137" y="4579049"/>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mc:AlternateContent xmlns:mc="http://schemas.openxmlformats.org/markup-compatibility/2006" xmlns:a14="http://schemas.microsoft.com/office/drawing/2010/main">
        <mc:Choice Requires="a14">
          <p:sp>
            <p:nvSpPr>
              <p:cNvPr id="92" name="TextBox 91"/>
              <p:cNvSpPr txBox="1"/>
              <p:nvPr/>
            </p:nvSpPr>
            <p:spPr>
              <a:xfrm>
                <a:off x="284296" y="2910418"/>
                <a:ext cx="4956613" cy="523220"/>
              </a:xfrm>
              <a:prstGeom prst="rect">
                <a:avLst/>
              </a:prstGeom>
              <a:ln w="38100"/>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800" dirty="0">
                    <a:solidFill>
                      <a:srgbClr val="002060"/>
                    </a:solidFill>
                  </a:rPr>
                  <a:t>Determined by chords </a:t>
                </a:r>
                <a14:m>
                  <m:oMath xmlns:m="http://schemas.openxmlformats.org/officeDocument/2006/math">
                    <m:r>
                      <m:rPr>
                        <m:sty m:val="p"/>
                      </m:rPr>
                      <a:rPr lang="en-US" sz="2800" b="0" i="0" smtClean="0">
                        <a:solidFill>
                          <a:srgbClr val="002060"/>
                        </a:solidFill>
                        <a:latin typeface="Cambria Math" panose="02040503050406030204" pitchFamily="18" charset="0"/>
                      </a:rPr>
                      <m:t>d</m:t>
                    </m:r>
                    <m:r>
                      <a:rPr lang="en-US" sz="2800">
                        <a:solidFill>
                          <a:srgbClr val="002060"/>
                        </a:solidFill>
                        <a:latin typeface="Cambria Math" panose="02040503050406030204" pitchFamily="18" charset="0"/>
                      </a:rPr>
                      <m:t>:</m:t>
                    </m:r>
                    <m:d>
                      <m:dPr>
                        <m:ctrlPr>
                          <a:rPr lang="en-US" sz="2800" b="0" i="1" smtClean="0">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d</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c</m:t>
                        </m:r>
                      </m:e>
                    </m:d>
                  </m:oMath>
                </a14:m>
                <a:r>
                  <a:rPr lang="en-US" sz="2800" dirty="0">
                    <a:latin typeface="Cambria" panose="02040503050406030204" pitchFamily="18" charset="0"/>
                    <a:ea typeface="Times New Roman" panose="02020603050405020304" pitchFamily="18" charset="0"/>
                    <a:cs typeface="Shruti" panose="020B0502040204020203" pitchFamily="34" charset="0"/>
                  </a:rPr>
                  <a:t>. </a:t>
                </a:r>
              </a:p>
            </p:txBody>
          </p:sp>
        </mc:Choice>
        <mc:Fallback xmlns="">
          <p:sp>
            <p:nvSpPr>
              <p:cNvPr id="92" name="TextBox 91"/>
              <p:cNvSpPr txBox="1">
                <a:spLocks noRot="1" noChangeAspect="1" noMove="1" noResize="1" noEditPoints="1" noAdjustHandles="1" noChangeArrowheads="1" noChangeShapeType="1" noTextEdit="1"/>
              </p:cNvSpPr>
              <p:nvPr/>
            </p:nvSpPr>
            <p:spPr>
              <a:xfrm>
                <a:off x="284296" y="2910418"/>
                <a:ext cx="4956613" cy="523220"/>
              </a:xfrm>
              <a:prstGeom prst="rect">
                <a:avLst/>
              </a:prstGeom>
              <a:blipFill rotWithShape="0">
                <a:blip r:embed="rId3"/>
                <a:stretch>
                  <a:fillRect l="-2198" t="-8696" r="-1221" b="-27174"/>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p:cNvSpPr txBox="1"/>
              <p:nvPr/>
            </p:nvSpPr>
            <p:spPr>
              <a:xfrm>
                <a:off x="284296" y="4677659"/>
                <a:ext cx="5122756" cy="523220"/>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marL="0" lvl="2">
                  <a:spcBef>
                    <a:spcPts val="1000"/>
                  </a:spcBef>
                </a:pPr>
                <a:r>
                  <a:rPr lang="en-US" sz="2800" dirty="0">
                    <a:solidFill>
                      <a:srgbClr val="002060"/>
                    </a:solidFill>
                  </a:rPr>
                  <a:t>Determined by chords </a:t>
                </a:r>
                <a14:m>
                  <m:oMath xmlns:m="http://schemas.openxmlformats.org/officeDocument/2006/math">
                    <m:r>
                      <m:rPr>
                        <m:sty m:val="p"/>
                      </m:rPr>
                      <a:rPr lang="en-US" sz="2800">
                        <a:solidFill>
                          <a:srgbClr val="002060"/>
                        </a:solidFill>
                        <a:latin typeface="Cambria Math" panose="02040503050406030204" pitchFamily="18" charset="0"/>
                      </a:rPr>
                      <m:t>f</m:t>
                    </m:r>
                    <m:r>
                      <a:rPr lang="en-US" sz="2800">
                        <a:solidFill>
                          <a:srgbClr val="002060"/>
                        </a:solidFill>
                        <a:latin typeface="Cambria Math" panose="02040503050406030204" pitchFamily="18" charset="0"/>
                      </a:rPr>
                      <m:t>:</m:t>
                    </m:r>
                    <m:d>
                      <m:dPr>
                        <m:ctrlPr>
                          <a:rPr lang="en-US" sz="2800" b="0" i="1" smtClean="0">
                            <a:solidFill>
                              <a:srgbClr val="002060"/>
                            </a:solidFill>
                            <a:latin typeface="Cambria Math" panose="02040503050406030204" pitchFamily="18" charset="0"/>
                          </a:rPr>
                        </m:ctrlPr>
                      </m:dPr>
                      <m:e>
                        <m:r>
                          <m:rPr>
                            <m:sty m:val="p"/>
                          </m:rPr>
                          <a:rPr lang="en-US" sz="2800">
                            <a:solidFill>
                              <a:srgbClr val="002060"/>
                            </a:solidFill>
                            <a:latin typeface="Cambria Math" panose="02040503050406030204" pitchFamily="18" charset="0"/>
                          </a:rPr>
                          <m:t>f</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k</m:t>
                        </m:r>
                        <m:r>
                          <a:rPr lang="en-US" sz="2800">
                            <a:solidFill>
                              <a:srgbClr val="002060"/>
                            </a:solidFill>
                            <a:latin typeface="Cambria Math" panose="02040503050406030204" pitchFamily="18" charset="0"/>
                          </a:rPr>
                          <m:t>, </m:t>
                        </m:r>
                        <m:r>
                          <m:rPr>
                            <m:sty m:val="p"/>
                          </m:rPr>
                          <a:rPr lang="en-US" sz="2800">
                            <a:solidFill>
                              <a:srgbClr val="002060"/>
                            </a:solidFill>
                            <a:latin typeface="Cambria Math" panose="02040503050406030204" pitchFamily="18" charset="0"/>
                          </a:rPr>
                          <m:t>h</m:t>
                        </m:r>
                        <m:r>
                          <a:rPr lang="en-US" sz="280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e</m:t>
                        </m:r>
                      </m:e>
                    </m:d>
                  </m:oMath>
                </a14:m>
                <a:r>
                  <a:rPr lang="en-US" sz="2800" dirty="0">
                    <a:latin typeface="Cambria" panose="02040503050406030204" pitchFamily="18" charset="0"/>
                    <a:ea typeface="Times New Roman" panose="02020603050405020304" pitchFamily="18" charset="0"/>
                    <a:cs typeface="Shruti" panose="020B0502040204020203" pitchFamily="34" charset="0"/>
                  </a:rPr>
                  <a:t>.</a:t>
                </a:r>
                <a:r>
                  <a:rPr lang="en-US" dirty="0">
                    <a:latin typeface="Cambria" panose="02040503050406030204" pitchFamily="18" charset="0"/>
                    <a:ea typeface="Times New Roman" panose="02020603050405020304" pitchFamily="18" charset="0"/>
                    <a:cs typeface="Shruti" panose="020B0502040204020203" pitchFamily="34" charset="0"/>
                  </a:rPr>
                  <a:t> </a:t>
                </a:r>
              </a:p>
            </p:txBody>
          </p:sp>
        </mc:Choice>
        <mc:Fallback xmlns="">
          <p:sp>
            <p:nvSpPr>
              <p:cNvPr id="93" name="TextBox 92"/>
              <p:cNvSpPr txBox="1">
                <a:spLocks noRot="1" noChangeAspect="1" noMove="1" noResize="1" noEditPoints="1" noAdjustHandles="1" noChangeArrowheads="1" noChangeShapeType="1" noTextEdit="1"/>
              </p:cNvSpPr>
              <p:nvPr/>
            </p:nvSpPr>
            <p:spPr>
              <a:xfrm>
                <a:off x="284296" y="4677659"/>
                <a:ext cx="5122756" cy="523220"/>
              </a:xfrm>
              <a:prstGeom prst="rect">
                <a:avLst/>
              </a:prstGeom>
              <a:blipFill rotWithShape="0">
                <a:blip r:embed="rId4"/>
                <a:stretch>
                  <a:fillRect l="-2128" t="-8696" b="-27174"/>
                </a:stretch>
              </a:blipFill>
              <a:ln w="38100"/>
            </p:spPr>
            <p:txBody>
              <a:bodyPr/>
              <a:lstStyle/>
              <a:p>
                <a:r>
                  <a:rPr lang="en-US">
                    <a:noFill/>
                  </a:rPr>
                  <a:t> </a:t>
                </a:r>
              </a:p>
            </p:txBody>
          </p:sp>
        </mc:Fallback>
      </mc:AlternateContent>
      <p:sp>
        <p:nvSpPr>
          <p:cNvPr id="94" name="Arc 93"/>
          <p:cNvSpPr/>
          <p:nvPr/>
        </p:nvSpPr>
        <p:spPr>
          <a:xfrm rot="593460">
            <a:off x="6588077" y="1452652"/>
            <a:ext cx="1806262" cy="5937996"/>
          </a:xfrm>
          <a:prstGeom prst="arc">
            <a:avLst>
              <a:gd name="adj1" fmla="val 17305548"/>
              <a:gd name="adj2" fmla="val 3340295"/>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5" name="TextBox 94"/>
          <p:cNvSpPr txBox="1"/>
          <p:nvPr/>
        </p:nvSpPr>
        <p:spPr>
          <a:xfrm>
            <a:off x="7526215" y="3814562"/>
            <a:ext cx="362600" cy="523220"/>
          </a:xfrm>
          <a:prstGeom prst="rect">
            <a:avLst/>
          </a:prstGeom>
          <a:noFill/>
        </p:spPr>
        <p:txBody>
          <a:bodyPr wrap="none" rtlCol="0">
            <a:spAutoFit/>
          </a:bodyPr>
          <a:lstStyle/>
          <a:p>
            <a:r>
              <a:rPr lang="en-US" sz="2800" dirty="0"/>
              <a:t>1</a:t>
            </a:r>
          </a:p>
        </p:txBody>
      </p:sp>
      <p:sp>
        <p:nvSpPr>
          <p:cNvPr id="96" name="TextBox 95"/>
          <p:cNvSpPr txBox="1"/>
          <p:nvPr/>
        </p:nvSpPr>
        <p:spPr>
          <a:xfrm>
            <a:off x="9217217" y="4337782"/>
            <a:ext cx="362600" cy="523220"/>
          </a:xfrm>
          <a:prstGeom prst="rect">
            <a:avLst/>
          </a:prstGeom>
          <a:noFill/>
        </p:spPr>
        <p:txBody>
          <a:bodyPr wrap="none" rtlCol="0">
            <a:spAutoFit/>
          </a:bodyPr>
          <a:lstStyle>
            <a:defPPr>
              <a:defRPr lang="en-US"/>
            </a:defPPr>
            <a:lvl1pPr>
              <a:defRPr sz="2800"/>
            </a:lvl1pPr>
          </a:lstStyle>
          <a:p>
            <a:r>
              <a:rPr lang="en-US" dirty="0"/>
              <a:t>2</a:t>
            </a:r>
          </a:p>
        </p:txBody>
      </p:sp>
    </p:spTree>
    <p:extLst>
      <p:ext uri="{BB962C8B-B14F-4D97-AF65-F5344CB8AC3E}">
        <p14:creationId xmlns:p14="http://schemas.microsoft.com/office/powerpoint/2010/main" val="1395408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7" presetClass="emph" presetSubtype="2" fill="hold" nodeType="clickEffect">
                                  <p:stCondLst>
                                    <p:cond delay="0"/>
                                  </p:stCondLst>
                                  <p:childTnLst>
                                    <p:animClr clrSpc="rgb" dir="cw">
                                      <p:cBhvr>
                                        <p:cTn id="10" dur="2000" fill="hold"/>
                                        <p:tgtEl>
                                          <p:spTgt spid="88"/>
                                        </p:tgtEl>
                                        <p:attrNameLst>
                                          <p:attrName>stroke.color</p:attrName>
                                        </p:attrNameLst>
                                      </p:cBhvr>
                                      <p:to>
                                        <a:srgbClr val="FFFF00"/>
                                      </p:to>
                                    </p:animClr>
                                    <p:set>
                                      <p:cBhvr>
                                        <p:cTn id="11" dur="2000" fill="hold"/>
                                        <p:tgtEl>
                                          <p:spTgt spid="88"/>
                                        </p:tgtEl>
                                        <p:attrNameLst>
                                          <p:attrName>stroke.on</p:attrName>
                                        </p:attrNameLst>
                                      </p:cBhvr>
                                      <p:to>
                                        <p:strVal val="tru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94"/>
                                        </p:tgtEl>
                                        <p:attrNameLst>
                                          <p:attrName>style.visibility</p:attrName>
                                        </p:attrNameLst>
                                      </p:cBhvr>
                                      <p:to>
                                        <p:strVal val="visible"/>
                                      </p:to>
                                    </p:set>
                                    <p:animEffect transition="in" filter="wipe(down)">
                                      <p:cBhvr>
                                        <p:cTn id="16" dur="500"/>
                                        <p:tgtEl>
                                          <p:spTgt spid="9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67" grpId="0" animBg="1"/>
      <p:bldP spid="92" grpId="0" animBg="1"/>
      <p:bldP spid="93" grpId="0" animBg="1"/>
      <p:bldP spid="94" grpId="0" animBg="1"/>
      <p:bldP spid="95" grpId="0"/>
      <p:bldP spid="9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Method-3</a:t>
            </a:r>
          </a:p>
        </p:txBody>
      </p:sp>
    </p:spTree>
    <p:extLst>
      <p:ext uri="{BB962C8B-B14F-4D97-AF65-F5344CB8AC3E}">
        <p14:creationId xmlns:p14="http://schemas.microsoft.com/office/powerpoint/2010/main" val="7595906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1</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2270022"/>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47" name="Rectangle 46"/>
          <p:cNvSpPr/>
          <p:nvPr/>
        </p:nvSpPr>
        <p:spPr>
          <a:xfrm>
            <a:off x="16409" y="1216891"/>
            <a:ext cx="12175591" cy="666849"/>
          </a:xfrm>
          <a:prstGeom prst="rect">
            <a:avLst/>
          </a:prstGeom>
        </p:spPr>
        <p:txBody>
          <a:bodyPr wrap="square">
            <a:spAutoFit/>
          </a:bodyPr>
          <a:lstStyle/>
          <a:p>
            <a:pPr marL="265113" indent="-265113" algn="just">
              <a:lnSpc>
                <a:spcPct val="150000"/>
              </a:lnSpc>
              <a:spcBef>
                <a:spcPts val="1000"/>
              </a:spcBef>
              <a:buClr>
                <a:srgbClr val="B84742"/>
              </a:buClr>
              <a:buFont typeface="Wingdings 3" panose="05040102010807070707" pitchFamily="18" charset="2"/>
              <a:buChar char=""/>
            </a:pPr>
            <a:endParaRPr lang="en-US" sz="2800" dirty="0">
              <a:solidFill>
                <a:srgbClr val="002060"/>
              </a:solidFill>
            </a:endParaRPr>
          </a:p>
        </p:txBody>
      </p:sp>
      <p:sp>
        <p:nvSpPr>
          <p:cNvPr id="12" name="Content Placeholder 2">
            <a:extLst>
              <a:ext uri="{FF2B5EF4-FFF2-40B4-BE49-F238E27FC236}">
                <a16:creationId xmlns:a16="http://schemas.microsoft.com/office/drawing/2014/main" id="{9CB3AA53-5FE6-7420-2832-B8AB64C9E95F}"/>
              </a:ext>
            </a:extLst>
          </p:cNvPr>
          <p:cNvSpPr txBox="1">
            <a:spLocks/>
          </p:cNvSpPr>
          <p:nvPr/>
        </p:nvSpPr>
        <p:spPr>
          <a:xfrm>
            <a:off x="105925" y="2876925"/>
            <a:ext cx="7385694" cy="247749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dirty="0"/>
              <a:t>Consider the graph, where the </a:t>
            </a:r>
            <a:r>
              <a:rPr lang="en-US" b="1" dirty="0"/>
              <a:t>green lines</a:t>
            </a:r>
            <a:r>
              <a:rPr lang="en-US" dirty="0"/>
              <a:t> represent the edges of a </a:t>
            </a:r>
            <a:r>
              <a:rPr lang="en-US" b="1" dirty="0"/>
              <a:t>spanning tree</a:t>
            </a:r>
            <a:r>
              <a:rPr lang="en-US" dirty="0"/>
              <a:t>.</a:t>
            </a:r>
          </a:p>
          <a:p>
            <a:pPr lvl="0"/>
            <a:r>
              <a:rPr lang="en-US" dirty="0"/>
              <a:t>The </a:t>
            </a:r>
            <a:r>
              <a:rPr lang="en-US" b="1" dirty="0"/>
              <a:t>blue dotted lines</a:t>
            </a:r>
            <a:r>
              <a:rPr lang="en-US" dirty="0"/>
              <a:t> indicate the corresponding </a:t>
            </a:r>
            <a:r>
              <a:rPr lang="en-US" b="1" dirty="0"/>
              <a:t>fundamental cut-sets</a:t>
            </a:r>
            <a:r>
              <a:rPr lang="en-US" dirty="0"/>
              <a:t> with respect to that spanning tree. </a:t>
            </a:r>
          </a:p>
          <a:p>
            <a:pPr lvl="0"/>
            <a:endParaRPr lang="en-IN" dirty="0"/>
          </a:p>
          <a:p>
            <a:endParaRPr lang="en-US" dirty="0"/>
          </a:p>
          <a:p>
            <a:pPr lvl="0"/>
            <a:endParaRPr lang="en-US" dirty="0"/>
          </a:p>
        </p:txBody>
      </p:sp>
      <p:sp>
        <p:nvSpPr>
          <p:cNvPr id="13" name="Oval 12">
            <a:extLst>
              <a:ext uri="{FF2B5EF4-FFF2-40B4-BE49-F238E27FC236}">
                <a16:creationId xmlns:a16="http://schemas.microsoft.com/office/drawing/2014/main" id="{BDD11F87-DA81-9510-C1CB-0AF4093562CB}"/>
              </a:ext>
            </a:extLst>
          </p:cNvPr>
          <p:cNvSpPr/>
          <p:nvPr/>
        </p:nvSpPr>
        <p:spPr>
          <a:xfrm rot="5400000">
            <a:off x="9245659" y="26050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8533286" y="3325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9965739" y="3325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 name="Straight Connector 15">
            <a:extLst>
              <a:ext uri="{FF2B5EF4-FFF2-40B4-BE49-F238E27FC236}">
                <a16:creationId xmlns:a16="http://schemas.microsoft.com/office/drawing/2014/main" id="{6205DD86-315C-53B6-CEEF-A9919650168E}"/>
              </a:ext>
            </a:extLst>
          </p:cNvPr>
          <p:cNvCxnSpPr>
            <a:cxnSpLocks/>
            <a:stCxn id="13" idx="5"/>
            <a:endCxn id="14" idx="1"/>
          </p:cNvCxnSpPr>
          <p:nvPr/>
        </p:nvCxnSpPr>
        <p:spPr>
          <a:xfrm flipH="1">
            <a:off x="8656198" y="2727969"/>
            <a:ext cx="610549"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15" idx="4"/>
            <a:endCxn id="14" idx="0"/>
          </p:cNvCxnSpPr>
          <p:nvPr/>
        </p:nvCxnSpPr>
        <p:spPr>
          <a:xfrm flipH="1">
            <a:off x="8677286" y="3397137"/>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 name="Oval 17">
            <a:extLst>
              <a:ext uri="{FF2B5EF4-FFF2-40B4-BE49-F238E27FC236}">
                <a16:creationId xmlns:a16="http://schemas.microsoft.com/office/drawing/2014/main" id="{BDD11F87-DA81-9510-C1CB-0AF4093562CB}"/>
              </a:ext>
            </a:extLst>
          </p:cNvPr>
          <p:cNvSpPr/>
          <p:nvPr/>
        </p:nvSpPr>
        <p:spPr>
          <a:xfrm rot="5400000">
            <a:off x="8525579" y="47652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9965739" y="47652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14" idx="6"/>
            <a:endCxn id="18" idx="2"/>
          </p:cNvCxnSpPr>
          <p:nvPr/>
        </p:nvCxnSpPr>
        <p:spPr>
          <a:xfrm flipH="1">
            <a:off x="8597579" y="3469137"/>
            <a:ext cx="7707"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6205DD86-315C-53B6-CEEF-A9919650168E}"/>
              </a:ext>
            </a:extLst>
          </p:cNvPr>
          <p:cNvCxnSpPr>
            <a:cxnSpLocks/>
            <a:stCxn id="15" idx="6"/>
            <a:endCxn id="20" idx="2"/>
          </p:cNvCxnSpPr>
          <p:nvPr/>
        </p:nvCxnSpPr>
        <p:spPr>
          <a:xfrm>
            <a:off x="10037739" y="3469137"/>
            <a:ext cx="0"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20" idx="4"/>
            <a:endCxn id="18" idx="0"/>
          </p:cNvCxnSpPr>
          <p:nvPr/>
        </p:nvCxnSpPr>
        <p:spPr>
          <a:xfrm flipH="1">
            <a:off x="8669579" y="4837297"/>
            <a:ext cx="1296160"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6205DD86-315C-53B6-CEEF-A9919650168E}"/>
              </a:ext>
            </a:extLst>
          </p:cNvPr>
          <p:cNvCxnSpPr>
            <a:cxnSpLocks/>
            <a:stCxn id="20" idx="3"/>
            <a:endCxn id="14" idx="7"/>
          </p:cNvCxnSpPr>
          <p:nvPr/>
        </p:nvCxnSpPr>
        <p:spPr>
          <a:xfrm flipH="1" flipV="1">
            <a:off x="8656198" y="3448049"/>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5" name="TextBox 24"/>
          <p:cNvSpPr txBox="1"/>
          <p:nvPr/>
        </p:nvSpPr>
        <p:spPr>
          <a:xfrm>
            <a:off x="8615791" y="255107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6" name="TextBox 25"/>
          <p:cNvSpPr txBox="1"/>
          <p:nvPr/>
        </p:nvSpPr>
        <p:spPr>
          <a:xfrm>
            <a:off x="9197607" y="2833435"/>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7" name="TextBox 26"/>
          <p:cNvSpPr txBox="1"/>
          <p:nvPr/>
        </p:nvSpPr>
        <p:spPr>
          <a:xfrm>
            <a:off x="10015022" y="2349014"/>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8" name="TextBox 27"/>
          <p:cNvSpPr txBox="1"/>
          <p:nvPr/>
        </p:nvSpPr>
        <p:spPr>
          <a:xfrm>
            <a:off x="10058811" y="3850881"/>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9" name="TextBox 28"/>
          <p:cNvSpPr txBox="1"/>
          <p:nvPr/>
        </p:nvSpPr>
        <p:spPr>
          <a:xfrm>
            <a:off x="8971979" y="4088468"/>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30" name="TextBox 29"/>
          <p:cNvSpPr txBox="1"/>
          <p:nvPr/>
        </p:nvSpPr>
        <p:spPr>
          <a:xfrm>
            <a:off x="8254255" y="385088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32" name="TextBox 31"/>
          <p:cNvSpPr txBox="1"/>
          <p:nvPr/>
        </p:nvSpPr>
        <p:spPr>
          <a:xfrm>
            <a:off x="10792846" y="312985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33" name="TextBox 32"/>
          <p:cNvSpPr txBox="1"/>
          <p:nvPr/>
        </p:nvSpPr>
        <p:spPr>
          <a:xfrm>
            <a:off x="9156378" y="4837296"/>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34" name="Oval 33">
            <a:extLst>
              <a:ext uri="{FF2B5EF4-FFF2-40B4-BE49-F238E27FC236}">
                <a16:creationId xmlns:a16="http://schemas.microsoft.com/office/drawing/2014/main" id="{BDD11F87-DA81-9510-C1CB-0AF4093562CB}"/>
              </a:ext>
            </a:extLst>
          </p:cNvPr>
          <p:cNvSpPr/>
          <p:nvPr/>
        </p:nvSpPr>
        <p:spPr>
          <a:xfrm rot="5400000">
            <a:off x="10696828" y="25850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Arc 35"/>
          <p:cNvSpPr/>
          <p:nvPr/>
        </p:nvSpPr>
        <p:spPr>
          <a:xfrm rot="15169182">
            <a:off x="10225673" y="2487644"/>
            <a:ext cx="914400" cy="1335488"/>
          </a:xfrm>
          <a:prstGeom prst="arc">
            <a:avLst>
              <a:gd name="adj1" fmla="val 16366945"/>
              <a:gd name="adj2" fmla="val 1131257"/>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c 36"/>
          <p:cNvSpPr/>
          <p:nvPr/>
        </p:nvSpPr>
        <p:spPr>
          <a:xfrm rot="20823509">
            <a:off x="9863470" y="2662120"/>
            <a:ext cx="1163058" cy="814200"/>
          </a:xfrm>
          <a:prstGeom prst="arc">
            <a:avLst>
              <a:gd name="adj1" fmla="val 19771312"/>
              <a:gd name="adj2" fmla="val 8734626"/>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38" name="Arc 37"/>
          <p:cNvSpPr/>
          <p:nvPr/>
        </p:nvSpPr>
        <p:spPr>
          <a:xfrm rot="2089104">
            <a:off x="8263686" y="3065309"/>
            <a:ext cx="775298" cy="779612"/>
          </a:xfrm>
          <a:prstGeom prst="arc">
            <a:avLst>
              <a:gd name="adj1" fmla="val 17209419"/>
              <a:gd name="adj2" fmla="val 769138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Arc 30"/>
          <p:cNvSpPr/>
          <p:nvPr/>
        </p:nvSpPr>
        <p:spPr>
          <a:xfrm rot="2089104">
            <a:off x="8953107" y="2157469"/>
            <a:ext cx="775298" cy="779612"/>
          </a:xfrm>
          <a:prstGeom prst="arc">
            <a:avLst>
              <a:gd name="adj1" fmla="val 3051019"/>
              <a:gd name="adj2" fmla="val 769138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Arc 38"/>
          <p:cNvSpPr/>
          <p:nvPr/>
        </p:nvSpPr>
        <p:spPr>
          <a:xfrm rot="5400000">
            <a:off x="10453179" y="2242010"/>
            <a:ext cx="775298" cy="779612"/>
          </a:xfrm>
          <a:prstGeom prst="arc">
            <a:avLst>
              <a:gd name="adj1" fmla="val 17209419"/>
              <a:gd name="adj2" fmla="val 769138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Arc 39"/>
          <p:cNvSpPr/>
          <p:nvPr/>
        </p:nvSpPr>
        <p:spPr>
          <a:xfrm rot="5400000">
            <a:off x="9697856" y="3032750"/>
            <a:ext cx="750123" cy="622635"/>
          </a:xfrm>
          <a:prstGeom prst="arc">
            <a:avLst>
              <a:gd name="adj1" fmla="val 19725884"/>
              <a:gd name="adj2" fmla="val 769138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Arc 40"/>
          <p:cNvSpPr/>
          <p:nvPr/>
        </p:nvSpPr>
        <p:spPr>
          <a:xfrm rot="16200000">
            <a:off x="8298514" y="3848274"/>
            <a:ext cx="2903875" cy="524005"/>
          </a:xfrm>
          <a:prstGeom prst="arc">
            <a:avLst>
              <a:gd name="adj1" fmla="val 11115140"/>
              <a:gd name="adj2" fmla="val 21223154"/>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Content Placeholder 2"/>
          <p:cNvSpPr txBox="1">
            <a:spLocks/>
          </p:cNvSpPr>
          <p:nvPr/>
        </p:nvSpPr>
        <p:spPr>
          <a:xfrm>
            <a:off x="131176" y="867840"/>
            <a:ext cx="12024000" cy="1339674"/>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b="1" dirty="0">
                <a:solidFill>
                  <a:schemeClr val="bg1"/>
                </a:solidFill>
              </a:rPr>
              <a:t>Explain property with example:</a:t>
            </a:r>
            <a:r>
              <a:rPr lang="en-US" sz="2800" dirty="0">
                <a:solidFill>
                  <a:schemeClr val="bg1"/>
                </a:solidFill>
              </a:rPr>
              <a:t> </a:t>
            </a:r>
          </a:p>
          <a:p>
            <a:r>
              <a:rPr lang="en-US" sz="2800" dirty="0">
                <a:solidFill>
                  <a:schemeClr val="bg1"/>
                </a:solidFill>
              </a:rPr>
              <a:t>A chord that determines a fundamental circuit C occurs in every fundamental cut-set associated with the branches in C and in no other.</a:t>
            </a:r>
          </a:p>
        </p:txBody>
      </p:sp>
    </p:spTree>
    <p:extLst>
      <p:ext uri="{BB962C8B-B14F-4D97-AF65-F5344CB8AC3E}">
        <p14:creationId xmlns:p14="http://schemas.microsoft.com/office/powerpoint/2010/main" val="4114650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nodePh="1">
                                  <p:stCondLst>
                                    <p:cond delay="0"/>
                                  </p:stCondLst>
                                  <p:endCondLst>
                                    <p:cond evt="begin" delay="0">
                                      <p:tn val="53"/>
                                    </p:cond>
                                  </p:endCondLst>
                                  <p:childTnLst>
                                    <p:set>
                                      <p:cBhvr>
                                        <p:cTn id="54"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2">
                                            <p:txEl>
                                              <p:pRg st="1" end="1"/>
                                            </p:txEl>
                                          </p:spTgt>
                                        </p:tgtEl>
                                        <p:attrNameLst>
                                          <p:attrName>style.visibility</p:attrName>
                                        </p:attrNameLst>
                                      </p:cBhvr>
                                      <p:to>
                                        <p:strVal val="visible"/>
                                      </p:to>
                                    </p:set>
                                  </p:childTnLst>
                                </p:cTn>
                              </p:par>
                            </p:childTnLst>
                          </p:cTn>
                        </p:par>
                        <p:par>
                          <p:cTn id="59" fill="hold">
                            <p:stCondLst>
                              <p:cond delay="0"/>
                            </p:stCondLst>
                            <p:childTnLst>
                              <p:par>
                                <p:cTn id="60" presetID="22" presetClass="entr" presetSubtype="1" fill="hold" grpId="0" nodeType="after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ipe(up)">
                                      <p:cBhvr>
                                        <p:cTn id="62" dur="500"/>
                                        <p:tgtEl>
                                          <p:spTgt spid="31"/>
                                        </p:tgtEl>
                                      </p:cBhvr>
                                    </p:animEffect>
                                  </p:childTnLst>
                                </p:cTn>
                              </p:par>
                            </p:childTnLst>
                          </p:cTn>
                        </p:par>
                        <p:par>
                          <p:cTn id="63" fill="hold">
                            <p:stCondLst>
                              <p:cond delay="500"/>
                            </p:stCondLst>
                            <p:childTnLst>
                              <p:par>
                                <p:cTn id="64" presetID="1" presetClass="entr" presetSubtype="0" fill="hold" grpId="0" nodeType="afterEffect">
                                  <p:stCondLst>
                                    <p:cond delay="0"/>
                                  </p:stCondLst>
                                  <p:childTnLst>
                                    <p:set>
                                      <p:cBhvr>
                                        <p:cTn id="65" dur="1" fill="hold">
                                          <p:stCondLst>
                                            <p:cond delay="0"/>
                                          </p:stCondLst>
                                        </p:cTn>
                                        <p:tgtEl>
                                          <p:spTgt spid="38"/>
                                        </p:tgtEl>
                                        <p:attrNameLst>
                                          <p:attrName>style.visibility</p:attrName>
                                        </p:attrNameLst>
                                      </p:cBhvr>
                                      <p:to>
                                        <p:strVal val="visible"/>
                                      </p:to>
                                    </p:set>
                                  </p:childTnLst>
                                </p:cTn>
                              </p:par>
                            </p:childTnLst>
                          </p:cTn>
                        </p:par>
                        <p:par>
                          <p:cTn id="66" fill="hold">
                            <p:stCondLst>
                              <p:cond delay="500"/>
                            </p:stCondLst>
                            <p:childTnLst>
                              <p:par>
                                <p:cTn id="67" presetID="22" presetClass="entr" presetSubtype="4" fill="hold" grpId="0" nodeType="after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wipe(down)">
                                      <p:cBhvr>
                                        <p:cTn id="69" dur="500"/>
                                        <p:tgtEl>
                                          <p:spTgt spid="41"/>
                                        </p:tgtEl>
                                      </p:cBhvr>
                                    </p:animEffect>
                                  </p:childTnLst>
                                </p:cTn>
                              </p:par>
                            </p:childTnLst>
                          </p:cTn>
                        </p:par>
                        <p:par>
                          <p:cTn id="70" fill="hold">
                            <p:stCondLst>
                              <p:cond delay="1000"/>
                            </p:stCondLst>
                            <p:childTnLst>
                              <p:par>
                                <p:cTn id="71" presetID="22" presetClass="entr" presetSubtype="4" fill="hold" grpId="0" nodeType="afterEffect">
                                  <p:stCondLst>
                                    <p:cond delay="0"/>
                                  </p:stCondLst>
                                  <p:childTnLst>
                                    <p:set>
                                      <p:cBhvr>
                                        <p:cTn id="72" dur="1" fill="hold">
                                          <p:stCondLst>
                                            <p:cond delay="0"/>
                                          </p:stCondLst>
                                        </p:cTn>
                                        <p:tgtEl>
                                          <p:spTgt spid="40"/>
                                        </p:tgtEl>
                                        <p:attrNameLst>
                                          <p:attrName>style.visibility</p:attrName>
                                        </p:attrNameLst>
                                      </p:cBhvr>
                                      <p:to>
                                        <p:strVal val="visible"/>
                                      </p:to>
                                    </p:set>
                                    <p:animEffect transition="in" filter="wipe(down)">
                                      <p:cBhvr>
                                        <p:cTn id="73" dur="500"/>
                                        <p:tgtEl>
                                          <p:spTgt spid="40"/>
                                        </p:tgtEl>
                                      </p:cBhvr>
                                    </p:animEffect>
                                  </p:childTnLst>
                                </p:cTn>
                              </p:par>
                            </p:childTnLst>
                          </p:cTn>
                        </p:par>
                        <p:par>
                          <p:cTn id="74" fill="hold">
                            <p:stCondLst>
                              <p:cond delay="1500"/>
                            </p:stCondLst>
                            <p:childTnLst>
                              <p:par>
                                <p:cTn id="75" presetID="22" presetClass="entr" presetSubtype="1" fill="hold" grpId="0" nodeType="afterEffect">
                                  <p:stCondLst>
                                    <p:cond delay="0"/>
                                  </p:stCondLst>
                                  <p:childTnLst>
                                    <p:set>
                                      <p:cBhvr>
                                        <p:cTn id="76" dur="1" fill="hold">
                                          <p:stCondLst>
                                            <p:cond delay="0"/>
                                          </p:stCondLst>
                                        </p:cTn>
                                        <p:tgtEl>
                                          <p:spTgt spid="39"/>
                                        </p:tgtEl>
                                        <p:attrNameLst>
                                          <p:attrName>style.visibility</p:attrName>
                                        </p:attrNameLst>
                                      </p:cBhvr>
                                      <p:to>
                                        <p:strVal val="visible"/>
                                      </p:to>
                                    </p:set>
                                    <p:animEffect transition="in" filter="wipe(up)">
                                      <p:cBhvr>
                                        <p:cTn id="7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8" grpId="0" animBg="1"/>
      <p:bldP spid="20" grpId="0" animBg="1"/>
      <p:bldP spid="25" grpId="0"/>
      <p:bldP spid="26" grpId="0"/>
      <p:bldP spid="27" grpId="0"/>
      <p:bldP spid="28" grpId="0"/>
      <p:bldP spid="29" grpId="0"/>
      <p:bldP spid="30" grpId="0"/>
      <p:bldP spid="32" grpId="0"/>
      <p:bldP spid="33" grpId="0"/>
      <p:bldP spid="34" grpId="0" animBg="1"/>
      <p:bldP spid="36" grpId="0" animBg="1"/>
      <p:bldP spid="37" grpId="0" animBg="1"/>
      <p:bldP spid="38" grpId="0" animBg="1"/>
      <p:bldP spid="31" grpId="0" animBg="1"/>
      <p:bldP spid="39" grpId="0" animBg="1"/>
      <p:bldP spid="40" grpId="0" animBg="1"/>
      <p:bldP spid="4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618472" y="1974807"/>
            <a:ext cx="1389427" cy="138924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1</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818582"/>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47" name="Rectangle 46"/>
          <p:cNvSpPr/>
          <p:nvPr/>
        </p:nvSpPr>
        <p:spPr>
          <a:xfrm>
            <a:off x="16409" y="897574"/>
            <a:ext cx="12175591" cy="666849"/>
          </a:xfrm>
          <a:prstGeom prst="rect">
            <a:avLst/>
          </a:prstGeom>
        </p:spPr>
        <p:txBody>
          <a:bodyPr wrap="square">
            <a:spAutoFit/>
          </a:bodyPr>
          <a:lstStyle/>
          <a:p>
            <a:pPr marL="265113" indent="-265113" algn="just">
              <a:lnSpc>
                <a:spcPct val="150000"/>
              </a:lnSpc>
              <a:spcBef>
                <a:spcPts val="1000"/>
              </a:spcBef>
              <a:buClr>
                <a:srgbClr val="B84742"/>
              </a:buClr>
              <a:buFont typeface="Wingdings 3" panose="05040102010807070707" pitchFamily="18" charset="2"/>
              <a:buChar char=""/>
            </a:pPr>
            <a:endParaRPr lang="en-US" sz="2800" dirty="0">
              <a:solidFill>
                <a:srgbClr val="002060"/>
              </a:solidFill>
            </a:endParaRP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9CB3AA53-5FE6-7420-2832-B8AB64C9E95F}"/>
                  </a:ext>
                </a:extLst>
              </p:cNvPr>
              <p:cNvSpPr txBox="1">
                <a:spLocks/>
              </p:cNvSpPr>
              <p:nvPr/>
            </p:nvSpPr>
            <p:spPr>
              <a:xfrm>
                <a:off x="105925" y="1425485"/>
                <a:ext cx="7385694" cy="247749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Here the spanning tree is</a:t>
                </a:r>
                <a14:m>
                  <m:oMath xmlns:m="http://schemas.openxmlformats.org/officeDocument/2006/math">
                    <m:r>
                      <a:rPr lang="en-US" i="1">
                        <a:latin typeface="Cambria Math" panose="02040503050406030204" pitchFamily="18" charset="0"/>
                      </a:rPr>
                      <m:t> </m:t>
                    </m:r>
                    <m:r>
                      <a:rPr lang="en-US">
                        <a:latin typeface="Cambria Math" panose="02040503050406030204" pitchFamily="18" charset="0"/>
                      </a:rPr>
                      <m:t>{</m:t>
                    </m:r>
                    <m:r>
                      <m:rPr>
                        <m:sty m:val="p"/>
                      </m:rPr>
                      <a:rPr lang="en-US" b="0" i="0" smtClean="0">
                        <a:latin typeface="Cambria Math" panose="02040503050406030204" pitchFamily="18" charset="0"/>
                      </a:rPr>
                      <m:t>a</m:t>
                    </m:r>
                    <m:r>
                      <a:rPr lang="en-US">
                        <a:latin typeface="Cambria Math" panose="02040503050406030204" pitchFamily="18" charset="0"/>
                      </a:rPr>
                      <m:t>, </m:t>
                    </m:r>
                    <m:r>
                      <m:rPr>
                        <m:sty m:val="p"/>
                      </m:rPr>
                      <a:rPr lang="en-US" b="0" i="0" smtClean="0">
                        <a:latin typeface="Cambria Math" panose="02040503050406030204" pitchFamily="18" charset="0"/>
                      </a:rPr>
                      <m:t>b</m:t>
                    </m:r>
                    <m:r>
                      <a:rPr lang="en-US">
                        <a:latin typeface="Cambria Math" panose="02040503050406030204" pitchFamily="18" charset="0"/>
                      </a:rPr>
                      <m:t>, </m:t>
                    </m:r>
                    <m:r>
                      <m:rPr>
                        <m:sty m:val="p"/>
                      </m:rPr>
                      <a:rPr lang="en-US" b="0" i="0" smtClean="0">
                        <a:latin typeface="Cambria Math" panose="02040503050406030204" pitchFamily="18" charset="0"/>
                      </a:rPr>
                      <m:t>c</m:t>
                    </m:r>
                    <m:r>
                      <a:rPr lang="en-US">
                        <a:latin typeface="Cambria Math" panose="02040503050406030204" pitchFamily="18" charset="0"/>
                      </a:rPr>
                      <m:t>, </m:t>
                    </m:r>
                    <m:r>
                      <m:rPr>
                        <m:sty m:val="p"/>
                      </m:rPr>
                      <a:rPr lang="en-US" b="0" i="0" smtClean="0">
                        <a:latin typeface="Cambria Math" panose="02040503050406030204" pitchFamily="18" charset="0"/>
                      </a:rPr>
                      <m:t>d</m:t>
                    </m:r>
                    <m:r>
                      <a:rPr lang="en-US">
                        <a:latin typeface="Cambria Math" panose="02040503050406030204" pitchFamily="18" charset="0"/>
                      </a:rPr>
                      <m:t>, </m:t>
                    </m:r>
                    <m:r>
                      <m:rPr>
                        <m:sty m:val="p"/>
                      </m:rPr>
                      <a:rPr lang="en-US" b="0" i="0" smtClean="0">
                        <a:latin typeface="Cambria Math" panose="02040503050406030204" pitchFamily="18" charset="0"/>
                      </a:rPr>
                      <m:t>g</m:t>
                    </m:r>
                    <m:r>
                      <a:rPr lang="en-US">
                        <a:latin typeface="Cambria Math" panose="02040503050406030204" pitchFamily="18" charset="0"/>
                      </a:rPr>
                      <m:t>}</m:t>
                    </m:r>
                  </m:oMath>
                </a14:m>
                <a:r>
                  <a:rPr lang="en-US" dirty="0"/>
                  <a:t>.</a:t>
                </a:r>
              </a:p>
              <a:p>
                <a:r>
                  <a:rPr lang="en-US" dirty="0"/>
                  <a:t>The fundamental circuit made by chord</a:t>
                </a:r>
                <a14:m>
                  <m:oMath xmlns:m="http://schemas.openxmlformats.org/officeDocument/2006/math">
                    <m:r>
                      <a:rPr lang="en-US" i="1">
                        <a:latin typeface="Cambria Math" panose="02040503050406030204" pitchFamily="18" charset="0"/>
                      </a:rPr>
                      <m:t> </m:t>
                    </m:r>
                    <m:r>
                      <m:rPr>
                        <m:sty m:val="p"/>
                      </m:rPr>
                      <a:rPr lang="en-US" b="0" i="0" smtClean="0">
                        <a:latin typeface="Cambria Math" panose="02040503050406030204" pitchFamily="18" charset="0"/>
                      </a:rPr>
                      <m:t>e</m:t>
                    </m:r>
                  </m:oMath>
                </a14:m>
                <a:r>
                  <a:rPr lang="en-US" dirty="0"/>
                  <a:t> is</a:t>
                </a:r>
                <a14:m>
                  <m:oMath xmlns:m="http://schemas.openxmlformats.org/officeDocument/2006/math">
                    <m:r>
                      <a:rPr lang="en-US">
                        <a:latin typeface="Cambria Math" panose="02040503050406030204" pitchFamily="18" charset="0"/>
                      </a:rPr>
                      <m:t> {</m:t>
                    </m:r>
                    <m:r>
                      <m:rPr>
                        <m:sty m:val="p"/>
                      </m:rPr>
                      <a:rPr lang="en-US" b="0" i="0" smtClean="0">
                        <a:latin typeface="Cambria Math" panose="02040503050406030204" pitchFamily="18" charset="0"/>
                      </a:rPr>
                      <m:t>e</m:t>
                    </m:r>
                    <m:r>
                      <a:rPr lang="en-US" b="0" i="0" smtClean="0">
                        <a:latin typeface="Cambria Math" panose="02040503050406030204" pitchFamily="18" charset="0"/>
                      </a:rPr>
                      <m:t>, </m:t>
                    </m:r>
                    <m:r>
                      <m:rPr>
                        <m:sty m:val="p"/>
                      </m:rPr>
                      <a:rPr lang="en-US" b="0" i="0" smtClean="0">
                        <a:latin typeface="Cambria Math" panose="02040503050406030204" pitchFamily="18" charset="0"/>
                      </a:rPr>
                      <m:t>b</m:t>
                    </m:r>
                    <m:r>
                      <a:rPr lang="en-US" b="0" i="0" smtClean="0">
                        <a:latin typeface="Cambria Math" panose="02040503050406030204" pitchFamily="18" charset="0"/>
                      </a:rPr>
                      <m:t>, </m:t>
                    </m:r>
                    <m:r>
                      <m:rPr>
                        <m:sty m:val="p"/>
                      </m:rPr>
                      <a:rPr lang="en-US" b="0" i="0" smtClean="0">
                        <a:latin typeface="Cambria Math" panose="02040503050406030204" pitchFamily="18" charset="0"/>
                      </a:rPr>
                      <m:t>c</m:t>
                    </m:r>
                    <m:r>
                      <a:rPr lang="en-US" b="0" i="0" smtClean="0">
                        <a:latin typeface="Cambria Math" panose="02040503050406030204" pitchFamily="18" charset="0"/>
                      </a:rPr>
                      <m:t>, </m:t>
                    </m:r>
                    <m:r>
                      <m:rPr>
                        <m:sty m:val="p"/>
                      </m:rPr>
                      <a:rPr lang="en-US" b="0" i="0" smtClean="0">
                        <a:latin typeface="Cambria Math" panose="02040503050406030204" pitchFamily="18" charset="0"/>
                      </a:rPr>
                      <m:t>d</m:t>
                    </m:r>
                    <m:r>
                      <a:rPr lang="en-US">
                        <a:latin typeface="Cambria Math" panose="02040503050406030204" pitchFamily="18" charset="0"/>
                      </a:rPr>
                      <m:t>}</m:t>
                    </m:r>
                  </m:oMath>
                </a14:m>
                <a:r>
                  <a:rPr lang="en-US" dirty="0"/>
                  <a:t>.</a:t>
                </a:r>
              </a:p>
              <a:p>
                <a:pPr marL="265113" lvl="1" indent="-265113">
                  <a:spcBef>
                    <a:spcPts val="1000"/>
                  </a:spcBef>
                  <a:buFont typeface="Wingdings 3" panose="05040102010807070707" pitchFamily="18" charset="2"/>
                  <a:buChar char=""/>
                </a:pPr>
                <a:r>
                  <a:rPr lang="en-US" dirty="0"/>
                  <a:t>Three fundamental cutsets determined by the three branches </a:t>
                </a:r>
                <a14:m>
                  <m:oMath xmlns:m="http://schemas.openxmlformats.org/officeDocument/2006/math">
                    <m:r>
                      <m:rPr>
                        <m:sty m:val="p"/>
                      </m:rPr>
                      <a:rPr lang="en-US" b="0" i="0" smtClean="0">
                        <a:latin typeface="Cambria Math" panose="02040503050406030204" pitchFamily="18" charset="0"/>
                      </a:rPr>
                      <m:t>b</m:t>
                    </m:r>
                  </m:oMath>
                </a14:m>
                <a:r>
                  <a:rPr lang="en-US" dirty="0"/>
                  <a:t>, </a:t>
                </a:r>
                <a14:m>
                  <m:oMath xmlns:m="http://schemas.openxmlformats.org/officeDocument/2006/math">
                    <m:r>
                      <m:rPr>
                        <m:sty m:val="p"/>
                      </m:rPr>
                      <a:rPr lang="en-US" b="0" i="0" smtClean="0">
                        <a:latin typeface="Cambria Math" panose="02040503050406030204" pitchFamily="18" charset="0"/>
                      </a:rPr>
                      <m:t>c</m:t>
                    </m:r>
                  </m:oMath>
                </a14:m>
                <a:r>
                  <a:rPr lang="en-US" dirty="0"/>
                  <a:t>, and </a:t>
                </a:r>
                <a14:m>
                  <m:oMath xmlns:m="http://schemas.openxmlformats.org/officeDocument/2006/math">
                    <m:r>
                      <m:rPr>
                        <m:sty m:val="p"/>
                      </m:rPr>
                      <a:rPr lang="en-US" b="0" i="0" smtClean="0">
                        <a:latin typeface="Cambria Math" panose="02040503050406030204" pitchFamily="18" charset="0"/>
                      </a:rPr>
                      <m:t>d</m:t>
                    </m:r>
                  </m:oMath>
                </a14:m>
                <a:r>
                  <a:rPr lang="en-US" dirty="0"/>
                  <a:t> are</a:t>
                </a:r>
              </a:p>
              <a:p>
                <a:pPr lvl="0"/>
                <a:endParaRPr lang="en-IN" dirty="0"/>
              </a:p>
              <a:p>
                <a:endParaRPr lang="en-US" dirty="0"/>
              </a:p>
              <a:p>
                <a:pPr lvl="0"/>
                <a:endParaRPr lang="en-US" dirty="0"/>
              </a:p>
            </p:txBody>
          </p:sp>
        </mc:Choice>
        <mc:Fallback xmlns="">
          <p:sp>
            <p:nvSpPr>
              <p:cNvPr id="12" name="Content Placeholder 2">
                <a:extLst>
                  <a:ext uri="{FF2B5EF4-FFF2-40B4-BE49-F238E27FC236}">
                    <a16:creationId xmlns:a16="http://schemas.microsoft.com/office/drawing/2014/main" xmlns="" xmlns:a14="http://schemas.microsoft.com/office/drawing/2010/main" id="{9CB3AA53-5FE6-7420-2832-B8AB64C9E95F}"/>
                  </a:ext>
                </a:extLst>
              </p:cNvPr>
              <p:cNvSpPr txBox="1">
                <a:spLocks noRot="1" noChangeAspect="1" noMove="1" noResize="1" noEditPoints="1" noAdjustHandles="1" noChangeArrowheads="1" noChangeShapeType="1" noTextEdit="1"/>
              </p:cNvSpPr>
              <p:nvPr/>
            </p:nvSpPr>
            <p:spPr>
              <a:xfrm>
                <a:off x="105925" y="1425485"/>
                <a:ext cx="7385694" cy="2477493"/>
              </a:xfrm>
              <a:prstGeom prst="rect">
                <a:avLst/>
              </a:prstGeom>
              <a:blipFill rotWithShape="0">
                <a:blip r:embed="rId2"/>
                <a:stretch>
                  <a:fillRect l="-1485" t="-4433" r="-1733"/>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BDD11F87-DA81-9510-C1CB-0AF4093562CB}"/>
              </a:ext>
            </a:extLst>
          </p:cNvPr>
          <p:cNvSpPr/>
          <p:nvPr/>
        </p:nvSpPr>
        <p:spPr>
          <a:xfrm rot="5400000">
            <a:off x="9245659" y="11536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8533286" y="18736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9965739" y="18736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 name="Straight Connector 15">
            <a:extLst>
              <a:ext uri="{FF2B5EF4-FFF2-40B4-BE49-F238E27FC236}">
                <a16:creationId xmlns:a16="http://schemas.microsoft.com/office/drawing/2014/main" id="{6205DD86-315C-53B6-CEEF-A9919650168E}"/>
              </a:ext>
            </a:extLst>
          </p:cNvPr>
          <p:cNvCxnSpPr>
            <a:cxnSpLocks/>
            <a:stCxn id="13" idx="5"/>
            <a:endCxn id="14" idx="1"/>
          </p:cNvCxnSpPr>
          <p:nvPr/>
        </p:nvCxnSpPr>
        <p:spPr>
          <a:xfrm flipH="1">
            <a:off x="8656198" y="1276529"/>
            <a:ext cx="610549"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15" idx="4"/>
            <a:endCxn id="14" idx="0"/>
          </p:cNvCxnSpPr>
          <p:nvPr/>
        </p:nvCxnSpPr>
        <p:spPr>
          <a:xfrm flipH="1">
            <a:off x="8677286" y="1945697"/>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 name="Oval 17">
            <a:extLst>
              <a:ext uri="{FF2B5EF4-FFF2-40B4-BE49-F238E27FC236}">
                <a16:creationId xmlns:a16="http://schemas.microsoft.com/office/drawing/2014/main" id="{BDD11F87-DA81-9510-C1CB-0AF4093562CB}"/>
              </a:ext>
            </a:extLst>
          </p:cNvPr>
          <p:cNvSpPr/>
          <p:nvPr/>
        </p:nvSpPr>
        <p:spPr>
          <a:xfrm rot="5400000">
            <a:off x="8525579" y="33138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9965739" y="33138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14" idx="6"/>
            <a:endCxn id="18" idx="2"/>
          </p:cNvCxnSpPr>
          <p:nvPr/>
        </p:nvCxnSpPr>
        <p:spPr>
          <a:xfrm flipH="1">
            <a:off x="8597579" y="2017697"/>
            <a:ext cx="7707"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6205DD86-315C-53B6-CEEF-A9919650168E}"/>
              </a:ext>
            </a:extLst>
          </p:cNvPr>
          <p:cNvCxnSpPr>
            <a:cxnSpLocks/>
            <a:stCxn id="15" idx="6"/>
            <a:endCxn id="20" idx="2"/>
          </p:cNvCxnSpPr>
          <p:nvPr/>
        </p:nvCxnSpPr>
        <p:spPr>
          <a:xfrm>
            <a:off x="10037739" y="2017697"/>
            <a:ext cx="0"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20" idx="4"/>
            <a:endCxn id="18" idx="0"/>
          </p:cNvCxnSpPr>
          <p:nvPr/>
        </p:nvCxnSpPr>
        <p:spPr>
          <a:xfrm flipH="1">
            <a:off x="8669579" y="3385857"/>
            <a:ext cx="1296160"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6205DD86-315C-53B6-CEEF-A9919650168E}"/>
              </a:ext>
            </a:extLst>
          </p:cNvPr>
          <p:cNvCxnSpPr>
            <a:cxnSpLocks/>
            <a:stCxn id="20" idx="3"/>
            <a:endCxn id="14" idx="7"/>
          </p:cNvCxnSpPr>
          <p:nvPr/>
        </p:nvCxnSpPr>
        <p:spPr>
          <a:xfrm flipH="1" flipV="1">
            <a:off x="8656198" y="1996609"/>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5" name="TextBox 24"/>
          <p:cNvSpPr txBox="1"/>
          <p:nvPr/>
        </p:nvSpPr>
        <p:spPr>
          <a:xfrm>
            <a:off x="8615791" y="109963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6" name="TextBox 25"/>
          <p:cNvSpPr txBox="1"/>
          <p:nvPr/>
        </p:nvSpPr>
        <p:spPr>
          <a:xfrm>
            <a:off x="9197607" y="1381995"/>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7" name="TextBox 26"/>
          <p:cNvSpPr txBox="1"/>
          <p:nvPr/>
        </p:nvSpPr>
        <p:spPr>
          <a:xfrm>
            <a:off x="10015022" y="897574"/>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8" name="TextBox 27"/>
          <p:cNvSpPr txBox="1"/>
          <p:nvPr/>
        </p:nvSpPr>
        <p:spPr>
          <a:xfrm>
            <a:off x="10058811" y="2399441"/>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9" name="TextBox 28"/>
          <p:cNvSpPr txBox="1"/>
          <p:nvPr/>
        </p:nvSpPr>
        <p:spPr>
          <a:xfrm>
            <a:off x="8971979" y="2637028"/>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30" name="TextBox 29"/>
          <p:cNvSpPr txBox="1"/>
          <p:nvPr/>
        </p:nvSpPr>
        <p:spPr>
          <a:xfrm>
            <a:off x="8254255" y="239944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32" name="TextBox 31"/>
          <p:cNvSpPr txBox="1"/>
          <p:nvPr/>
        </p:nvSpPr>
        <p:spPr>
          <a:xfrm>
            <a:off x="10792846" y="167841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33" name="TextBox 32"/>
          <p:cNvSpPr txBox="1"/>
          <p:nvPr/>
        </p:nvSpPr>
        <p:spPr>
          <a:xfrm>
            <a:off x="9156378" y="3385856"/>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34" name="Oval 33">
            <a:extLst>
              <a:ext uri="{FF2B5EF4-FFF2-40B4-BE49-F238E27FC236}">
                <a16:creationId xmlns:a16="http://schemas.microsoft.com/office/drawing/2014/main" id="{BDD11F87-DA81-9510-C1CB-0AF4093562CB}"/>
              </a:ext>
            </a:extLst>
          </p:cNvPr>
          <p:cNvSpPr/>
          <p:nvPr/>
        </p:nvSpPr>
        <p:spPr>
          <a:xfrm rot="5400000">
            <a:off x="10696828" y="113357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Arc 35"/>
          <p:cNvSpPr/>
          <p:nvPr/>
        </p:nvSpPr>
        <p:spPr>
          <a:xfrm rot="15169182">
            <a:off x="10225673" y="1036204"/>
            <a:ext cx="914400" cy="1335488"/>
          </a:xfrm>
          <a:prstGeom prst="arc">
            <a:avLst>
              <a:gd name="adj1" fmla="val 16366945"/>
              <a:gd name="adj2" fmla="val 1131257"/>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c 36"/>
          <p:cNvSpPr/>
          <p:nvPr/>
        </p:nvSpPr>
        <p:spPr>
          <a:xfrm rot="20823509">
            <a:off x="9863470" y="1210680"/>
            <a:ext cx="1163058" cy="814200"/>
          </a:xfrm>
          <a:prstGeom prst="arc">
            <a:avLst>
              <a:gd name="adj1" fmla="val 19771312"/>
              <a:gd name="adj2" fmla="val 8734626"/>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mc:AlternateContent xmlns:mc="http://schemas.openxmlformats.org/markup-compatibility/2006" xmlns:a14="http://schemas.microsoft.com/office/drawing/2010/main">
        <mc:Choice Requires="a14">
          <p:sp>
            <p:nvSpPr>
              <p:cNvPr id="42" name="TextBox 41"/>
              <p:cNvSpPr txBox="1"/>
              <p:nvPr/>
            </p:nvSpPr>
            <p:spPr>
              <a:xfrm>
                <a:off x="371382" y="3897396"/>
                <a:ext cx="4882106" cy="523220"/>
              </a:xfrm>
              <a:prstGeom prst="rect">
                <a:avLst/>
              </a:prstGeom>
              <a:ln w="38100"/>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800" dirty="0">
                    <a:solidFill>
                      <a:srgbClr val="002060"/>
                    </a:solidFill>
                  </a:rPr>
                  <a:t>Determined by branch</a:t>
                </a:r>
                <a14:m>
                  <m:oMath xmlns:m="http://schemas.openxmlformats.org/officeDocument/2006/math">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m:t>
                    </m:r>
                    <m:d>
                      <m:dPr>
                        <m:begChr m:val="{"/>
                        <m:endChr m:val="}"/>
                        <m:ctrlPr>
                          <a:rPr lang="en-US" sz="2800" i="1">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f</m:t>
                        </m:r>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e</m:t>
                        </m:r>
                      </m:e>
                    </m:d>
                  </m:oMath>
                </a14:m>
                <a:r>
                  <a:rPr lang="en-US" sz="2800" dirty="0">
                    <a:latin typeface="Cambria" panose="02040503050406030204" pitchFamily="18" charset="0"/>
                    <a:ea typeface="Times New Roman" panose="02020603050405020304" pitchFamily="18" charset="0"/>
                    <a:cs typeface="Shruti" panose="020B0502040204020203" pitchFamily="34" charset="0"/>
                  </a:rPr>
                  <a:t>. </a:t>
                </a:r>
              </a:p>
            </p:txBody>
          </p:sp>
        </mc:Choice>
        <mc:Fallback xmlns="">
          <p:sp>
            <p:nvSpPr>
              <p:cNvPr id="42" name="TextBox 41"/>
              <p:cNvSpPr txBox="1">
                <a:spLocks noRot="1" noChangeAspect="1" noMove="1" noResize="1" noEditPoints="1" noAdjustHandles="1" noChangeArrowheads="1" noChangeShapeType="1" noTextEdit="1"/>
              </p:cNvSpPr>
              <p:nvPr/>
            </p:nvSpPr>
            <p:spPr>
              <a:xfrm>
                <a:off x="371382" y="3897396"/>
                <a:ext cx="4882106" cy="523220"/>
              </a:xfrm>
              <a:prstGeom prst="rect">
                <a:avLst/>
              </a:prstGeom>
              <a:blipFill rotWithShape="0">
                <a:blip r:embed="rId3"/>
                <a:stretch>
                  <a:fillRect l="-2230" t="-8696" r="-1239" b="-27174"/>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5518945" y="3892215"/>
                <a:ext cx="4852495" cy="523220"/>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marL="0" lvl="2">
                  <a:spcBef>
                    <a:spcPts val="1000"/>
                  </a:spcBef>
                </a:pPr>
                <a:r>
                  <a:rPr lang="en-US" sz="2800" dirty="0">
                    <a:solidFill>
                      <a:srgbClr val="002060"/>
                    </a:solidFill>
                  </a:rPr>
                  <a:t>Determined by branch </a:t>
                </a:r>
                <a14:m>
                  <m:oMath xmlns:m="http://schemas.openxmlformats.org/officeDocument/2006/math">
                    <m:r>
                      <m:rPr>
                        <m:sty m:val="p"/>
                      </m:rPr>
                      <a:rPr lang="en-US" sz="2800">
                        <a:solidFill>
                          <a:srgbClr val="002060"/>
                        </a:solidFill>
                        <a:latin typeface="Cambria Math" panose="02040503050406030204" pitchFamily="18" charset="0"/>
                      </a:rPr>
                      <m:t>c</m:t>
                    </m:r>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c</m:t>
                    </m:r>
                    <m:r>
                      <a:rPr lang="en-US" sz="2800" b="0" i="0" smtClean="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f</m:t>
                    </m:r>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oMath>
                </a14:m>
                <a:r>
                  <a:rPr lang="en-US" sz="2800" dirty="0">
                    <a:latin typeface="Cambria" panose="02040503050406030204" pitchFamily="18" charset="0"/>
                    <a:ea typeface="Times New Roman" panose="02020603050405020304" pitchFamily="18" charset="0"/>
                    <a:cs typeface="Shruti" panose="020B0502040204020203" pitchFamily="34" charset="0"/>
                  </a:rPr>
                  <a:t>.</a:t>
                </a:r>
                <a:r>
                  <a:rPr lang="en-US" dirty="0">
                    <a:latin typeface="Cambria" panose="02040503050406030204" pitchFamily="18" charset="0"/>
                    <a:ea typeface="Times New Roman" panose="02020603050405020304" pitchFamily="18" charset="0"/>
                    <a:cs typeface="Shruti" panose="020B0502040204020203" pitchFamily="34" charset="0"/>
                  </a:rPr>
                  <a:t> </a:t>
                </a:r>
              </a:p>
            </p:txBody>
          </p:sp>
        </mc:Choice>
        <mc:Fallback xmlns="">
          <p:sp>
            <p:nvSpPr>
              <p:cNvPr id="43" name="TextBox 42"/>
              <p:cNvSpPr txBox="1">
                <a:spLocks noRot="1" noChangeAspect="1" noMove="1" noResize="1" noEditPoints="1" noAdjustHandles="1" noChangeArrowheads="1" noChangeShapeType="1" noTextEdit="1"/>
              </p:cNvSpPr>
              <p:nvPr/>
            </p:nvSpPr>
            <p:spPr>
              <a:xfrm>
                <a:off x="5518945" y="3892215"/>
                <a:ext cx="4852495" cy="523220"/>
              </a:xfrm>
              <a:prstGeom prst="rect">
                <a:avLst/>
              </a:prstGeom>
              <a:blipFill rotWithShape="0">
                <a:blip r:embed="rId4"/>
                <a:stretch>
                  <a:fillRect l="-2120" t="-8696" r="-374" b="-27174"/>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2938335" y="4495119"/>
                <a:ext cx="4630305" cy="523220"/>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2800" dirty="0">
                    <a:solidFill>
                      <a:srgbClr val="002060"/>
                    </a:solidFill>
                  </a:rPr>
                  <a:t>Determined by branch</a:t>
                </a:r>
                <a14:m>
                  <m:oMath xmlns:m="http://schemas.openxmlformats.org/officeDocument/2006/math">
                    <m:r>
                      <a:rPr lang="en-US" sz="2800" b="0" i="0" smtClean="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d</m:t>
                    </m:r>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d</m:t>
                    </m:r>
                    <m:r>
                      <a:rPr lang="en-US" sz="2800">
                        <a:solidFill>
                          <a:srgbClr val="002060"/>
                        </a:solidFill>
                        <a:latin typeface="Cambria Math" panose="02040503050406030204" pitchFamily="18" charset="0"/>
                      </a:rPr>
                      <m:t>}</m:t>
                    </m:r>
                  </m:oMath>
                </a14:m>
                <a:r>
                  <a:rPr lang="en-US" sz="2800" dirty="0">
                    <a:latin typeface="Cambria" panose="02040503050406030204" pitchFamily="18" charset="0"/>
                    <a:ea typeface="Times New Roman" panose="02020603050405020304" pitchFamily="18" charset="0"/>
                    <a:cs typeface="Shruti" panose="020B0502040204020203" pitchFamily="34" charset="0"/>
                  </a:rPr>
                  <a:t>.</a:t>
                </a:r>
              </a:p>
            </p:txBody>
          </p:sp>
        </mc:Choice>
        <mc:Fallback xmlns="">
          <p:sp>
            <p:nvSpPr>
              <p:cNvPr id="44" name="TextBox 43"/>
              <p:cNvSpPr txBox="1">
                <a:spLocks noRot="1" noChangeAspect="1" noMove="1" noResize="1" noEditPoints="1" noAdjustHandles="1" noChangeArrowheads="1" noChangeShapeType="1" noTextEdit="1"/>
              </p:cNvSpPr>
              <p:nvPr/>
            </p:nvSpPr>
            <p:spPr>
              <a:xfrm>
                <a:off x="2938335" y="4495119"/>
                <a:ext cx="4630305" cy="523220"/>
              </a:xfrm>
              <a:prstGeom prst="rect">
                <a:avLst/>
              </a:prstGeom>
              <a:blipFill rotWithShape="0">
                <a:blip r:embed="rId5"/>
                <a:stretch>
                  <a:fillRect l="-2219" t="-8696" r="-1697" b="-27174"/>
                </a:stretch>
              </a:blipFill>
              <a:ln w="38100"/>
            </p:spPr>
            <p:txBody>
              <a:bodyPr/>
              <a:lstStyle/>
              <a:p>
                <a:r>
                  <a:rPr lang="en-US">
                    <a:noFill/>
                  </a:rPr>
                  <a:t> </a:t>
                </a:r>
              </a:p>
            </p:txBody>
          </p:sp>
        </mc:Fallback>
      </mc:AlternateContent>
      <p:sp>
        <p:nvSpPr>
          <p:cNvPr id="45" name="Arc 44"/>
          <p:cNvSpPr/>
          <p:nvPr/>
        </p:nvSpPr>
        <p:spPr>
          <a:xfrm rot="3235641">
            <a:off x="8279102" y="1526710"/>
            <a:ext cx="775298" cy="779612"/>
          </a:xfrm>
          <a:prstGeom prst="arc">
            <a:avLst>
              <a:gd name="adj1" fmla="val 17209419"/>
              <a:gd name="adj2" fmla="val 769138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Arc 45"/>
          <p:cNvSpPr/>
          <p:nvPr/>
        </p:nvSpPr>
        <p:spPr>
          <a:xfrm rot="16200000">
            <a:off x="8400828" y="2197361"/>
            <a:ext cx="2903875" cy="524005"/>
          </a:xfrm>
          <a:prstGeom prst="arc">
            <a:avLst>
              <a:gd name="adj1" fmla="val 11115140"/>
              <a:gd name="adj2" fmla="val 21223154"/>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Arc 47"/>
          <p:cNvSpPr/>
          <p:nvPr/>
        </p:nvSpPr>
        <p:spPr>
          <a:xfrm rot="5400000">
            <a:off x="9798775" y="1566369"/>
            <a:ext cx="750123" cy="622635"/>
          </a:xfrm>
          <a:prstGeom prst="arc">
            <a:avLst>
              <a:gd name="adj1" fmla="val 19725884"/>
              <a:gd name="adj2" fmla="val 769138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Rectangle 1"/>
              <p:cNvSpPr/>
              <p:nvPr/>
            </p:nvSpPr>
            <p:spPr>
              <a:xfrm>
                <a:off x="394970" y="5164595"/>
                <a:ext cx="10026441" cy="1384995"/>
              </a:xfrm>
              <a:prstGeom prst="rect">
                <a:avLst/>
              </a:prstGeom>
            </p:spPr>
            <p:style>
              <a:lnRef idx="1">
                <a:schemeClr val="accent4"/>
              </a:lnRef>
              <a:fillRef idx="1003">
                <a:schemeClr val="lt2"/>
              </a:fillRef>
              <a:effectRef idx="1">
                <a:schemeClr val="accent4"/>
              </a:effectRef>
              <a:fontRef idx="minor">
                <a:schemeClr val="dk1"/>
              </a:fontRef>
            </p:style>
            <p:txBody>
              <a:bodyPr wrap="square">
                <a:spAutoFit/>
              </a:bodyPr>
              <a:lstStyle/>
              <a:p>
                <a:pPr marL="0" lvl="1">
                  <a:spcBef>
                    <a:spcPts val="1000"/>
                  </a:spcBef>
                </a:pPr>
                <a:r>
                  <a:rPr lang="en-US" sz="2800" dirty="0">
                    <a:solidFill>
                      <a:srgbClr val="FF0000"/>
                    </a:solidFill>
                  </a:rPr>
                  <a:t>Chord</a:t>
                </a:r>
                <a14:m>
                  <m:oMath xmlns:m="http://schemas.openxmlformats.org/officeDocument/2006/math">
                    <m:r>
                      <a:rPr lang="en-US" sz="2800">
                        <a:solidFill>
                          <a:srgbClr val="FF0000"/>
                        </a:solidFill>
                        <a:latin typeface="Cambria Math" panose="02040503050406030204" pitchFamily="18" charset="0"/>
                      </a:rPr>
                      <m:t> </m:t>
                    </m:r>
                    <m:r>
                      <m:rPr>
                        <m:sty m:val="p"/>
                      </m:rPr>
                      <a:rPr lang="en-US" sz="2800" b="0" i="0" smtClean="0">
                        <a:solidFill>
                          <a:srgbClr val="FF0000"/>
                        </a:solidFill>
                        <a:latin typeface="Cambria Math" panose="02040503050406030204" pitchFamily="18" charset="0"/>
                      </a:rPr>
                      <m:t>e</m:t>
                    </m:r>
                  </m:oMath>
                </a14:m>
                <a:r>
                  <a:rPr lang="en-US" sz="2800" dirty="0">
                    <a:solidFill>
                      <a:srgbClr val="FF0000"/>
                    </a:solidFill>
                  </a:rPr>
                  <a:t> that determines a fundamental circuit occurs in each of these three fundamental cutsets, and there is no other fundamental cut-set that contains e.</a:t>
                </a:r>
              </a:p>
            </p:txBody>
          </p:sp>
        </mc:Choice>
        <mc:Fallback xmlns="">
          <p:sp>
            <p:nvSpPr>
              <p:cNvPr id="2" name="Rectangle 1"/>
              <p:cNvSpPr>
                <a:spLocks noRot="1" noChangeAspect="1" noMove="1" noResize="1" noEditPoints="1" noAdjustHandles="1" noChangeArrowheads="1" noChangeShapeType="1" noTextEdit="1"/>
              </p:cNvSpPr>
              <p:nvPr/>
            </p:nvSpPr>
            <p:spPr>
              <a:xfrm>
                <a:off x="394970" y="5164595"/>
                <a:ext cx="10026441" cy="1384995"/>
              </a:xfrm>
              <a:prstGeom prst="rect">
                <a:avLst/>
              </a:prstGeom>
              <a:blipFill rotWithShape="0">
                <a:blip r:embed="rId6"/>
                <a:stretch>
                  <a:fillRect l="-1276" t="-4386" r="-1154" b="-10965"/>
                </a:stretch>
              </a:blipFill>
            </p:spPr>
            <p:txBody>
              <a:bodyPr/>
              <a:lstStyle/>
              <a:p>
                <a:r>
                  <a:rPr lang="en-US">
                    <a:noFill/>
                  </a:rPr>
                  <a:t> </a:t>
                </a:r>
              </a:p>
            </p:txBody>
          </p:sp>
        </mc:Fallback>
      </mc:AlternateContent>
      <p:sp>
        <p:nvSpPr>
          <p:cNvPr id="49" name="Arc 48"/>
          <p:cNvSpPr/>
          <p:nvPr/>
        </p:nvSpPr>
        <p:spPr>
          <a:xfrm rot="2089104">
            <a:off x="8906858" y="764187"/>
            <a:ext cx="775298" cy="779612"/>
          </a:xfrm>
          <a:prstGeom prst="arc">
            <a:avLst>
              <a:gd name="adj1" fmla="val 3051019"/>
              <a:gd name="adj2" fmla="val 769138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Arc 49"/>
          <p:cNvSpPr/>
          <p:nvPr/>
        </p:nvSpPr>
        <p:spPr>
          <a:xfrm rot="5400000">
            <a:off x="10406930" y="848728"/>
            <a:ext cx="775298" cy="779612"/>
          </a:xfrm>
          <a:prstGeom prst="arc">
            <a:avLst>
              <a:gd name="adj1" fmla="val 17209419"/>
              <a:gd name="adj2" fmla="val 769138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536047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par>
                          <p:cTn id="11" fill="hold">
                            <p:stCondLst>
                              <p:cond delay="0"/>
                            </p:stCondLst>
                            <p:childTnLst>
                              <p:par>
                                <p:cTn id="12" presetID="7" presetClass="emph" presetSubtype="2" fill="hold" nodeType="afterEffect">
                                  <p:stCondLst>
                                    <p:cond delay="0"/>
                                  </p:stCondLst>
                                  <p:childTnLst>
                                    <p:animClr clrSpc="rgb" dir="cw">
                                      <p:cBhvr>
                                        <p:cTn id="13" dur="1000" fill="hold"/>
                                        <p:tgtEl>
                                          <p:spTgt spid="17"/>
                                        </p:tgtEl>
                                        <p:attrNameLst>
                                          <p:attrName>stroke.color</p:attrName>
                                        </p:attrNameLst>
                                      </p:cBhvr>
                                      <p:to>
                                        <a:srgbClr val="FFFF00"/>
                                      </p:to>
                                    </p:animClr>
                                    <p:set>
                                      <p:cBhvr>
                                        <p:cTn id="14" dur="1000" fill="hold"/>
                                        <p:tgtEl>
                                          <p:spTgt spid="17"/>
                                        </p:tgtEl>
                                        <p:attrNameLst>
                                          <p:attrName>stroke.on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nodePh="1">
                                  <p:stCondLst>
                                    <p:cond delay="0"/>
                                  </p:stCondLst>
                                  <p:endCondLst>
                                    <p:cond evt="begin" delay="0">
                                      <p:tn val="25"/>
                                    </p:cond>
                                  </p:endCondLst>
                                  <p:childTnLst>
                                    <p:set>
                                      <p:cBhvr>
                                        <p:cTn id="2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grpId="0" nodeType="afterEffect">
                                  <p:stCondLst>
                                    <p:cond delay="0"/>
                                  </p:stCondLst>
                                  <p:childTnLst>
                                    <p:set>
                                      <p:cBhvr>
                                        <p:cTn id="33" dur="1" fill="hold">
                                          <p:stCondLst>
                                            <p:cond delay="0"/>
                                          </p:stCondLst>
                                        </p:cTn>
                                        <p:tgtEl>
                                          <p:spTgt spid="4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43"/>
                                        </p:tgtEl>
                                        <p:attrNameLst>
                                          <p:attrName>style.visibility</p:attrName>
                                        </p:attrNameLst>
                                      </p:cBhvr>
                                      <p:to>
                                        <p:strVal val="visible"/>
                                      </p:to>
                                    </p:set>
                                  </p:childTnLst>
                                </p:cTn>
                              </p:par>
                            </p:childTnLst>
                          </p:cTn>
                        </p:par>
                        <p:par>
                          <p:cTn id="38" fill="hold">
                            <p:stCondLst>
                              <p:cond delay="0"/>
                            </p:stCondLst>
                            <p:childTnLst>
                              <p:par>
                                <p:cTn id="39" presetID="22" presetClass="entr" presetSubtype="4" fill="hold" grpId="0" nodeType="after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wipe(down)">
                                      <p:cBhvr>
                                        <p:cTn id="41" dur="500"/>
                                        <p:tgtEl>
                                          <p:spTgt spid="46"/>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4"/>
                                        </p:tgtEl>
                                        <p:attrNameLst>
                                          <p:attrName>style.visibility</p:attrName>
                                        </p:attrNameLst>
                                      </p:cBhvr>
                                      <p:to>
                                        <p:strVal val="visible"/>
                                      </p:to>
                                    </p:set>
                                  </p:childTnLst>
                                </p:cTn>
                              </p:par>
                            </p:childTnLst>
                          </p:cTn>
                        </p:par>
                        <p:par>
                          <p:cTn id="46" fill="hold">
                            <p:stCondLst>
                              <p:cond delay="500"/>
                            </p:stCondLst>
                            <p:childTnLst>
                              <p:par>
                                <p:cTn id="47" presetID="22" presetClass="entr" presetSubtype="4" fill="hold" grpId="0" nodeType="after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wipe(down)">
                                      <p:cBhvr>
                                        <p:cTn id="49" dur="500"/>
                                        <p:tgtEl>
                                          <p:spTgt spid="48"/>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4" presetClass="emph" presetSubtype="0" fill="hold" grpId="1" nodeType="clickEffect">
                                  <p:stCondLst>
                                    <p:cond delay="0"/>
                                  </p:stCondLst>
                                  <p:childTnLst>
                                    <p:animClr clrSpc="hsl" dir="cw">
                                      <p:cBhvr override="childStyle">
                                        <p:cTn id="57" dur="500" fill="hold"/>
                                        <p:tgtEl>
                                          <p:spTgt spid="45"/>
                                        </p:tgtEl>
                                        <p:attrNameLst>
                                          <p:attrName>style.color</p:attrName>
                                        </p:attrNameLst>
                                      </p:cBhvr>
                                      <p:by>
                                        <p:hsl h="0" s="-12549" l="-25098"/>
                                      </p:by>
                                    </p:animClr>
                                    <p:animClr clrSpc="hsl" dir="cw">
                                      <p:cBhvr>
                                        <p:cTn id="58" dur="500" fill="hold"/>
                                        <p:tgtEl>
                                          <p:spTgt spid="45"/>
                                        </p:tgtEl>
                                        <p:attrNameLst>
                                          <p:attrName>fillcolor</p:attrName>
                                        </p:attrNameLst>
                                      </p:cBhvr>
                                      <p:by>
                                        <p:hsl h="0" s="-12549" l="-25098"/>
                                      </p:by>
                                    </p:animClr>
                                    <p:animClr clrSpc="hsl" dir="cw">
                                      <p:cBhvr>
                                        <p:cTn id="59" dur="500" fill="hold"/>
                                        <p:tgtEl>
                                          <p:spTgt spid="45"/>
                                        </p:tgtEl>
                                        <p:attrNameLst>
                                          <p:attrName>stroke.color</p:attrName>
                                        </p:attrNameLst>
                                      </p:cBhvr>
                                      <p:by>
                                        <p:hsl h="0" s="-12549" l="-25098"/>
                                      </p:by>
                                    </p:animClr>
                                    <p:set>
                                      <p:cBhvr>
                                        <p:cTn id="60" dur="500" fill="hold"/>
                                        <p:tgtEl>
                                          <p:spTgt spid="45"/>
                                        </p:tgtEl>
                                        <p:attrNameLst>
                                          <p:attrName>fill.type</p:attrName>
                                        </p:attrNameLst>
                                      </p:cBhvr>
                                      <p:to>
                                        <p:strVal val="solid"/>
                                      </p:to>
                                    </p:set>
                                  </p:childTnLst>
                                </p:cTn>
                              </p:par>
                              <p:par>
                                <p:cTn id="61" presetID="24" presetClass="emph" presetSubtype="0" fill="hold" grpId="1" nodeType="withEffect">
                                  <p:stCondLst>
                                    <p:cond delay="0"/>
                                  </p:stCondLst>
                                  <p:childTnLst>
                                    <p:animClr clrSpc="hsl" dir="cw">
                                      <p:cBhvr override="childStyle">
                                        <p:cTn id="62" dur="500" fill="hold"/>
                                        <p:tgtEl>
                                          <p:spTgt spid="46"/>
                                        </p:tgtEl>
                                        <p:attrNameLst>
                                          <p:attrName>style.color</p:attrName>
                                        </p:attrNameLst>
                                      </p:cBhvr>
                                      <p:by>
                                        <p:hsl h="0" s="-12549" l="-25098"/>
                                      </p:by>
                                    </p:animClr>
                                    <p:animClr clrSpc="hsl" dir="cw">
                                      <p:cBhvr>
                                        <p:cTn id="63" dur="500" fill="hold"/>
                                        <p:tgtEl>
                                          <p:spTgt spid="46"/>
                                        </p:tgtEl>
                                        <p:attrNameLst>
                                          <p:attrName>fillcolor</p:attrName>
                                        </p:attrNameLst>
                                      </p:cBhvr>
                                      <p:by>
                                        <p:hsl h="0" s="-12549" l="-25098"/>
                                      </p:by>
                                    </p:animClr>
                                    <p:animClr clrSpc="hsl" dir="cw">
                                      <p:cBhvr>
                                        <p:cTn id="64" dur="500" fill="hold"/>
                                        <p:tgtEl>
                                          <p:spTgt spid="46"/>
                                        </p:tgtEl>
                                        <p:attrNameLst>
                                          <p:attrName>stroke.color</p:attrName>
                                        </p:attrNameLst>
                                      </p:cBhvr>
                                      <p:by>
                                        <p:hsl h="0" s="-12549" l="-25098"/>
                                      </p:by>
                                    </p:animClr>
                                    <p:set>
                                      <p:cBhvr>
                                        <p:cTn id="65" dur="500" fill="hold"/>
                                        <p:tgtEl>
                                          <p:spTgt spid="46"/>
                                        </p:tgtEl>
                                        <p:attrNameLst>
                                          <p:attrName>fill.type</p:attrName>
                                        </p:attrNameLst>
                                      </p:cBhvr>
                                      <p:to>
                                        <p:strVal val="solid"/>
                                      </p:to>
                                    </p:set>
                                  </p:childTnLst>
                                </p:cTn>
                              </p:par>
                              <p:par>
                                <p:cTn id="66" presetID="24" presetClass="emph" presetSubtype="0" fill="hold" grpId="1" nodeType="withEffect">
                                  <p:stCondLst>
                                    <p:cond delay="0"/>
                                  </p:stCondLst>
                                  <p:childTnLst>
                                    <p:animClr clrSpc="hsl" dir="cw">
                                      <p:cBhvr override="childStyle">
                                        <p:cTn id="67" dur="500" fill="hold"/>
                                        <p:tgtEl>
                                          <p:spTgt spid="48"/>
                                        </p:tgtEl>
                                        <p:attrNameLst>
                                          <p:attrName>style.color</p:attrName>
                                        </p:attrNameLst>
                                      </p:cBhvr>
                                      <p:by>
                                        <p:hsl h="0" s="-12549" l="-25098"/>
                                      </p:by>
                                    </p:animClr>
                                    <p:animClr clrSpc="hsl" dir="cw">
                                      <p:cBhvr>
                                        <p:cTn id="68" dur="500" fill="hold"/>
                                        <p:tgtEl>
                                          <p:spTgt spid="48"/>
                                        </p:tgtEl>
                                        <p:attrNameLst>
                                          <p:attrName>fillcolor</p:attrName>
                                        </p:attrNameLst>
                                      </p:cBhvr>
                                      <p:by>
                                        <p:hsl h="0" s="-12549" l="-25098"/>
                                      </p:by>
                                    </p:animClr>
                                    <p:animClr clrSpc="hsl" dir="cw">
                                      <p:cBhvr>
                                        <p:cTn id="69" dur="500" fill="hold"/>
                                        <p:tgtEl>
                                          <p:spTgt spid="48"/>
                                        </p:tgtEl>
                                        <p:attrNameLst>
                                          <p:attrName>stroke.color</p:attrName>
                                        </p:attrNameLst>
                                      </p:cBhvr>
                                      <p:by>
                                        <p:hsl h="0" s="-12549" l="-25098"/>
                                      </p:by>
                                    </p:animClr>
                                    <p:set>
                                      <p:cBhvr>
                                        <p:cTn id="70" dur="500" fill="hold"/>
                                        <p:tgtEl>
                                          <p:spTgt spid="48"/>
                                        </p:tgtEl>
                                        <p:attrNameLst>
                                          <p:attrName>fill.type</p:attrName>
                                        </p:attrNameLst>
                                      </p:cBhvr>
                                      <p:to>
                                        <p:strVal val="solid"/>
                                      </p:to>
                                    </p:set>
                                  </p:childTnLst>
                                </p:cTn>
                              </p:par>
                            </p:childTnLst>
                          </p:cTn>
                        </p:par>
                        <p:par>
                          <p:cTn id="71" fill="hold">
                            <p:stCondLst>
                              <p:cond delay="500"/>
                            </p:stCondLst>
                            <p:childTnLst>
                              <p:par>
                                <p:cTn id="72" presetID="22" presetClass="entr" presetSubtype="1" fill="hold" grpId="0" nodeType="after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wipe(up)">
                                      <p:cBhvr>
                                        <p:cTn id="74" dur="500"/>
                                        <p:tgtEl>
                                          <p:spTgt spid="49"/>
                                        </p:tgtEl>
                                      </p:cBhvr>
                                    </p:animEffect>
                                  </p:childTnLst>
                                </p:cTn>
                              </p:par>
                            </p:childTnLst>
                          </p:cTn>
                        </p:par>
                        <p:par>
                          <p:cTn id="75" fill="hold">
                            <p:stCondLst>
                              <p:cond delay="1000"/>
                            </p:stCondLst>
                            <p:childTnLst>
                              <p:par>
                                <p:cTn id="76" presetID="22" presetClass="entr" presetSubtype="1" fill="hold" grpId="0" nodeType="afterEffect">
                                  <p:stCondLst>
                                    <p:cond delay="0"/>
                                  </p:stCondLst>
                                  <p:childTnLst>
                                    <p:set>
                                      <p:cBhvr>
                                        <p:cTn id="77" dur="1" fill="hold">
                                          <p:stCondLst>
                                            <p:cond delay="0"/>
                                          </p:stCondLst>
                                        </p:cTn>
                                        <p:tgtEl>
                                          <p:spTgt spid="50"/>
                                        </p:tgtEl>
                                        <p:attrNameLst>
                                          <p:attrName>style.visibility</p:attrName>
                                        </p:attrNameLst>
                                      </p:cBhvr>
                                      <p:to>
                                        <p:strVal val="visible"/>
                                      </p:to>
                                    </p:set>
                                    <p:animEffect transition="in" filter="wipe(up)">
                                      <p:cBhvr>
                                        <p:cTn id="78"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2" grpId="0" animBg="1"/>
      <p:bldP spid="43" grpId="0" animBg="1"/>
      <p:bldP spid="44" grpId="0" animBg="1"/>
      <p:bldP spid="45" grpId="0" animBg="1"/>
      <p:bldP spid="45" grpId="1" animBg="1"/>
      <p:bldP spid="46" grpId="0" animBg="1"/>
      <p:bldP spid="46" grpId="1" animBg="1"/>
      <p:bldP spid="48" grpId="0" animBg="1"/>
      <p:bldP spid="48" grpId="1" animBg="1"/>
      <p:bldP spid="2" grpId="0" animBg="1"/>
      <p:bldP spid="49" grpId="0" animBg="1"/>
      <p:bldP spid="50"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2</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2270022"/>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47" name="Rectangle 46"/>
          <p:cNvSpPr/>
          <p:nvPr/>
        </p:nvSpPr>
        <p:spPr>
          <a:xfrm>
            <a:off x="16409" y="1216891"/>
            <a:ext cx="12175591" cy="666849"/>
          </a:xfrm>
          <a:prstGeom prst="rect">
            <a:avLst/>
          </a:prstGeom>
        </p:spPr>
        <p:txBody>
          <a:bodyPr wrap="square">
            <a:spAutoFit/>
          </a:bodyPr>
          <a:lstStyle/>
          <a:p>
            <a:pPr marL="265113" indent="-265113" algn="just">
              <a:lnSpc>
                <a:spcPct val="150000"/>
              </a:lnSpc>
              <a:spcBef>
                <a:spcPts val="1000"/>
              </a:spcBef>
              <a:buClr>
                <a:srgbClr val="B84742"/>
              </a:buClr>
              <a:buFont typeface="Wingdings 3" panose="05040102010807070707" pitchFamily="18" charset="2"/>
              <a:buChar char=""/>
            </a:pPr>
            <a:endParaRPr lang="en-US" sz="2800" dirty="0">
              <a:solidFill>
                <a:srgbClr val="002060"/>
              </a:solidFill>
            </a:endParaRPr>
          </a:p>
        </p:txBody>
      </p:sp>
      <p:sp>
        <p:nvSpPr>
          <p:cNvPr id="12" name="Content Placeholder 2">
            <a:extLst>
              <a:ext uri="{FF2B5EF4-FFF2-40B4-BE49-F238E27FC236}">
                <a16:creationId xmlns:a16="http://schemas.microsoft.com/office/drawing/2014/main" id="{9CB3AA53-5FE6-7420-2832-B8AB64C9E95F}"/>
              </a:ext>
            </a:extLst>
          </p:cNvPr>
          <p:cNvSpPr txBox="1">
            <a:spLocks/>
          </p:cNvSpPr>
          <p:nvPr/>
        </p:nvSpPr>
        <p:spPr>
          <a:xfrm>
            <a:off x="105925" y="2876926"/>
            <a:ext cx="7385694" cy="842204"/>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Consider the graph below, where the </a:t>
            </a:r>
            <a:r>
              <a:rPr lang="en-US" b="1" dirty="0"/>
              <a:t>green lines</a:t>
            </a:r>
            <a:r>
              <a:rPr lang="en-US" dirty="0"/>
              <a:t> represent the edges of a </a:t>
            </a:r>
            <a:r>
              <a:rPr lang="en-US" b="1" dirty="0"/>
              <a:t>spanning tree.</a:t>
            </a:r>
            <a:endParaRPr lang="en-IN" dirty="0"/>
          </a:p>
          <a:p>
            <a:endParaRPr lang="en-US" dirty="0"/>
          </a:p>
          <a:p>
            <a:pPr lvl="0"/>
            <a:endParaRPr lang="en-US" dirty="0"/>
          </a:p>
        </p:txBody>
      </p:sp>
      <p:sp>
        <p:nvSpPr>
          <p:cNvPr id="13" name="Oval 12">
            <a:extLst>
              <a:ext uri="{FF2B5EF4-FFF2-40B4-BE49-F238E27FC236}">
                <a16:creationId xmlns:a16="http://schemas.microsoft.com/office/drawing/2014/main" id="{BDD11F87-DA81-9510-C1CB-0AF4093562CB}"/>
              </a:ext>
            </a:extLst>
          </p:cNvPr>
          <p:cNvSpPr/>
          <p:nvPr/>
        </p:nvSpPr>
        <p:spPr>
          <a:xfrm rot="5400000">
            <a:off x="9245659" y="26050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8533286" y="3325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9965739" y="332513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 name="Straight Connector 15">
            <a:extLst>
              <a:ext uri="{FF2B5EF4-FFF2-40B4-BE49-F238E27FC236}">
                <a16:creationId xmlns:a16="http://schemas.microsoft.com/office/drawing/2014/main" id="{6205DD86-315C-53B6-CEEF-A9919650168E}"/>
              </a:ext>
            </a:extLst>
          </p:cNvPr>
          <p:cNvCxnSpPr>
            <a:cxnSpLocks/>
            <a:stCxn id="13" idx="5"/>
            <a:endCxn id="14" idx="1"/>
          </p:cNvCxnSpPr>
          <p:nvPr/>
        </p:nvCxnSpPr>
        <p:spPr>
          <a:xfrm flipH="1">
            <a:off x="8656198" y="2727969"/>
            <a:ext cx="610549"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15" idx="4"/>
            <a:endCxn id="14" idx="0"/>
          </p:cNvCxnSpPr>
          <p:nvPr/>
        </p:nvCxnSpPr>
        <p:spPr>
          <a:xfrm flipH="1">
            <a:off x="8677286" y="3397137"/>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 name="Oval 17">
            <a:extLst>
              <a:ext uri="{FF2B5EF4-FFF2-40B4-BE49-F238E27FC236}">
                <a16:creationId xmlns:a16="http://schemas.microsoft.com/office/drawing/2014/main" id="{BDD11F87-DA81-9510-C1CB-0AF4093562CB}"/>
              </a:ext>
            </a:extLst>
          </p:cNvPr>
          <p:cNvSpPr/>
          <p:nvPr/>
        </p:nvSpPr>
        <p:spPr>
          <a:xfrm rot="5400000">
            <a:off x="8525579" y="47652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9965739" y="47652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14" idx="6"/>
            <a:endCxn id="18" idx="2"/>
          </p:cNvCxnSpPr>
          <p:nvPr/>
        </p:nvCxnSpPr>
        <p:spPr>
          <a:xfrm flipH="1">
            <a:off x="8597579" y="3469137"/>
            <a:ext cx="7707"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6205DD86-315C-53B6-CEEF-A9919650168E}"/>
              </a:ext>
            </a:extLst>
          </p:cNvPr>
          <p:cNvCxnSpPr>
            <a:cxnSpLocks/>
            <a:stCxn id="15" idx="6"/>
            <a:endCxn id="20" idx="2"/>
          </p:cNvCxnSpPr>
          <p:nvPr/>
        </p:nvCxnSpPr>
        <p:spPr>
          <a:xfrm>
            <a:off x="10037739" y="3469137"/>
            <a:ext cx="0"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20" idx="4"/>
            <a:endCxn id="18" idx="0"/>
          </p:cNvCxnSpPr>
          <p:nvPr/>
        </p:nvCxnSpPr>
        <p:spPr>
          <a:xfrm flipH="1">
            <a:off x="8669579" y="4837297"/>
            <a:ext cx="1296160"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6205DD86-315C-53B6-CEEF-A9919650168E}"/>
              </a:ext>
            </a:extLst>
          </p:cNvPr>
          <p:cNvCxnSpPr>
            <a:cxnSpLocks/>
            <a:stCxn id="20" idx="3"/>
            <a:endCxn id="14" idx="7"/>
          </p:cNvCxnSpPr>
          <p:nvPr/>
        </p:nvCxnSpPr>
        <p:spPr>
          <a:xfrm flipH="1" flipV="1">
            <a:off x="8656198" y="3448049"/>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5" name="TextBox 24"/>
          <p:cNvSpPr txBox="1"/>
          <p:nvPr/>
        </p:nvSpPr>
        <p:spPr>
          <a:xfrm>
            <a:off x="8615791" y="255107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6" name="TextBox 25"/>
          <p:cNvSpPr txBox="1"/>
          <p:nvPr/>
        </p:nvSpPr>
        <p:spPr>
          <a:xfrm>
            <a:off x="9197607" y="2833435"/>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7" name="TextBox 26"/>
          <p:cNvSpPr txBox="1"/>
          <p:nvPr/>
        </p:nvSpPr>
        <p:spPr>
          <a:xfrm>
            <a:off x="10015022" y="2349014"/>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8" name="TextBox 27"/>
          <p:cNvSpPr txBox="1"/>
          <p:nvPr/>
        </p:nvSpPr>
        <p:spPr>
          <a:xfrm>
            <a:off x="10058811" y="3850881"/>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9" name="TextBox 28"/>
          <p:cNvSpPr txBox="1"/>
          <p:nvPr/>
        </p:nvSpPr>
        <p:spPr>
          <a:xfrm>
            <a:off x="8971979" y="4088468"/>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30" name="TextBox 29"/>
          <p:cNvSpPr txBox="1"/>
          <p:nvPr/>
        </p:nvSpPr>
        <p:spPr>
          <a:xfrm>
            <a:off x="8254255" y="385088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32" name="TextBox 31"/>
          <p:cNvSpPr txBox="1"/>
          <p:nvPr/>
        </p:nvSpPr>
        <p:spPr>
          <a:xfrm>
            <a:off x="10792846" y="312985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33" name="TextBox 32"/>
          <p:cNvSpPr txBox="1"/>
          <p:nvPr/>
        </p:nvSpPr>
        <p:spPr>
          <a:xfrm>
            <a:off x="9156378" y="4837296"/>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34" name="Oval 33">
            <a:extLst>
              <a:ext uri="{FF2B5EF4-FFF2-40B4-BE49-F238E27FC236}">
                <a16:creationId xmlns:a16="http://schemas.microsoft.com/office/drawing/2014/main" id="{BDD11F87-DA81-9510-C1CB-0AF4093562CB}"/>
              </a:ext>
            </a:extLst>
          </p:cNvPr>
          <p:cNvSpPr/>
          <p:nvPr/>
        </p:nvSpPr>
        <p:spPr>
          <a:xfrm rot="5400000">
            <a:off x="10696828" y="25850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Arc 35"/>
          <p:cNvSpPr/>
          <p:nvPr/>
        </p:nvSpPr>
        <p:spPr>
          <a:xfrm rot="15169182">
            <a:off x="10225673" y="2487644"/>
            <a:ext cx="914400" cy="1335488"/>
          </a:xfrm>
          <a:prstGeom prst="arc">
            <a:avLst>
              <a:gd name="adj1" fmla="val 16366945"/>
              <a:gd name="adj2" fmla="val 1131257"/>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c 36"/>
          <p:cNvSpPr/>
          <p:nvPr/>
        </p:nvSpPr>
        <p:spPr>
          <a:xfrm rot="20823509">
            <a:off x="9863470" y="2662120"/>
            <a:ext cx="1163058" cy="814200"/>
          </a:xfrm>
          <a:prstGeom prst="arc">
            <a:avLst>
              <a:gd name="adj1" fmla="val 19771312"/>
              <a:gd name="adj2" fmla="val 8734626"/>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42" name="Content Placeholder 2"/>
          <p:cNvSpPr txBox="1">
            <a:spLocks/>
          </p:cNvSpPr>
          <p:nvPr/>
        </p:nvSpPr>
        <p:spPr>
          <a:xfrm>
            <a:off x="131176" y="867840"/>
            <a:ext cx="12024000" cy="1339674"/>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b="1" dirty="0">
                <a:solidFill>
                  <a:schemeClr val="bg1"/>
                </a:solidFill>
              </a:rPr>
              <a:t>Explain property with example: </a:t>
            </a:r>
            <a:endParaRPr lang="en-US" sz="2800" dirty="0">
              <a:solidFill>
                <a:schemeClr val="bg1"/>
              </a:solidFill>
            </a:endParaRPr>
          </a:p>
          <a:p>
            <a:r>
              <a:rPr lang="en-US" sz="2800" dirty="0">
                <a:solidFill>
                  <a:schemeClr val="bg1"/>
                </a:solidFill>
              </a:rPr>
              <a:t>A branch that determines a fundamental cut-set S is contained in every fundamental circuit associated with the chords in S, and in no others.</a:t>
            </a:r>
          </a:p>
        </p:txBody>
      </p:sp>
    </p:spTree>
    <p:extLst>
      <p:ext uri="{BB962C8B-B14F-4D97-AF65-F5344CB8AC3E}">
        <p14:creationId xmlns:p14="http://schemas.microsoft.com/office/powerpoint/2010/main" val="2632113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nodePh="1">
                                  <p:stCondLst>
                                    <p:cond delay="0"/>
                                  </p:stCondLst>
                                  <p:endCondLst>
                                    <p:cond evt="begin" delay="0">
                                      <p:tn val="51"/>
                                    </p:cond>
                                  </p:endCondLst>
                                  <p:childTnLst>
                                    <p:set>
                                      <p:cBhvr>
                                        <p:cTn id="52"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8" grpId="0" animBg="1"/>
      <p:bldP spid="20" grpId="0" animBg="1"/>
      <p:bldP spid="25" grpId="0"/>
      <p:bldP spid="26" grpId="0"/>
      <p:bldP spid="27" grpId="0"/>
      <p:bldP spid="28" grpId="0"/>
      <p:bldP spid="29" grpId="0"/>
      <p:bldP spid="30" grpId="0"/>
      <p:bldP spid="32" grpId="0"/>
      <p:bldP spid="33" grpId="0"/>
      <p:bldP spid="34" grpId="0" animBg="1"/>
      <p:bldP spid="36" grpId="0" animBg="1"/>
      <p:bldP spid="37"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8618472" y="1974807"/>
            <a:ext cx="1389427" cy="138924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3 ⇝ Example 1</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818582"/>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9CB3AA53-5FE6-7420-2832-B8AB64C9E95F}"/>
                  </a:ext>
                </a:extLst>
              </p:cNvPr>
              <p:cNvSpPr txBox="1">
                <a:spLocks/>
              </p:cNvSpPr>
              <p:nvPr/>
            </p:nvSpPr>
            <p:spPr>
              <a:xfrm>
                <a:off x="105925" y="1425485"/>
                <a:ext cx="7385694" cy="2477493"/>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Here the spanning tree is</a:t>
                </a:r>
                <a14:m>
                  <m:oMath xmlns:m="http://schemas.openxmlformats.org/officeDocument/2006/math">
                    <m:r>
                      <a:rPr lang="en-US" i="1">
                        <a:latin typeface="Cambria Math" panose="02040503050406030204" pitchFamily="18" charset="0"/>
                      </a:rPr>
                      <m:t> </m:t>
                    </m:r>
                    <m:r>
                      <a:rPr lang="en-US">
                        <a:latin typeface="Cambria Math" panose="02040503050406030204" pitchFamily="18" charset="0"/>
                      </a:rPr>
                      <m:t>{</m:t>
                    </m:r>
                    <m:r>
                      <m:rPr>
                        <m:sty m:val="p"/>
                      </m:rPr>
                      <a:rPr lang="en-US" b="0" i="0" smtClean="0">
                        <a:latin typeface="Cambria Math" panose="02040503050406030204" pitchFamily="18" charset="0"/>
                      </a:rPr>
                      <m:t>a</m:t>
                    </m:r>
                    <m:r>
                      <a:rPr lang="en-US">
                        <a:latin typeface="Cambria Math" panose="02040503050406030204" pitchFamily="18" charset="0"/>
                      </a:rPr>
                      <m:t>, </m:t>
                    </m:r>
                    <m:r>
                      <m:rPr>
                        <m:sty m:val="p"/>
                      </m:rPr>
                      <a:rPr lang="en-US" b="0" i="0" smtClean="0">
                        <a:latin typeface="Cambria Math" panose="02040503050406030204" pitchFamily="18" charset="0"/>
                      </a:rPr>
                      <m:t>b</m:t>
                    </m:r>
                    <m:r>
                      <a:rPr lang="en-US">
                        <a:latin typeface="Cambria Math" panose="02040503050406030204" pitchFamily="18" charset="0"/>
                      </a:rPr>
                      <m:t>, </m:t>
                    </m:r>
                    <m:r>
                      <m:rPr>
                        <m:sty m:val="p"/>
                      </m:rPr>
                      <a:rPr lang="en-US" b="0" i="0" smtClean="0">
                        <a:latin typeface="Cambria Math" panose="02040503050406030204" pitchFamily="18" charset="0"/>
                      </a:rPr>
                      <m:t>c</m:t>
                    </m:r>
                    <m:r>
                      <a:rPr lang="en-US">
                        <a:latin typeface="Cambria Math" panose="02040503050406030204" pitchFamily="18" charset="0"/>
                      </a:rPr>
                      <m:t>, </m:t>
                    </m:r>
                    <m:r>
                      <m:rPr>
                        <m:sty m:val="p"/>
                      </m:rPr>
                      <a:rPr lang="en-US" b="0" i="0" smtClean="0">
                        <a:latin typeface="Cambria Math" panose="02040503050406030204" pitchFamily="18" charset="0"/>
                      </a:rPr>
                      <m:t>d</m:t>
                    </m:r>
                    <m:r>
                      <a:rPr lang="en-US">
                        <a:latin typeface="Cambria Math" panose="02040503050406030204" pitchFamily="18" charset="0"/>
                      </a:rPr>
                      <m:t>, </m:t>
                    </m:r>
                    <m:r>
                      <m:rPr>
                        <m:sty m:val="p"/>
                      </m:rPr>
                      <a:rPr lang="en-US" b="0" i="0" smtClean="0">
                        <a:latin typeface="Cambria Math" panose="02040503050406030204" pitchFamily="18" charset="0"/>
                      </a:rPr>
                      <m:t>g</m:t>
                    </m:r>
                    <m:r>
                      <a:rPr lang="en-US">
                        <a:latin typeface="Cambria Math" panose="02040503050406030204" pitchFamily="18" charset="0"/>
                      </a:rPr>
                      <m:t>}</m:t>
                    </m:r>
                  </m:oMath>
                </a14:m>
                <a:r>
                  <a:rPr lang="en-US" dirty="0"/>
                  <a:t>.</a:t>
                </a:r>
              </a:p>
              <a:p>
                <a:r>
                  <a:rPr lang="en-US" dirty="0"/>
                  <a:t>The fundamental cut-set made by branch</a:t>
                </a:r>
                <a14:m>
                  <m:oMath xmlns:m="http://schemas.openxmlformats.org/officeDocument/2006/math">
                    <m:r>
                      <a:rPr lang="en-US" i="1">
                        <a:latin typeface="Cambria Math" panose="02040503050406030204" pitchFamily="18" charset="0"/>
                      </a:rPr>
                      <m:t> </m:t>
                    </m:r>
                    <m:r>
                      <m:rPr>
                        <m:sty m:val="p"/>
                      </m:rPr>
                      <a:rPr lang="en-US" b="0" i="0" smtClean="0">
                        <a:latin typeface="Cambria Math" panose="02040503050406030204" pitchFamily="18" charset="0"/>
                      </a:rPr>
                      <m:t>c</m:t>
                    </m:r>
                  </m:oMath>
                </a14:m>
                <a:r>
                  <a:rPr lang="en-US" dirty="0"/>
                  <a:t> is</a:t>
                </a:r>
                <a14:m>
                  <m:oMath xmlns:m="http://schemas.openxmlformats.org/officeDocument/2006/math">
                    <m:r>
                      <a:rPr lang="en-US">
                        <a:latin typeface="Cambria Math" panose="02040503050406030204" pitchFamily="18" charset="0"/>
                      </a:rPr>
                      <m:t> </m:t>
                    </m:r>
                    <m:d>
                      <m:dPr>
                        <m:begChr m:val="{"/>
                        <m:endChr m:val="}"/>
                        <m:ctrlPr>
                          <a:rPr lang="en-US" b="0" i="1">
                            <a:latin typeface="Cambria Math" panose="02040503050406030204" pitchFamily="18" charset="0"/>
                          </a:rPr>
                        </m:ctrlPr>
                      </m:dPr>
                      <m:e>
                        <m:r>
                          <m:rPr>
                            <m:sty m:val="p"/>
                          </m:rPr>
                          <a:rPr lang="en-US" b="0" i="0" smtClean="0">
                            <a:latin typeface="Cambria Math" panose="02040503050406030204" pitchFamily="18" charset="0"/>
                          </a:rPr>
                          <m:t>e</m:t>
                        </m:r>
                        <m:r>
                          <a:rPr lang="en-US" b="0" i="0" smtClean="0">
                            <a:latin typeface="Cambria Math" panose="02040503050406030204" pitchFamily="18" charset="0"/>
                          </a:rPr>
                          <m:t>, </m:t>
                        </m:r>
                        <m:r>
                          <m:rPr>
                            <m:sty m:val="p"/>
                          </m:rPr>
                          <a:rPr lang="en-US" b="0" i="0" smtClean="0">
                            <a:latin typeface="Cambria Math" panose="02040503050406030204" pitchFamily="18" charset="0"/>
                          </a:rPr>
                          <m:t>f</m:t>
                        </m:r>
                        <m:r>
                          <a:rPr lang="en-US" b="0" i="0" smtClean="0">
                            <a:latin typeface="Cambria Math" panose="02040503050406030204" pitchFamily="18" charset="0"/>
                          </a:rPr>
                          <m:t>, </m:t>
                        </m:r>
                        <m:r>
                          <m:rPr>
                            <m:sty m:val="p"/>
                          </m:rPr>
                          <a:rPr lang="en-US" b="0" i="0" smtClean="0">
                            <a:latin typeface="Cambria Math" panose="02040503050406030204" pitchFamily="18" charset="0"/>
                          </a:rPr>
                          <m:t>c</m:t>
                        </m:r>
                      </m:e>
                    </m:d>
                  </m:oMath>
                </a14:m>
                <a:r>
                  <a:rPr lang="en-US" dirty="0"/>
                  <a:t>.</a:t>
                </a:r>
              </a:p>
              <a:p>
                <a:pPr marL="265113" lvl="1" indent="-265113">
                  <a:spcBef>
                    <a:spcPts val="1000"/>
                  </a:spcBef>
                  <a:buFont typeface="Wingdings 3" panose="05040102010807070707" pitchFamily="18" charset="2"/>
                  <a:buChar char=""/>
                </a:pPr>
                <a:r>
                  <a:rPr lang="en-US" dirty="0"/>
                  <a:t>Two fundamental circuits determined by the two chords </a:t>
                </a:r>
                <a14:m>
                  <m:oMath xmlns:m="http://schemas.openxmlformats.org/officeDocument/2006/math">
                    <m:r>
                      <m:rPr>
                        <m:sty m:val="p"/>
                      </m:rPr>
                      <a:rPr lang="en-US" b="0" i="0" smtClean="0">
                        <a:latin typeface="Cambria Math" panose="02040503050406030204" pitchFamily="18" charset="0"/>
                      </a:rPr>
                      <m:t>e</m:t>
                    </m:r>
                  </m:oMath>
                </a14:m>
                <a:r>
                  <a:rPr lang="en-US" dirty="0"/>
                  <a:t>, and </a:t>
                </a:r>
                <a14:m>
                  <m:oMath xmlns:m="http://schemas.openxmlformats.org/officeDocument/2006/math">
                    <m:r>
                      <m:rPr>
                        <m:sty m:val="p"/>
                      </m:rPr>
                      <a:rPr lang="en-US" b="0" i="0" smtClean="0">
                        <a:latin typeface="Cambria Math" panose="02040503050406030204" pitchFamily="18" charset="0"/>
                      </a:rPr>
                      <m:t>f</m:t>
                    </m:r>
                  </m:oMath>
                </a14:m>
                <a:r>
                  <a:rPr lang="en-US" dirty="0"/>
                  <a:t> are</a:t>
                </a:r>
              </a:p>
              <a:p>
                <a:pPr lvl="0"/>
                <a:endParaRPr lang="en-IN" dirty="0"/>
              </a:p>
              <a:p>
                <a:endParaRPr lang="en-US" dirty="0"/>
              </a:p>
              <a:p>
                <a:pPr lvl="0"/>
                <a:endParaRPr lang="en-US" dirty="0"/>
              </a:p>
            </p:txBody>
          </p:sp>
        </mc:Choice>
        <mc:Fallback xmlns="">
          <p:sp>
            <p:nvSpPr>
              <p:cNvPr id="12" name="Content Placeholder 2">
                <a:extLst>
                  <a:ext uri="{FF2B5EF4-FFF2-40B4-BE49-F238E27FC236}">
                    <a16:creationId xmlns:a16="http://schemas.microsoft.com/office/drawing/2014/main" xmlns="" xmlns:a14="http://schemas.microsoft.com/office/drawing/2010/main" id="{9CB3AA53-5FE6-7420-2832-B8AB64C9E95F}"/>
                  </a:ext>
                </a:extLst>
              </p:cNvPr>
              <p:cNvSpPr txBox="1">
                <a:spLocks noRot="1" noChangeAspect="1" noMove="1" noResize="1" noEditPoints="1" noAdjustHandles="1" noChangeArrowheads="1" noChangeShapeType="1" noTextEdit="1"/>
              </p:cNvSpPr>
              <p:nvPr/>
            </p:nvSpPr>
            <p:spPr>
              <a:xfrm>
                <a:off x="105925" y="1425485"/>
                <a:ext cx="7385694" cy="2477493"/>
              </a:xfrm>
              <a:prstGeom prst="rect">
                <a:avLst/>
              </a:prstGeom>
              <a:blipFill rotWithShape="0">
                <a:blip r:embed="rId2"/>
                <a:stretch>
                  <a:fillRect l="-1485" t="-4433" r="-1733"/>
                </a:stretch>
              </a:blipFill>
            </p:spPr>
            <p:txBody>
              <a:bodyPr/>
              <a:lstStyle/>
              <a:p>
                <a:r>
                  <a:rPr lang="en-US">
                    <a:noFill/>
                  </a:rPr>
                  <a:t> </a:t>
                </a:r>
              </a:p>
            </p:txBody>
          </p:sp>
        </mc:Fallback>
      </mc:AlternateContent>
      <p:sp>
        <p:nvSpPr>
          <p:cNvPr id="13" name="Oval 12">
            <a:extLst>
              <a:ext uri="{FF2B5EF4-FFF2-40B4-BE49-F238E27FC236}">
                <a16:creationId xmlns:a16="http://schemas.microsoft.com/office/drawing/2014/main" id="{BDD11F87-DA81-9510-C1CB-0AF4093562CB}"/>
              </a:ext>
            </a:extLst>
          </p:cNvPr>
          <p:cNvSpPr/>
          <p:nvPr/>
        </p:nvSpPr>
        <p:spPr>
          <a:xfrm rot="5400000">
            <a:off x="9245659" y="11536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BDD11F87-DA81-9510-C1CB-0AF4093562CB}"/>
              </a:ext>
            </a:extLst>
          </p:cNvPr>
          <p:cNvSpPr/>
          <p:nvPr/>
        </p:nvSpPr>
        <p:spPr>
          <a:xfrm rot="5400000">
            <a:off x="8533286" y="18736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BDD11F87-DA81-9510-C1CB-0AF4093562CB}"/>
              </a:ext>
            </a:extLst>
          </p:cNvPr>
          <p:cNvSpPr/>
          <p:nvPr/>
        </p:nvSpPr>
        <p:spPr>
          <a:xfrm rot="5400000">
            <a:off x="9965739" y="18736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 name="Straight Connector 15">
            <a:extLst>
              <a:ext uri="{FF2B5EF4-FFF2-40B4-BE49-F238E27FC236}">
                <a16:creationId xmlns:a16="http://schemas.microsoft.com/office/drawing/2014/main" id="{6205DD86-315C-53B6-CEEF-A9919650168E}"/>
              </a:ext>
            </a:extLst>
          </p:cNvPr>
          <p:cNvCxnSpPr>
            <a:cxnSpLocks/>
            <a:stCxn id="13" idx="5"/>
            <a:endCxn id="14" idx="1"/>
          </p:cNvCxnSpPr>
          <p:nvPr/>
        </p:nvCxnSpPr>
        <p:spPr>
          <a:xfrm flipH="1">
            <a:off x="8656198" y="1276529"/>
            <a:ext cx="610549" cy="618256"/>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15" idx="4"/>
            <a:endCxn id="14" idx="0"/>
          </p:cNvCxnSpPr>
          <p:nvPr/>
        </p:nvCxnSpPr>
        <p:spPr>
          <a:xfrm flipH="1">
            <a:off x="8677286" y="1945697"/>
            <a:ext cx="1288453"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 name="Oval 17">
            <a:extLst>
              <a:ext uri="{FF2B5EF4-FFF2-40B4-BE49-F238E27FC236}">
                <a16:creationId xmlns:a16="http://schemas.microsoft.com/office/drawing/2014/main" id="{BDD11F87-DA81-9510-C1CB-0AF4093562CB}"/>
              </a:ext>
            </a:extLst>
          </p:cNvPr>
          <p:cNvSpPr/>
          <p:nvPr/>
        </p:nvSpPr>
        <p:spPr>
          <a:xfrm rot="5400000">
            <a:off x="8525579" y="33138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Oval 19">
            <a:extLst>
              <a:ext uri="{FF2B5EF4-FFF2-40B4-BE49-F238E27FC236}">
                <a16:creationId xmlns:a16="http://schemas.microsoft.com/office/drawing/2014/main" id="{BDD11F87-DA81-9510-C1CB-0AF4093562CB}"/>
              </a:ext>
            </a:extLst>
          </p:cNvPr>
          <p:cNvSpPr/>
          <p:nvPr/>
        </p:nvSpPr>
        <p:spPr>
          <a:xfrm rot="5400000">
            <a:off x="9965739" y="331385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14" idx="6"/>
            <a:endCxn id="18" idx="2"/>
          </p:cNvCxnSpPr>
          <p:nvPr/>
        </p:nvCxnSpPr>
        <p:spPr>
          <a:xfrm flipH="1">
            <a:off x="8597579" y="2017697"/>
            <a:ext cx="7707"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2" name="Straight Connector 21">
            <a:extLst>
              <a:ext uri="{FF2B5EF4-FFF2-40B4-BE49-F238E27FC236}">
                <a16:creationId xmlns:a16="http://schemas.microsoft.com/office/drawing/2014/main" id="{6205DD86-315C-53B6-CEEF-A9919650168E}"/>
              </a:ext>
            </a:extLst>
          </p:cNvPr>
          <p:cNvCxnSpPr>
            <a:cxnSpLocks/>
            <a:stCxn id="15" idx="6"/>
            <a:endCxn id="20" idx="2"/>
          </p:cNvCxnSpPr>
          <p:nvPr/>
        </p:nvCxnSpPr>
        <p:spPr>
          <a:xfrm>
            <a:off x="10037739" y="2017697"/>
            <a:ext cx="0" cy="129616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3" name="Straight Connector 22">
            <a:extLst>
              <a:ext uri="{FF2B5EF4-FFF2-40B4-BE49-F238E27FC236}">
                <a16:creationId xmlns:a16="http://schemas.microsoft.com/office/drawing/2014/main" id="{6205DD86-315C-53B6-CEEF-A9919650168E}"/>
              </a:ext>
            </a:extLst>
          </p:cNvPr>
          <p:cNvCxnSpPr>
            <a:cxnSpLocks/>
            <a:stCxn id="20" idx="4"/>
            <a:endCxn id="18" idx="0"/>
          </p:cNvCxnSpPr>
          <p:nvPr/>
        </p:nvCxnSpPr>
        <p:spPr>
          <a:xfrm flipH="1">
            <a:off x="8669579" y="3385857"/>
            <a:ext cx="1296160" cy="0"/>
          </a:xfrm>
          <a:prstGeom prst="line">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6205DD86-315C-53B6-CEEF-A9919650168E}"/>
              </a:ext>
            </a:extLst>
          </p:cNvPr>
          <p:cNvCxnSpPr>
            <a:cxnSpLocks/>
            <a:stCxn id="20" idx="3"/>
            <a:endCxn id="14" idx="7"/>
          </p:cNvCxnSpPr>
          <p:nvPr/>
        </p:nvCxnSpPr>
        <p:spPr>
          <a:xfrm flipH="1" flipV="1">
            <a:off x="8656198" y="1996609"/>
            <a:ext cx="1330629" cy="13383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5" name="TextBox 24"/>
          <p:cNvSpPr txBox="1"/>
          <p:nvPr/>
        </p:nvSpPr>
        <p:spPr>
          <a:xfrm>
            <a:off x="8615791" y="1099630"/>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26" name="TextBox 25"/>
          <p:cNvSpPr txBox="1"/>
          <p:nvPr/>
        </p:nvSpPr>
        <p:spPr>
          <a:xfrm>
            <a:off x="9197607" y="1381995"/>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7" name="TextBox 26"/>
          <p:cNvSpPr txBox="1"/>
          <p:nvPr/>
        </p:nvSpPr>
        <p:spPr>
          <a:xfrm>
            <a:off x="10015022" y="897574"/>
            <a:ext cx="35779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8" name="TextBox 27"/>
          <p:cNvSpPr txBox="1"/>
          <p:nvPr/>
        </p:nvSpPr>
        <p:spPr>
          <a:xfrm>
            <a:off x="10058811" y="2399441"/>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29" name="TextBox 28"/>
          <p:cNvSpPr txBox="1"/>
          <p:nvPr/>
        </p:nvSpPr>
        <p:spPr>
          <a:xfrm>
            <a:off x="8971979" y="2637028"/>
            <a:ext cx="29848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30" name="TextBox 29"/>
          <p:cNvSpPr txBox="1"/>
          <p:nvPr/>
        </p:nvSpPr>
        <p:spPr>
          <a:xfrm>
            <a:off x="8254255" y="2399441"/>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32" name="TextBox 31"/>
          <p:cNvSpPr txBox="1"/>
          <p:nvPr/>
        </p:nvSpPr>
        <p:spPr>
          <a:xfrm>
            <a:off x="10792846" y="167841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33" name="TextBox 32"/>
          <p:cNvSpPr txBox="1"/>
          <p:nvPr/>
        </p:nvSpPr>
        <p:spPr>
          <a:xfrm>
            <a:off x="9156378" y="3385856"/>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34" name="Oval 33">
            <a:extLst>
              <a:ext uri="{FF2B5EF4-FFF2-40B4-BE49-F238E27FC236}">
                <a16:creationId xmlns:a16="http://schemas.microsoft.com/office/drawing/2014/main" id="{BDD11F87-DA81-9510-C1CB-0AF4093562CB}"/>
              </a:ext>
            </a:extLst>
          </p:cNvPr>
          <p:cNvSpPr/>
          <p:nvPr/>
        </p:nvSpPr>
        <p:spPr>
          <a:xfrm rot="5400000">
            <a:off x="10696828" y="113357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Arc 35"/>
          <p:cNvSpPr/>
          <p:nvPr/>
        </p:nvSpPr>
        <p:spPr>
          <a:xfrm rot="15169182">
            <a:off x="10225673" y="1036204"/>
            <a:ext cx="914400" cy="1335488"/>
          </a:xfrm>
          <a:prstGeom prst="arc">
            <a:avLst>
              <a:gd name="adj1" fmla="val 16366945"/>
              <a:gd name="adj2" fmla="val 1131257"/>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c 36"/>
          <p:cNvSpPr/>
          <p:nvPr/>
        </p:nvSpPr>
        <p:spPr>
          <a:xfrm rot="20823509">
            <a:off x="9863470" y="1210680"/>
            <a:ext cx="1163058" cy="814200"/>
          </a:xfrm>
          <a:prstGeom prst="arc">
            <a:avLst>
              <a:gd name="adj1" fmla="val 19771312"/>
              <a:gd name="adj2" fmla="val 8734626"/>
            </a:avLst>
          </a:prstGeom>
          <a:solidFill>
            <a:schemeClr val="bg1"/>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mc:AlternateContent xmlns:mc="http://schemas.openxmlformats.org/markup-compatibility/2006" xmlns:a14="http://schemas.microsoft.com/office/drawing/2010/main">
        <mc:Choice Requires="a14">
          <p:sp>
            <p:nvSpPr>
              <p:cNvPr id="42" name="TextBox 41"/>
              <p:cNvSpPr txBox="1"/>
              <p:nvPr/>
            </p:nvSpPr>
            <p:spPr>
              <a:xfrm>
                <a:off x="371382" y="3897396"/>
                <a:ext cx="5243295" cy="523220"/>
              </a:xfrm>
              <a:prstGeom prst="rect">
                <a:avLst/>
              </a:prstGeom>
              <a:ln w="38100"/>
            </p:spPr>
            <p:style>
              <a:lnRef idx="2">
                <a:schemeClr val="accent6"/>
              </a:lnRef>
              <a:fillRef idx="1">
                <a:schemeClr val="lt1"/>
              </a:fillRef>
              <a:effectRef idx="0">
                <a:schemeClr val="accent6"/>
              </a:effectRef>
              <a:fontRef idx="minor">
                <a:schemeClr val="dk1"/>
              </a:fontRef>
            </p:style>
            <p:txBody>
              <a:bodyPr wrap="none" rtlCol="0">
                <a:spAutoFit/>
              </a:bodyPr>
              <a:lstStyle/>
              <a:p>
                <a:r>
                  <a:rPr lang="en-US" sz="2800" dirty="0">
                    <a:solidFill>
                      <a:srgbClr val="002060"/>
                    </a:solidFill>
                  </a:rPr>
                  <a:t>Determined by chords </a:t>
                </a:r>
                <a14:m>
                  <m:oMath xmlns:m="http://schemas.openxmlformats.org/officeDocument/2006/math">
                    <m:r>
                      <m:rPr>
                        <m:sty m:val="p"/>
                      </m:rPr>
                      <a:rPr lang="en-US" sz="2800">
                        <a:solidFill>
                          <a:srgbClr val="002060"/>
                        </a:solidFill>
                        <a:latin typeface="Cambria Math" panose="02040503050406030204" pitchFamily="18" charset="0"/>
                      </a:rPr>
                      <m:t>e</m:t>
                    </m:r>
                    <m:r>
                      <a:rPr lang="en-US" sz="2800">
                        <a:solidFill>
                          <a:srgbClr val="002060"/>
                        </a:solidFill>
                        <a:latin typeface="Cambria Math" panose="02040503050406030204" pitchFamily="18" charset="0"/>
                      </a:rPr>
                      <m:t>:</m:t>
                    </m:r>
                    <m:d>
                      <m:dPr>
                        <m:begChr m:val="{"/>
                        <m:endChr m:val="}"/>
                        <m:ctrlPr>
                          <a:rPr lang="en-US" sz="2800" i="1">
                            <a:solidFill>
                              <a:srgbClr val="002060"/>
                            </a:solidFill>
                            <a:latin typeface="Cambria Math" panose="02040503050406030204" pitchFamily="18" charset="0"/>
                          </a:rPr>
                        </m:ctrlPr>
                      </m:dPr>
                      <m:e>
                        <m:r>
                          <m:rPr>
                            <m:sty m:val="p"/>
                          </m:rPr>
                          <a:rPr lang="en-US" sz="2800" b="0" i="0" smtClean="0">
                            <a:solidFill>
                              <a:srgbClr val="002060"/>
                            </a:solidFill>
                            <a:latin typeface="Cambria Math" panose="02040503050406030204" pitchFamily="18" charset="0"/>
                          </a:rPr>
                          <m:t>e</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b</m:t>
                        </m:r>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c</m:t>
                        </m:r>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d</m:t>
                        </m:r>
                      </m:e>
                    </m:d>
                  </m:oMath>
                </a14:m>
                <a:r>
                  <a:rPr lang="en-US" sz="2800" dirty="0">
                    <a:latin typeface="Cambria" panose="02040503050406030204" pitchFamily="18" charset="0"/>
                    <a:ea typeface="Times New Roman" panose="02020603050405020304" pitchFamily="18" charset="0"/>
                    <a:cs typeface="Shruti" panose="020B0502040204020203" pitchFamily="34" charset="0"/>
                  </a:rPr>
                  <a:t>. </a:t>
                </a:r>
              </a:p>
            </p:txBody>
          </p:sp>
        </mc:Choice>
        <mc:Fallback xmlns="">
          <p:sp>
            <p:nvSpPr>
              <p:cNvPr id="42" name="TextBox 41"/>
              <p:cNvSpPr txBox="1">
                <a:spLocks noRot="1" noChangeAspect="1" noMove="1" noResize="1" noEditPoints="1" noAdjustHandles="1" noChangeArrowheads="1" noChangeShapeType="1" noTextEdit="1"/>
              </p:cNvSpPr>
              <p:nvPr/>
            </p:nvSpPr>
            <p:spPr>
              <a:xfrm>
                <a:off x="371382" y="3897396"/>
                <a:ext cx="5243295" cy="523220"/>
              </a:xfrm>
              <a:prstGeom prst="rect">
                <a:avLst/>
              </a:prstGeom>
              <a:blipFill rotWithShape="0">
                <a:blip r:embed="rId3"/>
                <a:stretch>
                  <a:fillRect l="-2079" t="-8696" r="-1039" b="-27174"/>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5518945" y="3892215"/>
                <a:ext cx="4852495" cy="523220"/>
              </a:xfrm>
              <a:prstGeom prst="rect">
                <a:avLst/>
              </a:prstGeom>
              <a:ln w="38100"/>
            </p:spPr>
            <p:style>
              <a:lnRef idx="2">
                <a:schemeClr val="accent6"/>
              </a:lnRef>
              <a:fillRef idx="1">
                <a:schemeClr val="lt1"/>
              </a:fillRef>
              <a:effectRef idx="0">
                <a:schemeClr val="accent6"/>
              </a:effectRef>
              <a:fontRef idx="minor">
                <a:schemeClr val="dk1"/>
              </a:fontRef>
            </p:style>
            <p:txBody>
              <a:bodyPr wrap="square" rtlCol="0">
                <a:spAutoFit/>
              </a:bodyPr>
              <a:lstStyle/>
              <a:p>
                <a:pPr marL="0" lvl="2">
                  <a:spcBef>
                    <a:spcPts val="1000"/>
                  </a:spcBef>
                </a:pPr>
                <a:r>
                  <a:rPr lang="en-US" sz="2800" dirty="0">
                    <a:solidFill>
                      <a:srgbClr val="002060"/>
                    </a:solidFill>
                  </a:rPr>
                  <a:t>Determined by chords </a:t>
                </a:r>
                <a14:m>
                  <m:oMath xmlns:m="http://schemas.openxmlformats.org/officeDocument/2006/math">
                    <m:r>
                      <m:rPr>
                        <m:sty m:val="p"/>
                      </m:rPr>
                      <a:rPr lang="en-US" sz="2800" dirty="0">
                        <a:solidFill>
                          <a:srgbClr val="002060"/>
                        </a:solidFill>
                        <a:latin typeface="Cambria Math" panose="02040503050406030204" pitchFamily="18" charset="0"/>
                      </a:rPr>
                      <m:t>f</m:t>
                    </m:r>
                    <m:r>
                      <a:rPr lang="en-US" sz="2800">
                        <a:solidFill>
                          <a:srgbClr val="002060"/>
                        </a:solidFill>
                        <a:latin typeface="Cambria Math" panose="02040503050406030204" pitchFamily="18" charset="0"/>
                      </a:rPr>
                      <m:t>: {</m:t>
                    </m:r>
                    <m:r>
                      <m:rPr>
                        <m:sty m:val="p"/>
                      </m:rPr>
                      <a:rPr lang="en-US" sz="2800" b="0" i="0" smtClean="0">
                        <a:solidFill>
                          <a:srgbClr val="002060"/>
                        </a:solidFill>
                        <a:latin typeface="Cambria Math" panose="02040503050406030204" pitchFamily="18" charset="0"/>
                      </a:rPr>
                      <m:t>b</m:t>
                    </m:r>
                    <m:r>
                      <a:rPr lang="en-US" sz="2800" b="0" i="0" smtClean="0">
                        <a:solidFill>
                          <a:srgbClr val="002060"/>
                        </a:solidFill>
                        <a:latin typeface="Cambria Math" panose="02040503050406030204" pitchFamily="18" charset="0"/>
                      </a:rPr>
                      <m:t>,</m:t>
                    </m:r>
                    <m:r>
                      <m:rPr>
                        <m:sty m:val="p"/>
                      </m:rPr>
                      <a:rPr lang="en-US" sz="2800" b="0" i="0" smtClean="0">
                        <a:solidFill>
                          <a:srgbClr val="002060"/>
                        </a:solidFill>
                        <a:latin typeface="Cambria Math" panose="02040503050406030204" pitchFamily="18" charset="0"/>
                      </a:rPr>
                      <m:t>c</m:t>
                    </m:r>
                    <m:r>
                      <a:rPr lang="en-US" sz="2800" b="0" i="0" smtClean="0">
                        <a:solidFill>
                          <a:srgbClr val="002060"/>
                        </a:solidFill>
                        <a:latin typeface="Cambria Math" panose="02040503050406030204" pitchFamily="18" charset="0"/>
                      </a:rPr>
                      <m:t>,</m:t>
                    </m:r>
                    <m:r>
                      <m:rPr>
                        <m:sty m:val="p"/>
                      </m:rPr>
                      <a:rPr lang="en-US" sz="2800">
                        <a:solidFill>
                          <a:srgbClr val="002060"/>
                        </a:solidFill>
                        <a:latin typeface="Cambria Math" panose="02040503050406030204" pitchFamily="18" charset="0"/>
                      </a:rPr>
                      <m:t>f</m:t>
                    </m:r>
                    <m:r>
                      <a:rPr lang="en-US" sz="2800">
                        <a:solidFill>
                          <a:srgbClr val="002060"/>
                        </a:solidFill>
                        <a:latin typeface="Cambria Math" panose="02040503050406030204" pitchFamily="18" charset="0"/>
                      </a:rPr>
                      <m:t>}</m:t>
                    </m:r>
                  </m:oMath>
                </a14:m>
                <a:r>
                  <a:rPr lang="en-US" sz="2800" dirty="0">
                    <a:latin typeface="Cambria" panose="02040503050406030204" pitchFamily="18" charset="0"/>
                    <a:ea typeface="Times New Roman" panose="02020603050405020304" pitchFamily="18" charset="0"/>
                    <a:cs typeface="Shruti" panose="020B0502040204020203" pitchFamily="34" charset="0"/>
                  </a:rPr>
                  <a:t>.</a:t>
                </a:r>
                <a:r>
                  <a:rPr lang="en-US" dirty="0">
                    <a:latin typeface="Cambria" panose="02040503050406030204" pitchFamily="18" charset="0"/>
                    <a:ea typeface="Times New Roman" panose="02020603050405020304" pitchFamily="18" charset="0"/>
                    <a:cs typeface="Shruti" panose="020B0502040204020203" pitchFamily="34" charset="0"/>
                  </a:rPr>
                  <a:t> </a:t>
                </a:r>
              </a:p>
            </p:txBody>
          </p:sp>
        </mc:Choice>
        <mc:Fallback xmlns="">
          <p:sp>
            <p:nvSpPr>
              <p:cNvPr id="43" name="TextBox 42"/>
              <p:cNvSpPr txBox="1">
                <a:spLocks noRot="1" noChangeAspect="1" noMove="1" noResize="1" noEditPoints="1" noAdjustHandles="1" noChangeArrowheads="1" noChangeShapeType="1" noTextEdit="1"/>
              </p:cNvSpPr>
              <p:nvPr/>
            </p:nvSpPr>
            <p:spPr>
              <a:xfrm>
                <a:off x="5518945" y="3892215"/>
                <a:ext cx="4852495" cy="523220"/>
              </a:xfrm>
              <a:prstGeom prst="rect">
                <a:avLst/>
              </a:prstGeom>
              <a:blipFill rotWithShape="0">
                <a:blip r:embed="rId4"/>
                <a:stretch>
                  <a:fillRect l="-2120" t="-8696" b="-27174"/>
                </a:stretch>
              </a:blipFill>
              <a:ln w="38100"/>
            </p:spPr>
            <p:txBody>
              <a:bodyPr/>
              <a:lstStyle/>
              <a:p>
                <a:r>
                  <a:rPr lang="en-US">
                    <a:noFill/>
                  </a:rPr>
                  <a:t> </a:t>
                </a:r>
              </a:p>
            </p:txBody>
          </p:sp>
        </mc:Fallback>
      </mc:AlternateContent>
      <p:sp>
        <p:nvSpPr>
          <p:cNvPr id="46" name="Arc 45"/>
          <p:cNvSpPr/>
          <p:nvPr/>
        </p:nvSpPr>
        <p:spPr>
          <a:xfrm rot="16200000">
            <a:off x="8400828" y="2197361"/>
            <a:ext cx="2903875" cy="524005"/>
          </a:xfrm>
          <a:prstGeom prst="arc">
            <a:avLst>
              <a:gd name="adj1" fmla="val 11115140"/>
              <a:gd name="adj2" fmla="val 21223154"/>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Rectangle 1"/>
              <p:cNvSpPr/>
              <p:nvPr/>
            </p:nvSpPr>
            <p:spPr>
              <a:xfrm>
                <a:off x="321411" y="4609176"/>
                <a:ext cx="10050029" cy="1384995"/>
              </a:xfrm>
              <a:prstGeom prst="rect">
                <a:avLst/>
              </a:prstGeom>
            </p:spPr>
            <p:style>
              <a:lnRef idx="1">
                <a:schemeClr val="accent4"/>
              </a:lnRef>
              <a:fillRef idx="1003">
                <a:schemeClr val="lt2"/>
              </a:fillRef>
              <a:effectRef idx="1">
                <a:schemeClr val="accent4"/>
              </a:effectRef>
              <a:fontRef idx="minor">
                <a:schemeClr val="dk1"/>
              </a:fontRef>
            </p:style>
            <p:txBody>
              <a:bodyPr wrap="square">
                <a:spAutoFit/>
              </a:bodyPr>
              <a:lstStyle/>
              <a:p>
                <a:pPr marL="0" lvl="1">
                  <a:spcBef>
                    <a:spcPts val="1000"/>
                  </a:spcBef>
                </a:pPr>
                <a:r>
                  <a:rPr lang="en-US" sz="2800" dirty="0">
                    <a:solidFill>
                      <a:srgbClr val="FF0000"/>
                    </a:solidFill>
                  </a:rPr>
                  <a:t>Branch</a:t>
                </a:r>
                <a14:m>
                  <m:oMath xmlns:m="http://schemas.openxmlformats.org/officeDocument/2006/math">
                    <m:r>
                      <a:rPr lang="en-US" sz="2800" i="0" dirty="0" smtClean="0">
                        <a:solidFill>
                          <a:srgbClr val="FF0000"/>
                        </a:solidFill>
                        <a:latin typeface="Cambria Math" panose="02040503050406030204" pitchFamily="18" charset="0"/>
                      </a:rPr>
                      <m:t> </m:t>
                    </m:r>
                    <m:r>
                      <m:rPr>
                        <m:sty m:val="p"/>
                      </m:rPr>
                      <a:rPr lang="en-US" sz="2800" i="0" dirty="0" smtClean="0">
                        <a:solidFill>
                          <a:srgbClr val="FF0000"/>
                        </a:solidFill>
                        <a:latin typeface="Cambria Math" panose="02040503050406030204" pitchFamily="18" charset="0"/>
                      </a:rPr>
                      <m:t>c</m:t>
                    </m:r>
                  </m:oMath>
                </a14:m>
                <a:r>
                  <a:rPr lang="en-US" sz="2800" dirty="0">
                    <a:solidFill>
                      <a:srgbClr val="FF0000"/>
                    </a:solidFill>
                  </a:rPr>
                  <a:t> that determines a fundamental cut-set occurs in each of these three fundamental circuits, and there is no other fundamental circuits that contains </a:t>
                </a:r>
                <a14:m>
                  <m:oMath xmlns:m="http://schemas.openxmlformats.org/officeDocument/2006/math">
                    <m:r>
                      <m:rPr>
                        <m:sty m:val="p"/>
                      </m:rPr>
                      <a:rPr lang="en-US" sz="2800" i="0" dirty="0" smtClean="0">
                        <a:solidFill>
                          <a:srgbClr val="FF0000"/>
                        </a:solidFill>
                        <a:latin typeface="Cambria Math" panose="02040503050406030204" pitchFamily="18" charset="0"/>
                      </a:rPr>
                      <m:t>c</m:t>
                    </m:r>
                  </m:oMath>
                </a14:m>
                <a:r>
                  <a:rPr lang="en-US" sz="2800" dirty="0">
                    <a:solidFill>
                      <a:srgbClr val="FF0000"/>
                    </a:solidFill>
                  </a:rPr>
                  <a:t>.</a:t>
                </a:r>
              </a:p>
            </p:txBody>
          </p:sp>
        </mc:Choice>
        <mc:Fallback xmlns="">
          <p:sp>
            <p:nvSpPr>
              <p:cNvPr id="2" name="Rectangle 1"/>
              <p:cNvSpPr>
                <a:spLocks noRot="1" noChangeAspect="1" noMove="1" noResize="1" noEditPoints="1" noAdjustHandles="1" noChangeArrowheads="1" noChangeShapeType="1" noTextEdit="1"/>
              </p:cNvSpPr>
              <p:nvPr/>
            </p:nvSpPr>
            <p:spPr>
              <a:xfrm>
                <a:off x="321411" y="4609176"/>
                <a:ext cx="10050029" cy="1384995"/>
              </a:xfrm>
              <a:prstGeom prst="rect">
                <a:avLst/>
              </a:prstGeom>
              <a:blipFill rotWithShape="0">
                <a:blip r:embed="rId5"/>
                <a:stretch>
                  <a:fillRect l="-1273" t="-4386" b="-10965"/>
                </a:stretch>
              </a:blipFill>
            </p:spPr>
            <p:txBody>
              <a:bodyPr/>
              <a:lstStyle/>
              <a:p>
                <a:r>
                  <a:rPr lang="en-US">
                    <a:noFill/>
                  </a:rPr>
                  <a:t> </a:t>
                </a:r>
              </a:p>
            </p:txBody>
          </p:sp>
        </mc:Fallback>
      </mc:AlternateContent>
    </p:spTree>
    <p:extLst>
      <p:ext uri="{BB962C8B-B14F-4D97-AF65-F5344CB8AC3E}">
        <p14:creationId xmlns:p14="http://schemas.microsoft.com/office/powerpoint/2010/main" val="195418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7" presetClass="emph" presetSubtype="2" fill="hold" nodeType="clickEffect">
                                  <p:stCondLst>
                                    <p:cond delay="0"/>
                                  </p:stCondLst>
                                  <p:childTnLst>
                                    <p:animClr clrSpc="rgb" dir="cw">
                                      <p:cBhvr>
                                        <p:cTn id="10" dur="2000" fill="hold"/>
                                        <p:tgtEl>
                                          <p:spTgt spid="23"/>
                                        </p:tgtEl>
                                        <p:attrNameLst>
                                          <p:attrName>stroke.color</p:attrName>
                                        </p:attrNameLst>
                                      </p:cBhvr>
                                      <p:to>
                                        <a:srgbClr val="FFFF00"/>
                                      </p:to>
                                    </p:animClr>
                                    <p:set>
                                      <p:cBhvr>
                                        <p:cTn id="11" dur="2000" fill="hold"/>
                                        <p:tgtEl>
                                          <p:spTgt spid="23"/>
                                        </p:tgtEl>
                                        <p:attrNameLst>
                                          <p:attrName>stroke.on</p:attrName>
                                        </p:attrNameLst>
                                      </p:cBhvr>
                                      <p:to>
                                        <p:strVal val="tru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2">
                                            <p:txEl>
                                              <p:pRg st="1" end="1"/>
                                            </p:txEl>
                                          </p:spTgt>
                                        </p:tgtEl>
                                        <p:attrNameLst>
                                          <p:attrName>style.visibility</p:attrName>
                                        </p:attrNameLst>
                                      </p:cBhvr>
                                      <p:to>
                                        <p:strVal val="visible"/>
                                      </p:to>
                                    </p:set>
                                  </p:childTnLst>
                                </p:cTn>
                              </p:par>
                            </p:childTnLst>
                          </p:cTn>
                        </p:par>
                        <p:par>
                          <p:cTn id="16" fill="hold">
                            <p:stCondLst>
                              <p:cond delay="0"/>
                            </p:stCondLst>
                            <p:childTnLst>
                              <p:par>
                                <p:cTn id="17" presetID="22" presetClass="entr" presetSubtype="4" fill="hold" grpId="0" nodeType="afterEffect">
                                  <p:stCondLst>
                                    <p:cond delay="0"/>
                                  </p:stCondLst>
                                  <p:childTnLst>
                                    <p:set>
                                      <p:cBhvr>
                                        <p:cTn id="18" dur="1" fill="hold">
                                          <p:stCondLst>
                                            <p:cond delay="0"/>
                                          </p:stCondLst>
                                        </p:cTn>
                                        <p:tgtEl>
                                          <p:spTgt spid="46"/>
                                        </p:tgtEl>
                                        <p:attrNameLst>
                                          <p:attrName>style.visibility</p:attrName>
                                        </p:attrNameLst>
                                      </p:cBhvr>
                                      <p:to>
                                        <p:strVal val="visible"/>
                                      </p:to>
                                    </p:set>
                                    <p:animEffect transition="in" filter="wipe(down)">
                                      <p:cBhvr>
                                        <p:cTn id="19" dur="500"/>
                                        <p:tgtEl>
                                          <p:spTgt spid="4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4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7" presetClass="emph" presetSubtype="2" fill="hold" nodeType="clickEffect">
                                  <p:stCondLst>
                                    <p:cond delay="0"/>
                                  </p:stCondLst>
                                  <p:childTnLst>
                                    <p:animClr clrSpc="rgb" dir="cw">
                                      <p:cBhvr>
                                        <p:cTn id="31" dur="2000" fill="hold"/>
                                        <p:tgtEl>
                                          <p:spTgt spid="17"/>
                                        </p:tgtEl>
                                        <p:attrNameLst>
                                          <p:attrName>stroke.color</p:attrName>
                                        </p:attrNameLst>
                                      </p:cBhvr>
                                      <p:to>
                                        <a:srgbClr val="002060"/>
                                      </p:to>
                                    </p:animClr>
                                    <p:set>
                                      <p:cBhvr>
                                        <p:cTn id="32" dur="2000" fill="hold"/>
                                        <p:tgtEl>
                                          <p:spTgt spid="17"/>
                                        </p:tgtEl>
                                        <p:attrNameLst>
                                          <p:attrName>stroke.on</p:attrName>
                                        </p:attrNameLst>
                                      </p:cBhvr>
                                      <p:to>
                                        <p:strVal val="true"/>
                                      </p:to>
                                    </p:set>
                                  </p:childTnLst>
                                </p:cTn>
                              </p:par>
                              <p:par>
                                <p:cTn id="33" presetID="7" presetClass="emph" presetSubtype="2" fill="hold" nodeType="withEffect">
                                  <p:stCondLst>
                                    <p:cond delay="0"/>
                                  </p:stCondLst>
                                  <p:childTnLst>
                                    <p:animClr clrSpc="rgb" dir="cw">
                                      <p:cBhvr>
                                        <p:cTn id="34" dur="2000" fill="hold"/>
                                        <p:tgtEl>
                                          <p:spTgt spid="21"/>
                                        </p:tgtEl>
                                        <p:attrNameLst>
                                          <p:attrName>stroke.color</p:attrName>
                                        </p:attrNameLst>
                                      </p:cBhvr>
                                      <p:to>
                                        <a:srgbClr val="002060"/>
                                      </p:to>
                                    </p:animClr>
                                    <p:set>
                                      <p:cBhvr>
                                        <p:cTn id="35" dur="2000" fill="hold"/>
                                        <p:tgtEl>
                                          <p:spTgt spid="21"/>
                                        </p:tgtEl>
                                        <p:attrNameLst>
                                          <p:attrName>stroke.on</p:attrName>
                                        </p:attrNameLst>
                                      </p:cBhvr>
                                      <p:to>
                                        <p:strVal val="true"/>
                                      </p:to>
                                    </p:set>
                                  </p:childTnLst>
                                </p:cTn>
                              </p:par>
                              <p:par>
                                <p:cTn id="36" presetID="7" presetClass="emph" presetSubtype="2" fill="hold" nodeType="withEffect">
                                  <p:stCondLst>
                                    <p:cond delay="0"/>
                                  </p:stCondLst>
                                  <p:childTnLst>
                                    <p:animClr clrSpc="rgb" dir="cw">
                                      <p:cBhvr>
                                        <p:cTn id="37" dur="2000" fill="hold"/>
                                        <p:tgtEl>
                                          <p:spTgt spid="23"/>
                                        </p:tgtEl>
                                        <p:attrNameLst>
                                          <p:attrName>stroke.color</p:attrName>
                                        </p:attrNameLst>
                                      </p:cBhvr>
                                      <p:to>
                                        <a:srgbClr val="002060"/>
                                      </p:to>
                                    </p:animClr>
                                    <p:set>
                                      <p:cBhvr>
                                        <p:cTn id="38" dur="2000" fill="hold"/>
                                        <p:tgtEl>
                                          <p:spTgt spid="23"/>
                                        </p:tgtEl>
                                        <p:attrNameLst>
                                          <p:attrName>stroke.on</p:attrName>
                                        </p:attrNameLst>
                                      </p:cBhvr>
                                      <p:to>
                                        <p:strVal val="true"/>
                                      </p:to>
                                    </p:set>
                                  </p:childTnLst>
                                </p:cTn>
                              </p:par>
                              <p:par>
                                <p:cTn id="39" presetID="7" presetClass="emph" presetSubtype="2" fill="hold" nodeType="withEffect">
                                  <p:stCondLst>
                                    <p:cond delay="0"/>
                                  </p:stCondLst>
                                  <p:childTnLst>
                                    <p:animClr clrSpc="rgb" dir="cw">
                                      <p:cBhvr>
                                        <p:cTn id="40" dur="2000" fill="hold"/>
                                        <p:tgtEl>
                                          <p:spTgt spid="22"/>
                                        </p:tgtEl>
                                        <p:attrNameLst>
                                          <p:attrName>stroke.color</p:attrName>
                                        </p:attrNameLst>
                                      </p:cBhvr>
                                      <p:to>
                                        <a:srgbClr val="002060"/>
                                      </p:to>
                                    </p:animClr>
                                    <p:set>
                                      <p:cBhvr>
                                        <p:cTn id="41" dur="2000" fill="hold"/>
                                        <p:tgtEl>
                                          <p:spTgt spid="22"/>
                                        </p:tgtEl>
                                        <p:attrNameLst>
                                          <p:attrName>stroke.on</p:attrName>
                                        </p:attrNameLst>
                                      </p:cBhvr>
                                      <p:to>
                                        <p:strVal val="tru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7" presetClass="emph" presetSubtype="2" fill="hold" nodeType="clickEffect">
                                  <p:stCondLst>
                                    <p:cond delay="0"/>
                                  </p:stCondLst>
                                  <p:childTnLst>
                                    <p:animClr clrSpc="rgb" dir="cw">
                                      <p:cBhvr>
                                        <p:cTn id="49" dur="2000" fill="hold"/>
                                        <p:tgtEl>
                                          <p:spTgt spid="21"/>
                                        </p:tgtEl>
                                        <p:attrNameLst>
                                          <p:attrName>stroke.color</p:attrName>
                                        </p:attrNameLst>
                                      </p:cBhvr>
                                      <p:to>
                                        <a:schemeClr val="accent2"/>
                                      </p:to>
                                    </p:animClr>
                                    <p:set>
                                      <p:cBhvr>
                                        <p:cTn id="50" dur="2000" fill="hold"/>
                                        <p:tgtEl>
                                          <p:spTgt spid="21"/>
                                        </p:tgtEl>
                                        <p:attrNameLst>
                                          <p:attrName>stroke.on</p:attrName>
                                        </p:attrNameLst>
                                      </p:cBhvr>
                                      <p:to>
                                        <p:strVal val="true"/>
                                      </p:to>
                                    </p:set>
                                  </p:childTnLst>
                                </p:cTn>
                              </p:par>
                              <p:par>
                                <p:cTn id="51" presetID="7" presetClass="emph" presetSubtype="2" fill="hold" nodeType="withEffect">
                                  <p:stCondLst>
                                    <p:cond delay="0"/>
                                  </p:stCondLst>
                                  <p:childTnLst>
                                    <p:animClr clrSpc="rgb" dir="cw">
                                      <p:cBhvr>
                                        <p:cTn id="52" dur="2000" fill="hold"/>
                                        <p:tgtEl>
                                          <p:spTgt spid="23"/>
                                        </p:tgtEl>
                                        <p:attrNameLst>
                                          <p:attrName>stroke.color</p:attrName>
                                        </p:attrNameLst>
                                      </p:cBhvr>
                                      <p:to>
                                        <a:schemeClr val="accent2"/>
                                      </p:to>
                                    </p:animClr>
                                    <p:set>
                                      <p:cBhvr>
                                        <p:cTn id="53" dur="2000" fill="hold"/>
                                        <p:tgtEl>
                                          <p:spTgt spid="23"/>
                                        </p:tgtEl>
                                        <p:attrNameLst>
                                          <p:attrName>stroke.on</p:attrName>
                                        </p:attrNameLst>
                                      </p:cBhvr>
                                      <p:to>
                                        <p:strVal val="true"/>
                                      </p:to>
                                    </p:set>
                                  </p:childTnLst>
                                </p:cTn>
                              </p:par>
                              <p:par>
                                <p:cTn id="54" presetID="7" presetClass="emph" presetSubtype="2" fill="hold" nodeType="withEffect">
                                  <p:stCondLst>
                                    <p:cond delay="0"/>
                                  </p:stCondLst>
                                  <p:childTnLst>
                                    <p:animClr clrSpc="rgb" dir="cw">
                                      <p:cBhvr>
                                        <p:cTn id="55" dur="2000" fill="hold"/>
                                        <p:tgtEl>
                                          <p:spTgt spid="24"/>
                                        </p:tgtEl>
                                        <p:attrNameLst>
                                          <p:attrName>stroke.color</p:attrName>
                                        </p:attrNameLst>
                                      </p:cBhvr>
                                      <p:to>
                                        <a:schemeClr val="accent2"/>
                                      </p:to>
                                    </p:animClr>
                                    <p:set>
                                      <p:cBhvr>
                                        <p:cTn id="56" dur="2000" fill="hold"/>
                                        <p:tgtEl>
                                          <p:spTgt spid="24"/>
                                        </p:tgtEl>
                                        <p:attrNameLst>
                                          <p:attrName>stroke.on</p:attrName>
                                        </p:attrNameLst>
                                      </p:cBhvr>
                                      <p:to>
                                        <p:strVal val="tru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7" presetClass="emph" presetSubtype="2" fill="hold" nodeType="clickEffect">
                                  <p:stCondLst>
                                    <p:cond delay="0"/>
                                  </p:stCondLst>
                                  <p:childTnLst>
                                    <p:animClr clrSpc="rgb" dir="cw">
                                      <p:cBhvr>
                                        <p:cTn id="68" dur="2000" fill="hold"/>
                                        <p:tgtEl>
                                          <p:spTgt spid="23"/>
                                        </p:tgtEl>
                                        <p:attrNameLst>
                                          <p:attrName>stroke.color</p:attrName>
                                        </p:attrNameLst>
                                      </p:cBhvr>
                                      <p:to>
                                        <a:srgbClr val="B9D98F"/>
                                      </p:to>
                                    </p:animClr>
                                    <p:set>
                                      <p:cBhvr>
                                        <p:cTn id="69" dur="2000" fill="hold"/>
                                        <p:tgtEl>
                                          <p:spTgt spid="23"/>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42" grpId="0" animBg="1"/>
      <p:bldP spid="43" grpId="0" animBg="1"/>
      <p:bldP spid="46" grpId="0" animBg="1"/>
      <p:bldP spid="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u="sng" dirty="0">
                <a:uFill>
                  <a:solidFill>
                    <a:schemeClr val="bg1"/>
                  </a:solidFill>
                </a:uFill>
              </a:rPr>
              <a:t>Method – 4</a:t>
            </a:r>
            <a:br>
              <a:rPr lang="en-US" dirty="0">
                <a:hlinkClick r:id="" action="ppaction://noaction">
                  <a:extLst>
                    <a:ext uri="{A12FA001-AC4F-418D-AE19-62706E023703}">
                      <ahyp:hlinkClr xmlns:ahyp="http://schemas.microsoft.com/office/drawing/2018/hyperlinkcolor" val="tx"/>
                    </a:ext>
                  </a:extLst>
                </a:hlinkClick>
              </a:rPr>
            </a:br>
            <a:r>
              <a:rPr lang="en-US" dirty="0"/>
              <a:t>Connectivity and Separability</a:t>
            </a:r>
          </a:p>
        </p:txBody>
      </p:sp>
    </p:spTree>
    <p:extLst>
      <p:ext uri="{BB962C8B-B14F-4D97-AF65-F5344CB8AC3E}">
        <p14:creationId xmlns:p14="http://schemas.microsoft.com/office/powerpoint/2010/main" val="21556767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Connectivity </a:t>
            </a:r>
          </a:p>
        </p:txBody>
      </p:sp>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0" y="863445"/>
            <a:ext cx="11929641" cy="1879755"/>
          </a:xfrm>
        </p:spPr>
        <p:txBody>
          <a:bodyPr/>
          <a:lstStyle/>
          <a:p>
            <a:r>
              <a:rPr lang="en-US" b="1" dirty="0"/>
              <a:t>The edge connectivity</a:t>
            </a:r>
            <a:r>
              <a:rPr lang="en-US" dirty="0"/>
              <a:t> of a connected graph can be defined as the number of edges in the </a:t>
            </a:r>
            <a:r>
              <a:rPr lang="en-US" dirty="0">
                <a:solidFill>
                  <a:srgbClr val="FF0000"/>
                </a:solidFill>
              </a:rPr>
              <a:t>smallest cut-set </a:t>
            </a:r>
            <a:r>
              <a:rPr lang="en-US" dirty="0"/>
              <a:t>(i.e., cutset with fewest number of edges).</a:t>
            </a:r>
          </a:p>
          <a:p>
            <a:pPr lvl="0"/>
            <a:r>
              <a:rPr lang="en-US" dirty="0"/>
              <a:t>Equivalently, is defined as the minimum number of edges whose removal (i.e., deletion) reduces the rank of the graph by one.</a:t>
            </a:r>
          </a:p>
        </p:txBody>
      </p:sp>
      <p:sp>
        <p:nvSpPr>
          <p:cNvPr id="6" name="Oval 5">
            <a:extLst>
              <a:ext uri="{FF2B5EF4-FFF2-40B4-BE49-F238E27FC236}">
                <a16:creationId xmlns:a16="http://schemas.microsoft.com/office/drawing/2014/main" id="{BDD11F87-DA81-9510-C1CB-0AF4093562CB}"/>
              </a:ext>
            </a:extLst>
          </p:cNvPr>
          <p:cNvSpPr/>
          <p:nvPr/>
        </p:nvSpPr>
        <p:spPr>
          <a:xfrm rot="5400000">
            <a:off x="8201251" y="326689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BDD11F87-DA81-9510-C1CB-0AF4093562CB}"/>
              </a:ext>
            </a:extLst>
          </p:cNvPr>
          <p:cNvSpPr/>
          <p:nvPr/>
        </p:nvSpPr>
        <p:spPr>
          <a:xfrm rot="5400000">
            <a:off x="10361483" y="327395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BDD11F87-DA81-9510-C1CB-0AF4093562CB}"/>
              </a:ext>
            </a:extLst>
          </p:cNvPr>
          <p:cNvSpPr/>
          <p:nvPr/>
        </p:nvSpPr>
        <p:spPr>
          <a:xfrm rot="5400000">
            <a:off x="8201251" y="54119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9" name="Oval 8">
            <a:extLst>
              <a:ext uri="{FF2B5EF4-FFF2-40B4-BE49-F238E27FC236}">
                <a16:creationId xmlns:a16="http://schemas.microsoft.com/office/drawing/2014/main" id="{BDD11F87-DA81-9510-C1CB-0AF4093562CB}"/>
              </a:ext>
            </a:extLst>
          </p:cNvPr>
          <p:cNvSpPr/>
          <p:nvPr/>
        </p:nvSpPr>
        <p:spPr>
          <a:xfrm rot="5400000">
            <a:off x="10361483" y="54190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BDD11F87-DA81-9510-C1CB-0AF4093562CB}"/>
              </a:ext>
            </a:extLst>
          </p:cNvPr>
          <p:cNvSpPr/>
          <p:nvPr/>
        </p:nvSpPr>
        <p:spPr>
          <a:xfrm rot="5400000">
            <a:off x="9353371" y="432156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 name="Straight Connector 11">
            <a:extLst>
              <a:ext uri="{FF2B5EF4-FFF2-40B4-BE49-F238E27FC236}">
                <a16:creationId xmlns:a16="http://schemas.microsoft.com/office/drawing/2014/main" id="{6205DD86-315C-53B6-CEEF-A9919650168E}"/>
              </a:ext>
            </a:extLst>
          </p:cNvPr>
          <p:cNvCxnSpPr>
            <a:cxnSpLocks/>
            <a:stCxn id="11" idx="3"/>
            <a:endCxn id="6" idx="7"/>
          </p:cNvCxnSpPr>
          <p:nvPr/>
        </p:nvCxnSpPr>
        <p:spPr>
          <a:xfrm flipH="1" flipV="1">
            <a:off x="8324163" y="3389808"/>
            <a:ext cx="1050296" cy="952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6205DD86-315C-53B6-CEEF-A9919650168E}"/>
              </a:ext>
            </a:extLst>
          </p:cNvPr>
          <p:cNvCxnSpPr>
            <a:cxnSpLocks/>
            <a:stCxn id="9" idx="3"/>
            <a:endCxn id="11" idx="7"/>
          </p:cNvCxnSpPr>
          <p:nvPr/>
        </p:nvCxnSpPr>
        <p:spPr>
          <a:xfrm flipH="1" flipV="1">
            <a:off x="9476283" y="4444472"/>
            <a:ext cx="906288" cy="99567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6205DD86-315C-53B6-CEEF-A9919650168E}"/>
              </a:ext>
            </a:extLst>
          </p:cNvPr>
          <p:cNvCxnSpPr>
            <a:cxnSpLocks/>
            <a:stCxn id="11" idx="5"/>
            <a:endCxn id="8" idx="1"/>
          </p:cNvCxnSpPr>
          <p:nvPr/>
        </p:nvCxnSpPr>
        <p:spPr>
          <a:xfrm flipH="1">
            <a:off x="8324163" y="4444472"/>
            <a:ext cx="1050296" cy="9886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6205DD86-315C-53B6-CEEF-A9919650168E}"/>
              </a:ext>
            </a:extLst>
          </p:cNvPr>
          <p:cNvCxnSpPr>
            <a:cxnSpLocks/>
            <a:stCxn id="7" idx="5"/>
            <a:endCxn id="11" idx="1"/>
          </p:cNvCxnSpPr>
          <p:nvPr/>
        </p:nvCxnSpPr>
        <p:spPr>
          <a:xfrm flipH="1">
            <a:off x="9476283" y="3396865"/>
            <a:ext cx="906288" cy="9457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8" idx="2"/>
            <a:endCxn id="6" idx="6"/>
          </p:cNvCxnSpPr>
          <p:nvPr/>
        </p:nvCxnSpPr>
        <p:spPr>
          <a:xfrm flipV="1">
            <a:off x="8273251" y="3410896"/>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7" name="Straight Connector 16">
            <a:extLst>
              <a:ext uri="{FF2B5EF4-FFF2-40B4-BE49-F238E27FC236}">
                <a16:creationId xmlns:a16="http://schemas.microsoft.com/office/drawing/2014/main" id="{6205DD86-315C-53B6-CEEF-A9919650168E}"/>
              </a:ext>
            </a:extLst>
          </p:cNvPr>
          <p:cNvCxnSpPr>
            <a:cxnSpLocks/>
            <a:stCxn id="9" idx="2"/>
            <a:endCxn id="7" idx="6"/>
          </p:cNvCxnSpPr>
          <p:nvPr/>
        </p:nvCxnSpPr>
        <p:spPr>
          <a:xfrm flipV="1">
            <a:off x="10433483" y="3417953"/>
            <a:ext cx="0" cy="200110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Connector 17">
            <a:extLst>
              <a:ext uri="{FF2B5EF4-FFF2-40B4-BE49-F238E27FC236}">
                <a16:creationId xmlns:a16="http://schemas.microsoft.com/office/drawing/2014/main" id="{6205DD86-315C-53B6-CEEF-A9919650168E}"/>
              </a:ext>
            </a:extLst>
          </p:cNvPr>
          <p:cNvCxnSpPr>
            <a:cxnSpLocks/>
            <a:stCxn id="6" idx="0"/>
            <a:endCxn id="7" idx="4"/>
          </p:cNvCxnSpPr>
          <p:nvPr/>
        </p:nvCxnSpPr>
        <p:spPr>
          <a:xfrm>
            <a:off x="8345251" y="3338896"/>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6205DD86-315C-53B6-CEEF-A9919650168E}"/>
              </a:ext>
            </a:extLst>
          </p:cNvPr>
          <p:cNvCxnSpPr>
            <a:cxnSpLocks/>
            <a:stCxn id="8" idx="0"/>
            <a:endCxn id="9" idx="4"/>
          </p:cNvCxnSpPr>
          <p:nvPr/>
        </p:nvCxnSpPr>
        <p:spPr>
          <a:xfrm>
            <a:off x="8345251" y="5483997"/>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0" name="Oval 19">
            <a:extLst>
              <a:ext uri="{FF2B5EF4-FFF2-40B4-BE49-F238E27FC236}">
                <a16:creationId xmlns:a16="http://schemas.microsoft.com/office/drawing/2014/main" id="{BDD11F87-DA81-9510-C1CB-0AF4093562CB}"/>
              </a:ext>
            </a:extLst>
          </p:cNvPr>
          <p:cNvSpPr/>
          <p:nvPr/>
        </p:nvSpPr>
        <p:spPr>
          <a:xfrm rot="5400000">
            <a:off x="11369587" y="226351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1" name="Straight Connector 20">
            <a:extLst>
              <a:ext uri="{FF2B5EF4-FFF2-40B4-BE49-F238E27FC236}">
                <a16:creationId xmlns:a16="http://schemas.microsoft.com/office/drawing/2014/main" id="{6205DD86-315C-53B6-CEEF-A9919650168E}"/>
              </a:ext>
            </a:extLst>
          </p:cNvPr>
          <p:cNvCxnSpPr>
            <a:cxnSpLocks/>
            <a:stCxn id="20" idx="5"/>
            <a:endCxn id="7" idx="1"/>
          </p:cNvCxnSpPr>
          <p:nvPr/>
        </p:nvCxnSpPr>
        <p:spPr>
          <a:xfrm flipH="1">
            <a:off x="10484395" y="2386430"/>
            <a:ext cx="906280" cy="90861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0" name="TextBox 39"/>
          <p:cNvSpPr txBox="1"/>
          <p:nvPr/>
        </p:nvSpPr>
        <p:spPr>
          <a:xfrm>
            <a:off x="9170342" y="2877231"/>
            <a:ext cx="332142" cy="461665"/>
          </a:xfrm>
          <a:prstGeom prst="rect">
            <a:avLst/>
          </a:prstGeom>
          <a:noFill/>
        </p:spPr>
        <p:txBody>
          <a:bodyPr wrap="none" rtlCol="0">
            <a:spAutoFit/>
          </a:bodyPr>
          <a:lstStyle/>
          <a:p>
            <a:r>
              <a:rPr lang="en-US" sz="2400" dirty="0">
                <a:solidFill>
                  <a:srgbClr val="D10233"/>
                </a:solidFill>
              </a:rPr>
              <a:t>a</a:t>
            </a:r>
          </a:p>
        </p:txBody>
      </p:sp>
      <p:sp>
        <p:nvSpPr>
          <p:cNvPr id="41" name="TextBox 40"/>
          <p:cNvSpPr txBox="1"/>
          <p:nvPr/>
        </p:nvSpPr>
        <p:spPr>
          <a:xfrm>
            <a:off x="8774794" y="3464424"/>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b</a:t>
            </a:r>
          </a:p>
        </p:txBody>
      </p:sp>
      <p:sp>
        <p:nvSpPr>
          <p:cNvPr id="42" name="TextBox 41"/>
          <p:cNvSpPr txBox="1"/>
          <p:nvPr/>
        </p:nvSpPr>
        <p:spPr>
          <a:xfrm>
            <a:off x="9462252" y="3660265"/>
            <a:ext cx="327334"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c</a:t>
            </a:r>
          </a:p>
        </p:txBody>
      </p:sp>
      <p:sp>
        <p:nvSpPr>
          <p:cNvPr id="43" name="TextBox 42"/>
          <p:cNvSpPr txBox="1"/>
          <p:nvPr/>
        </p:nvSpPr>
        <p:spPr>
          <a:xfrm>
            <a:off x="9469779" y="4718875"/>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d</a:t>
            </a:r>
          </a:p>
        </p:txBody>
      </p:sp>
      <p:sp>
        <p:nvSpPr>
          <p:cNvPr id="44" name="TextBox 43"/>
          <p:cNvSpPr txBox="1"/>
          <p:nvPr/>
        </p:nvSpPr>
        <p:spPr>
          <a:xfrm>
            <a:off x="8704800" y="4460383"/>
            <a:ext cx="32893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e</a:t>
            </a:r>
          </a:p>
        </p:txBody>
      </p:sp>
      <p:sp>
        <p:nvSpPr>
          <p:cNvPr id="45" name="TextBox 44"/>
          <p:cNvSpPr txBox="1"/>
          <p:nvPr/>
        </p:nvSpPr>
        <p:spPr>
          <a:xfrm>
            <a:off x="9057222" y="5527422"/>
            <a:ext cx="282450"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f</a:t>
            </a:r>
          </a:p>
        </p:txBody>
      </p:sp>
      <p:sp>
        <p:nvSpPr>
          <p:cNvPr id="46" name="TextBox 45"/>
          <p:cNvSpPr txBox="1"/>
          <p:nvPr/>
        </p:nvSpPr>
        <p:spPr>
          <a:xfrm>
            <a:off x="7918801" y="4191297"/>
            <a:ext cx="336952"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g</a:t>
            </a:r>
          </a:p>
        </p:txBody>
      </p:sp>
      <p:sp>
        <p:nvSpPr>
          <p:cNvPr id="47" name="TextBox 46"/>
          <p:cNvSpPr txBox="1"/>
          <p:nvPr/>
        </p:nvSpPr>
        <p:spPr>
          <a:xfrm>
            <a:off x="10433483" y="4198849"/>
            <a:ext cx="333746"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h</a:t>
            </a:r>
          </a:p>
        </p:txBody>
      </p:sp>
      <p:sp>
        <p:nvSpPr>
          <p:cNvPr id="48" name="TextBox 47"/>
          <p:cNvSpPr txBox="1"/>
          <p:nvPr/>
        </p:nvSpPr>
        <p:spPr>
          <a:xfrm>
            <a:off x="10927676" y="2805231"/>
            <a:ext cx="324128" cy="461665"/>
          </a:xfrm>
          <a:prstGeom prst="rect">
            <a:avLst/>
          </a:prstGeom>
          <a:noFill/>
        </p:spPr>
        <p:txBody>
          <a:bodyPr wrap="none" rtlCol="0">
            <a:spAutoFit/>
          </a:bodyPr>
          <a:lstStyle>
            <a:defPPr>
              <a:defRPr lang="en-US"/>
            </a:defPPr>
            <a:lvl1pPr>
              <a:defRPr sz="2400">
                <a:solidFill>
                  <a:srgbClr val="D10233"/>
                </a:solidFill>
              </a:defRPr>
            </a:lvl1pPr>
          </a:lstStyle>
          <a:p>
            <a:r>
              <a:rPr lang="en-US" dirty="0"/>
              <a:t>k</a:t>
            </a:r>
          </a:p>
        </p:txBody>
      </p:sp>
      <p:sp>
        <p:nvSpPr>
          <p:cNvPr id="32" name="Arc 31"/>
          <p:cNvSpPr/>
          <p:nvPr/>
        </p:nvSpPr>
        <p:spPr>
          <a:xfrm rot="9011835">
            <a:off x="10772968" y="2027421"/>
            <a:ext cx="862405" cy="1475572"/>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9CB3AA53-5FE6-7420-2832-B8AB64C9E95F}"/>
                  </a:ext>
                </a:extLst>
              </p:cNvPr>
              <p:cNvSpPr txBox="1">
                <a:spLocks/>
              </p:cNvSpPr>
              <p:nvPr/>
            </p:nvSpPr>
            <p:spPr>
              <a:xfrm>
                <a:off x="131178" y="3447710"/>
                <a:ext cx="7228237" cy="254232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We know that </a:t>
                </a:r>
                <a14:m>
                  <m:oMath xmlns:m="http://schemas.openxmlformats.org/officeDocument/2006/math">
                    <m:r>
                      <a:rPr lang="en-US" i="0" dirty="0" smtClean="0">
                        <a:latin typeface="Cambria Math" panose="02040503050406030204" pitchFamily="18" charset="0"/>
                      </a:rPr>
                      <m:t>{</m:t>
                    </m:r>
                    <m:r>
                      <m:rPr>
                        <m:sty m:val="p"/>
                      </m:rPr>
                      <a:rPr lang="en-US" i="0" dirty="0" smtClean="0">
                        <a:latin typeface="Cambria Math" panose="02040503050406030204" pitchFamily="18" charset="0"/>
                      </a:rPr>
                      <m:t>k</m:t>
                    </m:r>
                    <m:r>
                      <a:rPr lang="en-US" i="0" dirty="0" smtClean="0">
                        <a:latin typeface="Cambria Math" panose="02040503050406030204" pitchFamily="18" charset="0"/>
                      </a:rPr>
                      <m:t>}</m:t>
                    </m:r>
                  </m:oMath>
                </a14:m>
                <a:r>
                  <a:rPr lang="en-US" dirty="0"/>
                  <a:t> is cut set of the given graph.</a:t>
                </a:r>
              </a:p>
              <a:p>
                <a:r>
                  <a:rPr lang="en-US" dirty="0"/>
                  <a:t>Also, all other cutset contains edge more than 1.</a:t>
                </a:r>
              </a:p>
              <a:p>
                <a:r>
                  <a:rPr lang="en-US" dirty="0"/>
                  <a:t>So, smallest cut set here contains only 1 edge.</a:t>
                </a:r>
              </a:p>
              <a:p>
                <a:r>
                  <a:rPr lang="en-US" dirty="0"/>
                  <a:t>Hence, </a:t>
                </a:r>
                <a:r>
                  <a:rPr lang="en-US" b="1" dirty="0"/>
                  <a:t>The edge connectivity of graph is 1. </a:t>
                </a:r>
              </a:p>
              <a:p>
                <a:endParaRPr lang="en-US" dirty="0"/>
              </a:p>
            </p:txBody>
          </p:sp>
        </mc:Choice>
        <mc:Fallback xmlns="">
          <p:sp>
            <p:nvSpPr>
              <p:cNvPr id="33" name="Content Placeholder 2">
                <a:extLst>
                  <a:ext uri="{FF2B5EF4-FFF2-40B4-BE49-F238E27FC236}">
                    <a16:creationId xmlns:a16="http://schemas.microsoft.com/office/drawing/2014/main" xmlns="" id="{9CB3AA53-5FE6-7420-2832-B8AB64C9E95F}"/>
                  </a:ext>
                </a:extLst>
              </p:cNvPr>
              <p:cNvSpPr txBox="1">
                <a:spLocks noRot="1" noChangeAspect="1" noMove="1" noResize="1" noEditPoints="1" noAdjustHandles="1" noChangeArrowheads="1" noChangeShapeType="1" noTextEdit="1"/>
              </p:cNvSpPr>
              <p:nvPr/>
            </p:nvSpPr>
            <p:spPr>
              <a:xfrm>
                <a:off x="131178" y="3447710"/>
                <a:ext cx="7228237" cy="2542329"/>
              </a:xfrm>
              <a:prstGeom prst="rect">
                <a:avLst/>
              </a:prstGeom>
              <a:blipFill rotWithShape="0">
                <a:blip r:embed="rId2"/>
                <a:stretch>
                  <a:fillRect l="-1603" t="-4317" r="-1688"/>
                </a:stretch>
              </a:blipFill>
            </p:spPr>
            <p:txBody>
              <a:bodyPr/>
              <a:lstStyle/>
              <a:p>
                <a:r>
                  <a:rPr lang="en-US">
                    <a:noFill/>
                  </a:rPr>
                  <a:t> </a:t>
                </a:r>
              </a:p>
            </p:txBody>
          </p:sp>
        </mc:Fallback>
      </mc:AlternateContent>
    </p:spTree>
    <p:extLst>
      <p:ext uri="{BB962C8B-B14F-4D97-AF65-F5344CB8AC3E}">
        <p14:creationId xmlns:p14="http://schemas.microsoft.com/office/powerpoint/2010/main" val="333525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wipe(up)">
                                      <p:cBhvr>
                                        <p:cTn id="65" dur="500"/>
                                        <p:tgtEl>
                                          <p:spTgt spid="32"/>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33">
                                            <p:txEl>
                                              <p:pRg st="1" end="1"/>
                                            </p:txEl>
                                          </p:spTgt>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33">
                                            <p:txEl>
                                              <p:pRg st="2" end="2"/>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3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20" grpId="0" animBg="1"/>
      <p:bldP spid="40" grpId="0"/>
      <p:bldP spid="41" grpId="0"/>
      <p:bldP spid="42" grpId="0"/>
      <p:bldP spid="43" grpId="0"/>
      <p:bldP spid="44" grpId="0"/>
      <p:bldP spid="45" grpId="0"/>
      <p:bldP spid="46" grpId="0"/>
      <p:bldP spid="47" grpId="0"/>
      <p:bldP spid="48" grpId="0"/>
      <p:bldP spid="3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normAutofit fontScale="90000"/>
          </a:bodyPr>
          <a:lstStyle/>
          <a:p>
            <a:pPr>
              <a:lnSpc>
                <a:spcPct val="100000"/>
              </a:lnSpc>
            </a:pPr>
            <a:r>
              <a:rPr lang="en-US" dirty="0"/>
              <a:t>Find The edge connectivity of following graph.</a:t>
            </a:r>
          </a:p>
        </p:txBody>
      </p:sp>
      <p:pic>
        <p:nvPicPr>
          <p:cNvPr id="4" name="Picture 3"/>
          <p:cNvPicPr>
            <a:picLocks noChangeAspect="1"/>
          </p:cNvPicPr>
          <p:nvPr/>
        </p:nvPicPr>
        <p:blipFill>
          <a:blip r:embed="rId2"/>
          <a:stretch>
            <a:fillRect/>
          </a:stretch>
        </p:blipFill>
        <p:spPr>
          <a:xfrm>
            <a:off x="7621401" y="2206759"/>
            <a:ext cx="2255716" cy="2840982"/>
          </a:xfrm>
          <a:prstGeom prst="rect">
            <a:avLst/>
          </a:prstGeom>
        </p:spPr>
      </p:pic>
      <p:pic>
        <p:nvPicPr>
          <p:cNvPr id="5" name="Picture 4"/>
          <p:cNvPicPr>
            <a:picLocks noChangeAspect="1"/>
          </p:cNvPicPr>
          <p:nvPr/>
        </p:nvPicPr>
        <p:blipFill>
          <a:blip r:embed="rId3"/>
          <a:stretch>
            <a:fillRect/>
          </a:stretch>
        </p:blipFill>
        <p:spPr>
          <a:xfrm>
            <a:off x="727421" y="1862091"/>
            <a:ext cx="4621169" cy="3310415"/>
          </a:xfrm>
          <a:prstGeom prst="rect">
            <a:avLst/>
          </a:prstGeom>
        </p:spPr>
      </p:pic>
      <mc:AlternateContent xmlns:mc="http://schemas.openxmlformats.org/markup-compatibility/2006" xmlns:a14="http://schemas.microsoft.com/office/drawing/2010/main">
        <mc:Choice Requires="a14">
          <p:sp>
            <p:nvSpPr>
              <p:cNvPr id="10" name="TextBox 9"/>
              <p:cNvSpPr txBox="1"/>
              <p:nvPr/>
            </p:nvSpPr>
            <p:spPr>
              <a:xfrm>
                <a:off x="8422663" y="4786131"/>
                <a:ext cx="653191" cy="523220"/>
              </a:xfrm>
              <a:prstGeom prst="rect">
                <a:avLst/>
              </a:prstGeom>
              <a:noFill/>
            </p:spPr>
            <p:txBody>
              <a:bodyPr wrap="none" rtlCol="0">
                <a:spAutoFit/>
              </a:bodyPr>
              <a:lstStyle>
                <a:defPPr>
                  <a:defRPr lang="en-US"/>
                </a:defPPr>
                <a:lvl1pPr>
                  <a:defRPr sz="280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m:rPr>
                              <m:sty m:val="p"/>
                            </m:rPr>
                            <a:rPr lang="en-US" dirty="0">
                              <a:latin typeface="Cambria Math" panose="02040503050406030204" pitchFamily="18" charset="0"/>
                            </a:rPr>
                            <m:t>G</m:t>
                          </m:r>
                        </m:e>
                        <m:sub>
                          <m:r>
                            <a:rPr lang="en-US" dirty="0">
                              <a:latin typeface="Cambria Math" panose="02040503050406030204" pitchFamily="18" charset="0"/>
                            </a:rPr>
                            <m:t>2</m:t>
                          </m:r>
                        </m:sub>
                      </m:sSub>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8422663" y="4786131"/>
                <a:ext cx="653191" cy="523220"/>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p:cNvSpPr txBox="1"/>
              <p:nvPr/>
            </p:nvSpPr>
            <p:spPr>
              <a:xfrm>
                <a:off x="2711409" y="4891434"/>
                <a:ext cx="64492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G</m:t>
                          </m:r>
                        </m:e>
                        <m:sub>
                          <m:r>
                            <a:rPr lang="en-US" sz="2800" b="0" i="0" dirty="0" smtClean="0">
                              <a:solidFill>
                                <a:srgbClr val="002060"/>
                              </a:solidFill>
                              <a:latin typeface="Cambria Math" panose="02040503050406030204" pitchFamily="18" charset="0"/>
                            </a:rPr>
                            <m:t>1</m:t>
                          </m:r>
                        </m:sub>
                      </m:sSub>
                    </m:oMath>
                  </m:oMathPara>
                </a14:m>
                <a:endParaRPr lang="en-US" dirty="0">
                  <a:solidFill>
                    <a:srgbClr val="002060"/>
                  </a:solidFill>
                </a:endParaRPr>
              </a:p>
            </p:txBody>
          </p:sp>
        </mc:Choice>
        <mc:Fallback xmlns="">
          <p:sp>
            <p:nvSpPr>
              <p:cNvPr id="82" name="TextBox 81"/>
              <p:cNvSpPr txBox="1">
                <a:spLocks noRot="1" noChangeAspect="1" noMove="1" noResize="1" noEditPoints="1" noAdjustHandles="1" noChangeArrowheads="1" noChangeShapeType="1" noTextEdit="1"/>
              </p:cNvSpPr>
              <p:nvPr/>
            </p:nvSpPr>
            <p:spPr>
              <a:xfrm>
                <a:off x="2711409" y="4891434"/>
                <a:ext cx="644920" cy="523220"/>
              </a:xfrm>
              <a:prstGeom prst="rect">
                <a:avLst/>
              </a:prstGeom>
              <a:blipFill rotWithShape="0">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66067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863444"/>
                <a:ext cx="7093138" cy="5590565"/>
              </a:xfrm>
            </p:spPr>
            <p:txBody>
              <a:bodyPr/>
              <a:lstStyle/>
              <a:p>
                <a:r>
                  <a:rPr lang="en-US" dirty="0"/>
                  <a:t>To determine the edge connectivity of the graph, we first check if removing a single edge can disconnect the graph.</a:t>
                </a:r>
              </a:p>
              <a:p>
                <a:r>
                  <a:rPr lang="en-US" dirty="0"/>
                  <a:t>Clearly, removing just one edge does not disconnect the graph.</a:t>
                </a:r>
              </a:p>
              <a:p>
                <a:r>
                  <a:rPr lang="en-US" dirty="0"/>
                  <a:t>Now, consider removing two edges.</a:t>
                </a:r>
              </a:p>
              <a:p>
                <a:r>
                  <a:rPr lang="en-US" dirty="0"/>
                  <a:t>We observe that removing the edges</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a</m:t>
                    </m:r>
                    <m:r>
                      <a:rPr lang="en-US" i="0" dirty="0" smtClean="0">
                        <a:latin typeface="Cambria Math" panose="02040503050406030204" pitchFamily="18" charset="0"/>
                      </a:rPr>
                      <m:t>, </m:t>
                    </m:r>
                    <m:r>
                      <m:rPr>
                        <m:sty m:val="p"/>
                      </m:rPr>
                      <a:rPr lang="en-US" i="0" dirty="0" smtClean="0">
                        <a:latin typeface="Cambria Math" panose="02040503050406030204" pitchFamily="18" charset="0"/>
                      </a:rPr>
                      <m:t>b</m:t>
                    </m:r>
                    <m:r>
                      <a:rPr lang="en-US" i="0" dirty="0" smtClean="0">
                        <a:latin typeface="Cambria Math" panose="02040503050406030204" pitchFamily="18" charset="0"/>
                      </a:rPr>
                      <m:t>}</m:t>
                    </m:r>
                  </m:oMath>
                </a14:m>
                <a:r>
                  <a:rPr lang="en-US" dirty="0"/>
                  <a:t> and</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h</m:t>
                    </m:r>
                    <m:r>
                      <a:rPr lang="en-US" i="0" dirty="0" smtClean="0">
                        <a:latin typeface="Cambria Math" panose="02040503050406030204" pitchFamily="18" charset="0"/>
                      </a:rPr>
                      <m:t>, </m:t>
                    </m:r>
                    <m:r>
                      <m:rPr>
                        <m:sty m:val="p"/>
                      </m:rPr>
                      <a:rPr lang="en-US" i="0" dirty="0" smtClean="0">
                        <a:latin typeface="Cambria Math" panose="02040503050406030204" pitchFamily="18" charset="0"/>
                      </a:rPr>
                      <m:t>k</m:t>
                    </m:r>
                    <m:r>
                      <a:rPr lang="en-US" i="0" dirty="0" smtClean="0">
                        <a:latin typeface="Cambria Math" panose="02040503050406030204" pitchFamily="18" charset="0"/>
                      </a:rPr>
                      <m:t>}</m:t>
                    </m:r>
                  </m:oMath>
                </a14:m>
                <a:r>
                  <a:rPr lang="en-US" dirty="0"/>
                  <a:t> forms a cut set that disconnects the graph.</a:t>
                </a:r>
              </a:p>
              <a:p>
                <a:r>
                  <a:rPr lang="en-US" dirty="0"/>
                  <a:t>Therefore, the smallest cut set contains 2 edges.</a:t>
                </a:r>
              </a:p>
              <a:p>
                <a:r>
                  <a:rPr lang="en-US" b="1" dirty="0"/>
                  <a:t>Hence, the edge connectivity of the graph is 2.</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863444"/>
                <a:ext cx="7093138" cy="5590565"/>
              </a:xfrm>
              <a:blipFill rotWithShape="0">
                <a:blip r:embed="rId2"/>
                <a:stretch>
                  <a:fillRect l="-1634" t="-1963" r="-1720"/>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BDD11F87-DA81-9510-C1CB-0AF4093562CB}"/>
              </a:ext>
            </a:extLst>
          </p:cNvPr>
          <p:cNvSpPr/>
          <p:nvPr/>
        </p:nvSpPr>
        <p:spPr>
          <a:xfrm rot="5400000">
            <a:off x="8643382" y="23547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 name="Oval 4">
            <a:extLst>
              <a:ext uri="{FF2B5EF4-FFF2-40B4-BE49-F238E27FC236}">
                <a16:creationId xmlns:a16="http://schemas.microsoft.com/office/drawing/2014/main" id="{BDD11F87-DA81-9510-C1CB-0AF4093562CB}"/>
              </a:ext>
            </a:extLst>
          </p:cNvPr>
          <p:cNvSpPr/>
          <p:nvPr/>
        </p:nvSpPr>
        <p:spPr>
          <a:xfrm rot="5400000">
            <a:off x="10574521" y="235479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 name="Straight Connector 5">
            <a:extLst>
              <a:ext uri="{FF2B5EF4-FFF2-40B4-BE49-F238E27FC236}">
                <a16:creationId xmlns:a16="http://schemas.microsoft.com/office/drawing/2014/main" id="{6205DD86-315C-53B6-CEEF-A9919650168E}"/>
              </a:ext>
            </a:extLst>
          </p:cNvPr>
          <p:cNvCxnSpPr>
            <a:cxnSpLocks/>
            <a:stCxn id="5" idx="4"/>
            <a:endCxn id="4" idx="0"/>
          </p:cNvCxnSpPr>
          <p:nvPr/>
        </p:nvCxnSpPr>
        <p:spPr>
          <a:xfrm flipH="1">
            <a:off x="8787382" y="2426797"/>
            <a:ext cx="178713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BDD11F87-DA81-9510-C1CB-0AF4093562CB}"/>
              </a:ext>
            </a:extLst>
          </p:cNvPr>
          <p:cNvSpPr/>
          <p:nvPr/>
        </p:nvSpPr>
        <p:spPr>
          <a:xfrm rot="5400000">
            <a:off x="10574521" y="437100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6205DD86-315C-53B6-CEEF-A9919650168E}"/>
              </a:ext>
            </a:extLst>
          </p:cNvPr>
          <p:cNvCxnSpPr>
            <a:cxnSpLocks/>
            <a:stCxn id="4" idx="6"/>
            <a:endCxn id="14" idx="2"/>
          </p:cNvCxnSpPr>
          <p:nvPr/>
        </p:nvCxnSpPr>
        <p:spPr>
          <a:xfrm flipH="1">
            <a:off x="8715381" y="2498797"/>
            <a:ext cx="1" cy="18722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 name="Straight Connector 8">
            <a:extLst>
              <a:ext uri="{FF2B5EF4-FFF2-40B4-BE49-F238E27FC236}">
                <a16:creationId xmlns:a16="http://schemas.microsoft.com/office/drawing/2014/main" id="{6205DD86-315C-53B6-CEEF-A9919650168E}"/>
              </a:ext>
            </a:extLst>
          </p:cNvPr>
          <p:cNvCxnSpPr>
            <a:cxnSpLocks/>
            <a:stCxn id="5" idx="6"/>
            <a:endCxn id="7" idx="2"/>
          </p:cNvCxnSpPr>
          <p:nvPr/>
        </p:nvCxnSpPr>
        <p:spPr>
          <a:xfrm>
            <a:off x="10646521" y="2498797"/>
            <a:ext cx="0" cy="18722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 name="Straight Connector 9">
            <a:extLst>
              <a:ext uri="{FF2B5EF4-FFF2-40B4-BE49-F238E27FC236}">
                <a16:creationId xmlns:a16="http://schemas.microsoft.com/office/drawing/2014/main" id="{6205DD86-315C-53B6-CEEF-A9919650168E}"/>
              </a:ext>
            </a:extLst>
          </p:cNvPr>
          <p:cNvCxnSpPr>
            <a:cxnSpLocks/>
            <a:stCxn id="7" idx="4"/>
            <a:endCxn id="14" idx="0"/>
          </p:cNvCxnSpPr>
          <p:nvPr/>
        </p:nvCxnSpPr>
        <p:spPr>
          <a:xfrm flipH="1">
            <a:off x="8787381" y="4443005"/>
            <a:ext cx="178714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 name="TextBox 10"/>
          <p:cNvSpPr txBox="1"/>
          <p:nvPr/>
        </p:nvSpPr>
        <p:spPr>
          <a:xfrm>
            <a:off x="7713389" y="2462247"/>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12" name="TextBox 11"/>
          <p:cNvSpPr txBox="1"/>
          <p:nvPr/>
        </p:nvSpPr>
        <p:spPr>
          <a:xfrm>
            <a:off x="7713389" y="3768460"/>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13" name="TextBox 12"/>
          <p:cNvSpPr txBox="1"/>
          <p:nvPr/>
        </p:nvSpPr>
        <p:spPr>
          <a:xfrm>
            <a:off x="8288196" y="3204126"/>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4" name="Oval 13">
            <a:extLst>
              <a:ext uri="{FF2B5EF4-FFF2-40B4-BE49-F238E27FC236}">
                <a16:creationId xmlns:a16="http://schemas.microsoft.com/office/drawing/2014/main" id="{BDD11F87-DA81-9510-C1CB-0AF4093562CB}"/>
              </a:ext>
            </a:extLst>
          </p:cNvPr>
          <p:cNvSpPr/>
          <p:nvPr/>
        </p:nvSpPr>
        <p:spPr>
          <a:xfrm rot="5400000">
            <a:off x="8643381" y="437100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 name="Straight Connector 14">
            <a:extLst>
              <a:ext uri="{FF2B5EF4-FFF2-40B4-BE49-F238E27FC236}">
                <a16:creationId xmlns:a16="http://schemas.microsoft.com/office/drawing/2014/main" id="{6205DD86-315C-53B6-CEEF-A9919650168E}"/>
              </a:ext>
            </a:extLst>
          </p:cNvPr>
          <p:cNvCxnSpPr>
            <a:cxnSpLocks/>
            <a:stCxn id="17" idx="5"/>
            <a:endCxn id="7" idx="1"/>
          </p:cNvCxnSpPr>
          <p:nvPr/>
        </p:nvCxnSpPr>
        <p:spPr>
          <a:xfrm flipH="1">
            <a:off x="10697433" y="3485821"/>
            <a:ext cx="1063365" cy="9062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6" name="Straight Connector 15">
            <a:extLst>
              <a:ext uri="{FF2B5EF4-FFF2-40B4-BE49-F238E27FC236}">
                <a16:creationId xmlns:a16="http://schemas.microsoft.com/office/drawing/2014/main" id="{6205DD86-315C-53B6-CEEF-A9919650168E}"/>
              </a:ext>
            </a:extLst>
          </p:cNvPr>
          <p:cNvCxnSpPr>
            <a:cxnSpLocks/>
            <a:stCxn id="5" idx="7"/>
            <a:endCxn id="17" idx="3"/>
          </p:cNvCxnSpPr>
          <p:nvPr/>
        </p:nvCxnSpPr>
        <p:spPr>
          <a:xfrm>
            <a:off x="10697433" y="2477709"/>
            <a:ext cx="1063365" cy="90628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7" name="Oval 16">
            <a:extLst>
              <a:ext uri="{FF2B5EF4-FFF2-40B4-BE49-F238E27FC236}">
                <a16:creationId xmlns:a16="http://schemas.microsoft.com/office/drawing/2014/main" id="{BDD11F87-DA81-9510-C1CB-0AF4093562CB}"/>
              </a:ext>
            </a:extLst>
          </p:cNvPr>
          <p:cNvSpPr/>
          <p:nvPr/>
        </p:nvSpPr>
        <p:spPr>
          <a:xfrm rot="5400000">
            <a:off x="11739710" y="336290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8" name="Oval 17">
            <a:extLst>
              <a:ext uri="{FF2B5EF4-FFF2-40B4-BE49-F238E27FC236}">
                <a16:creationId xmlns:a16="http://schemas.microsoft.com/office/drawing/2014/main" id="{BDD11F87-DA81-9510-C1CB-0AF4093562CB}"/>
              </a:ext>
            </a:extLst>
          </p:cNvPr>
          <p:cNvSpPr/>
          <p:nvPr/>
        </p:nvSpPr>
        <p:spPr>
          <a:xfrm rot="5400000">
            <a:off x="7275230" y="33496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9" name="Straight Connector 18">
            <a:extLst>
              <a:ext uri="{FF2B5EF4-FFF2-40B4-BE49-F238E27FC236}">
                <a16:creationId xmlns:a16="http://schemas.microsoft.com/office/drawing/2014/main" id="{6205DD86-315C-53B6-CEEF-A9919650168E}"/>
              </a:ext>
            </a:extLst>
          </p:cNvPr>
          <p:cNvCxnSpPr>
            <a:cxnSpLocks/>
            <a:stCxn id="4" idx="5"/>
            <a:endCxn id="18" idx="1"/>
          </p:cNvCxnSpPr>
          <p:nvPr/>
        </p:nvCxnSpPr>
        <p:spPr>
          <a:xfrm flipH="1">
            <a:off x="7398142" y="2477709"/>
            <a:ext cx="1266328" cy="89304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0" name="Straight Connector 19">
            <a:extLst>
              <a:ext uri="{FF2B5EF4-FFF2-40B4-BE49-F238E27FC236}">
                <a16:creationId xmlns:a16="http://schemas.microsoft.com/office/drawing/2014/main" id="{6205DD86-315C-53B6-CEEF-A9919650168E}"/>
              </a:ext>
            </a:extLst>
          </p:cNvPr>
          <p:cNvCxnSpPr>
            <a:cxnSpLocks/>
            <a:stCxn id="18" idx="7"/>
            <a:endCxn id="14" idx="3"/>
          </p:cNvCxnSpPr>
          <p:nvPr/>
        </p:nvCxnSpPr>
        <p:spPr>
          <a:xfrm>
            <a:off x="7398142" y="3472574"/>
            <a:ext cx="1266327" cy="91951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1" name="TextBox 20"/>
          <p:cNvSpPr txBox="1"/>
          <p:nvPr/>
        </p:nvSpPr>
        <p:spPr>
          <a:xfrm>
            <a:off x="9894886" y="2946313"/>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22" name="TextBox 21"/>
          <p:cNvSpPr txBox="1"/>
          <p:nvPr/>
        </p:nvSpPr>
        <p:spPr>
          <a:xfrm>
            <a:off x="9321108" y="1950124"/>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cxnSp>
        <p:nvCxnSpPr>
          <p:cNvPr id="23" name="Straight Connector 22">
            <a:extLst>
              <a:ext uri="{FF2B5EF4-FFF2-40B4-BE49-F238E27FC236}">
                <a16:creationId xmlns:a16="http://schemas.microsoft.com/office/drawing/2014/main" id="{6205DD86-315C-53B6-CEEF-A9919650168E}"/>
              </a:ext>
            </a:extLst>
          </p:cNvPr>
          <p:cNvCxnSpPr>
            <a:cxnSpLocks/>
            <a:stCxn id="5" idx="5"/>
            <a:endCxn id="14" idx="1"/>
          </p:cNvCxnSpPr>
          <p:nvPr/>
        </p:nvCxnSpPr>
        <p:spPr>
          <a:xfrm flipH="1">
            <a:off x="8766293" y="2477709"/>
            <a:ext cx="1829316" cy="191438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4" name="TextBox 23"/>
          <p:cNvSpPr txBox="1"/>
          <p:nvPr/>
        </p:nvSpPr>
        <p:spPr>
          <a:xfrm>
            <a:off x="11167546" y="2449210"/>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25" name="TextBox 24"/>
          <p:cNvSpPr txBox="1"/>
          <p:nvPr/>
        </p:nvSpPr>
        <p:spPr>
          <a:xfrm>
            <a:off x="10696694" y="3194229"/>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26" name="TextBox 25"/>
          <p:cNvSpPr txBox="1"/>
          <p:nvPr/>
        </p:nvSpPr>
        <p:spPr>
          <a:xfrm>
            <a:off x="11167546" y="3851498"/>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k</a:t>
            </a:r>
          </a:p>
        </p:txBody>
      </p:sp>
      <p:sp>
        <p:nvSpPr>
          <p:cNvPr id="27" name="Arc 26"/>
          <p:cNvSpPr/>
          <p:nvPr/>
        </p:nvSpPr>
        <p:spPr>
          <a:xfrm rot="10800000">
            <a:off x="11329595" y="2697123"/>
            <a:ext cx="862405" cy="1475572"/>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Arc 27"/>
          <p:cNvSpPr/>
          <p:nvPr/>
        </p:nvSpPr>
        <p:spPr>
          <a:xfrm rot="404725">
            <a:off x="6895524" y="2694420"/>
            <a:ext cx="862405" cy="1475572"/>
          </a:xfrm>
          <a:prstGeom prst="arc">
            <a:avLst>
              <a:gd name="adj1" fmla="val 16200000"/>
              <a:gd name="adj2" fmla="val 4421171"/>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TextBox 29"/>
              <p:cNvSpPr txBox="1"/>
              <p:nvPr/>
            </p:nvSpPr>
            <p:spPr>
              <a:xfrm>
                <a:off x="9502408" y="4599087"/>
                <a:ext cx="64492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G</m:t>
                          </m:r>
                        </m:e>
                        <m:sub>
                          <m:r>
                            <a:rPr lang="en-US" sz="2800" b="0" i="0" dirty="0" smtClean="0">
                              <a:solidFill>
                                <a:srgbClr val="002060"/>
                              </a:solidFill>
                              <a:latin typeface="Cambria Math" panose="02040503050406030204" pitchFamily="18" charset="0"/>
                            </a:rPr>
                            <m:t>1</m:t>
                          </m:r>
                        </m:sub>
                      </m:sSub>
                    </m:oMath>
                  </m:oMathPara>
                </a14:m>
                <a:endParaRPr lang="en-US" dirty="0">
                  <a:solidFill>
                    <a:srgbClr val="002060"/>
                  </a:solidFill>
                </a:endParaRPr>
              </a:p>
            </p:txBody>
          </p:sp>
        </mc:Choice>
        <mc:Fallback xmlns="">
          <p:sp>
            <p:nvSpPr>
              <p:cNvPr id="30" name="TextBox 29"/>
              <p:cNvSpPr txBox="1">
                <a:spLocks noRot="1" noChangeAspect="1" noMove="1" noResize="1" noEditPoints="1" noAdjustHandles="1" noChangeArrowheads="1" noChangeShapeType="1" noTextEdit="1"/>
              </p:cNvSpPr>
              <p:nvPr/>
            </p:nvSpPr>
            <p:spPr>
              <a:xfrm>
                <a:off x="9502408" y="4599087"/>
                <a:ext cx="644920" cy="523220"/>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22867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up)">
                                      <p:cBhvr>
                                        <p:cTn id="19" dur="500"/>
                                        <p:tgtEl>
                                          <p:spTgt spid="27"/>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wipe(up)">
                                      <p:cBhvr>
                                        <p:cTn id="24" dur="500"/>
                                        <p:tgtEl>
                                          <p:spTgt spid="28"/>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863444"/>
                <a:ext cx="8650910" cy="5590565"/>
              </a:xfrm>
            </p:spPr>
            <p:txBody>
              <a:bodyPr/>
              <a:lstStyle/>
              <a:p>
                <a:r>
                  <a:rPr lang="en-US" dirty="0"/>
                  <a:t>To determine the edge connectivity of the graph, we first check if removing a single edge can disconnect the graph.</a:t>
                </a:r>
              </a:p>
              <a:p>
                <a:r>
                  <a:rPr lang="en-US" dirty="0"/>
                  <a:t>Clearly, removing one edge does not disconnect the graph.</a:t>
                </a:r>
              </a:p>
              <a:p>
                <a:r>
                  <a:rPr lang="en-US" dirty="0"/>
                  <a:t>Now, consider removing two edges.</a:t>
                </a:r>
              </a:p>
              <a:p>
                <a:r>
                  <a:rPr lang="en-US" dirty="0"/>
                  <a:t>Clearly, removing only two edges does not disconnect the graph.</a:t>
                </a:r>
              </a:p>
              <a:p>
                <a:r>
                  <a:rPr lang="en-US" dirty="0"/>
                  <a:t>Now, consider removing three edges.</a:t>
                </a:r>
              </a:p>
              <a:p>
                <a:r>
                  <a:rPr lang="en-US" dirty="0"/>
                  <a:t>We observe that removing the edges </a:t>
                </a:r>
                <a14:m>
                  <m:oMath xmlns:m="http://schemas.openxmlformats.org/officeDocument/2006/math">
                    <m:d>
                      <m:dPr>
                        <m:begChr m:val="{"/>
                        <m:endChr m:val="}"/>
                        <m:ctrlPr>
                          <a:rPr lang="en-US" i="1" dirty="0" smtClean="0">
                            <a:latin typeface="Cambria Math" panose="02040503050406030204" pitchFamily="18" charset="0"/>
                          </a:rPr>
                        </m:ctrlPr>
                      </m:dPr>
                      <m:e>
                        <m:r>
                          <m:rPr>
                            <m:sty m:val="p"/>
                          </m:rPr>
                          <a:rPr lang="en-US" i="0" dirty="0" smtClean="0">
                            <a:latin typeface="Cambria Math" panose="02040503050406030204" pitchFamily="18" charset="0"/>
                          </a:rPr>
                          <m:t>a</m:t>
                        </m:r>
                        <m:r>
                          <a:rPr lang="en-US" i="0" dirty="0" smtClean="0">
                            <a:latin typeface="Cambria Math" panose="02040503050406030204" pitchFamily="18" charset="0"/>
                          </a:rPr>
                          <m:t>, </m:t>
                        </m:r>
                        <m:r>
                          <m:rPr>
                            <m:sty m:val="p"/>
                          </m:rPr>
                          <a:rPr lang="en-US" b="0" i="0" dirty="0" smtClean="0">
                            <a:latin typeface="Cambria Math" panose="02040503050406030204" pitchFamily="18" charset="0"/>
                          </a:rPr>
                          <m:t>d</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c</m:t>
                        </m:r>
                      </m:e>
                    </m:d>
                    <m:r>
                      <a:rPr lang="en-US" b="0" i="0"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m:rPr>
                            <m:sty m:val="p"/>
                          </m:rPr>
                          <a:rPr lang="en-US" b="0" i="0" dirty="0" smtClean="0">
                            <a:latin typeface="Cambria Math" panose="02040503050406030204" pitchFamily="18" charset="0"/>
                          </a:rPr>
                          <m:t>a</m:t>
                        </m:r>
                        <m:r>
                          <a:rPr lang="en-US" i="0" dirty="0" smtClean="0">
                            <a:latin typeface="Cambria Math" panose="02040503050406030204" pitchFamily="18" charset="0"/>
                          </a:rPr>
                          <m:t>, </m:t>
                        </m:r>
                        <m:r>
                          <m:rPr>
                            <m:sty m:val="p"/>
                          </m:rPr>
                          <a:rPr lang="en-US" b="0" i="0" dirty="0" smtClean="0">
                            <a:latin typeface="Cambria Math" panose="02040503050406030204" pitchFamily="18" charset="0"/>
                          </a:rPr>
                          <m:t>f</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b</m:t>
                        </m:r>
                      </m:e>
                    </m:d>
                    <m:r>
                      <a:rPr lang="en-US" b="0" i="0" dirty="0" smtClean="0">
                        <a:latin typeface="Cambria Math" panose="02040503050406030204" pitchFamily="18" charset="0"/>
                      </a:rPr>
                      <m:t>,</m:t>
                    </m:r>
                    <m:d>
                      <m:dPr>
                        <m:begChr m:val="{"/>
                        <m:endChr m:val="}"/>
                        <m:ctrlPr>
                          <a:rPr lang="en-US" b="0" i="1" dirty="0" smtClean="0">
                            <a:latin typeface="Cambria Math" panose="02040503050406030204" pitchFamily="18" charset="0"/>
                          </a:rPr>
                        </m:ctrlPr>
                      </m:dPr>
                      <m:e>
                        <m:r>
                          <m:rPr>
                            <m:sty m:val="p"/>
                          </m:rPr>
                          <a:rPr lang="en-US" b="0" i="0" dirty="0" smtClean="0">
                            <a:latin typeface="Cambria Math" panose="02040503050406030204" pitchFamily="18" charset="0"/>
                          </a:rPr>
                          <m:t>b</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e</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c</m:t>
                        </m:r>
                      </m:e>
                    </m:d>
                  </m:oMath>
                </a14:m>
                <a:r>
                  <a:rPr lang="en-US" dirty="0"/>
                  <a:t> and</a:t>
                </a:r>
                <a14:m>
                  <m:oMath xmlns:m="http://schemas.openxmlformats.org/officeDocument/2006/math">
                    <m:r>
                      <a:rPr lang="en-US" b="0" i="0" dirty="0" smtClean="0">
                        <a:latin typeface="Cambria Math" panose="02040503050406030204" pitchFamily="18" charset="0"/>
                      </a:rPr>
                      <m:t> </m:t>
                    </m:r>
                    <m:d>
                      <m:dPr>
                        <m:begChr m:val="{"/>
                        <m:endChr m:val="}"/>
                        <m:ctrlPr>
                          <a:rPr lang="en-US" b="0" i="1" dirty="0" smtClean="0">
                            <a:latin typeface="Cambria Math" panose="02040503050406030204" pitchFamily="18" charset="0"/>
                          </a:rPr>
                        </m:ctrlPr>
                      </m:dPr>
                      <m:e>
                        <m:r>
                          <m:rPr>
                            <m:sty m:val="p"/>
                          </m:rPr>
                          <a:rPr lang="en-US" b="0" i="0" dirty="0" smtClean="0">
                            <a:latin typeface="Cambria Math" panose="02040503050406030204" pitchFamily="18" charset="0"/>
                          </a:rPr>
                          <m:t>d</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e</m:t>
                        </m:r>
                        <m:r>
                          <a:rPr lang="en-US" b="0" i="0" dirty="0" smtClean="0">
                            <a:latin typeface="Cambria Math" panose="02040503050406030204" pitchFamily="18" charset="0"/>
                          </a:rPr>
                          <m:t>,</m:t>
                        </m:r>
                        <m:r>
                          <m:rPr>
                            <m:sty m:val="p"/>
                          </m:rPr>
                          <a:rPr lang="en-US" b="0" i="0" dirty="0" smtClean="0">
                            <a:latin typeface="Cambria Math" panose="02040503050406030204" pitchFamily="18" charset="0"/>
                          </a:rPr>
                          <m:t>f</m:t>
                        </m:r>
                      </m:e>
                    </m:d>
                  </m:oMath>
                </a14:m>
                <a:r>
                  <a:rPr lang="en-US" dirty="0"/>
                  <a:t> forms a cut set that disconnects the graph.</a:t>
                </a:r>
              </a:p>
              <a:p>
                <a:r>
                  <a:rPr lang="en-US" dirty="0"/>
                  <a:t>Therefore, the smallest cut set contains 3 edges.</a:t>
                </a:r>
              </a:p>
              <a:p>
                <a:r>
                  <a:rPr lang="en-US" b="1" dirty="0"/>
                  <a:t>Hence, the edge connectivity of the graph is 3.</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863444"/>
                <a:ext cx="8650910" cy="5590565"/>
              </a:xfrm>
              <a:blipFill rotWithShape="0">
                <a:blip r:embed="rId2"/>
                <a:stretch>
                  <a:fillRect l="-1339" t="-1963" r="-1409" b="-3053"/>
                </a:stretch>
              </a:blipFill>
            </p:spPr>
            <p:txBody>
              <a:bodyPr/>
              <a:lstStyle/>
              <a:p>
                <a:r>
                  <a:rPr lang="en-US">
                    <a:noFill/>
                  </a:rPr>
                  <a:t> </a:t>
                </a:r>
              </a:p>
            </p:txBody>
          </p:sp>
        </mc:Fallback>
      </mc:AlternateContent>
      <p:sp>
        <p:nvSpPr>
          <p:cNvPr id="29" name="Oval 28">
            <a:extLst>
              <a:ext uri="{FF2B5EF4-FFF2-40B4-BE49-F238E27FC236}">
                <a16:creationId xmlns:a16="http://schemas.microsoft.com/office/drawing/2014/main" id="{BDD11F87-DA81-9510-C1CB-0AF4093562CB}"/>
              </a:ext>
            </a:extLst>
          </p:cNvPr>
          <p:cNvSpPr/>
          <p:nvPr/>
        </p:nvSpPr>
        <p:spPr>
          <a:xfrm rot="5400000">
            <a:off x="10263134" y="21900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BDD11F87-DA81-9510-C1CB-0AF4093562CB}"/>
              </a:ext>
            </a:extLst>
          </p:cNvPr>
          <p:cNvSpPr/>
          <p:nvPr/>
        </p:nvSpPr>
        <p:spPr>
          <a:xfrm rot="5400000">
            <a:off x="9268127" y="43325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11356360" y="432961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2" name="Straight Connector 31">
            <a:extLst>
              <a:ext uri="{FF2B5EF4-FFF2-40B4-BE49-F238E27FC236}">
                <a16:creationId xmlns:a16="http://schemas.microsoft.com/office/drawing/2014/main" id="{6205DD86-315C-53B6-CEEF-A9919650168E}"/>
              </a:ext>
            </a:extLst>
          </p:cNvPr>
          <p:cNvCxnSpPr>
            <a:cxnSpLocks/>
            <a:stCxn id="30" idx="2"/>
            <a:endCxn id="29" idx="5"/>
          </p:cNvCxnSpPr>
          <p:nvPr/>
        </p:nvCxnSpPr>
        <p:spPr>
          <a:xfrm flipV="1">
            <a:off x="9340127" y="2312938"/>
            <a:ext cx="944095" cy="20196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6205DD86-315C-53B6-CEEF-A9919650168E}"/>
              </a:ext>
            </a:extLst>
          </p:cNvPr>
          <p:cNvCxnSpPr>
            <a:cxnSpLocks/>
            <a:stCxn id="31" idx="2"/>
            <a:endCxn id="29" idx="7"/>
          </p:cNvCxnSpPr>
          <p:nvPr/>
        </p:nvCxnSpPr>
        <p:spPr>
          <a:xfrm flipH="1" flipV="1">
            <a:off x="10386046" y="2312938"/>
            <a:ext cx="1042314" cy="20166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4" name="Straight Connector 33">
            <a:extLst>
              <a:ext uri="{FF2B5EF4-FFF2-40B4-BE49-F238E27FC236}">
                <a16:creationId xmlns:a16="http://schemas.microsoft.com/office/drawing/2014/main" id="{6205DD86-315C-53B6-CEEF-A9919650168E}"/>
              </a:ext>
            </a:extLst>
          </p:cNvPr>
          <p:cNvCxnSpPr>
            <a:cxnSpLocks/>
            <a:stCxn id="30" idx="0"/>
            <a:endCxn id="31" idx="4"/>
          </p:cNvCxnSpPr>
          <p:nvPr/>
        </p:nvCxnSpPr>
        <p:spPr>
          <a:xfrm flipV="1">
            <a:off x="9412127" y="4401610"/>
            <a:ext cx="1944233" cy="29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5" name="Oval 34">
            <a:extLst>
              <a:ext uri="{FF2B5EF4-FFF2-40B4-BE49-F238E27FC236}">
                <a16:creationId xmlns:a16="http://schemas.microsoft.com/office/drawing/2014/main" id="{BDD11F87-DA81-9510-C1CB-0AF4093562CB}"/>
              </a:ext>
            </a:extLst>
          </p:cNvPr>
          <p:cNvSpPr/>
          <p:nvPr/>
        </p:nvSpPr>
        <p:spPr>
          <a:xfrm rot="5400000">
            <a:off x="10301449" y="3459512"/>
            <a:ext cx="147959" cy="1446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6" name="Straight Connector 35">
            <a:extLst>
              <a:ext uri="{FF2B5EF4-FFF2-40B4-BE49-F238E27FC236}">
                <a16:creationId xmlns:a16="http://schemas.microsoft.com/office/drawing/2014/main" id="{6205DD86-315C-53B6-CEEF-A9919650168E}"/>
              </a:ext>
            </a:extLst>
          </p:cNvPr>
          <p:cNvCxnSpPr>
            <a:cxnSpLocks/>
            <a:stCxn id="35" idx="2"/>
            <a:endCxn id="29" idx="6"/>
          </p:cNvCxnSpPr>
          <p:nvPr/>
        </p:nvCxnSpPr>
        <p:spPr>
          <a:xfrm flipH="1" flipV="1">
            <a:off x="10335134" y="2334026"/>
            <a:ext cx="40295" cy="11238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6205DD86-315C-53B6-CEEF-A9919650168E}"/>
              </a:ext>
            </a:extLst>
          </p:cNvPr>
          <p:cNvCxnSpPr>
            <a:cxnSpLocks/>
            <a:stCxn id="30" idx="1"/>
            <a:endCxn id="35" idx="5"/>
          </p:cNvCxnSpPr>
          <p:nvPr/>
        </p:nvCxnSpPr>
        <p:spPr>
          <a:xfrm flipV="1">
            <a:off x="9391039" y="3584130"/>
            <a:ext cx="933262" cy="7695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205DD86-315C-53B6-CEEF-A9919650168E}"/>
              </a:ext>
            </a:extLst>
          </p:cNvPr>
          <p:cNvCxnSpPr>
            <a:cxnSpLocks/>
            <a:stCxn id="31" idx="3"/>
            <a:endCxn id="35" idx="7"/>
          </p:cNvCxnSpPr>
          <p:nvPr/>
        </p:nvCxnSpPr>
        <p:spPr>
          <a:xfrm flipH="1" flipV="1">
            <a:off x="10426557" y="3584130"/>
            <a:ext cx="950891" cy="7665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9" name="Arc 38"/>
          <p:cNvSpPr/>
          <p:nvPr/>
        </p:nvSpPr>
        <p:spPr>
          <a:xfrm rot="10993787">
            <a:off x="9945920" y="1787893"/>
            <a:ext cx="756761" cy="864391"/>
          </a:xfrm>
          <a:prstGeom prst="arc">
            <a:avLst>
              <a:gd name="adj1" fmla="val 11156450"/>
              <a:gd name="adj2" fmla="val 21085832"/>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p:cNvSpPr txBox="1"/>
          <p:nvPr/>
        </p:nvSpPr>
        <p:spPr>
          <a:xfrm>
            <a:off x="9313536" y="3072037"/>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41" name="TextBox 40"/>
          <p:cNvSpPr txBox="1"/>
          <p:nvPr/>
        </p:nvSpPr>
        <p:spPr>
          <a:xfrm>
            <a:off x="10224444" y="4339003"/>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42" name="TextBox 41"/>
          <p:cNvSpPr txBox="1"/>
          <p:nvPr/>
        </p:nvSpPr>
        <p:spPr>
          <a:xfrm>
            <a:off x="10936934" y="3037644"/>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43" name="TextBox 42"/>
          <p:cNvSpPr txBox="1"/>
          <p:nvPr/>
        </p:nvSpPr>
        <p:spPr>
          <a:xfrm>
            <a:off x="10310813" y="2560632"/>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44" name="TextBox 43"/>
          <p:cNvSpPr txBox="1"/>
          <p:nvPr/>
        </p:nvSpPr>
        <p:spPr>
          <a:xfrm>
            <a:off x="10643945" y="3829979"/>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45" name="TextBox 44"/>
          <p:cNvSpPr txBox="1"/>
          <p:nvPr/>
        </p:nvSpPr>
        <p:spPr>
          <a:xfrm>
            <a:off x="9671742" y="3928508"/>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46" name="Arc 45"/>
          <p:cNvSpPr/>
          <p:nvPr/>
        </p:nvSpPr>
        <p:spPr>
          <a:xfrm rot="18007899">
            <a:off x="11024524" y="3855652"/>
            <a:ext cx="756761" cy="864391"/>
          </a:xfrm>
          <a:prstGeom prst="arc">
            <a:avLst>
              <a:gd name="adj1" fmla="val 11156450"/>
              <a:gd name="adj2" fmla="val 21085832"/>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Arc 46"/>
          <p:cNvSpPr/>
          <p:nvPr/>
        </p:nvSpPr>
        <p:spPr>
          <a:xfrm rot="3267084">
            <a:off x="8868273" y="4041414"/>
            <a:ext cx="756761" cy="864391"/>
          </a:xfrm>
          <a:prstGeom prst="arc">
            <a:avLst>
              <a:gd name="adj1" fmla="val 11156450"/>
              <a:gd name="adj2" fmla="val 21085832"/>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8" name="Arc 47"/>
          <p:cNvSpPr/>
          <p:nvPr/>
        </p:nvSpPr>
        <p:spPr>
          <a:xfrm rot="3267084">
            <a:off x="10141995" y="3114828"/>
            <a:ext cx="445635" cy="864391"/>
          </a:xfrm>
          <a:prstGeom prst="arc">
            <a:avLst>
              <a:gd name="adj1" fmla="val 11156450"/>
              <a:gd name="adj2" fmla="val 10511306"/>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0" name="TextBox 49"/>
              <p:cNvSpPr txBox="1"/>
              <p:nvPr/>
            </p:nvSpPr>
            <p:spPr>
              <a:xfrm>
                <a:off x="10165517" y="4924830"/>
                <a:ext cx="653191" cy="523220"/>
              </a:xfrm>
              <a:prstGeom prst="rect">
                <a:avLst/>
              </a:prstGeom>
              <a:noFill/>
            </p:spPr>
            <p:txBody>
              <a:bodyPr wrap="none" rtlCol="0">
                <a:spAutoFit/>
              </a:bodyPr>
              <a:lstStyle>
                <a:defPPr>
                  <a:defRPr lang="en-US"/>
                </a:defPPr>
                <a:lvl1pPr>
                  <a:defRPr sz="2800" i="0">
                    <a:solidFill>
                      <a:srgbClr val="002060"/>
                    </a:solidFill>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m:rPr>
                              <m:sty m:val="p"/>
                            </m:rPr>
                            <a:rPr lang="en-US" dirty="0">
                              <a:latin typeface="Cambria Math" panose="02040503050406030204" pitchFamily="18" charset="0"/>
                            </a:rPr>
                            <m:t>G</m:t>
                          </m:r>
                        </m:e>
                        <m:sub>
                          <m:r>
                            <a:rPr lang="en-US" dirty="0">
                              <a:latin typeface="Cambria Math" panose="02040503050406030204" pitchFamily="18" charset="0"/>
                            </a:rPr>
                            <m:t>2</m:t>
                          </m:r>
                        </m:sub>
                      </m:sSub>
                    </m:oMath>
                  </m:oMathPara>
                </a14:m>
                <a:endParaRPr lang="en-US" dirty="0"/>
              </a:p>
            </p:txBody>
          </p:sp>
        </mc:Choice>
        <mc:Fallback xmlns="">
          <p:sp>
            <p:nvSpPr>
              <p:cNvPr id="50" name="TextBox 49"/>
              <p:cNvSpPr txBox="1">
                <a:spLocks noRot="1" noChangeAspect="1" noMove="1" noResize="1" noEditPoints="1" noAdjustHandles="1" noChangeArrowheads="1" noChangeShapeType="1" noTextEdit="1"/>
              </p:cNvSpPr>
              <p:nvPr/>
            </p:nvSpPr>
            <p:spPr>
              <a:xfrm>
                <a:off x="10165517" y="4924830"/>
                <a:ext cx="653191" cy="523220"/>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872531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down)">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wipe(down)">
                                      <p:cBhvr>
                                        <p:cTn id="32" dur="500"/>
                                        <p:tgtEl>
                                          <p:spTgt spid="4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wipe(down)">
                                      <p:cBhvr>
                                        <p:cTn id="37" dur="500"/>
                                        <p:tgtEl>
                                          <p:spTgt spid="4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48"/>
                                        </p:tgtEl>
                                        <p:attrNameLst>
                                          <p:attrName>style.visibility</p:attrName>
                                        </p:attrNameLst>
                                      </p:cBhvr>
                                      <p:to>
                                        <p:strVal val="visible"/>
                                      </p:to>
                                    </p:set>
                                    <p:animEffect transition="in" filter="wipe(down)">
                                      <p:cBhvr>
                                        <p:cTn id="42" dur="500"/>
                                        <p:tgtEl>
                                          <p:spTgt spid="48"/>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6" grpId="0" animBg="1"/>
      <p:bldP spid="47" grpId="0" animBg="1"/>
      <p:bldP spid="4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a:t>The edge connectivity of a tree, is one. </a:t>
            </a:r>
          </a:p>
        </p:txBody>
      </p:sp>
      <p:sp>
        <p:nvSpPr>
          <p:cNvPr id="3" name="Content Placeholder 2"/>
          <p:cNvSpPr>
            <a:spLocks noGrp="1"/>
          </p:cNvSpPr>
          <p:nvPr>
            <p:ph idx="1"/>
          </p:nvPr>
        </p:nvSpPr>
        <p:spPr>
          <a:xfrm>
            <a:off x="131180" y="863444"/>
            <a:ext cx="11854494" cy="2948901"/>
          </a:xfrm>
        </p:spPr>
        <p:txBody>
          <a:bodyPr/>
          <a:lstStyle/>
          <a:p>
            <a:pPr>
              <a:lnSpc>
                <a:spcPct val="150000"/>
              </a:lnSpc>
            </a:pPr>
            <a:r>
              <a:rPr lang="en-US" dirty="0"/>
              <a:t>In a tree, there is exactly one unique path between every pair of vertices.</a:t>
            </a:r>
          </a:p>
          <a:p>
            <a:pPr>
              <a:lnSpc>
                <a:spcPct val="150000"/>
              </a:lnSpc>
            </a:pPr>
            <a:r>
              <a:rPr lang="en-US" dirty="0"/>
              <a:t>This means that if we remove even a single edge, the path between some pair of vertices will be broken, and the graph will become disconnected.</a:t>
            </a:r>
          </a:p>
          <a:p>
            <a:pPr>
              <a:lnSpc>
                <a:spcPct val="150000"/>
              </a:lnSpc>
            </a:pPr>
            <a:r>
              <a:rPr lang="en-US" dirty="0"/>
              <a:t>Therefore, removing just one edge is enough to disconnect a tree.</a:t>
            </a:r>
          </a:p>
          <a:p>
            <a:pPr>
              <a:lnSpc>
                <a:spcPct val="150000"/>
              </a:lnSpc>
            </a:pPr>
            <a:r>
              <a:rPr lang="en-US" dirty="0"/>
              <a:t>This implies that the smallest edge cutset in a tree contains only one edge.</a:t>
            </a:r>
          </a:p>
          <a:p>
            <a:pPr>
              <a:lnSpc>
                <a:spcPct val="150000"/>
              </a:lnSpc>
            </a:pPr>
            <a:r>
              <a:rPr lang="en-US" dirty="0"/>
              <a:t>Hence, </a:t>
            </a:r>
            <a:r>
              <a:rPr lang="en-US" b="1" dirty="0"/>
              <a:t>the edge connectivity of any tree is 1</a:t>
            </a:r>
            <a:r>
              <a:rPr lang="en-US" dirty="0"/>
              <a:t>.</a:t>
            </a:r>
            <a:endParaRPr lang="en-US" b="1" dirty="0"/>
          </a:p>
        </p:txBody>
      </p:sp>
    </p:spTree>
    <p:extLst>
      <p:ext uri="{BB962C8B-B14F-4D97-AF65-F5344CB8AC3E}">
        <p14:creationId xmlns:p14="http://schemas.microsoft.com/office/powerpoint/2010/main" val="2370787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Vertex Connectivity </a:t>
            </a:r>
          </a:p>
        </p:txBody>
      </p:sp>
      <p:sp>
        <p:nvSpPr>
          <p:cNvPr id="3" name="Content Placeholder 2">
            <a:extLst>
              <a:ext uri="{FF2B5EF4-FFF2-40B4-BE49-F238E27FC236}">
                <a16:creationId xmlns:a16="http://schemas.microsoft.com/office/drawing/2014/main" id="{9CB3AA53-5FE6-7420-2832-B8AB64C9E95F}"/>
              </a:ext>
            </a:extLst>
          </p:cNvPr>
          <p:cNvSpPr>
            <a:spLocks noGrp="1"/>
          </p:cNvSpPr>
          <p:nvPr>
            <p:ph idx="1"/>
          </p:nvPr>
        </p:nvSpPr>
        <p:spPr>
          <a:xfrm>
            <a:off x="131180" y="863445"/>
            <a:ext cx="11929641" cy="1298249"/>
          </a:xfrm>
        </p:spPr>
        <p:txBody>
          <a:bodyPr/>
          <a:lstStyle/>
          <a:p>
            <a:r>
              <a:rPr lang="en-US" b="1" dirty="0"/>
              <a:t>The vertex connectivity</a:t>
            </a:r>
            <a:r>
              <a:rPr lang="en-US" dirty="0"/>
              <a:t> (or simply connectivity) of a connected graph G is defined as the </a:t>
            </a:r>
            <a:r>
              <a:rPr lang="en-US" dirty="0">
                <a:solidFill>
                  <a:srgbClr val="FF0000"/>
                </a:solidFill>
              </a:rPr>
              <a:t>minimum number of vertices </a:t>
            </a:r>
            <a:r>
              <a:rPr lang="en-US" dirty="0"/>
              <a:t>whose removal from G leaves the remaining graph disconnected. </a:t>
            </a:r>
          </a:p>
        </p:txBody>
      </p:sp>
      <mc:AlternateContent xmlns:mc="http://schemas.openxmlformats.org/markup-compatibility/2006" xmlns:a14="http://schemas.microsoft.com/office/drawing/2010/main">
        <mc:Choice Requires="a14">
          <p:sp>
            <p:nvSpPr>
              <p:cNvPr id="33" name="Content Placeholder 2">
                <a:extLst>
                  <a:ext uri="{FF2B5EF4-FFF2-40B4-BE49-F238E27FC236}">
                    <a16:creationId xmlns:a16="http://schemas.microsoft.com/office/drawing/2014/main" id="{9CB3AA53-5FE6-7420-2832-B8AB64C9E95F}"/>
                  </a:ext>
                </a:extLst>
              </p:cNvPr>
              <p:cNvSpPr txBox="1">
                <a:spLocks/>
              </p:cNvSpPr>
              <p:nvPr/>
            </p:nvSpPr>
            <p:spPr>
              <a:xfrm>
                <a:off x="131180" y="2096240"/>
                <a:ext cx="7228237" cy="2542329"/>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Observe the graph: if we remove the single vertex</a:t>
                </a:r>
                <a14:m>
                  <m:oMath xmlns:m="http://schemas.openxmlformats.org/officeDocument/2006/math">
                    <m:r>
                      <a:rPr lang="en-US" i="0" dirty="0" smtClean="0">
                        <a:latin typeface="Cambria Math" panose="02040503050406030204" pitchFamily="18" charset="0"/>
                      </a:rPr>
                      <m:t> </m:t>
                    </m:r>
                    <m:d>
                      <m:dPr>
                        <m:begChr m:val="{"/>
                        <m:endChr m:val="}"/>
                        <m:ctrlPr>
                          <a:rPr lang="en-US" b="1" i="1" dirty="0">
                            <a:latin typeface="Cambria Math" panose="02040503050406030204" pitchFamily="18" charset="0"/>
                          </a:rPr>
                        </m:ctrlPr>
                      </m:dPr>
                      <m:e>
                        <m:r>
                          <a:rPr lang="en-US" b="1" i="0" dirty="0">
                            <a:latin typeface="Cambria Math" panose="02040503050406030204" pitchFamily="18" charset="0"/>
                          </a:rPr>
                          <m:t>𝐛</m:t>
                        </m:r>
                      </m:e>
                    </m:d>
                  </m:oMath>
                </a14:m>
                <a:r>
                  <a:rPr lang="en-US" dirty="0"/>
                  <a:t>, the graph becomes disconnected. </a:t>
                </a:r>
              </a:p>
              <a:p>
                <a:r>
                  <a:rPr lang="en-US" dirty="0"/>
                  <a:t>This means the minimum number of vertices whose removal disconnects the graph is </a:t>
                </a:r>
                <a:r>
                  <a:rPr lang="en-US" b="1" dirty="0"/>
                  <a:t>1</a:t>
                </a:r>
                <a:r>
                  <a:rPr lang="en-US" dirty="0"/>
                  <a:t>. </a:t>
                </a:r>
              </a:p>
              <a:p>
                <a:r>
                  <a:rPr lang="en-US" dirty="0"/>
                  <a:t>Therefore, the </a:t>
                </a:r>
                <a:r>
                  <a:rPr lang="en-US" b="1" dirty="0"/>
                  <a:t>vertex connectivity</a:t>
                </a:r>
                <a:r>
                  <a:rPr lang="en-US" dirty="0"/>
                  <a:t> of the graph is </a:t>
                </a:r>
                <a:r>
                  <a:rPr lang="en-US" b="1" dirty="0"/>
                  <a:t>1</a:t>
                </a:r>
                <a:r>
                  <a:rPr lang="en-US" dirty="0"/>
                  <a:t>. </a:t>
                </a:r>
                <a:endParaRPr lang="en-US" b="1" dirty="0"/>
              </a:p>
              <a:p>
                <a:endParaRPr lang="en-US" dirty="0"/>
              </a:p>
            </p:txBody>
          </p:sp>
        </mc:Choice>
        <mc:Fallback xmlns="">
          <p:sp>
            <p:nvSpPr>
              <p:cNvPr id="33" name="Content Placeholder 2">
                <a:extLst>
                  <a:ext uri="{FF2B5EF4-FFF2-40B4-BE49-F238E27FC236}">
                    <a16:creationId xmlns:a16="http://schemas.microsoft.com/office/drawing/2014/main" xmlns="" id="{9CB3AA53-5FE6-7420-2832-B8AB64C9E95F}"/>
                  </a:ext>
                </a:extLst>
              </p:cNvPr>
              <p:cNvSpPr txBox="1">
                <a:spLocks noRot="1" noChangeAspect="1" noMove="1" noResize="1" noEditPoints="1" noAdjustHandles="1" noChangeArrowheads="1" noChangeShapeType="1" noTextEdit="1"/>
              </p:cNvSpPr>
              <p:nvPr/>
            </p:nvSpPr>
            <p:spPr>
              <a:xfrm>
                <a:off x="131180" y="2096240"/>
                <a:ext cx="7228237" cy="2542329"/>
              </a:xfrm>
              <a:prstGeom prst="rect">
                <a:avLst/>
              </a:prstGeom>
              <a:blipFill rotWithShape="0">
                <a:blip r:embed="rId2"/>
                <a:stretch>
                  <a:fillRect l="-1603" t="-4317" r="-1772" b="-11031"/>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BDD11F87-DA81-9510-C1CB-0AF4093562CB}"/>
              </a:ext>
            </a:extLst>
          </p:cNvPr>
          <p:cNvSpPr/>
          <p:nvPr/>
        </p:nvSpPr>
        <p:spPr>
          <a:xfrm rot="5400000">
            <a:off x="8614771" y="339816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ln>
                <a:solidFill>
                  <a:schemeClr val="tx1"/>
                </a:solidFill>
              </a:ln>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10775003" y="340522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4" name="Oval 33">
            <a:extLst>
              <a:ext uri="{FF2B5EF4-FFF2-40B4-BE49-F238E27FC236}">
                <a16:creationId xmlns:a16="http://schemas.microsoft.com/office/drawing/2014/main" id="{BDD11F87-DA81-9510-C1CB-0AF4093562CB}"/>
              </a:ext>
            </a:extLst>
          </p:cNvPr>
          <p:cNvSpPr/>
          <p:nvPr/>
        </p:nvSpPr>
        <p:spPr>
          <a:xfrm rot="5400000">
            <a:off x="8614771" y="554327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ln>
                <a:solidFill>
                  <a:schemeClr val="tx1"/>
                </a:solidFill>
              </a:ln>
            </a:endParaRPr>
          </a:p>
        </p:txBody>
      </p:sp>
      <p:sp>
        <p:nvSpPr>
          <p:cNvPr id="35" name="Oval 34">
            <a:extLst>
              <a:ext uri="{FF2B5EF4-FFF2-40B4-BE49-F238E27FC236}">
                <a16:creationId xmlns:a16="http://schemas.microsoft.com/office/drawing/2014/main" id="{BDD11F87-DA81-9510-C1CB-0AF4093562CB}"/>
              </a:ext>
            </a:extLst>
          </p:cNvPr>
          <p:cNvSpPr/>
          <p:nvPr/>
        </p:nvSpPr>
        <p:spPr>
          <a:xfrm rot="5400000">
            <a:off x="10774307" y="492748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ln>
                <a:solidFill>
                  <a:schemeClr val="tx1"/>
                </a:solidFill>
              </a:ln>
            </a:endParaRPr>
          </a:p>
        </p:txBody>
      </p:sp>
      <p:sp>
        <p:nvSpPr>
          <p:cNvPr id="36" name="Oval 35">
            <a:extLst>
              <a:ext uri="{FF2B5EF4-FFF2-40B4-BE49-F238E27FC236}">
                <a16:creationId xmlns:a16="http://schemas.microsoft.com/office/drawing/2014/main" id="{BDD11F87-DA81-9510-C1CB-0AF4093562CB}"/>
              </a:ext>
            </a:extLst>
          </p:cNvPr>
          <p:cNvSpPr/>
          <p:nvPr/>
        </p:nvSpPr>
        <p:spPr>
          <a:xfrm rot="5400000">
            <a:off x="9694891" y="4205650"/>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ln>
                <a:solidFill>
                  <a:schemeClr val="tx1"/>
                </a:solidFill>
              </a:ln>
            </a:endParaRPr>
          </a:p>
        </p:txBody>
      </p:sp>
      <p:cxnSp>
        <p:nvCxnSpPr>
          <p:cNvPr id="37" name="Straight Connector 36">
            <a:extLst>
              <a:ext uri="{FF2B5EF4-FFF2-40B4-BE49-F238E27FC236}">
                <a16:creationId xmlns:a16="http://schemas.microsoft.com/office/drawing/2014/main" id="{6205DD86-315C-53B6-CEEF-A9919650168E}"/>
              </a:ext>
            </a:extLst>
          </p:cNvPr>
          <p:cNvCxnSpPr>
            <a:cxnSpLocks/>
            <a:stCxn id="36" idx="3"/>
            <a:endCxn id="30" idx="7"/>
          </p:cNvCxnSpPr>
          <p:nvPr/>
        </p:nvCxnSpPr>
        <p:spPr>
          <a:xfrm flipH="1" flipV="1">
            <a:off x="8736246" y="3520065"/>
            <a:ext cx="978296" cy="70768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205DD86-315C-53B6-CEEF-A9919650168E}"/>
              </a:ext>
            </a:extLst>
          </p:cNvPr>
          <p:cNvCxnSpPr>
            <a:cxnSpLocks/>
            <a:stCxn id="35" idx="3"/>
            <a:endCxn id="36" idx="7"/>
          </p:cNvCxnSpPr>
          <p:nvPr/>
        </p:nvCxnSpPr>
        <p:spPr>
          <a:xfrm flipH="1" flipV="1">
            <a:off x="9816366" y="4327546"/>
            <a:ext cx="977592" cy="62204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205DD86-315C-53B6-CEEF-A9919650168E}"/>
              </a:ext>
            </a:extLst>
          </p:cNvPr>
          <p:cNvCxnSpPr>
            <a:cxnSpLocks/>
            <a:stCxn id="36" idx="5"/>
            <a:endCxn id="34" idx="1"/>
          </p:cNvCxnSpPr>
          <p:nvPr/>
        </p:nvCxnSpPr>
        <p:spPr>
          <a:xfrm flipH="1">
            <a:off x="8736246" y="4327546"/>
            <a:ext cx="978296" cy="123782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31" idx="5"/>
            <a:endCxn id="36" idx="1"/>
          </p:cNvCxnSpPr>
          <p:nvPr/>
        </p:nvCxnSpPr>
        <p:spPr>
          <a:xfrm flipH="1">
            <a:off x="9816366" y="3527122"/>
            <a:ext cx="978288" cy="70063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34" idx="2"/>
            <a:endCxn id="30" idx="6"/>
          </p:cNvCxnSpPr>
          <p:nvPr/>
        </p:nvCxnSpPr>
        <p:spPr>
          <a:xfrm flipV="1">
            <a:off x="8685334" y="3540732"/>
            <a:ext cx="0" cy="200397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a:extLst>
              <a:ext uri="{FF2B5EF4-FFF2-40B4-BE49-F238E27FC236}">
                <a16:creationId xmlns:a16="http://schemas.microsoft.com/office/drawing/2014/main" id="{6205DD86-315C-53B6-CEEF-A9919650168E}"/>
              </a:ext>
            </a:extLst>
          </p:cNvPr>
          <p:cNvCxnSpPr>
            <a:cxnSpLocks/>
            <a:stCxn id="35" idx="2"/>
            <a:endCxn id="31" idx="6"/>
          </p:cNvCxnSpPr>
          <p:nvPr/>
        </p:nvCxnSpPr>
        <p:spPr>
          <a:xfrm flipV="1">
            <a:off x="10844870" y="3547789"/>
            <a:ext cx="696" cy="13811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6205DD86-315C-53B6-CEEF-A9919650168E}"/>
              </a:ext>
            </a:extLst>
          </p:cNvPr>
          <p:cNvCxnSpPr>
            <a:cxnSpLocks/>
            <a:stCxn id="30" idx="0"/>
            <a:endCxn id="31" idx="4"/>
          </p:cNvCxnSpPr>
          <p:nvPr/>
        </p:nvCxnSpPr>
        <p:spPr>
          <a:xfrm>
            <a:off x="8757334" y="3470169"/>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6205DD86-315C-53B6-CEEF-A9919650168E}"/>
              </a:ext>
            </a:extLst>
          </p:cNvPr>
          <p:cNvCxnSpPr>
            <a:cxnSpLocks/>
            <a:stCxn id="34" idx="0"/>
            <a:endCxn id="35" idx="4"/>
          </p:cNvCxnSpPr>
          <p:nvPr/>
        </p:nvCxnSpPr>
        <p:spPr>
          <a:xfrm flipV="1">
            <a:off x="8757334" y="4999488"/>
            <a:ext cx="2015536" cy="61578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4" name="Oval 53">
            <a:extLst>
              <a:ext uri="{FF2B5EF4-FFF2-40B4-BE49-F238E27FC236}">
                <a16:creationId xmlns:a16="http://schemas.microsoft.com/office/drawing/2014/main" id="{BDD11F87-DA81-9510-C1CB-0AF4093562CB}"/>
              </a:ext>
            </a:extLst>
          </p:cNvPr>
          <p:cNvSpPr/>
          <p:nvPr/>
        </p:nvSpPr>
        <p:spPr>
          <a:xfrm rot="5400000">
            <a:off x="10782023" y="2642267"/>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IN" dirty="0">
              <a:ln>
                <a:solidFill>
                  <a:schemeClr val="tx1"/>
                </a:solidFill>
              </a:ln>
            </a:endParaRPr>
          </a:p>
        </p:txBody>
      </p:sp>
      <p:cxnSp>
        <p:nvCxnSpPr>
          <p:cNvPr id="55" name="Straight Connector 54">
            <a:extLst>
              <a:ext uri="{FF2B5EF4-FFF2-40B4-BE49-F238E27FC236}">
                <a16:creationId xmlns:a16="http://schemas.microsoft.com/office/drawing/2014/main" id="{6205DD86-315C-53B6-CEEF-A9919650168E}"/>
              </a:ext>
            </a:extLst>
          </p:cNvPr>
          <p:cNvCxnSpPr>
            <a:cxnSpLocks/>
            <a:stCxn id="54" idx="6"/>
            <a:endCxn id="31" idx="2"/>
          </p:cNvCxnSpPr>
          <p:nvPr/>
        </p:nvCxnSpPr>
        <p:spPr>
          <a:xfrm flipH="1">
            <a:off x="10845566" y="2784830"/>
            <a:ext cx="7020" cy="62183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6" name="TextBox 98"/>
          <p:cNvSpPr txBox="1"/>
          <p:nvPr/>
        </p:nvSpPr>
        <p:spPr>
          <a:xfrm>
            <a:off x="8296666" y="3341305"/>
            <a:ext cx="356188"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57" name="TextBox 99"/>
          <p:cNvSpPr txBox="1"/>
          <p:nvPr/>
        </p:nvSpPr>
        <p:spPr>
          <a:xfrm>
            <a:off x="10917495" y="3212087"/>
            <a:ext cx="360996"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58" name="TextBox 100"/>
          <p:cNvSpPr txBox="1"/>
          <p:nvPr/>
        </p:nvSpPr>
        <p:spPr>
          <a:xfrm>
            <a:off x="8296059" y="5162613"/>
            <a:ext cx="349776"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59" name="TextBox 101"/>
          <p:cNvSpPr txBox="1"/>
          <p:nvPr/>
        </p:nvSpPr>
        <p:spPr>
          <a:xfrm>
            <a:off x="10911884" y="4792758"/>
            <a:ext cx="362600" cy="52322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60" name="TextBox 102"/>
          <p:cNvSpPr txBox="1"/>
          <p:nvPr/>
        </p:nvSpPr>
        <p:spPr>
          <a:xfrm>
            <a:off x="10921502" y="2407336"/>
            <a:ext cx="352982"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64" name="TextBox 99"/>
          <p:cNvSpPr txBox="1"/>
          <p:nvPr/>
        </p:nvSpPr>
        <p:spPr>
          <a:xfrm>
            <a:off x="9626388" y="4327546"/>
            <a:ext cx="360996" cy="52322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26" name="Rectangle 25"/>
          <p:cNvSpPr/>
          <p:nvPr/>
        </p:nvSpPr>
        <p:spPr>
          <a:xfrm>
            <a:off x="376526" y="4678937"/>
            <a:ext cx="7990307" cy="1815882"/>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just"/>
            <a:r>
              <a:rPr lang="en-US" sz="2800" b="1" dirty="0">
                <a:solidFill>
                  <a:srgbClr val="FF0000"/>
                </a:solidFill>
                <a:ea typeface="Calibri" panose="020F0502020204030204" pitchFamily="34" charset="0"/>
                <a:cs typeface="Shruti" panose="020B0502040204020203" pitchFamily="34" charset="0"/>
              </a:rPr>
              <a:t>Note that: </a:t>
            </a:r>
            <a:endParaRPr lang="en-US" sz="2800" dirty="0">
              <a:solidFill>
                <a:srgbClr val="002060"/>
              </a:solidFill>
            </a:endParaRPr>
          </a:p>
          <a:p>
            <a:pPr algn="just"/>
            <a:r>
              <a:rPr lang="en-US" sz="2800" dirty="0">
                <a:solidFill>
                  <a:srgbClr val="002060"/>
                </a:solidFill>
              </a:rPr>
              <a:t>From the way we have defined it vertex connectivity is meaningful only for graphs that have </a:t>
            </a:r>
            <a:r>
              <a:rPr lang="en-US" sz="2800" b="1" dirty="0">
                <a:solidFill>
                  <a:srgbClr val="002060"/>
                </a:solidFill>
              </a:rPr>
              <a:t>three or more vertices and are not complete</a:t>
            </a:r>
            <a:r>
              <a:rPr lang="en-US" sz="2800" dirty="0">
                <a:solidFill>
                  <a:srgbClr val="002060"/>
                </a:solidFill>
              </a:rPr>
              <a:t>.</a:t>
            </a:r>
          </a:p>
        </p:txBody>
      </p:sp>
    </p:spTree>
    <p:extLst>
      <p:ext uri="{BB962C8B-B14F-4D97-AF65-F5344CB8AC3E}">
        <p14:creationId xmlns:p14="http://schemas.microsoft.com/office/powerpoint/2010/main" val="1480694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3">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9" presetClass="emph" presetSubtype="0" fill="hold" grpId="1" nodeType="clickEffect">
                                  <p:stCondLst>
                                    <p:cond delay="0"/>
                                  </p:stCondLst>
                                  <p:childTnLst>
                                    <p:animClr clrSpc="rgb" dir="cw">
                                      <p:cBhvr override="childStyle">
                                        <p:cTn id="58" dur="500" fill="hold"/>
                                        <p:tgtEl>
                                          <p:spTgt spid="31"/>
                                        </p:tgtEl>
                                        <p:attrNameLst>
                                          <p:attrName>style.color</p:attrName>
                                        </p:attrNameLst>
                                      </p:cBhvr>
                                      <p:to>
                                        <a:srgbClr val="FFFF00"/>
                                      </p:to>
                                    </p:animClr>
                                    <p:animClr clrSpc="rgb" dir="cw">
                                      <p:cBhvr>
                                        <p:cTn id="59" dur="500" fill="hold"/>
                                        <p:tgtEl>
                                          <p:spTgt spid="31"/>
                                        </p:tgtEl>
                                        <p:attrNameLst>
                                          <p:attrName>fillcolor</p:attrName>
                                        </p:attrNameLst>
                                      </p:cBhvr>
                                      <p:to>
                                        <a:srgbClr val="FFFF00"/>
                                      </p:to>
                                    </p:animClr>
                                    <p:set>
                                      <p:cBhvr>
                                        <p:cTn id="60" dur="500" fill="hold"/>
                                        <p:tgtEl>
                                          <p:spTgt spid="31"/>
                                        </p:tgtEl>
                                        <p:attrNameLst>
                                          <p:attrName>fill.type</p:attrName>
                                        </p:attrNameLst>
                                      </p:cBhvr>
                                      <p:to>
                                        <p:strVal val="solid"/>
                                      </p:to>
                                    </p:set>
                                    <p:set>
                                      <p:cBhvr>
                                        <p:cTn id="61" dur="500" fill="hold"/>
                                        <p:tgtEl>
                                          <p:spTgt spid="31"/>
                                        </p:tgtEl>
                                        <p:attrNameLst>
                                          <p:attrName>fill.on</p:attrName>
                                        </p:attrNameLst>
                                      </p:cBhvr>
                                      <p:to>
                                        <p:strVal val="true"/>
                                      </p:to>
                                    </p:se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grpId="2" nodeType="clickEffect">
                                  <p:stCondLst>
                                    <p:cond delay="0"/>
                                  </p:stCondLst>
                                  <p:childTnLst>
                                    <p:set>
                                      <p:cBhvr>
                                        <p:cTn id="65" dur="1" fill="hold">
                                          <p:stCondLst>
                                            <p:cond delay="0"/>
                                          </p:stCondLst>
                                        </p:cTn>
                                        <p:tgtEl>
                                          <p:spTgt spid="31"/>
                                        </p:tgtEl>
                                        <p:attrNameLst>
                                          <p:attrName>style.visibility</p:attrName>
                                        </p:attrNameLst>
                                      </p:cBhvr>
                                      <p:to>
                                        <p:strVal val="hidden"/>
                                      </p:to>
                                    </p:set>
                                  </p:childTnLst>
                                </p:cTn>
                              </p:par>
                              <p:par>
                                <p:cTn id="66" presetID="1" presetClass="exit" presetSubtype="0" fill="hold" grpId="1" nodeType="withEffect">
                                  <p:stCondLst>
                                    <p:cond delay="0"/>
                                  </p:stCondLst>
                                  <p:childTnLst>
                                    <p:set>
                                      <p:cBhvr>
                                        <p:cTn id="67" dur="1" fill="hold">
                                          <p:stCondLst>
                                            <p:cond delay="0"/>
                                          </p:stCondLst>
                                        </p:cTn>
                                        <p:tgtEl>
                                          <p:spTgt spid="57"/>
                                        </p:tgtEl>
                                        <p:attrNameLst>
                                          <p:attrName>style.visibility</p:attrName>
                                        </p:attrNameLst>
                                      </p:cBhvr>
                                      <p:to>
                                        <p:strVal val="hidden"/>
                                      </p:to>
                                    </p:set>
                                  </p:childTnLst>
                                </p:cTn>
                              </p:par>
                            </p:childTnLst>
                          </p:cTn>
                        </p:par>
                        <p:par>
                          <p:cTn id="68" fill="hold">
                            <p:stCondLst>
                              <p:cond delay="0"/>
                            </p:stCondLst>
                            <p:childTnLst>
                              <p:par>
                                <p:cTn id="69" presetID="1" presetClass="exit" presetSubtype="0" fill="hold" nodeType="afterEffect">
                                  <p:stCondLst>
                                    <p:cond delay="0"/>
                                  </p:stCondLst>
                                  <p:childTnLst>
                                    <p:set>
                                      <p:cBhvr>
                                        <p:cTn id="70" dur="1" fill="hold">
                                          <p:stCondLst>
                                            <p:cond delay="0"/>
                                          </p:stCondLst>
                                        </p:cTn>
                                        <p:tgtEl>
                                          <p:spTgt spid="49"/>
                                        </p:tgtEl>
                                        <p:attrNameLst>
                                          <p:attrName>style.visibility</p:attrName>
                                        </p:attrNameLst>
                                      </p:cBhvr>
                                      <p:to>
                                        <p:strVal val="hidden"/>
                                      </p:to>
                                    </p:set>
                                  </p:childTnLst>
                                </p:cTn>
                              </p:par>
                            </p:childTnLst>
                          </p:cTn>
                        </p:par>
                        <p:par>
                          <p:cTn id="71" fill="hold">
                            <p:stCondLst>
                              <p:cond delay="0"/>
                            </p:stCondLst>
                            <p:childTnLst>
                              <p:par>
                                <p:cTn id="72" presetID="1" presetClass="exit" presetSubtype="0" fill="hold" nodeType="afterEffect">
                                  <p:stCondLst>
                                    <p:cond delay="0"/>
                                  </p:stCondLst>
                                  <p:childTnLst>
                                    <p:set>
                                      <p:cBhvr>
                                        <p:cTn id="73" dur="1" fill="hold">
                                          <p:stCondLst>
                                            <p:cond delay="0"/>
                                          </p:stCondLst>
                                        </p:cTn>
                                        <p:tgtEl>
                                          <p:spTgt spid="51"/>
                                        </p:tgtEl>
                                        <p:attrNameLst>
                                          <p:attrName>style.visibility</p:attrName>
                                        </p:attrNameLst>
                                      </p:cBhvr>
                                      <p:to>
                                        <p:strVal val="hidden"/>
                                      </p:to>
                                    </p:set>
                                  </p:childTnLst>
                                </p:cTn>
                              </p:par>
                            </p:childTnLst>
                          </p:cTn>
                        </p:par>
                        <p:par>
                          <p:cTn id="74" fill="hold">
                            <p:stCondLst>
                              <p:cond delay="0"/>
                            </p:stCondLst>
                            <p:childTnLst>
                              <p:par>
                                <p:cTn id="75" presetID="1" presetClass="exit" presetSubtype="0" fill="hold" nodeType="afterEffect">
                                  <p:stCondLst>
                                    <p:cond delay="0"/>
                                  </p:stCondLst>
                                  <p:childTnLst>
                                    <p:set>
                                      <p:cBhvr>
                                        <p:cTn id="76" dur="1" fill="hold">
                                          <p:stCondLst>
                                            <p:cond delay="0"/>
                                          </p:stCondLst>
                                        </p:cTn>
                                        <p:tgtEl>
                                          <p:spTgt spid="52"/>
                                        </p:tgtEl>
                                        <p:attrNameLst>
                                          <p:attrName>style.visibility</p:attrName>
                                        </p:attrNameLst>
                                      </p:cBhvr>
                                      <p:to>
                                        <p:strVal val="hidden"/>
                                      </p:to>
                                    </p:set>
                                  </p:childTnLst>
                                </p:cTn>
                              </p:par>
                            </p:childTnLst>
                          </p:cTn>
                        </p:par>
                        <p:par>
                          <p:cTn id="77" fill="hold">
                            <p:stCondLst>
                              <p:cond delay="0"/>
                            </p:stCondLst>
                            <p:childTnLst>
                              <p:par>
                                <p:cTn id="78" presetID="1" presetClass="exit" presetSubtype="0" fill="hold" nodeType="afterEffect">
                                  <p:stCondLst>
                                    <p:cond delay="0"/>
                                  </p:stCondLst>
                                  <p:childTnLst>
                                    <p:set>
                                      <p:cBhvr>
                                        <p:cTn id="79" dur="1" fill="hold">
                                          <p:stCondLst>
                                            <p:cond delay="0"/>
                                          </p:stCondLst>
                                        </p:cTn>
                                        <p:tgtEl>
                                          <p:spTgt spid="55"/>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33">
                                            <p:txEl>
                                              <p:pRg st="1" end="1"/>
                                            </p:txEl>
                                          </p:spTgt>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33">
                                            <p:txEl>
                                              <p:pRg st="2" end="2"/>
                                            </p:txEl>
                                          </p:spTgt>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1" grpId="1" animBg="1"/>
      <p:bldP spid="31" grpId="2" animBg="1"/>
      <p:bldP spid="34" grpId="0" animBg="1"/>
      <p:bldP spid="35" grpId="0" animBg="1"/>
      <p:bldP spid="36" grpId="0" animBg="1"/>
      <p:bldP spid="54" grpId="0" animBg="1"/>
      <p:bldP spid="56" grpId="0"/>
      <p:bldP spid="57" grpId="0"/>
      <p:bldP spid="57" grpId="1"/>
      <p:bldP spid="58" grpId="0"/>
      <p:bldP spid="59" grpId="0"/>
      <p:bldP spid="60" grpId="0"/>
      <p:bldP spid="64" grpId="0"/>
      <p:bldP spid="2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Find the vertex connectivity of following graph</a:t>
            </a:r>
          </a:p>
        </p:txBody>
      </p:sp>
      <p:sp>
        <p:nvSpPr>
          <p:cNvPr id="28" name="Oval 27">
            <a:extLst>
              <a:ext uri="{FF2B5EF4-FFF2-40B4-BE49-F238E27FC236}">
                <a16:creationId xmlns:a16="http://schemas.microsoft.com/office/drawing/2014/main" id="{BDD11F87-DA81-9510-C1CB-0AF4093562CB}"/>
              </a:ext>
            </a:extLst>
          </p:cNvPr>
          <p:cNvSpPr/>
          <p:nvPr/>
        </p:nvSpPr>
        <p:spPr>
          <a:xfrm rot="5400000">
            <a:off x="2621754" y="247955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4552893" y="247955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2" name="Straight Connector 31">
            <a:extLst>
              <a:ext uri="{FF2B5EF4-FFF2-40B4-BE49-F238E27FC236}">
                <a16:creationId xmlns:a16="http://schemas.microsoft.com/office/drawing/2014/main" id="{6205DD86-315C-53B6-CEEF-A9919650168E}"/>
              </a:ext>
            </a:extLst>
          </p:cNvPr>
          <p:cNvCxnSpPr>
            <a:cxnSpLocks/>
            <a:stCxn id="29" idx="4"/>
            <a:endCxn id="28" idx="0"/>
          </p:cNvCxnSpPr>
          <p:nvPr/>
        </p:nvCxnSpPr>
        <p:spPr>
          <a:xfrm flipH="1">
            <a:off x="2765754" y="2551556"/>
            <a:ext cx="178713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0" name="Oval 39">
            <a:extLst>
              <a:ext uri="{FF2B5EF4-FFF2-40B4-BE49-F238E27FC236}">
                <a16:creationId xmlns:a16="http://schemas.microsoft.com/office/drawing/2014/main" id="{BDD11F87-DA81-9510-C1CB-0AF4093562CB}"/>
              </a:ext>
            </a:extLst>
          </p:cNvPr>
          <p:cNvSpPr/>
          <p:nvPr/>
        </p:nvSpPr>
        <p:spPr>
          <a:xfrm rot="5400000">
            <a:off x="4552893" y="449576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28" idx="6"/>
            <a:endCxn id="48" idx="2"/>
          </p:cNvCxnSpPr>
          <p:nvPr/>
        </p:nvCxnSpPr>
        <p:spPr>
          <a:xfrm flipH="1">
            <a:off x="2693753" y="2623556"/>
            <a:ext cx="1" cy="18722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29" idx="6"/>
            <a:endCxn id="40" idx="2"/>
          </p:cNvCxnSpPr>
          <p:nvPr/>
        </p:nvCxnSpPr>
        <p:spPr>
          <a:xfrm>
            <a:off x="4624893" y="2623556"/>
            <a:ext cx="0" cy="18722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40" idx="4"/>
            <a:endCxn id="48" idx="0"/>
          </p:cNvCxnSpPr>
          <p:nvPr/>
        </p:nvCxnSpPr>
        <p:spPr>
          <a:xfrm flipH="1">
            <a:off x="2765753" y="4567764"/>
            <a:ext cx="178714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4" name="TextBox 43"/>
          <p:cNvSpPr txBox="1"/>
          <p:nvPr/>
        </p:nvSpPr>
        <p:spPr>
          <a:xfrm>
            <a:off x="5644000" y="3595478"/>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45" name="TextBox 44"/>
          <p:cNvSpPr txBox="1"/>
          <p:nvPr/>
        </p:nvSpPr>
        <p:spPr>
          <a:xfrm>
            <a:off x="4469348" y="4615167"/>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46" name="TextBox 45"/>
          <p:cNvSpPr txBox="1"/>
          <p:nvPr/>
        </p:nvSpPr>
        <p:spPr>
          <a:xfrm>
            <a:off x="1608611" y="3595478"/>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47" name="TextBox 46"/>
          <p:cNvSpPr txBox="1"/>
          <p:nvPr/>
        </p:nvSpPr>
        <p:spPr>
          <a:xfrm>
            <a:off x="2492896" y="4597588"/>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48" name="Oval 47">
            <a:extLst>
              <a:ext uri="{FF2B5EF4-FFF2-40B4-BE49-F238E27FC236}">
                <a16:creationId xmlns:a16="http://schemas.microsoft.com/office/drawing/2014/main" id="{BDD11F87-DA81-9510-C1CB-0AF4093562CB}"/>
              </a:ext>
            </a:extLst>
          </p:cNvPr>
          <p:cNvSpPr/>
          <p:nvPr/>
        </p:nvSpPr>
        <p:spPr>
          <a:xfrm rot="5400000">
            <a:off x="2621753" y="449576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6205DD86-315C-53B6-CEEF-A9919650168E}"/>
              </a:ext>
            </a:extLst>
          </p:cNvPr>
          <p:cNvCxnSpPr>
            <a:cxnSpLocks/>
            <a:stCxn id="63" idx="5"/>
            <a:endCxn id="40" idx="1"/>
          </p:cNvCxnSpPr>
          <p:nvPr/>
        </p:nvCxnSpPr>
        <p:spPr>
          <a:xfrm flipH="1">
            <a:off x="4675805" y="3610580"/>
            <a:ext cx="1063365" cy="9062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29" idx="7"/>
            <a:endCxn id="63" idx="3"/>
          </p:cNvCxnSpPr>
          <p:nvPr/>
        </p:nvCxnSpPr>
        <p:spPr>
          <a:xfrm>
            <a:off x="4675805" y="2602468"/>
            <a:ext cx="1063365" cy="90628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3" name="Oval 62">
            <a:extLst>
              <a:ext uri="{FF2B5EF4-FFF2-40B4-BE49-F238E27FC236}">
                <a16:creationId xmlns:a16="http://schemas.microsoft.com/office/drawing/2014/main" id="{BDD11F87-DA81-9510-C1CB-0AF4093562CB}"/>
              </a:ext>
            </a:extLst>
          </p:cNvPr>
          <p:cNvSpPr/>
          <p:nvPr/>
        </p:nvSpPr>
        <p:spPr>
          <a:xfrm rot="5400000">
            <a:off x="5718082" y="34876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5" name="Oval 64">
            <a:extLst>
              <a:ext uri="{FF2B5EF4-FFF2-40B4-BE49-F238E27FC236}">
                <a16:creationId xmlns:a16="http://schemas.microsoft.com/office/drawing/2014/main" id="{BDD11F87-DA81-9510-C1CB-0AF4093562CB}"/>
              </a:ext>
            </a:extLst>
          </p:cNvPr>
          <p:cNvSpPr/>
          <p:nvPr/>
        </p:nvSpPr>
        <p:spPr>
          <a:xfrm rot="5400000">
            <a:off x="1679591" y="34725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6" name="Straight Connector 65">
            <a:extLst>
              <a:ext uri="{FF2B5EF4-FFF2-40B4-BE49-F238E27FC236}">
                <a16:creationId xmlns:a16="http://schemas.microsoft.com/office/drawing/2014/main" id="{6205DD86-315C-53B6-CEEF-A9919650168E}"/>
              </a:ext>
            </a:extLst>
          </p:cNvPr>
          <p:cNvCxnSpPr>
            <a:cxnSpLocks/>
            <a:stCxn id="28" idx="5"/>
            <a:endCxn id="65" idx="1"/>
          </p:cNvCxnSpPr>
          <p:nvPr/>
        </p:nvCxnSpPr>
        <p:spPr>
          <a:xfrm flipH="1">
            <a:off x="1802503" y="2602468"/>
            <a:ext cx="840339" cy="89118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Straight Connector 66">
            <a:extLst>
              <a:ext uri="{FF2B5EF4-FFF2-40B4-BE49-F238E27FC236}">
                <a16:creationId xmlns:a16="http://schemas.microsoft.com/office/drawing/2014/main" id="{6205DD86-315C-53B6-CEEF-A9919650168E}"/>
              </a:ext>
            </a:extLst>
          </p:cNvPr>
          <p:cNvCxnSpPr>
            <a:cxnSpLocks/>
            <a:stCxn id="65" idx="7"/>
            <a:endCxn id="48" idx="3"/>
          </p:cNvCxnSpPr>
          <p:nvPr/>
        </p:nvCxnSpPr>
        <p:spPr>
          <a:xfrm>
            <a:off x="1802503" y="3595478"/>
            <a:ext cx="840338" cy="9213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8" name="TextBox 67"/>
          <p:cNvSpPr txBox="1"/>
          <p:nvPr/>
        </p:nvSpPr>
        <p:spPr>
          <a:xfrm>
            <a:off x="4483253" y="1958974"/>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69" name="TextBox 68"/>
          <p:cNvSpPr txBox="1"/>
          <p:nvPr/>
        </p:nvSpPr>
        <p:spPr>
          <a:xfrm>
            <a:off x="2512453" y="2019600"/>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cxnSp>
        <p:nvCxnSpPr>
          <p:cNvPr id="70" name="Straight Connector 69">
            <a:extLst>
              <a:ext uri="{FF2B5EF4-FFF2-40B4-BE49-F238E27FC236}">
                <a16:creationId xmlns:a16="http://schemas.microsoft.com/office/drawing/2014/main" id="{6205DD86-315C-53B6-CEEF-A9919650168E}"/>
              </a:ext>
            </a:extLst>
          </p:cNvPr>
          <p:cNvCxnSpPr>
            <a:cxnSpLocks/>
            <a:stCxn id="29" idx="5"/>
            <a:endCxn id="48" idx="1"/>
          </p:cNvCxnSpPr>
          <p:nvPr/>
        </p:nvCxnSpPr>
        <p:spPr>
          <a:xfrm flipH="1">
            <a:off x="2744665" y="2602468"/>
            <a:ext cx="1829316" cy="191438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2" name="TextBox 71"/>
          <p:cNvSpPr txBox="1"/>
          <p:nvPr/>
        </p:nvSpPr>
        <p:spPr>
          <a:xfrm>
            <a:off x="6121710" y="4747813"/>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74" name="Oval 73">
            <a:extLst>
              <a:ext uri="{FF2B5EF4-FFF2-40B4-BE49-F238E27FC236}">
                <a16:creationId xmlns:a16="http://schemas.microsoft.com/office/drawing/2014/main" id="{BDD11F87-DA81-9510-C1CB-0AF4093562CB}"/>
              </a:ext>
            </a:extLst>
          </p:cNvPr>
          <p:cNvSpPr/>
          <p:nvPr/>
        </p:nvSpPr>
        <p:spPr>
          <a:xfrm rot="5400000">
            <a:off x="7226017" y="24853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5" name="Oval 74">
            <a:extLst>
              <a:ext uri="{FF2B5EF4-FFF2-40B4-BE49-F238E27FC236}">
                <a16:creationId xmlns:a16="http://schemas.microsoft.com/office/drawing/2014/main" id="{BDD11F87-DA81-9510-C1CB-0AF4093562CB}"/>
              </a:ext>
            </a:extLst>
          </p:cNvPr>
          <p:cNvSpPr/>
          <p:nvPr/>
        </p:nvSpPr>
        <p:spPr>
          <a:xfrm rot="5400000">
            <a:off x="6231010" y="46278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6" name="Oval 75">
            <a:extLst>
              <a:ext uri="{FF2B5EF4-FFF2-40B4-BE49-F238E27FC236}">
                <a16:creationId xmlns:a16="http://schemas.microsoft.com/office/drawing/2014/main" id="{BDD11F87-DA81-9510-C1CB-0AF4093562CB}"/>
              </a:ext>
            </a:extLst>
          </p:cNvPr>
          <p:cNvSpPr/>
          <p:nvPr/>
        </p:nvSpPr>
        <p:spPr>
          <a:xfrm rot="5400000">
            <a:off x="8319243" y="46249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7" name="Straight Connector 76">
            <a:extLst>
              <a:ext uri="{FF2B5EF4-FFF2-40B4-BE49-F238E27FC236}">
                <a16:creationId xmlns:a16="http://schemas.microsoft.com/office/drawing/2014/main" id="{6205DD86-315C-53B6-CEEF-A9919650168E}"/>
              </a:ext>
            </a:extLst>
          </p:cNvPr>
          <p:cNvCxnSpPr>
            <a:cxnSpLocks/>
            <a:stCxn id="75" idx="2"/>
            <a:endCxn id="74" idx="5"/>
          </p:cNvCxnSpPr>
          <p:nvPr/>
        </p:nvCxnSpPr>
        <p:spPr>
          <a:xfrm flipV="1">
            <a:off x="6303010" y="2608229"/>
            <a:ext cx="944095" cy="20196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76" idx="2"/>
            <a:endCxn id="74" idx="7"/>
          </p:cNvCxnSpPr>
          <p:nvPr/>
        </p:nvCxnSpPr>
        <p:spPr>
          <a:xfrm flipH="1" flipV="1">
            <a:off x="7348929" y="2608229"/>
            <a:ext cx="1042314" cy="20166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75" idx="0"/>
            <a:endCxn id="76" idx="4"/>
          </p:cNvCxnSpPr>
          <p:nvPr/>
        </p:nvCxnSpPr>
        <p:spPr>
          <a:xfrm flipV="1">
            <a:off x="6375010" y="4696901"/>
            <a:ext cx="1944233" cy="29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0" name="Oval 79">
            <a:extLst>
              <a:ext uri="{FF2B5EF4-FFF2-40B4-BE49-F238E27FC236}">
                <a16:creationId xmlns:a16="http://schemas.microsoft.com/office/drawing/2014/main" id="{BDD11F87-DA81-9510-C1CB-0AF4093562CB}"/>
              </a:ext>
            </a:extLst>
          </p:cNvPr>
          <p:cNvSpPr/>
          <p:nvPr/>
        </p:nvSpPr>
        <p:spPr>
          <a:xfrm rot="5400000">
            <a:off x="7264332" y="3754803"/>
            <a:ext cx="147959" cy="1446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1" name="Straight Connector 80">
            <a:extLst>
              <a:ext uri="{FF2B5EF4-FFF2-40B4-BE49-F238E27FC236}">
                <a16:creationId xmlns:a16="http://schemas.microsoft.com/office/drawing/2014/main" id="{6205DD86-315C-53B6-CEEF-A9919650168E}"/>
              </a:ext>
            </a:extLst>
          </p:cNvPr>
          <p:cNvCxnSpPr>
            <a:cxnSpLocks/>
            <a:stCxn id="80" idx="2"/>
            <a:endCxn id="74" idx="6"/>
          </p:cNvCxnSpPr>
          <p:nvPr/>
        </p:nvCxnSpPr>
        <p:spPr>
          <a:xfrm flipH="1" flipV="1">
            <a:off x="7298017" y="2629317"/>
            <a:ext cx="40295" cy="11238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2" name="Straight Connector 81">
            <a:extLst>
              <a:ext uri="{FF2B5EF4-FFF2-40B4-BE49-F238E27FC236}">
                <a16:creationId xmlns:a16="http://schemas.microsoft.com/office/drawing/2014/main" id="{6205DD86-315C-53B6-CEEF-A9919650168E}"/>
              </a:ext>
            </a:extLst>
          </p:cNvPr>
          <p:cNvCxnSpPr>
            <a:cxnSpLocks/>
            <a:stCxn id="75" idx="1"/>
            <a:endCxn id="80" idx="5"/>
          </p:cNvCxnSpPr>
          <p:nvPr/>
        </p:nvCxnSpPr>
        <p:spPr>
          <a:xfrm flipV="1">
            <a:off x="6353922" y="3879421"/>
            <a:ext cx="933262" cy="7695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6205DD86-315C-53B6-CEEF-A9919650168E}"/>
              </a:ext>
            </a:extLst>
          </p:cNvPr>
          <p:cNvCxnSpPr>
            <a:cxnSpLocks/>
            <a:stCxn id="76" idx="3"/>
            <a:endCxn id="80" idx="7"/>
          </p:cNvCxnSpPr>
          <p:nvPr/>
        </p:nvCxnSpPr>
        <p:spPr>
          <a:xfrm flipH="1" flipV="1">
            <a:off x="7389440" y="3879421"/>
            <a:ext cx="950891" cy="7665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4" name="Oval 83">
            <a:extLst>
              <a:ext uri="{FF2B5EF4-FFF2-40B4-BE49-F238E27FC236}">
                <a16:creationId xmlns:a16="http://schemas.microsoft.com/office/drawing/2014/main" id="{BDD11F87-DA81-9510-C1CB-0AF4093562CB}"/>
              </a:ext>
            </a:extLst>
          </p:cNvPr>
          <p:cNvSpPr/>
          <p:nvPr/>
        </p:nvSpPr>
        <p:spPr>
          <a:xfrm rot="5400000">
            <a:off x="8928186" y="368406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5" name="Oval 84">
            <a:extLst>
              <a:ext uri="{FF2B5EF4-FFF2-40B4-BE49-F238E27FC236}">
                <a16:creationId xmlns:a16="http://schemas.microsoft.com/office/drawing/2014/main" id="{BDD11F87-DA81-9510-C1CB-0AF4093562CB}"/>
              </a:ext>
            </a:extLst>
          </p:cNvPr>
          <p:cNvSpPr/>
          <p:nvPr/>
        </p:nvSpPr>
        <p:spPr>
          <a:xfrm rot="5400000">
            <a:off x="9975418" y="234131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6" name="Straight Connector 85">
            <a:extLst>
              <a:ext uri="{FF2B5EF4-FFF2-40B4-BE49-F238E27FC236}">
                <a16:creationId xmlns:a16="http://schemas.microsoft.com/office/drawing/2014/main" id="{6205DD86-315C-53B6-CEEF-A9919650168E}"/>
              </a:ext>
            </a:extLst>
          </p:cNvPr>
          <p:cNvCxnSpPr>
            <a:cxnSpLocks/>
            <a:stCxn id="84" idx="3"/>
            <a:endCxn id="74" idx="7"/>
          </p:cNvCxnSpPr>
          <p:nvPr/>
        </p:nvCxnSpPr>
        <p:spPr>
          <a:xfrm flipH="1" flipV="1">
            <a:off x="7348929" y="2608229"/>
            <a:ext cx="1600345" cy="109692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86">
            <a:extLst>
              <a:ext uri="{FF2B5EF4-FFF2-40B4-BE49-F238E27FC236}">
                <a16:creationId xmlns:a16="http://schemas.microsoft.com/office/drawing/2014/main" id="{6205DD86-315C-53B6-CEEF-A9919650168E}"/>
              </a:ext>
            </a:extLst>
          </p:cNvPr>
          <p:cNvCxnSpPr>
            <a:cxnSpLocks/>
            <a:stCxn id="93" idx="4"/>
            <a:endCxn id="74" idx="0"/>
          </p:cNvCxnSpPr>
          <p:nvPr/>
        </p:nvCxnSpPr>
        <p:spPr>
          <a:xfrm flipH="1" flipV="1">
            <a:off x="7370017" y="2557317"/>
            <a:ext cx="1142812" cy="2205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8" name="Straight Connector 87">
            <a:extLst>
              <a:ext uri="{FF2B5EF4-FFF2-40B4-BE49-F238E27FC236}">
                <a16:creationId xmlns:a16="http://schemas.microsoft.com/office/drawing/2014/main" id="{6205DD86-315C-53B6-CEEF-A9919650168E}"/>
              </a:ext>
            </a:extLst>
          </p:cNvPr>
          <p:cNvCxnSpPr>
            <a:cxnSpLocks/>
            <a:stCxn id="84" idx="2"/>
            <a:endCxn id="85" idx="5"/>
          </p:cNvCxnSpPr>
          <p:nvPr/>
        </p:nvCxnSpPr>
        <p:spPr>
          <a:xfrm flipV="1">
            <a:off x="9000186" y="2464229"/>
            <a:ext cx="996320" cy="1219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9" name="Oval 88">
            <a:extLst>
              <a:ext uri="{FF2B5EF4-FFF2-40B4-BE49-F238E27FC236}">
                <a16:creationId xmlns:a16="http://schemas.microsoft.com/office/drawing/2014/main" id="{BDD11F87-DA81-9510-C1CB-0AF4093562CB}"/>
              </a:ext>
            </a:extLst>
          </p:cNvPr>
          <p:cNvSpPr/>
          <p:nvPr/>
        </p:nvSpPr>
        <p:spPr>
          <a:xfrm rot="5400000">
            <a:off x="8536975" y="1616179"/>
            <a:ext cx="147959" cy="1446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0" name="Straight Connector 89">
            <a:extLst>
              <a:ext uri="{FF2B5EF4-FFF2-40B4-BE49-F238E27FC236}">
                <a16:creationId xmlns:a16="http://schemas.microsoft.com/office/drawing/2014/main" id="{6205DD86-315C-53B6-CEEF-A9919650168E}"/>
              </a:ext>
            </a:extLst>
          </p:cNvPr>
          <p:cNvCxnSpPr>
            <a:cxnSpLocks/>
            <a:stCxn id="89" idx="5"/>
            <a:endCxn id="74" idx="0"/>
          </p:cNvCxnSpPr>
          <p:nvPr/>
        </p:nvCxnSpPr>
        <p:spPr>
          <a:xfrm flipH="1">
            <a:off x="7370017" y="1740797"/>
            <a:ext cx="1189810" cy="8165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6205DD86-315C-53B6-CEEF-A9919650168E}"/>
              </a:ext>
            </a:extLst>
          </p:cNvPr>
          <p:cNvCxnSpPr>
            <a:cxnSpLocks/>
            <a:stCxn id="84" idx="2"/>
            <a:endCxn id="89" idx="6"/>
          </p:cNvCxnSpPr>
          <p:nvPr/>
        </p:nvCxnSpPr>
        <p:spPr>
          <a:xfrm flipH="1" flipV="1">
            <a:off x="8610955" y="1762465"/>
            <a:ext cx="389231" cy="19216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6205DD86-315C-53B6-CEEF-A9919650168E}"/>
              </a:ext>
            </a:extLst>
          </p:cNvPr>
          <p:cNvCxnSpPr>
            <a:cxnSpLocks/>
            <a:stCxn id="85" idx="3"/>
            <a:endCxn id="89" idx="7"/>
          </p:cNvCxnSpPr>
          <p:nvPr/>
        </p:nvCxnSpPr>
        <p:spPr>
          <a:xfrm flipH="1" flipV="1">
            <a:off x="8662083" y="1740797"/>
            <a:ext cx="1334423" cy="6216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3" name="Oval 92">
            <a:extLst>
              <a:ext uri="{FF2B5EF4-FFF2-40B4-BE49-F238E27FC236}">
                <a16:creationId xmlns:a16="http://schemas.microsoft.com/office/drawing/2014/main" id="{BDD11F87-DA81-9510-C1CB-0AF4093562CB}"/>
              </a:ext>
            </a:extLst>
          </p:cNvPr>
          <p:cNvSpPr/>
          <p:nvPr/>
        </p:nvSpPr>
        <p:spPr>
          <a:xfrm rot="5400000">
            <a:off x="8511155" y="2705516"/>
            <a:ext cx="147959" cy="1446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94" name="Straight Connector 93">
            <a:extLst>
              <a:ext uri="{FF2B5EF4-FFF2-40B4-BE49-F238E27FC236}">
                <a16:creationId xmlns:a16="http://schemas.microsoft.com/office/drawing/2014/main" id="{6205DD86-315C-53B6-CEEF-A9919650168E}"/>
              </a:ext>
            </a:extLst>
          </p:cNvPr>
          <p:cNvCxnSpPr>
            <a:cxnSpLocks/>
            <a:stCxn id="85" idx="4"/>
            <a:endCxn id="93" idx="0"/>
          </p:cNvCxnSpPr>
          <p:nvPr/>
        </p:nvCxnSpPr>
        <p:spPr>
          <a:xfrm flipH="1">
            <a:off x="8657441" y="2413317"/>
            <a:ext cx="1317977" cy="3645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5" name="Straight Connector 94">
            <a:extLst>
              <a:ext uri="{FF2B5EF4-FFF2-40B4-BE49-F238E27FC236}">
                <a16:creationId xmlns:a16="http://schemas.microsoft.com/office/drawing/2014/main" id="{6205DD86-315C-53B6-CEEF-A9919650168E}"/>
              </a:ext>
            </a:extLst>
          </p:cNvPr>
          <p:cNvCxnSpPr>
            <a:cxnSpLocks/>
            <a:stCxn id="93" idx="2"/>
            <a:endCxn id="89" idx="6"/>
          </p:cNvCxnSpPr>
          <p:nvPr/>
        </p:nvCxnSpPr>
        <p:spPr>
          <a:xfrm flipV="1">
            <a:off x="8585135" y="1762465"/>
            <a:ext cx="25820" cy="9413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6" name="Straight Connector 95">
            <a:extLst>
              <a:ext uri="{FF2B5EF4-FFF2-40B4-BE49-F238E27FC236}">
                <a16:creationId xmlns:a16="http://schemas.microsoft.com/office/drawing/2014/main" id="{6205DD86-315C-53B6-CEEF-A9919650168E}"/>
              </a:ext>
            </a:extLst>
          </p:cNvPr>
          <p:cNvCxnSpPr>
            <a:cxnSpLocks/>
            <a:stCxn id="93" idx="6"/>
            <a:endCxn id="84" idx="2"/>
          </p:cNvCxnSpPr>
          <p:nvPr/>
        </p:nvCxnSpPr>
        <p:spPr>
          <a:xfrm>
            <a:off x="8585135" y="2851802"/>
            <a:ext cx="415051" cy="83226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8" name="TextBox 97"/>
          <p:cNvSpPr txBox="1"/>
          <p:nvPr/>
        </p:nvSpPr>
        <p:spPr>
          <a:xfrm>
            <a:off x="8137234" y="2160330"/>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99" name="TextBox 98"/>
          <p:cNvSpPr txBox="1"/>
          <p:nvPr/>
        </p:nvSpPr>
        <p:spPr>
          <a:xfrm>
            <a:off x="8540189" y="1220299"/>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100" name="TextBox 99"/>
          <p:cNvSpPr txBox="1"/>
          <p:nvPr/>
        </p:nvSpPr>
        <p:spPr>
          <a:xfrm>
            <a:off x="10136863" y="2053937"/>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101" name="TextBox 100"/>
          <p:cNvSpPr txBox="1"/>
          <p:nvPr/>
        </p:nvSpPr>
        <p:spPr>
          <a:xfrm>
            <a:off x="8637586" y="3649950"/>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102" name="TextBox 101"/>
          <p:cNvSpPr txBox="1"/>
          <p:nvPr/>
        </p:nvSpPr>
        <p:spPr>
          <a:xfrm>
            <a:off x="7116411" y="2016651"/>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103" name="TextBox 102"/>
          <p:cNvSpPr txBox="1"/>
          <p:nvPr/>
        </p:nvSpPr>
        <p:spPr>
          <a:xfrm>
            <a:off x="7183139" y="3801102"/>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104" name="TextBox 103"/>
          <p:cNvSpPr txBox="1"/>
          <p:nvPr/>
        </p:nvSpPr>
        <p:spPr>
          <a:xfrm>
            <a:off x="8248354" y="4747813"/>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mc:AlternateContent xmlns:mc="http://schemas.openxmlformats.org/markup-compatibility/2006" xmlns:a14="http://schemas.microsoft.com/office/drawing/2010/main">
        <mc:Choice Requires="a14">
          <p:sp>
            <p:nvSpPr>
              <p:cNvPr id="5" name="TextBox 4"/>
              <p:cNvSpPr txBox="1"/>
              <p:nvPr/>
            </p:nvSpPr>
            <p:spPr>
              <a:xfrm>
                <a:off x="3390314" y="5271033"/>
                <a:ext cx="64677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G</m:t>
                          </m:r>
                        </m:e>
                        <m:sub>
                          <m:r>
                            <a:rPr lang="en-US" sz="2800" i="0" dirty="0" smtClean="0">
                              <a:solidFill>
                                <a:srgbClr val="002060"/>
                              </a:solidFill>
                              <a:latin typeface="Cambria Math" panose="02040503050406030204" pitchFamily="18" charset="0"/>
                            </a:rPr>
                            <m:t>1</m:t>
                          </m:r>
                        </m:sub>
                      </m:sSub>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3390314" y="5271033"/>
                <a:ext cx="646779"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p:cNvSpPr txBox="1"/>
              <p:nvPr/>
            </p:nvSpPr>
            <p:spPr>
              <a:xfrm>
                <a:off x="7183139" y="5271033"/>
                <a:ext cx="653192" cy="523220"/>
              </a:xfrm>
              <a:prstGeom prst="rect">
                <a:avLst/>
              </a:prstGeom>
              <a:noFill/>
            </p:spPr>
            <p:txBody>
              <a:bodyPr wrap="none" rtlCol="0">
                <a:spAutoFit/>
              </a:bodyPr>
              <a:lstStyle>
                <a:defPPr>
                  <a:defRPr lang="en-US"/>
                </a:defPPr>
                <a:lvl1pPr>
                  <a:defRPr sz="2800" i="0"/>
                </a:lvl1pPr>
              </a:lstStyle>
              <a:p>
                <a:pPr/>
                <a14:m>
                  <m:oMathPara xmlns:m="http://schemas.openxmlformats.org/officeDocument/2006/math">
                    <m:oMathParaPr>
                      <m:jc m:val="centerGroup"/>
                    </m:oMathParaPr>
                    <m:oMath xmlns:m="http://schemas.openxmlformats.org/officeDocument/2006/math">
                      <m:sSub>
                        <m:sSubPr>
                          <m:ctrlPr>
                            <a:rPr lang="en-US" i="1" dirty="0" smtClean="0">
                              <a:solidFill>
                                <a:srgbClr val="002060"/>
                              </a:solidFill>
                              <a:latin typeface="Cambria Math" panose="02040503050406030204" pitchFamily="18" charset="0"/>
                            </a:rPr>
                          </m:ctrlPr>
                        </m:sSubPr>
                        <m:e>
                          <m:r>
                            <m:rPr>
                              <m:sty m:val="p"/>
                            </m:rPr>
                            <a:rPr lang="en-US" dirty="0">
                              <a:solidFill>
                                <a:srgbClr val="002060"/>
                              </a:solidFill>
                              <a:latin typeface="Cambria Math" panose="02040503050406030204" pitchFamily="18" charset="0"/>
                            </a:rPr>
                            <m:t>G</m:t>
                          </m:r>
                        </m:e>
                        <m:sub>
                          <m:r>
                            <a:rPr lang="en-US" dirty="0">
                              <a:solidFill>
                                <a:srgbClr val="002060"/>
                              </a:solidFill>
                              <a:latin typeface="Cambria Math" panose="02040503050406030204" pitchFamily="18" charset="0"/>
                            </a:rPr>
                            <m:t>2</m:t>
                          </m:r>
                        </m:sub>
                      </m:sSub>
                    </m:oMath>
                  </m:oMathPara>
                </a14:m>
                <a:endParaRPr lang="en-US" dirty="0"/>
              </a:p>
            </p:txBody>
          </p:sp>
        </mc:Choice>
        <mc:Fallback xmlns="">
          <p:sp>
            <p:nvSpPr>
              <p:cNvPr id="105" name="TextBox 104"/>
              <p:cNvSpPr txBox="1">
                <a:spLocks noRot="1" noChangeAspect="1" noMove="1" noResize="1" noEditPoints="1" noAdjustHandles="1" noChangeArrowheads="1" noChangeShapeType="1" noTextEdit="1"/>
              </p:cNvSpPr>
              <p:nvPr/>
            </p:nvSpPr>
            <p:spPr>
              <a:xfrm>
                <a:off x="7183139" y="5271033"/>
                <a:ext cx="653192" cy="523220"/>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189476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Find the vertex connectivity of following graph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863444"/>
                <a:ext cx="6712725" cy="4313467"/>
              </a:xfrm>
            </p:spPr>
            <p:txBody>
              <a:bodyPr/>
              <a:lstStyle/>
              <a:p>
                <a:r>
                  <a:rPr lang="en-US" dirty="0"/>
                  <a:t>To determine the vertex connectivity of the graph, we first check if removing a single vertex can disconnect the graph.</a:t>
                </a:r>
              </a:p>
              <a:p>
                <a:r>
                  <a:rPr lang="en-US" dirty="0"/>
                  <a:t>Clearly, removing just one vertex does not disconnect the graph.</a:t>
                </a:r>
              </a:p>
              <a:p>
                <a:r>
                  <a:rPr lang="en-US" dirty="0"/>
                  <a:t>Now, consider removing two vertices.</a:t>
                </a:r>
              </a:p>
              <a:p>
                <a:r>
                  <a:rPr lang="en-US" dirty="0"/>
                  <a:t>We observe that removing the vertex</a:t>
                </a:r>
                <a14:m>
                  <m:oMath xmlns:m="http://schemas.openxmlformats.org/officeDocument/2006/math">
                    <m:r>
                      <a:rPr lang="en-US" dirty="0">
                        <a:latin typeface="Cambria Math" panose="02040503050406030204" pitchFamily="18" charset="0"/>
                      </a:rPr>
                      <m:t> {</m:t>
                    </m:r>
                    <m:r>
                      <m:rPr>
                        <m:sty m:val="p"/>
                      </m:rPr>
                      <a:rPr lang="en-US" b="0" i="0" dirty="0" smtClean="0">
                        <a:latin typeface="Cambria Math" panose="02040503050406030204" pitchFamily="18" charset="0"/>
                      </a:rPr>
                      <m:t>e</m:t>
                    </m:r>
                    <m:r>
                      <a:rPr lang="en-US" dirty="0">
                        <a:latin typeface="Cambria Math" panose="02040503050406030204" pitchFamily="18" charset="0"/>
                      </a:rPr>
                      <m:t>}</m:t>
                    </m:r>
                  </m:oMath>
                </a14:m>
                <a:r>
                  <a:rPr lang="en-US" dirty="0"/>
                  <a:t> and</a:t>
                </a:r>
                <a14:m>
                  <m:oMath xmlns:m="http://schemas.openxmlformats.org/officeDocument/2006/math">
                    <m:r>
                      <a:rPr lang="en-US" dirty="0">
                        <a:latin typeface="Cambria Math" panose="02040503050406030204" pitchFamily="18" charset="0"/>
                      </a:rPr>
                      <m:t> {</m:t>
                    </m:r>
                    <m:r>
                      <m:rPr>
                        <m:sty m:val="p"/>
                      </m:rPr>
                      <a:rPr lang="en-US" b="0" i="0" dirty="0" smtClean="0">
                        <a:latin typeface="Cambria Math" panose="02040503050406030204" pitchFamily="18" charset="0"/>
                      </a:rPr>
                      <m:t>c</m:t>
                    </m:r>
                    <m:r>
                      <a:rPr lang="en-US" dirty="0">
                        <a:latin typeface="Cambria Math" panose="02040503050406030204" pitchFamily="18" charset="0"/>
                      </a:rPr>
                      <m:t>}</m:t>
                    </m:r>
                  </m:oMath>
                </a14:m>
                <a:r>
                  <a:rPr lang="en-US" dirty="0"/>
                  <a:t> disconnects the graph. (we can find other such pair but here we need only one pair)</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863444"/>
                <a:ext cx="6712725" cy="4313467"/>
              </a:xfrm>
              <a:blipFill rotWithShape="0">
                <a:blip r:embed="rId2"/>
                <a:stretch>
                  <a:fillRect l="-1726" t="-2546" r="-1817" b="-4102"/>
                </a:stretch>
              </a:blipFill>
            </p:spPr>
            <p:txBody>
              <a:bodyPr/>
              <a:lstStyle/>
              <a:p>
                <a:r>
                  <a:rPr lang="en-US">
                    <a:noFill/>
                  </a:rPr>
                  <a:t> </a:t>
                </a:r>
              </a:p>
            </p:txBody>
          </p:sp>
        </mc:Fallback>
      </mc:AlternateContent>
      <p:sp>
        <p:nvSpPr>
          <p:cNvPr id="28" name="Oval 27">
            <a:extLst>
              <a:ext uri="{FF2B5EF4-FFF2-40B4-BE49-F238E27FC236}">
                <a16:creationId xmlns:a16="http://schemas.microsoft.com/office/drawing/2014/main" id="{BDD11F87-DA81-9510-C1CB-0AF4093562CB}"/>
              </a:ext>
            </a:extLst>
          </p:cNvPr>
          <p:cNvSpPr/>
          <p:nvPr/>
        </p:nvSpPr>
        <p:spPr>
          <a:xfrm rot="5400000">
            <a:off x="8065951" y="17480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9997090" y="17480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2" name="Straight Connector 31">
            <a:extLst>
              <a:ext uri="{FF2B5EF4-FFF2-40B4-BE49-F238E27FC236}">
                <a16:creationId xmlns:a16="http://schemas.microsoft.com/office/drawing/2014/main" id="{6205DD86-315C-53B6-CEEF-A9919650168E}"/>
              </a:ext>
            </a:extLst>
          </p:cNvPr>
          <p:cNvCxnSpPr>
            <a:cxnSpLocks/>
            <a:stCxn id="29" idx="4"/>
            <a:endCxn id="28" idx="0"/>
          </p:cNvCxnSpPr>
          <p:nvPr/>
        </p:nvCxnSpPr>
        <p:spPr>
          <a:xfrm flipH="1">
            <a:off x="8209951" y="1820036"/>
            <a:ext cx="1787139"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0" name="Oval 39">
            <a:extLst>
              <a:ext uri="{FF2B5EF4-FFF2-40B4-BE49-F238E27FC236}">
                <a16:creationId xmlns:a16="http://schemas.microsoft.com/office/drawing/2014/main" id="{BDD11F87-DA81-9510-C1CB-0AF4093562CB}"/>
              </a:ext>
            </a:extLst>
          </p:cNvPr>
          <p:cNvSpPr/>
          <p:nvPr/>
        </p:nvSpPr>
        <p:spPr>
          <a:xfrm rot="5400000">
            <a:off x="9997090" y="37642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28" idx="6"/>
            <a:endCxn id="48" idx="2"/>
          </p:cNvCxnSpPr>
          <p:nvPr/>
        </p:nvCxnSpPr>
        <p:spPr>
          <a:xfrm flipH="1">
            <a:off x="8137950" y="1892036"/>
            <a:ext cx="1" cy="18722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29" idx="6"/>
            <a:endCxn id="40" idx="2"/>
          </p:cNvCxnSpPr>
          <p:nvPr/>
        </p:nvCxnSpPr>
        <p:spPr>
          <a:xfrm>
            <a:off x="10069090" y="1892036"/>
            <a:ext cx="0" cy="18722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40" idx="4"/>
            <a:endCxn id="48" idx="0"/>
          </p:cNvCxnSpPr>
          <p:nvPr/>
        </p:nvCxnSpPr>
        <p:spPr>
          <a:xfrm flipH="1">
            <a:off x="8209950" y="3836244"/>
            <a:ext cx="178714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4" name="TextBox 43"/>
          <p:cNvSpPr txBox="1"/>
          <p:nvPr/>
        </p:nvSpPr>
        <p:spPr>
          <a:xfrm>
            <a:off x="11088197" y="2863958"/>
            <a:ext cx="356188"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45" name="TextBox 44"/>
          <p:cNvSpPr txBox="1"/>
          <p:nvPr/>
        </p:nvSpPr>
        <p:spPr>
          <a:xfrm>
            <a:off x="9913545" y="3883647"/>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46" name="TextBox 45"/>
          <p:cNvSpPr txBox="1"/>
          <p:nvPr/>
        </p:nvSpPr>
        <p:spPr>
          <a:xfrm>
            <a:off x="7052808" y="2863958"/>
            <a:ext cx="36099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p:sp>
        <p:nvSpPr>
          <p:cNvPr id="47" name="TextBox 46"/>
          <p:cNvSpPr txBox="1"/>
          <p:nvPr/>
        </p:nvSpPr>
        <p:spPr>
          <a:xfrm>
            <a:off x="7937093" y="3866068"/>
            <a:ext cx="349776"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48" name="Oval 47">
            <a:extLst>
              <a:ext uri="{FF2B5EF4-FFF2-40B4-BE49-F238E27FC236}">
                <a16:creationId xmlns:a16="http://schemas.microsoft.com/office/drawing/2014/main" id="{BDD11F87-DA81-9510-C1CB-0AF4093562CB}"/>
              </a:ext>
            </a:extLst>
          </p:cNvPr>
          <p:cNvSpPr/>
          <p:nvPr/>
        </p:nvSpPr>
        <p:spPr>
          <a:xfrm rot="5400000">
            <a:off x="8065950" y="37642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6205DD86-315C-53B6-CEEF-A9919650168E}"/>
              </a:ext>
            </a:extLst>
          </p:cNvPr>
          <p:cNvCxnSpPr>
            <a:cxnSpLocks/>
            <a:stCxn id="63" idx="5"/>
            <a:endCxn id="40" idx="1"/>
          </p:cNvCxnSpPr>
          <p:nvPr/>
        </p:nvCxnSpPr>
        <p:spPr>
          <a:xfrm flipH="1">
            <a:off x="10120002" y="2879060"/>
            <a:ext cx="1063365" cy="9062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29" idx="7"/>
            <a:endCxn id="63" idx="3"/>
          </p:cNvCxnSpPr>
          <p:nvPr/>
        </p:nvCxnSpPr>
        <p:spPr>
          <a:xfrm>
            <a:off x="10120002" y="1870948"/>
            <a:ext cx="1063365" cy="90628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3" name="Oval 62">
            <a:extLst>
              <a:ext uri="{FF2B5EF4-FFF2-40B4-BE49-F238E27FC236}">
                <a16:creationId xmlns:a16="http://schemas.microsoft.com/office/drawing/2014/main" id="{BDD11F87-DA81-9510-C1CB-0AF4093562CB}"/>
              </a:ext>
            </a:extLst>
          </p:cNvPr>
          <p:cNvSpPr/>
          <p:nvPr/>
        </p:nvSpPr>
        <p:spPr>
          <a:xfrm rot="5400000">
            <a:off x="11162279" y="275614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5" name="Oval 64">
            <a:extLst>
              <a:ext uri="{FF2B5EF4-FFF2-40B4-BE49-F238E27FC236}">
                <a16:creationId xmlns:a16="http://schemas.microsoft.com/office/drawing/2014/main" id="{BDD11F87-DA81-9510-C1CB-0AF4093562CB}"/>
              </a:ext>
            </a:extLst>
          </p:cNvPr>
          <p:cNvSpPr/>
          <p:nvPr/>
        </p:nvSpPr>
        <p:spPr>
          <a:xfrm rot="5400000">
            <a:off x="7123788" y="27410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6" name="Straight Connector 65">
            <a:extLst>
              <a:ext uri="{FF2B5EF4-FFF2-40B4-BE49-F238E27FC236}">
                <a16:creationId xmlns:a16="http://schemas.microsoft.com/office/drawing/2014/main" id="{6205DD86-315C-53B6-CEEF-A9919650168E}"/>
              </a:ext>
            </a:extLst>
          </p:cNvPr>
          <p:cNvCxnSpPr>
            <a:cxnSpLocks/>
            <a:stCxn id="28" idx="5"/>
            <a:endCxn id="65" idx="1"/>
          </p:cNvCxnSpPr>
          <p:nvPr/>
        </p:nvCxnSpPr>
        <p:spPr>
          <a:xfrm flipH="1">
            <a:off x="7246700" y="1870948"/>
            <a:ext cx="840339" cy="89118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Straight Connector 66">
            <a:extLst>
              <a:ext uri="{FF2B5EF4-FFF2-40B4-BE49-F238E27FC236}">
                <a16:creationId xmlns:a16="http://schemas.microsoft.com/office/drawing/2014/main" id="{6205DD86-315C-53B6-CEEF-A9919650168E}"/>
              </a:ext>
            </a:extLst>
          </p:cNvPr>
          <p:cNvCxnSpPr>
            <a:cxnSpLocks/>
            <a:stCxn id="65" idx="7"/>
            <a:endCxn id="48" idx="3"/>
          </p:cNvCxnSpPr>
          <p:nvPr/>
        </p:nvCxnSpPr>
        <p:spPr>
          <a:xfrm>
            <a:off x="7246700" y="2863958"/>
            <a:ext cx="840338" cy="92137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8" name="TextBox 67"/>
          <p:cNvSpPr txBox="1"/>
          <p:nvPr/>
        </p:nvSpPr>
        <p:spPr>
          <a:xfrm>
            <a:off x="9927450" y="1227454"/>
            <a:ext cx="352982"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69" name="TextBox 68"/>
          <p:cNvSpPr txBox="1"/>
          <p:nvPr/>
        </p:nvSpPr>
        <p:spPr>
          <a:xfrm>
            <a:off x="7956650" y="1288080"/>
            <a:ext cx="362600" cy="523220"/>
          </a:xfrm>
          <a:prstGeom prst="rect">
            <a:avLst/>
          </a:prstGeom>
          <a:noFill/>
        </p:spPr>
        <p:txBody>
          <a:bodyPr wrap="non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cxnSp>
        <p:nvCxnSpPr>
          <p:cNvPr id="70" name="Straight Connector 69">
            <a:extLst>
              <a:ext uri="{FF2B5EF4-FFF2-40B4-BE49-F238E27FC236}">
                <a16:creationId xmlns:a16="http://schemas.microsoft.com/office/drawing/2014/main" id="{6205DD86-315C-53B6-CEEF-A9919650168E}"/>
              </a:ext>
            </a:extLst>
          </p:cNvPr>
          <p:cNvCxnSpPr>
            <a:cxnSpLocks/>
            <a:stCxn id="29" idx="5"/>
            <a:endCxn id="48" idx="1"/>
          </p:cNvCxnSpPr>
          <p:nvPr/>
        </p:nvCxnSpPr>
        <p:spPr>
          <a:xfrm flipH="1">
            <a:off x="8188862" y="1870948"/>
            <a:ext cx="1829316" cy="191438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mc:AlternateContent xmlns:mc="http://schemas.openxmlformats.org/markup-compatibility/2006" xmlns:a14="http://schemas.microsoft.com/office/drawing/2010/main">
        <mc:Choice Requires="a14">
          <p:sp>
            <p:nvSpPr>
              <p:cNvPr id="5" name="TextBox 4"/>
              <p:cNvSpPr txBox="1"/>
              <p:nvPr/>
            </p:nvSpPr>
            <p:spPr>
              <a:xfrm>
                <a:off x="8818590" y="3905606"/>
                <a:ext cx="64677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800" i="1" dirty="0" smtClean="0">
                              <a:solidFill>
                                <a:srgbClr val="002060"/>
                              </a:solidFill>
                              <a:latin typeface="Cambria Math" panose="02040503050406030204" pitchFamily="18" charset="0"/>
                            </a:rPr>
                          </m:ctrlPr>
                        </m:sSubPr>
                        <m:e>
                          <m:r>
                            <m:rPr>
                              <m:sty m:val="p"/>
                            </m:rPr>
                            <a:rPr lang="en-US" sz="2800" i="0" dirty="0" smtClean="0">
                              <a:solidFill>
                                <a:srgbClr val="002060"/>
                              </a:solidFill>
                              <a:latin typeface="Cambria Math" panose="02040503050406030204" pitchFamily="18" charset="0"/>
                            </a:rPr>
                            <m:t>G</m:t>
                          </m:r>
                        </m:e>
                        <m:sub>
                          <m:r>
                            <a:rPr lang="en-US" sz="2800" i="0" dirty="0" smtClean="0">
                              <a:solidFill>
                                <a:srgbClr val="002060"/>
                              </a:solidFill>
                              <a:latin typeface="Cambria Math" panose="02040503050406030204" pitchFamily="18" charset="0"/>
                            </a:rPr>
                            <m:t>1</m:t>
                          </m:r>
                        </m:sub>
                      </m:sSub>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8818590" y="3905606"/>
                <a:ext cx="646779" cy="523220"/>
              </a:xfrm>
              <a:prstGeom prst="rect">
                <a:avLst/>
              </a:prstGeom>
              <a:blipFill rotWithShape="0">
                <a:blip r:embed="rId3"/>
                <a:stretch>
                  <a:fillRect/>
                </a:stretch>
              </a:blipFill>
            </p:spPr>
            <p:txBody>
              <a:bodyPr/>
              <a:lstStyle/>
              <a:p>
                <a:r>
                  <a:rPr lang="en-US">
                    <a:noFill/>
                  </a:rPr>
                  <a:t> </a:t>
                </a:r>
              </a:p>
            </p:txBody>
          </p:sp>
        </mc:Fallback>
      </mc:AlternateContent>
      <p:sp>
        <p:nvSpPr>
          <p:cNvPr id="60" name="Content Placeholder 2"/>
          <p:cNvSpPr txBox="1">
            <a:spLocks/>
          </p:cNvSpPr>
          <p:nvPr/>
        </p:nvSpPr>
        <p:spPr>
          <a:xfrm>
            <a:off x="145202" y="5224426"/>
            <a:ext cx="11685727" cy="111223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So, the minimum number of vertices whose removal disconnects the graph is 2. </a:t>
            </a:r>
          </a:p>
          <a:p>
            <a:r>
              <a:rPr lang="en-US" dirty="0"/>
              <a:t>Hence, </a:t>
            </a:r>
            <a:r>
              <a:rPr lang="en-US" b="1" dirty="0"/>
              <a:t>the vertex connectivity of the graph is 2.</a:t>
            </a:r>
          </a:p>
        </p:txBody>
      </p:sp>
    </p:spTree>
    <p:extLst>
      <p:ext uri="{BB962C8B-B14F-4D97-AF65-F5344CB8AC3E}">
        <p14:creationId xmlns:p14="http://schemas.microsoft.com/office/powerpoint/2010/main" val="32352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9" presetClass="emph" presetSubtype="0" fill="hold" grpId="0" nodeType="clickEffect">
                                  <p:stCondLst>
                                    <p:cond delay="0"/>
                                  </p:stCondLst>
                                  <p:childTnLst>
                                    <p:animClr clrSpc="rgb" dir="cw">
                                      <p:cBhvr override="childStyle">
                                        <p:cTn id="22" dur="500" fill="hold"/>
                                        <p:tgtEl>
                                          <p:spTgt spid="48"/>
                                        </p:tgtEl>
                                        <p:attrNameLst>
                                          <p:attrName>style.color</p:attrName>
                                        </p:attrNameLst>
                                      </p:cBhvr>
                                      <p:to>
                                        <a:srgbClr val="FFFF00"/>
                                      </p:to>
                                    </p:animClr>
                                    <p:animClr clrSpc="rgb" dir="cw">
                                      <p:cBhvr>
                                        <p:cTn id="23" dur="500" fill="hold"/>
                                        <p:tgtEl>
                                          <p:spTgt spid="48"/>
                                        </p:tgtEl>
                                        <p:attrNameLst>
                                          <p:attrName>fillcolor</p:attrName>
                                        </p:attrNameLst>
                                      </p:cBhvr>
                                      <p:to>
                                        <a:srgbClr val="FFFF00"/>
                                      </p:to>
                                    </p:animClr>
                                    <p:set>
                                      <p:cBhvr>
                                        <p:cTn id="24" dur="500" fill="hold"/>
                                        <p:tgtEl>
                                          <p:spTgt spid="48"/>
                                        </p:tgtEl>
                                        <p:attrNameLst>
                                          <p:attrName>fill.type</p:attrName>
                                        </p:attrNameLst>
                                      </p:cBhvr>
                                      <p:to>
                                        <p:strVal val="solid"/>
                                      </p:to>
                                    </p:set>
                                    <p:set>
                                      <p:cBhvr>
                                        <p:cTn id="25" dur="500" fill="hold"/>
                                        <p:tgtEl>
                                          <p:spTgt spid="48"/>
                                        </p:tgtEl>
                                        <p:attrNameLst>
                                          <p:attrName>fill.on</p:attrName>
                                        </p:attrNameLst>
                                      </p:cBhvr>
                                      <p:to>
                                        <p:strVal val="true"/>
                                      </p:to>
                                    </p:set>
                                  </p:childTnLst>
                                </p:cTn>
                              </p:par>
                              <p:par>
                                <p:cTn id="26" presetID="19" presetClass="emph" presetSubtype="0" fill="hold" grpId="0" nodeType="withEffect">
                                  <p:stCondLst>
                                    <p:cond delay="0"/>
                                  </p:stCondLst>
                                  <p:childTnLst>
                                    <p:animClr clrSpc="rgb" dir="cw">
                                      <p:cBhvr override="childStyle">
                                        <p:cTn id="27" dur="500" fill="hold"/>
                                        <p:tgtEl>
                                          <p:spTgt spid="29"/>
                                        </p:tgtEl>
                                        <p:attrNameLst>
                                          <p:attrName>style.color</p:attrName>
                                        </p:attrNameLst>
                                      </p:cBhvr>
                                      <p:to>
                                        <a:srgbClr val="FFFF00"/>
                                      </p:to>
                                    </p:animClr>
                                    <p:animClr clrSpc="rgb" dir="cw">
                                      <p:cBhvr>
                                        <p:cTn id="28" dur="500" fill="hold"/>
                                        <p:tgtEl>
                                          <p:spTgt spid="29"/>
                                        </p:tgtEl>
                                        <p:attrNameLst>
                                          <p:attrName>fillcolor</p:attrName>
                                        </p:attrNameLst>
                                      </p:cBhvr>
                                      <p:to>
                                        <a:srgbClr val="FFFF00"/>
                                      </p:to>
                                    </p:animClr>
                                    <p:set>
                                      <p:cBhvr>
                                        <p:cTn id="29" dur="500" fill="hold"/>
                                        <p:tgtEl>
                                          <p:spTgt spid="29"/>
                                        </p:tgtEl>
                                        <p:attrNameLst>
                                          <p:attrName>fill.type</p:attrName>
                                        </p:attrNameLst>
                                      </p:cBhvr>
                                      <p:to>
                                        <p:strVal val="solid"/>
                                      </p:to>
                                    </p:set>
                                    <p:set>
                                      <p:cBhvr>
                                        <p:cTn id="30" dur="500" fill="hold"/>
                                        <p:tgtEl>
                                          <p:spTgt spid="29"/>
                                        </p:tgtEl>
                                        <p:attrNameLst>
                                          <p:attrName>fill.on</p:attrName>
                                        </p:attrNameLst>
                                      </p:cBhvr>
                                      <p:to>
                                        <p:strVal val="tru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48"/>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9"/>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47"/>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68"/>
                                        </p:tgtEl>
                                        <p:attrNameLst>
                                          <p:attrName>style.visibility</p:attrName>
                                        </p:attrNameLst>
                                      </p:cBhvr>
                                      <p:to>
                                        <p:strVal val="hidden"/>
                                      </p:to>
                                    </p:set>
                                  </p:childTnLst>
                                </p:cTn>
                              </p:par>
                            </p:childTnLst>
                          </p:cTn>
                        </p:par>
                        <p:par>
                          <p:cTn id="41" fill="hold">
                            <p:stCondLst>
                              <p:cond delay="0"/>
                            </p:stCondLst>
                            <p:childTnLst>
                              <p:par>
                                <p:cTn id="42" presetID="1" presetClass="exit" presetSubtype="0" fill="hold" nodeType="afterEffect">
                                  <p:stCondLst>
                                    <p:cond delay="0"/>
                                  </p:stCondLst>
                                  <p:childTnLst>
                                    <p:set>
                                      <p:cBhvr>
                                        <p:cTn id="43" dur="1" fill="hold">
                                          <p:stCondLst>
                                            <p:cond delay="0"/>
                                          </p:stCondLst>
                                        </p:cTn>
                                        <p:tgtEl>
                                          <p:spTgt spid="67"/>
                                        </p:tgtEl>
                                        <p:attrNameLst>
                                          <p:attrName>style.visibility</p:attrName>
                                        </p:attrNameLst>
                                      </p:cBhvr>
                                      <p:to>
                                        <p:strVal val="hidden"/>
                                      </p:to>
                                    </p:set>
                                  </p:childTnLst>
                                </p:cTn>
                              </p:par>
                            </p:childTnLst>
                          </p:cTn>
                        </p:par>
                        <p:par>
                          <p:cTn id="44" fill="hold">
                            <p:stCondLst>
                              <p:cond delay="0"/>
                            </p:stCondLst>
                            <p:childTnLst>
                              <p:par>
                                <p:cTn id="45" presetID="1" presetClass="exit" presetSubtype="0" fill="hold" nodeType="afterEffect">
                                  <p:stCondLst>
                                    <p:cond delay="0"/>
                                  </p:stCondLst>
                                  <p:childTnLst>
                                    <p:set>
                                      <p:cBhvr>
                                        <p:cTn id="46" dur="1" fill="hold">
                                          <p:stCondLst>
                                            <p:cond delay="0"/>
                                          </p:stCondLst>
                                        </p:cTn>
                                        <p:tgtEl>
                                          <p:spTgt spid="41"/>
                                        </p:tgtEl>
                                        <p:attrNameLst>
                                          <p:attrName>style.visibility</p:attrName>
                                        </p:attrNameLst>
                                      </p:cBhvr>
                                      <p:to>
                                        <p:strVal val="hidden"/>
                                      </p:to>
                                    </p:set>
                                  </p:childTnLst>
                                </p:cTn>
                              </p:par>
                            </p:childTnLst>
                          </p:cTn>
                        </p:par>
                        <p:par>
                          <p:cTn id="47" fill="hold">
                            <p:stCondLst>
                              <p:cond delay="0"/>
                            </p:stCondLst>
                            <p:childTnLst>
                              <p:par>
                                <p:cTn id="48" presetID="1" presetClass="exit" presetSubtype="0" fill="hold" nodeType="afterEffect">
                                  <p:stCondLst>
                                    <p:cond delay="0"/>
                                  </p:stCondLst>
                                  <p:childTnLst>
                                    <p:set>
                                      <p:cBhvr>
                                        <p:cTn id="49" dur="1" fill="hold">
                                          <p:stCondLst>
                                            <p:cond delay="0"/>
                                          </p:stCondLst>
                                        </p:cTn>
                                        <p:tgtEl>
                                          <p:spTgt spid="70"/>
                                        </p:tgtEl>
                                        <p:attrNameLst>
                                          <p:attrName>style.visibility</p:attrName>
                                        </p:attrNameLst>
                                      </p:cBhvr>
                                      <p:to>
                                        <p:strVal val="hidden"/>
                                      </p:to>
                                    </p:set>
                                  </p:childTnLst>
                                </p:cTn>
                              </p:par>
                            </p:childTnLst>
                          </p:cTn>
                        </p:par>
                        <p:par>
                          <p:cTn id="50" fill="hold">
                            <p:stCondLst>
                              <p:cond delay="0"/>
                            </p:stCondLst>
                            <p:childTnLst>
                              <p:par>
                                <p:cTn id="51" presetID="1" presetClass="exit" presetSubtype="0" fill="hold" nodeType="afterEffect">
                                  <p:stCondLst>
                                    <p:cond delay="0"/>
                                  </p:stCondLst>
                                  <p:childTnLst>
                                    <p:set>
                                      <p:cBhvr>
                                        <p:cTn id="52" dur="1" fill="hold">
                                          <p:stCondLst>
                                            <p:cond delay="0"/>
                                          </p:stCondLst>
                                        </p:cTn>
                                        <p:tgtEl>
                                          <p:spTgt spid="43"/>
                                        </p:tgtEl>
                                        <p:attrNameLst>
                                          <p:attrName>style.visibility</p:attrName>
                                        </p:attrNameLst>
                                      </p:cBhvr>
                                      <p:to>
                                        <p:strVal val="hidden"/>
                                      </p:to>
                                    </p:set>
                                  </p:childTnLst>
                                </p:cTn>
                              </p:par>
                            </p:childTnLst>
                          </p:cTn>
                        </p:par>
                        <p:par>
                          <p:cTn id="53" fill="hold">
                            <p:stCondLst>
                              <p:cond delay="0"/>
                            </p:stCondLst>
                            <p:childTnLst>
                              <p:par>
                                <p:cTn id="54" presetID="1" presetClass="exit" presetSubtype="0" fill="hold" nodeType="afterEffect">
                                  <p:stCondLst>
                                    <p:cond delay="0"/>
                                  </p:stCondLst>
                                  <p:childTnLst>
                                    <p:set>
                                      <p:cBhvr>
                                        <p:cTn id="55" dur="1" fill="hold">
                                          <p:stCondLst>
                                            <p:cond delay="0"/>
                                          </p:stCondLst>
                                        </p:cTn>
                                        <p:tgtEl>
                                          <p:spTgt spid="32"/>
                                        </p:tgtEl>
                                        <p:attrNameLst>
                                          <p:attrName>style.visibility</p:attrName>
                                        </p:attrNameLst>
                                      </p:cBhvr>
                                      <p:to>
                                        <p:strVal val="hidden"/>
                                      </p:to>
                                    </p:set>
                                  </p:childTnLst>
                                </p:cTn>
                              </p:par>
                            </p:childTnLst>
                          </p:cTn>
                        </p:par>
                        <p:par>
                          <p:cTn id="56" fill="hold">
                            <p:stCondLst>
                              <p:cond delay="0"/>
                            </p:stCondLst>
                            <p:childTnLst>
                              <p:par>
                                <p:cTn id="57" presetID="1" presetClass="exit" presetSubtype="0" fill="hold" nodeType="afterEffect">
                                  <p:stCondLst>
                                    <p:cond delay="0"/>
                                  </p:stCondLst>
                                  <p:childTnLst>
                                    <p:set>
                                      <p:cBhvr>
                                        <p:cTn id="58" dur="1" fill="hold">
                                          <p:stCondLst>
                                            <p:cond delay="0"/>
                                          </p:stCondLst>
                                        </p:cTn>
                                        <p:tgtEl>
                                          <p:spTgt spid="42"/>
                                        </p:tgtEl>
                                        <p:attrNameLst>
                                          <p:attrName>style.visibility</p:attrName>
                                        </p:attrNameLst>
                                      </p:cBhvr>
                                      <p:to>
                                        <p:strVal val="hidden"/>
                                      </p:to>
                                    </p:set>
                                  </p:childTnLst>
                                </p:cTn>
                              </p:par>
                            </p:childTnLst>
                          </p:cTn>
                        </p:par>
                        <p:par>
                          <p:cTn id="59" fill="hold">
                            <p:stCondLst>
                              <p:cond delay="0"/>
                            </p:stCondLst>
                            <p:childTnLst>
                              <p:par>
                                <p:cTn id="60" presetID="1" presetClass="exit" presetSubtype="0" fill="hold" nodeType="afterEffect">
                                  <p:stCondLst>
                                    <p:cond delay="0"/>
                                  </p:stCondLst>
                                  <p:childTnLst>
                                    <p:set>
                                      <p:cBhvr>
                                        <p:cTn id="61" dur="1" fill="hold">
                                          <p:stCondLst>
                                            <p:cond delay="0"/>
                                          </p:stCondLst>
                                        </p:cTn>
                                        <p:tgtEl>
                                          <p:spTgt spid="62"/>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60">
                                            <p:txEl>
                                              <p:pRg st="0" end="0"/>
                                            </p:txEl>
                                          </p:spTgt>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6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47" grpId="0"/>
      <p:bldP spid="48" grpId="0" animBg="1"/>
      <p:bldP spid="48" grpId="1" animBg="1"/>
      <p:bldP spid="6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Find the vertex connectivity of following graph</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863444"/>
                <a:ext cx="6712725" cy="4313467"/>
              </a:xfrm>
            </p:spPr>
            <p:txBody>
              <a:bodyPr/>
              <a:lstStyle/>
              <a:p>
                <a:r>
                  <a:rPr lang="en-US" dirty="0"/>
                  <a:t>To determine the vertex connectivity of the graph, we first check if removing a single vertex can disconnect the graph.</a:t>
                </a:r>
              </a:p>
              <a:p>
                <a:r>
                  <a:rPr lang="en-US" dirty="0"/>
                  <a:t>We observe that removing the vertex</a:t>
                </a:r>
                <a14:m>
                  <m:oMath xmlns:m="http://schemas.openxmlformats.org/officeDocument/2006/math">
                    <m:r>
                      <a:rPr lang="en-US" dirty="0">
                        <a:latin typeface="Cambria Math" panose="02040503050406030204" pitchFamily="18" charset="0"/>
                      </a:rPr>
                      <m:t> {</m:t>
                    </m:r>
                    <m:r>
                      <m:rPr>
                        <m:sty m:val="p"/>
                      </m:rPr>
                      <a:rPr lang="en-US" b="0" i="0" dirty="0" smtClean="0">
                        <a:latin typeface="Cambria Math" panose="02040503050406030204" pitchFamily="18" charset="0"/>
                      </a:rPr>
                      <m:t>d</m:t>
                    </m:r>
                    <m:r>
                      <a:rPr lang="en-US" dirty="0">
                        <a:latin typeface="Cambria Math" panose="02040503050406030204" pitchFamily="18" charset="0"/>
                      </a:rPr>
                      <m:t>}</m:t>
                    </m:r>
                  </m:oMath>
                </a14:m>
                <a:r>
                  <a:rPr lang="en-US" dirty="0"/>
                  <a:t> disconnects the graph.</a:t>
                </a:r>
              </a:p>
              <a:p>
                <a:r>
                  <a:rPr lang="en-US" dirty="0"/>
                  <a:t>So, the minimum number of vertices whose removal disconnects the graph is 1. </a:t>
                </a:r>
              </a:p>
              <a:p>
                <a:r>
                  <a:rPr lang="en-US" dirty="0"/>
                  <a:t>Hence, </a:t>
                </a:r>
                <a:r>
                  <a:rPr lang="en-US" b="1" dirty="0"/>
                  <a:t>the vertex connectivity of the graph is 1.</a:t>
                </a:r>
                <a:r>
                  <a:rPr lang="en-US"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863444"/>
                <a:ext cx="6712725" cy="4313467"/>
              </a:xfrm>
              <a:blipFill rotWithShape="0">
                <a:blip r:embed="rId2"/>
                <a:stretch>
                  <a:fillRect l="-1726" t="-2546" r="-1817"/>
                </a:stretch>
              </a:blipFill>
            </p:spPr>
            <p:txBody>
              <a:bodyPr/>
              <a:lstStyle/>
              <a:p>
                <a:r>
                  <a:rPr lang="en-US">
                    <a:noFill/>
                  </a:rPr>
                  <a:t> </a:t>
                </a:r>
              </a:p>
            </p:txBody>
          </p:sp>
        </mc:Fallback>
      </mc:AlternateContent>
      <p:sp>
        <p:nvSpPr>
          <p:cNvPr id="27" name="TextBox 26"/>
          <p:cNvSpPr txBox="1"/>
          <p:nvPr/>
        </p:nvSpPr>
        <p:spPr>
          <a:xfrm>
            <a:off x="7598818" y="4390958"/>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a</a:t>
            </a:r>
          </a:p>
        </p:txBody>
      </p:sp>
      <p:sp>
        <p:nvSpPr>
          <p:cNvPr id="30" name="Oval 29">
            <a:extLst>
              <a:ext uri="{FF2B5EF4-FFF2-40B4-BE49-F238E27FC236}">
                <a16:creationId xmlns:a16="http://schemas.microsoft.com/office/drawing/2014/main" id="{BDD11F87-DA81-9510-C1CB-0AF4093562CB}"/>
              </a:ext>
            </a:extLst>
          </p:cNvPr>
          <p:cNvSpPr/>
          <p:nvPr/>
        </p:nvSpPr>
        <p:spPr>
          <a:xfrm rot="5400000">
            <a:off x="8703125" y="21284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1" name="Oval 30">
            <a:extLst>
              <a:ext uri="{FF2B5EF4-FFF2-40B4-BE49-F238E27FC236}">
                <a16:creationId xmlns:a16="http://schemas.microsoft.com/office/drawing/2014/main" id="{BDD11F87-DA81-9510-C1CB-0AF4093562CB}"/>
              </a:ext>
            </a:extLst>
          </p:cNvPr>
          <p:cNvSpPr/>
          <p:nvPr/>
        </p:nvSpPr>
        <p:spPr>
          <a:xfrm rot="5400000">
            <a:off x="7708118" y="427098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BDD11F87-DA81-9510-C1CB-0AF4093562CB}"/>
              </a:ext>
            </a:extLst>
          </p:cNvPr>
          <p:cNvSpPr/>
          <p:nvPr/>
        </p:nvSpPr>
        <p:spPr>
          <a:xfrm rot="5400000">
            <a:off x="9796351" y="42680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4" name="Straight Connector 33">
            <a:extLst>
              <a:ext uri="{FF2B5EF4-FFF2-40B4-BE49-F238E27FC236}">
                <a16:creationId xmlns:a16="http://schemas.microsoft.com/office/drawing/2014/main" id="{6205DD86-315C-53B6-CEEF-A9919650168E}"/>
              </a:ext>
            </a:extLst>
          </p:cNvPr>
          <p:cNvCxnSpPr>
            <a:cxnSpLocks/>
            <a:stCxn id="31" idx="2"/>
            <a:endCxn id="30" idx="5"/>
          </p:cNvCxnSpPr>
          <p:nvPr/>
        </p:nvCxnSpPr>
        <p:spPr>
          <a:xfrm flipV="1">
            <a:off x="7780118" y="2251374"/>
            <a:ext cx="944095" cy="20196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6205DD86-315C-53B6-CEEF-A9919650168E}"/>
              </a:ext>
            </a:extLst>
          </p:cNvPr>
          <p:cNvCxnSpPr>
            <a:cxnSpLocks/>
            <a:stCxn id="33" idx="2"/>
            <a:endCxn id="30" idx="7"/>
          </p:cNvCxnSpPr>
          <p:nvPr/>
        </p:nvCxnSpPr>
        <p:spPr>
          <a:xfrm flipH="1" flipV="1">
            <a:off x="8826037" y="2251374"/>
            <a:ext cx="1042314" cy="20166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6205DD86-315C-53B6-CEEF-A9919650168E}"/>
              </a:ext>
            </a:extLst>
          </p:cNvPr>
          <p:cNvCxnSpPr>
            <a:cxnSpLocks/>
            <a:stCxn id="31" idx="0"/>
            <a:endCxn id="33" idx="4"/>
          </p:cNvCxnSpPr>
          <p:nvPr/>
        </p:nvCxnSpPr>
        <p:spPr>
          <a:xfrm flipV="1">
            <a:off x="7852118" y="4340046"/>
            <a:ext cx="1944233" cy="29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7" name="Oval 36">
            <a:extLst>
              <a:ext uri="{FF2B5EF4-FFF2-40B4-BE49-F238E27FC236}">
                <a16:creationId xmlns:a16="http://schemas.microsoft.com/office/drawing/2014/main" id="{BDD11F87-DA81-9510-C1CB-0AF4093562CB}"/>
              </a:ext>
            </a:extLst>
          </p:cNvPr>
          <p:cNvSpPr/>
          <p:nvPr/>
        </p:nvSpPr>
        <p:spPr>
          <a:xfrm rot="5400000">
            <a:off x="8741440" y="3397948"/>
            <a:ext cx="147959" cy="1446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8" name="Straight Connector 37">
            <a:extLst>
              <a:ext uri="{FF2B5EF4-FFF2-40B4-BE49-F238E27FC236}">
                <a16:creationId xmlns:a16="http://schemas.microsoft.com/office/drawing/2014/main" id="{6205DD86-315C-53B6-CEEF-A9919650168E}"/>
              </a:ext>
            </a:extLst>
          </p:cNvPr>
          <p:cNvCxnSpPr>
            <a:cxnSpLocks/>
            <a:stCxn id="37" idx="2"/>
            <a:endCxn id="30" idx="6"/>
          </p:cNvCxnSpPr>
          <p:nvPr/>
        </p:nvCxnSpPr>
        <p:spPr>
          <a:xfrm flipH="1" flipV="1">
            <a:off x="8775125" y="2272462"/>
            <a:ext cx="40295" cy="11238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205DD86-315C-53B6-CEEF-A9919650168E}"/>
              </a:ext>
            </a:extLst>
          </p:cNvPr>
          <p:cNvCxnSpPr>
            <a:cxnSpLocks/>
            <a:stCxn id="31" idx="1"/>
            <a:endCxn id="37" idx="5"/>
          </p:cNvCxnSpPr>
          <p:nvPr/>
        </p:nvCxnSpPr>
        <p:spPr>
          <a:xfrm flipV="1">
            <a:off x="7831030" y="3522566"/>
            <a:ext cx="933262" cy="7695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33" idx="3"/>
            <a:endCxn id="37" idx="7"/>
          </p:cNvCxnSpPr>
          <p:nvPr/>
        </p:nvCxnSpPr>
        <p:spPr>
          <a:xfrm flipH="1" flipV="1">
            <a:off x="8866548" y="3522566"/>
            <a:ext cx="950891" cy="7665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0" name="Oval 49">
            <a:extLst>
              <a:ext uri="{FF2B5EF4-FFF2-40B4-BE49-F238E27FC236}">
                <a16:creationId xmlns:a16="http://schemas.microsoft.com/office/drawing/2014/main" id="{BDD11F87-DA81-9510-C1CB-0AF4093562CB}"/>
              </a:ext>
            </a:extLst>
          </p:cNvPr>
          <p:cNvSpPr/>
          <p:nvPr/>
        </p:nvSpPr>
        <p:spPr>
          <a:xfrm rot="5400000">
            <a:off x="10405294" y="33272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1" name="Oval 50">
            <a:extLst>
              <a:ext uri="{FF2B5EF4-FFF2-40B4-BE49-F238E27FC236}">
                <a16:creationId xmlns:a16="http://schemas.microsoft.com/office/drawing/2014/main" id="{BDD11F87-DA81-9510-C1CB-0AF4093562CB}"/>
              </a:ext>
            </a:extLst>
          </p:cNvPr>
          <p:cNvSpPr/>
          <p:nvPr/>
        </p:nvSpPr>
        <p:spPr>
          <a:xfrm rot="5400000">
            <a:off x="11452526" y="198446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2" name="Straight Connector 51">
            <a:extLst>
              <a:ext uri="{FF2B5EF4-FFF2-40B4-BE49-F238E27FC236}">
                <a16:creationId xmlns:a16="http://schemas.microsoft.com/office/drawing/2014/main" id="{6205DD86-315C-53B6-CEEF-A9919650168E}"/>
              </a:ext>
            </a:extLst>
          </p:cNvPr>
          <p:cNvCxnSpPr>
            <a:cxnSpLocks/>
            <a:stCxn id="50" idx="3"/>
            <a:endCxn id="30" idx="7"/>
          </p:cNvCxnSpPr>
          <p:nvPr/>
        </p:nvCxnSpPr>
        <p:spPr>
          <a:xfrm flipH="1" flipV="1">
            <a:off x="8826037" y="2251374"/>
            <a:ext cx="1600345" cy="109692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6205DD86-315C-53B6-CEEF-A9919650168E}"/>
              </a:ext>
            </a:extLst>
          </p:cNvPr>
          <p:cNvCxnSpPr>
            <a:cxnSpLocks/>
            <a:stCxn id="59" idx="4"/>
            <a:endCxn id="30" idx="0"/>
          </p:cNvCxnSpPr>
          <p:nvPr/>
        </p:nvCxnSpPr>
        <p:spPr>
          <a:xfrm flipH="1" flipV="1">
            <a:off x="8847125" y="2200462"/>
            <a:ext cx="1142812" cy="2205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4" name="Straight Connector 53">
            <a:extLst>
              <a:ext uri="{FF2B5EF4-FFF2-40B4-BE49-F238E27FC236}">
                <a16:creationId xmlns:a16="http://schemas.microsoft.com/office/drawing/2014/main" id="{6205DD86-315C-53B6-CEEF-A9919650168E}"/>
              </a:ext>
            </a:extLst>
          </p:cNvPr>
          <p:cNvCxnSpPr>
            <a:cxnSpLocks/>
            <a:stCxn id="50" idx="2"/>
            <a:endCxn id="51" idx="5"/>
          </p:cNvCxnSpPr>
          <p:nvPr/>
        </p:nvCxnSpPr>
        <p:spPr>
          <a:xfrm flipV="1">
            <a:off x="10477294" y="2107374"/>
            <a:ext cx="996320" cy="1219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5" name="Oval 54">
            <a:extLst>
              <a:ext uri="{FF2B5EF4-FFF2-40B4-BE49-F238E27FC236}">
                <a16:creationId xmlns:a16="http://schemas.microsoft.com/office/drawing/2014/main" id="{BDD11F87-DA81-9510-C1CB-0AF4093562CB}"/>
              </a:ext>
            </a:extLst>
          </p:cNvPr>
          <p:cNvSpPr/>
          <p:nvPr/>
        </p:nvSpPr>
        <p:spPr>
          <a:xfrm rot="5400000">
            <a:off x="10014083" y="1259324"/>
            <a:ext cx="147959" cy="1446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6" name="Straight Connector 55">
            <a:extLst>
              <a:ext uri="{FF2B5EF4-FFF2-40B4-BE49-F238E27FC236}">
                <a16:creationId xmlns:a16="http://schemas.microsoft.com/office/drawing/2014/main" id="{6205DD86-315C-53B6-CEEF-A9919650168E}"/>
              </a:ext>
            </a:extLst>
          </p:cNvPr>
          <p:cNvCxnSpPr>
            <a:cxnSpLocks/>
            <a:stCxn id="55" idx="5"/>
            <a:endCxn id="30" idx="0"/>
          </p:cNvCxnSpPr>
          <p:nvPr/>
        </p:nvCxnSpPr>
        <p:spPr>
          <a:xfrm flipH="1">
            <a:off x="8847125" y="1383942"/>
            <a:ext cx="1189810" cy="8165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205DD86-315C-53B6-CEEF-A9919650168E}"/>
              </a:ext>
            </a:extLst>
          </p:cNvPr>
          <p:cNvCxnSpPr>
            <a:cxnSpLocks/>
            <a:stCxn id="50" idx="2"/>
            <a:endCxn id="55" idx="6"/>
          </p:cNvCxnSpPr>
          <p:nvPr/>
        </p:nvCxnSpPr>
        <p:spPr>
          <a:xfrm flipH="1" flipV="1">
            <a:off x="10088063" y="1405610"/>
            <a:ext cx="389231" cy="19216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6205DD86-315C-53B6-CEEF-A9919650168E}"/>
              </a:ext>
            </a:extLst>
          </p:cNvPr>
          <p:cNvCxnSpPr>
            <a:cxnSpLocks/>
            <a:stCxn id="51" idx="3"/>
            <a:endCxn id="55" idx="7"/>
          </p:cNvCxnSpPr>
          <p:nvPr/>
        </p:nvCxnSpPr>
        <p:spPr>
          <a:xfrm flipH="1" flipV="1">
            <a:off x="10139191" y="1383942"/>
            <a:ext cx="1334423" cy="6216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9" name="Oval 58">
            <a:extLst>
              <a:ext uri="{FF2B5EF4-FFF2-40B4-BE49-F238E27FC236}">
                <a16:creationId xmlns:a16="http://schemas.microsoft.com/office/drawing/2014/main" id="{BDD11F87-DA81-9510-C1CB-0AF4093562CB}"/>
              </a:ext>
            </a:extLst>
          </p:cNvPr>
          <p:cNvSpPr/>
          <p:nvPr/>
        </p:nvSpPr>
        <p:spPr>
          <a:xfrm rot="5400000">
            <a:off x="9988263" y="2348661"/>
            <a:ext cx="147959" cy="1446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4" name="Straight Connector 63">
            <a:extLst>
              <a:ext uri="{FF2B5EF4-FFF2-40B4-BE49-F238E27FC236}">
                <a16:creationId xmlns:a16="http://schemas.microsoft.com/office/drawing/2014/main" id="{6205DD86-315C-53B6-CEEF-A9919650168E}"/>
              </a:ext>
            </a:extLst>
          </p:cNvPr>
          <p:cNvCxnSpPr>
            <a:cxnSpLocks/>
            <a:stCxn id="51" idx="4"/>
            <a:endCxn id="59" idx="0"/>
          </p:cNvCxnSpPr>
          <p:nvPr/>
        </p:nvCxnSpPr>
        <p:spPr>
          <a:xfrm flipH="1">
            <a:off x="10134549" y="2056462"/>
            <a:ext cx="1317977" cy="3645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1" name="Straight Connector 70">
            <a:extLst>
              <a:ext uri="{FF2B5EF4-FFF2-40B4-BE49-F238E27FC236}">
                <a16:creationId xmlns:a16="http://schemas.microsoft.com/office/drawing/2014/main" id="{6205DD86-315C-53B6-CEEF-A9919650168E}"/>
              </a:ext>
            </a:extLst>
          </p:cNvPr>
          <p:cNvCxnSpPr>
            <a:cxnSpLocks/>
            <a:stCxn id="59" idx="2"/>
            <a:endCxn id="55" idx="6"/>
          </p:cNvCxnSpPr>
          <p:nvPr/>
        </p:nvCxnSpPr>
        <p:spPr>
          <a:xfrm flipV="1">
            <a:off x="10062243" y="1405610"/>
            <a:ext cx="25820" cy="9413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Straight Connector 71">
            <a:extLst>
              <a:ext uri="{FF2B5EF4-FFF2-40B4-BE49-F238E27FC236}">
                <a16:creationId xmlns:a16="http://schemas.microsoft.com/office/drawing/2014/main" id="{6205DD86-315C-53B6-CEEF-A9919650168E}"/>
              </a:ext>
            </a:extLst>
          </p:cNvPr>
          <p:cNvCxnSpPr>
            <a:cxnSpLocks/>
            <a:stCxn id="59" idx="6"/>
            <a:endCxn id="50" idx="2"/>
          </p:cNvCxnSpPr>
          <p:nvPr/>
        </p:nvCxnSpPr>
        <p:spPr>
          <a:xfrm>
            <a:off x="10062243" y="2494947"/>
            <a:ext cx="415051" cy="83226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3" name="TextBox 72"/>
          <p:cNvSpPr txBox="1"/>
          <p:nvPr/>
        </p:nvSpPr>
        <p:spPr>
          <a:xfrm>
            <a:off x="9783997" y="2436118"/>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h</a:t>
            </a:r>
          </a:p>
        </p:txBody>
      </p:sp>
      <p:sp>
        <p:nvSpPr>
          <p:cNvPr id="74" name="TextBox 73"/>
          <p:cNvSpPr txBox="1"/>
          <p:nvPr/>
        </p:nvSpPr>
        <p:spPr>
          <a:xfrm>
            <a:off x="10017297" y="863444"/>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e</a:t>
            </a:r>
          </a:p>
        </p:txBody>
      </p:sp>
      <p:sp>
        <p:nvSpPr>
          <p:cNvPr id="75" name="TextBox 74"/>
          <p:cNvSpPr txBox="1"/>
          <p:nvPr/>
        </p:nvSpPr>
        <p:spPr>
          <a:xfrm>
            <a:off x="11613971" y="1697082"/>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g</a:t>
            </a:r>
          </a:p>
        </p:txBody>
      </p:sp>
      <p:sp>
        <p:nvSpPr>
          <p:cNvPr id="76" name="TextBox 75"/>
          <p:cNvSpPr txBox="1"/>
          <p:nvPr/>
        </p:nvSpPr>
        <p:spPr>
          <a:xfrm>
            <a:off x="10114694" y="3293095"/>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f</a:t>
            </a:r>
          </a:p>
        </p:txBody>
      </p:sp>
      <p:sp>
        <p:nvSpPr>
          <p:cNvPr id="77" name="TextBox 76"/>
          <p:cNvSpPr txBox="1"/>
          <p:nvPr/>
        </p:nvSpPr>
        <p:spPr>
          <a:xfrm>
            <a:off x="8593519" y="1659796"/>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d</a:t>
            </a:r>
          </a:p>
        </p:txBody>
      </p:sp>
      <p:sp>
        <p:nvSpPr>
          <p:cNvPr id="78" name="TextBox 77"/>
          <p:cNvSpPr txBox="1"/>
          <p:nvPr/>
        </p:nvSpPr>
        <p:spPr>
          <a:xfrm>
            <a:off x="8660247" y="3444247"/>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c</a:t>
            </a:r>
          </a:p>
        </p:txBody>
      </p:sp>
      <p:sp>
        <p:nvSpPr>
          <p:cNvPr id="79" name="TextBox 78"/>
          <p:cNvSpPr txBox="1"/>
          <p:nvPr/>
        </p:nvSpPr>
        <p:spPr>
          <a:xfrm>
            <a:off x="9725462" y="4390958"/>
            <a:ext cx="362600" cy="523220"/>
          </a:xfrm>
          <a:prstGeom prst="rect">
            <a:avLst/>
          </a:prstGeom>
          <a:noFill/>
        </p:spPr>
        <p:txBody>
          <a:bodyPr wrap="square" rtlCol="0">
            <a:spAutoFit/>
          </a:bodyPr>
          <a:lstStyle/>
          <a:p>
            <a:r>
              <a:rPr lang="en-US" sz="2800" dirty="0">
                <a:solidFill>
                  <a:srgbClr val="00B0F0"/>
                </a:solidFill>
                <a:latin typeface="Roboto Condensed" panose="02000000000000000000" pitchFamily="2" charset="0"/>
                <a:ea typeface="Roboto Condensed" panose="02000000000000000000" pitchFamily="2" charset="0"/>
              </a:rPr>
              <a:t>b</a:t>
            </a:r>
          </a:p>
        </p:txBody>
      </p:sp>
      <mc:AlternateContent xmlns:mc="http://schemas.openxmlformats.org/markup-compatibility/2006" xmlns:a14="http://schemas.microsoft.com/office/drawing/2010/main">
        <mc:Choice Requires="a14">
          <p:sp>
            <p:nvSpPr>
              <p:cNvPr id="80" name="TextBox 79"/>
              <p:cNvSpPr txBox="1"/>
              <p:nvPr/>
            </p:nvSpPr>
            <p:spPr>
              <a:xfrm>
                <a:off x="9545405" y="4812714"/>
                <a:ext cx="653192" cy="523220"/>
              </a:xfrm>
              <a:prstGeom prst="rect">
                <a:avLst/>
              </a:prstGeom>
              <a:noFill/>
            </p:spPr>
            <p:txBody>
              <a:bodyPr wrap="none" rtlCol="0">
                <a:spAutoFit/>
              </a:bodyPr>
              <a:lstStyle>
                <a:defPPr>
                  <a:defRPr lang="en-US"/>
                </a:defPPr>
                <a:lvl1pPr>
                  <a:defRPr sz="2800" i="0"/>
                </a:lvl1pPr>
              </a:lstStyle>
              <a:p>
                <a:pPr/>
                <a14:m>
                  <m:oMathPara xmlns:m="http://schemas.openxmlformats.org/officeDocument/2006/math">
                    <m:oMathParaPr>
                      <m:jc m:val="centerGroup"/>
                    </m:oMathParaPr>
                    <m:oMath xmlns:m="http://schemas.openxmlformats.org/officeDocument/2006/math">
                      <m:sSub>
                        <m:sSubPr>
                          <m:ctrlPr>
                            <a:rPr lang="en-US" i="1" dirty="0" smtClean="0">
                              <a:solidFill>
                                <a:srgbClr val="002060"/>
                              </a:solidFill>
                              <a:latin typeface="Cambria Math" panose="02040503050406030204" pitchFamily="18" charset="0"/>
                            </a:rPr>
                          </m:ctrlPr>
                        </m:sSubPr>
                        <m:e>
                          <m:r>
                            <m:rPr>
                              <m:sty m:val="p"/>
                            </m:rPr>
                            <a:rPr lang="en-US" dirty="0">
                              <a:solidFill>
                                <a:srgbClr val="002060"/>
                              </a:solidFill>
                              <a:latin typeface="Cambria Math" panose="02040503050406030204" pitchFamily="18" charset="0"/>
                            </a:rPr>
                            <m:t>G</m:t>
                          </m:r>
                        </m:e>
                        <m:sub>
                          <m:r>
                            <a:rPr lang="en-US" dirty="0">
                              <a:solidFill>
                                <a:srgbClr val="002060"/>
                              </a:solidFill>
                              <a:latin typeface="Cambria Math" panose="02040503050406030204" pitchFamily="18" charset="0"/>
                            </a:rPr>
                            <m:t>2</m:t>
                          </m:r>
                        </m:sub>
                      </m:sSub>
                    </m:oMath>
                  </m:oMathPara>
                </a14:m>
                <a:endParaRPr lang="en-US" dirty="0"/>
              </a:p>
            </p:txBody>
          </p:sp>
        </mc:Choice>
        <mc:Fallback xmlns="">
          <p:sp>
            <p:nvSpPr>
              <p:cNvPr id="80" name="TextBox 79"/>
              <p:cNvSpPr txBox="1">
                <a:spLocks noRot="1" noChangeAspect="1" noMove="1" noResize="1" noEditPoints="1" noAdjustHandles="1" noChangeArrowheads="1" noChangeShapeType="1" noTextEdit="1"/>
              </p:cNvSpPr>
              <p:nvPr/>
            </p:nvSpPr>
            <p:spPr>
              <a:xfrm>
                <a:off x="9545405" y="4812714"/>
                <a:ext cx="653192" cy="523220"/>
              </a:xfrm>
              <a:prstGeom prst="rect">
                <a:avLst/>
              </a:prstGeom>
              <a:blipFill rotWithShape="0">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77298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9" presetClass="emph" presetSubtype="0" fill="hold" grpId="0" nodeType="clickEffect">
                                  <p:stCondLst>
                                    <p:cond delay="0"/>
                                  </p:stCondLst>
                                  <p:childTnLst>
                                    <p:animClr clrSpc="rgb" dir="cw">
                                      <p:cBhvr override="childStyle">
                                        <p:cTn id="14" dur="500" fill="hold"/>
                                        <p:tgtEl>
                                          <p:spTgt spid="30"/>
                                        </p:tgtEl>
                                        <p:attrNameLst>
                                          <p:attrName>style.color</p:attrName>
                                        </p:attrNameLst>
                                      </p:cBhvr>
                                      <p:to>
                                        <a:srgbClr val="FFFF00"/>
                                      </p:to>
                                    </p:animClr>
                                    <p:animClr clrSpc="rgb" dir="cw">
                                      <p:cBhvr>
                                        <p:cTn id="15" dur="500" fill="hold"/>
                                        <p:tgtEl>
                                          <p:spTgt spid="30"/>
                                        </p:tgtEl>
                                        <p:attrNameLst>
                                          <p:attrName>fillcolor</p:attrName>
                                        </p:attrNameLst>
                                      </p:cBhvr>
                                      <p:to>
                                        <a:srgbClr val="FFFF00"/>
                                      </p:to>
                                    </p:animClr>
                                    <p:set>
                                      <p:cBhvr>
                                        <p:cTn id="16" dur="500" fill="hold"/>
                                        <p:tgtEl>
                                          <p:spTgt spid="30"/>
                                        </p:tgtEl>
                                        <p:attrNameLst>
                                          <p:attrName>fill.type</p:attrName>
                                        </p:attrNameLst>
                                      </p:cBhvr>
                                      <p:to>
                                        <p:strVal val="solid"/>
                                      </p:to>
                                    </p:set>
                                    <p:set>
                                      <p:cBhvr>
                                        <p:cTn id="17" dur="500" fill="hold"/>
                                        <p:tgtEl>
                                          <p:spTgt spid="30"/>
                                        </p:tgtEl>
                                        <p:attrNameLst>
                                          <p:attrName>fill.on</p:attrName>
                                        </p:attrNameLst>
                                      </p:cBhvr>
                                      <p:to>
                                        <p:strVal val="true"/>
                                      </p:to>
                                    </p:se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grpId="1" nodeType="clickEffect">
                                  <p:stCondLst>
                                    <p:cond delay="0"/>
                                  </p:stCondLst>
                                  <p:childTnLst>
                                    <p:set>
                                      <p:cBhvr>
                                        <p:cTn id="21" dur="1" fill="hold">
                                          <p:stCondLst>
                                            <p:cond delay="0"/>
                                          </p:stCondLst>
                                        </p:cTn>
                                        <p:tgtEl>
                                          <p:spTgt spid="30"/>
                                        </p:tgtEl>
                                        <p:attrNameLst>
                                          <p:attrName>style.visibility</p:attrName>
                                        </p:attrNameLst>
                                      </p:cBhvr>
                                      <p:to>
                                        <p:strVal val="hidden"/>
                                      </p:to>
                                    </p:set>
                                  </p:childTnLst>
                                </p:cTn>
                              </p:par>
                              <p:par>
                                <p:cTn id="22" presetID="1" presetClass="exit" presetSubtype="0" fill="hold" grpId="0" nodeType="withEffect">
                                  <p:stCondLst>
                                    <p:cond delay="0"/>
                                  </p:stCondLst>
                                  <p:childTnLst>
                                    <p:set>
                                      <p:cBhvr>
                                        <p:cTn id="23" dur="1" fill="hold">
                                          <p:stCondLst>
                                            <p:cond delay="0"/>
                                          </p:stCondLst>
                                        </p:cTn>
                                        <p:tgtEl>
                                          <p:spTgt spid="77"/>
                                        </p:tgtEl>
                                        <p:attrNameLst>
                                          <p:attrName>style.visibility</p:attrName>
                                        </p:attrNameLst>
                                      </p:cBhvr>
                                      <p:to>
                                        <p:strVal val="hidden"/>
                                      </p:to>
                                    </p:set>
                                  </p:childTnLst>
                                </p:cTn>
                              </p:par>
                            </p:childTnLst>
                          </p:cTn>
                        </p:par>
                        <p:par>
                          <p:cTn id="24" fill="hold">
                            <p:stCondLst>
                              <p:cond delay="0"/>
                            </p:stCondLst>
                            <p:childTnLst>
                              <p:par>
                                <p:cTn id="25" presetID="1" presetClass="exit" presetSubtype="0" fill="hold" nodeType="afterEffect">
                                  <p:stCondLst>
                                    <p:cond delay="0"/>
                                  </p:stCondLst>
                                  <p:childTnLst>
                                    <p:set>
                                      <p:cBhvr>
                                        <p:cTn id="26" dur="1" fill="hold">
                                          <p:stCondLst>
                                            <p:cond delay="0"/>
                                          </p:stCondLst>
                                        </p:cTn>
                                        <p:tgtEl>
                                          <p:spTgt spid="56"/>
                                        </p:tgtEl>
                                        <p:attrNameLst>
                                          <p:attrName>style.visibility</p:attrName>
                                        </p:attrNameLst>
                                      </p:cBhvr>
                                      <p:to>
                                        <p:strVal val="hidden"/>
                                      </p:to>
                                    </p:set>
                                  </p:childTnLst>
                                </p:cTn>
                              </p:par>
                            </p:childTnLst>
                          </p:cTn>
                        </p:par>
                        <p:par>
                          <p:cTn id="27" fill="hold">
                            <p:stCondLst>
                              <p:cond delay="0"/>
                            </p:stCondLst>
                            <p:childTnLst>
                              <p:par>
                                <p:cTn id="28" presetID="1" presetClass="exit" presetSubtype="0" fill="hold" nodeType="afterEffect">
                                  <p:stCondLst>
                                    <p:cond delay="0"/>
                                  </p:stCondLst>
                                  <p:childTnLst>
                                    <p:set>
                                      <p:cBhvr>
                                        <p:cTn id="29" dur="1" fill="hold">
                                          <p:stCondLst>
                                            <p:cond delay="0"/>
                                          </p:stCondLst>
                                        </p:cTn>
                                        <p:tgtEl>
                                          <p:spTgt spid="53"/>
                                        </p:tgtEl>
                                        <p:attrNameLst>
                                          <p:attrName>style.visibility</p:attrName>
                                        </p:attrNameLst>
                                      </p:cBhvr>
                                      <p:to>
                                        <p:strVal val="hidden"/>
                                      </p:to>
                                    </p:set>
                                  </p:childTnLst>
                                </p:cTn>
                              </p:par>
                            </p:childTnLst>
                          </p:cTn>
                        </p:par>
                        <p:par>
                          <p:cTn id="30" fill="hold">
                            <p:stCondLst>
                              <p:cond delay="0"/>
                            </p:stCondLst>
                            <p:childTnLst>
                              <p:par>
                                <p:cTn id="31" presetID="1" presetClass="exit" presetSubtype="0" fill="hold" nodeType="afterEffect">
                                  <p:stCondLst>
                                    <p:cond delay="0"/>
                                  </p:stCondLst>
                                  <p:childTnLst>
                                    <p:set>
                                      <p:cBhvr>
                                        <p:cTn id="32" dur="1" fill="hold">
                                          <p:stCondLst>
                                            <p:cond delay="0"/>
                                          </p:stCondLst>
                                        </p:cTn>
                                        <p:tgtEl>
                                          <p:spTgt spid="52"/>
                                        </p:tgtEl>
                                        <p:attrNameLst>
                                          <p:attrName>style.visibility</p:attrName>
                                        </p:attrNameLst>
                                      </p:cBhvr>
                                      <p:to>
                                        <p:strVal val="hidden"/>
                                      </p:to>
                                    </p:set>
                                  </p:childTnLst>
                                </p:cTn>
                              </p:par>
                            </p:childTnLst>
                          </p:cTn>
                        </p:par>
                        <p:par>
                          <p:cTn id="33" fill="hold">
                            <p:stCondLst>
                              <p:cond delay="0"/>
                            </p:stCondLst>
                            <p:childTnLst>
                              <p:par>
                                <p:cTn id="34" presetID="1" presetClass="exit" presetSubtype="0" fill="hold" nodeType="afterEffect">
                                  <p:stCondLst>
                                    <p:cond delay="0"/>
                                  </p:stCondLst>
                                  <p:childTnLst>
                                    <p:set>
                                      <p:cBhvr>
                                        <p:cTn id="35" dur="1" fill="hold">
                                          <p:stCondLst>
                                            <p:cond delay="0"/>
                                          </p:stCondLst>
                                        </p:cTn>
                                        <p:tgtEl>
                                          <p:spTgt spid="35"/>
                                        </p:tgtEl>
                                        <p:attrNameLst>
                                          <p:attrName>style.visibility</p:attrName>
                                        </p:attrNameLst>
                                      </p:cBhvr>
                                      <p:to>
                                        <p:strVal val="hidden"/>
                                      </p:to>
                                    </p:set>
                                  </p:childTnLst>
                                </p:cTn>
                              </p:par>
                            </p:childTnLst>
                          </p:cTn>
                        </p:par>
                        <p:par>
                          <p:cTn id="36" fill="hold">
                            <p:stCondLst>
                              <p:cond delay="0"/>
                            </p:stCondLst>
                            <p:childTnLst>
                              <p:par>
                                <p:cTn id="37" presetID="1" presetClass="exit" presetSubtype="0" fill="hold" nodeType="afterEffect">
                                  <p:stCondLst>
                                    <p:cond delay="0"/>
                                  </p:stCondLst>
                                  <p:childTnLst>
                                    <p:set>
                                      <p:cBhvr>
                                        <p:cTn id="38" dur="1" fill="hold">
                                          <p:stCondLst>
                                            <p:cond delay="0"/>
                                          </p:stCondLst>
                                        </p:cTn>
                                        <p:tgtEl>
                                          <p:spTgt spid="38"/>
                                        </p:tgtEl>
                                        <p:attrNameLst>
                                          <p:attrName>style.visibility</p:attrName>
                                        </p:attrNameLst>
                                      </p:cBhvr>
                                      <p:to>
                                        <p:strVal val="hidden"/>
                                      </p:to>
                                    </p:set>
                                  </p:childTnLst>
                                </p:cTn>
                              </p:par>
                            </p:childTnLst>
                          </p:cTn>
                        </p:par>
                        <p:par>
                          <p:cTn id="39" fill="hold">
                            <p:stCondLst>
                              <p:cond delay="0"/>
                            </p:stCondLst>
                            <p:childTnLst>
                              <p:par>
                                <p:cTn id="40" presetID="1" presetClass="exit" presetSubtype="0" fill="hold" nodeType="afterEffect">
                                  <p:stCondLst>
                                    <p:cond delay="0"/>
                                  </p:stCondLst>
                                  <p:childTnLst>
                                    <p:set>
                                      <p:cBhvr>
                                        <p:cTn id="41" dur="1" fill="hold">
                                          <p:stCondLst>
                                            <p:cond delay="0"/>
                                          </p:stCondLst>
                                        </p:cTn>
                                        <p:tgtEl>
                                          <p:spTgt spid="34"/>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P spid="7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Separable </a:t>
            </a:r>
          </a:p>
        </p:txBody>
      </p:sp>
      <p:sp>
        <p:nvSpPr>
          <p:cNvPr id="5" name="Content Placeholder 4"/>
          <p:cNvSpPr>
            <a:spLocks noGrp="1"/>
          </p:cNvSpPr>
          <p:nvPr>
            <p:ph idx="1"/>
          </p:nvPr>
        </p:nvSpPr>
        <p:spPr/>
        <p:txBody>
          <a:bodyPr/>
          <a:lstStyle/>
          <a:p>
            <a:r>
              <a:rPr lang="en-US" dirty="0"/>
              <a:t>A connected graph is said to be </a:t>
            </a:r>
            <a:r>
              <a:rPr lang="en-US" b="1" dirty="0"/>
              <a:t>separable</a:t>
            </a:r>
            <a:r>
              <a:rPr lang="en-US" dirty="0"/>
              <a:t> if its vertex connectivity is </a:t>
            </a:r>
            <a:r>
              <a:rPr lang="en-US" dirty="0">
                <a:solidFill>
                  <a:srgbClr val="FF0000"/>
                </a:solidFill>
              </a:rPr>
              <a:t>one</a:t>
            </a:r>
            <a:r>
              <a:rPr lang="en-US" dirty="0"/>
              <a:t>.</a:t>
            </a:r>
          </a:p>
          <a:p>
            <a:r>
              <a:rPr lang="en-US" dirty="0"/>
              <a:t>Following graphs are separable.</a:t>
            </a:r>
          </a:p>
          <a:p>
            <a:pPr lvl="0"/>
            <a:r>
              <a:rPr lang="en-US" dirty="0"/>
              <a:t>In a separable graph a vertex whose removal disconnects the graph is called </a:t>
            </a:r>
            <a:r>
              <a:rPr lang="en-US" b="1" dirty="0"/>
              <a:t>a cut-vertex</a:t>
            </a:r>
            <a:r>
              <a:rPr lang="en-US" dirty="0"/>
              <a:t>, a cut-node, or an articulation point. </a:t>
            </a:r>
          </a:p>
          <a:p>
            <a:endParaRPr lang="en-US" dirty="0"/>
          </a:p>
          <a:p>
            <a:endParaRPr lang="en-US" dirty="0"/>
          </a:p>
          <a:p>
            <a:endParaRPr lang="en-US" dirty="0"/>
          </a:p>
          <a:p>
            <a:endParaRPr lang="en-US" dirty="0"/>
          </a:p>
        </p:txBody>
      </p:sp>
      <p:sp>
        <p:nvSpPr>
          <p:cNvPr id="103" name="Oval 102">
            <a:extLst>
              <a:ext uri="{FF2B5EF4-FFF2-40B4-BE49-F238E27FC236}">
                <a16:creationId xmlns:a16="http://schemas.microsoft.com/office/drawing/2014/main" id="{BDD11F87-DA81-9510-C1CB-0AF4093562CB}"/>
              </a:ext>
            </a:extLst>
          </p:cNvPr>
          <p:cNvSpPr/>
          <p:nvPr/>
        </p:nvSpPr>
        <p:spPr>
          <a:xfrm rot="5400000">
            <a:off x="2425049" y="3667065"/>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4" name="Oval 103">
            <a:extLst>
              <a:ext uri="{FF2B5EF4-FFF2-40B4-BE49-F238E27FC236}">
                <a16:creationId xmlns:a16="http://schemas.microsoft.com/office/drawing/2014/main" id="{BDD11F87-DA81-9510-C1CB-0AF4093562CB}"/>
              </a:ext>
            </a:extLst>
          </p:cNvPr>
          <p:cNvSpPr/>
          <p:nvPr/>
        </p:nvSpPr>
        <p:spPr>
          <a:xfrm rot="5400000">
            <a:off x="4585281" y="3674122"/>
            <a:ext cx="141126" cy="1440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5" name="Oval 104">
            <a:extLst>
              <a:ext uri="{FF2B5EF4-FFF2-40B4-BE49-F238E27FC236}">
                <a16:creationId xmlns:a16="http://schemas.microsoft.com/office/drawing/2014/main" id="{BDD11F87-DA81-9510-C1CB-0AF4093562CB}"/>
              </a:ext>
            </a:extLst>
          </p:cNvPr>
          <p:cNvSpPr/>
          <p:nvPr/>
        </p:nvSpPr>
        <p:spPr>
          <a:xfrm rot="5400000">
            <a:off x="2425049" y="581216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6" name="Oval 105">
            <a:extLst>
              <a:ext uri="{FF2B5EF4-FFF2-40B4-BE49-F238E27FC236}">
                <a16:creationId xmlns:a16="http://schemas.microsoft.com/office/drawing/2014/main" id="{BDD11F87-DA81-9510-C1CB-0AF4093562CB}"/>
              </a:ext>
            </a:extLst>
          </p:cNvPr>
          <p:cNvSpPr/>
          <p:nvPr/>
        </p:nvSpPr>
        <p:spPr>
          <a:xfrm rot="5400000">
            <a:off x="4585281" y="581922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7" name="Oval 106">
            <a:extLst>
              <a:ext uri="{FF2B5EF4-FFF2-40B4-BE49-F238E27FC236}">
                <a16:creationId xmlns:a16="http://schemas.microsoft.com/office/drawing/2014/main" id="{BDD11F87-DA81-9510-C1CB-0AF4093562CB}"/>
              </a:ext>
            </a:extLst>
          </p:cNvPr>
          <p:cNvSpPr/>
          <p:nvPr/>
        </p:nvSpPr>
        <p:spPr>
          <a:xfrm rot="5400000">
            <a:off x="3577169" y="472172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08" name="Straight Connector 107">
            <a:extLst>
              <a:ext uri="{FF2B5EF4-FFF2-40B4-BE49-F238E27FC236}">
                <a16:creationId xmlns:a16="http://schemas.microsoft.com/office/drawing/2014/main" id="{6205DD86-315C-53B6-CEEF-A9919650168E}"/>
              </a:ext>
            </a:extLst>
          </p:cNvPr>
          <p:cNvCxnSpPr>
            <a:cxnSpLocks/>
            <a:stCxn id="107" idx="3"/>
            <a:endCxn id="103" idx="7"/>
          </p:cNvCxnSpPr>
          <p:nvPr/>
        </p:nvCxnSpPr>
        <p:spPr>
          <a:xfrm flipH="1" flipV="1">
            <a:off x="2546524" y="3788961"/>
            <a:ext cx="1050296" cy="9548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09" name="Straight Connector 108">
            <a:extLst>
              <a:ext uri="{FF2B5EF4-FFF2-40B4-BE49-F238E27FC236}">
                <a16:creationId xmlns:a16="http://schemas.microsoft.com/office/drawing/2014/main" id="{6205DD86-315C-53B6-CEEF-A9919650168E}"/>
              </a:ext>
            </a:extLst>
          </p:cNvPr>
          <p:cNvCxnSpPr>
            <a:cxnSpLocks/>
            <a:stCxn id="106" idx="3"/>
            <a:endCxn id="107" idx="7"/>
          </p:cNvCxnSpPr>
          <p:nvPr/>
        </p:nvCxnSpPr>
        <p:spPr>
          <a:xfrm flipH="1" flipV="1">
            <a:off x="3698644" y="4843625"/>
            <a:ext cx="906288" cy="99770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0" name="Straight Connector 109">
            <a:extLst>
              <a:ext uri="{FF2B5EF4-FFF2-40B4-BE49-F238E27FC236}">
                <a16:creationId xmlns:a16="http://schemas.microsoft.com/office/drawing/2014/main" id="{6205DD86-315C-53B6-CEEF-A9919650168E}"/>
              </a:ext>
            </a:extLst>
          </p:cNvPr>
          <p:cNvCxnSpPr>
            <a:cxnSpLocks/>
            <a:stCxn id="107" idx="5"/>
            <a:endCxn id="105" idx="1"/>
          </p:cNvCxnSpPr>
          <p:nvPr/>
        </p:nvCxnSpPr>
        <p:spPr>
          <a:xfrm flipH="1">
            <a:off x="2546524" y="4843625"/>
            <a:ext cx="1050296" cy="99064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1" name="Straight Connector 110">
            <a:extLst>
              <a:ext uri="{FF2B5EF4-FFF2-40B4-BE49-F238E27FC236}">
                <a16:creationId xmlns:a16="http://schemas.microsoft.com/office/drawing/2014/main" id="{6205DD86-315C-53B6-CEEF-A9919650168E}"/>
              </a:ext>
            </a:extLst>
          </p:cNvPr>
          <p:cNvCxnSpPr>
            <a:cxnSpLocks/>
            <a:stCxn id="104" idx="5"/>
            <a:endCxn id="107" idx="1"/>
          </p:cNvCxnSpPr>
          <p:nvPr/>
        </p:nvCxnSpPr>
        <p:spPr>
          <a:xfrm flipH="1">
            <a:off x="3698644" y="3796018"/>
            <a:ext cx="906288" cy="94781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2" name="Straight Connector 111">
            <a:extLst>
              <a:ext uri="{FF2B5EF4-FFF2-40B4-BE49-F238E27FC236}">
                <a16:creationId xmlns:a16="http://schemas.microsoft.com/office/drawing/2014/main" id="{6205DD86-315C-53B6-CEEF-A9919650168E}"/>
              </a:ext>
            </a:extLst>
          </p:cNvPr>
          <p:cNvCxnSpPr>
            <a:cxnSpLocks/>
            <a:stCxn id="105" idx="2"/>
            <a:endCxn id="103" idx="6"/>
          </p:cNvCxnSpPr>
          <p:nvPr/>
        </p:nvCxnSpPr>
        <p:spPr>
          <a:xfrm flipV="1">
            <a:off x="2495612" y="3809628"/>
            <a:ext cx="0" cy="200397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3" name="Straight Connector 112">
            <a:extLst>
              <a:ext uri="{FF2B5EF4-FFF2-40B4-BE49-F238E27FC236}">
                <a16:creationId xmlns:a16="http://schemas.microsoft.com/office/drawing/2014/main" id="{6205DD86-315C-53B6-CEEF-A9919650168E}"/>
              </a:ext>
            </a:extLst>
          </p:cNvPr>
          <p:cNvCxnSpPr>
            <a:cxnSpLocks/>
            <a:stCxn id="106" idx="2"/>
            <a:endCxn id="104" idx="6"/>
          </p:cNvCxnSpPr>
          <p:nvPr/>
        </p:nvCxnSpPr>
        <p:spPr>
          <a:xfrm flipV="1">
            <a:off x="4655844" y="3816685"/>
            <a:ext cx="0" cy="200397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4" name="Straight Connector 113">
            <a:extLst>
              <a:ext uri="{FF2B5EF4-FFF2-40B4-BE49-F238E27FC236}">
                <a16:creationId xmlns:a16="http://schemas.microsoft.com/office/drawing/2014/main" id="{6205DD86-315C-53B6-CEEF-A9919650168E}"/>
              </a:ext>
            </a:extLst>
          </p:cNvPr>
          <p:cNvCxnSpPr>
            <a:cxnSpLocks/>
            <a:stCxn id="103" idx="0"/>
            <a:endCxn id="104" idx="4"/>
          </p:cNvCxnSpPr>
          <p:nvPr/>
        </p:nvCxnSpPr>
        <p:spPr>
          <a:xfrm>
            <a:off x="2567612" y="3739065"/>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5" name="Straight Connector 114">
            <a:extLst>
              <a:ext uri="{FF2B5EF4-FFF2-40B4-BE49-F238E27FC236}">
                <a16:creationId xmlns:a16="http://schemas.microsoft.com/office/drawing/2014/main" id="{6205DD86-315C-53B6-CEEF-A9919650168E}"/>
              </a:ext>
            </a:extLst>
          </p:cNvPr>
          <p:cNvCxnSpPr>
            <a:cxnSpLocks/>
            <a:stCxn id="105" idx="0"/>
            <a:endCxn id="106" idx="4"/>
          </p:cNvCxnSpPr>
          <p:nvPr/>
        </p:nvCxnSpPr>
        <p:spPr>
          <a:xfrm>
            <a:off x="2567612" y="5884166"/>
            <a:ext cx="2016232" cy="705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6" name="Oval 115">
            <a:extLst>
              <a:ext uri="{FF2B5EF4-FFF2-40B4-BE49-F238E27FC236}">
                <a16:creationId xmlns:a16="http://schemas.microsoft.com/office/drawing/2014/main" id="{BDD11F87-DA81-9510-C1CB-0AF4093562CB}"/>
              </a:ext>
            </a:extLst>
          </p:cNvPr>
          <p:cNvSpPr/>
          <p:nvPr/>
        </p:nvSpPr>
        <p:spPr>
          <a:xfrm rot="5400000">
            <a:off x="4606369" y="293928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7" name="Straight Connector 116">
            <a:extLst>
              <a:ext uri="{FF2B5EF4-FFF2-40B4-BE49-F238E27FC236}">
                <a16:creationId xmlns:a16="http://schemas.microsoft.com/office/drawing/2014/main" id="{6205DD86-315C-53B6-CEEF-A9919650168E}"/>
              </a:ext>
            </a:extLst>
          </p:cNvPr>
          <p:cNvCxnSpPr>
            <a:cxnSpLocks/>
            <a:stCxn id="116" idx="6"/>
            <a:endCxn id="104" idx="2"/>
          </p:cNvCxnSpPr>
          <p:nvPr/>
        </p:nvCxnSpPr>
        <p:spPr>
          <a:xfrm flipH="1">
            <a:off x="4655844" y="3081849"/>
            <a:ext cx="21088" cy="59371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8" name="TextBox 117"/>
          <p:cNvSpPr txBox="1"/>
          <p:nvPr/>
        </p:nvSpPr>
        <p:spPr>
          <a:xfrm>
            <a:off x="5589752" y="3531290"/>
            <a:ext cx="1270584" cy="400110"/>
          </a:xfrm>
          <a:prstGeom prst="rect">
            <a:avLst/>
          </a:prstGeom>
          <a:noFill/>
        </p:spPr>
        <p:txBody>
          <a:bodyPr wrap="square" rtlCol="0">
            <a:spAutoFit/>
          </a:bodyPr>
          <a:lstStyle/>
          <a:p>
            <a:r>
              <a:rPr lang="en-US" sz="2000" dirty="0">
                <a:solidFill>
                  <a:srgbClr val="FF0000"/>
                </a:solidFill>
                <a:latin typeface="Roboto Condensed" panose="02000000000000000000" pitchFamily="2" charset="0"/>
                <a:ea typeface="Roboto Condensed" panose="02000000000000000000" pitchFamily="2" charset="0"/>
              </a:rPr>
              <a:t>Cut vertex</a:t>
            </a:r>
          </a:p>
        </p:txBody>
      </p:sp>
      <p:sp>
        <p:nvSpPr>
          <p:cNvPr id="119" name="Oval 118">
            <a:extLst>
              <a:ext uri="{FF2B5EF4-FFF2-40B4-BE49-F238E27FC236}">
                <a16:creationId xmlns:a16="http://schemas.microsoft.com/office/drawing/2014/main" id="{BDD11F87-DA81-9510-C1CB-0AF4093562CB}"/>
              </a:ext>
            </a:extLst>
          </p:cNvPr>
          <p:cNvSpPr/>
          <p:nvPr/>
        </p:nvSpPr>
        <p:spPr>
          <a:xfrm rot="5400000">
            <a:off x="7726513" y="3669889"/>
            <a:ext cx="144000" cy="144000"/>
          </a:xfrm>
          <a:prstGeom prst="ellipse">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0" name="Oval 119">
            <a:extLst>
              <a:ext uri="{FF2B5EF4-FFF2-40B4-BE49-F238E27FC236}">
                <a16:creationId xmlns:a16="http://schemas.microsoft.com/office/drawing/2014/main" id="{BDD11F87-DA81-9510-C1CB-0AF4093562CB}"/>
              </a:ext>
            </a:extLst>
          </p:cNvPr>
          <p:cNvSpPr/>
          <p:nvPr/>
        </p:nvSpPr>
        <p:spPr>
          <a:xfrm rot="5400000">
            <a:off x="6731506" y="58124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1" name="Oval 120">
            <a:extLst>
              <a:ext uri="{FF2B5EF4-FFF2-40B4-BE49-F238E27FC236}">
                <a16:creationId xmlns:a16="http://schemas.microsoft.com/office/drawing/2014/main" id="{BDD11F87-DA81-9510-C1CB-0AF4093562CB}"/>
              </a:ext>
            </a:extLst>
          </p:cNvPr>
          <p:cNvSpPr/>
          <p:nvPr/>
        </p:nvSpPr>
        <p:spPr>
          <a:xfrm rot="5400000">
            <a:off x="8819739" y="580947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2" name="Straight Connector 121">
            <a:extLst>
              <a:ext uri="{FF2B5EF4-FFF2-40B4-BE49-F238E27FC236}">
                <a16:creationId xmlns:a16="http://schemas.microsoft.com/office/drawing/2014/main" id="{6205DD86-315C-53B6-CEEF-A9919650168E}"/>
              </a:ext>
            </a:extLst>
          </p:cNvPr>
          <p:cNvCxnSpPr>
            <a:cxnSpLocks/>
            <a:stCxn id="120" idx="2"/>
            <a:endCxn id="119" idx="5"/>
          </p:cNvCxnSpPr>
          <p:nvPr/>
        </p:nvCxnSpPr>
        <p:spPr>
          <a:xfrm flipV="1">
            <a:off x="6803506" y="3792801"/>
            <a:ext cx="944095" cy="20196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3" name="Straight Connector 122">
            <a:extLst>
              <a:ext uri="{FF2B5EF4-FFF2-40B4-BE49-F238E27FC236}">
                <a16:creationId xmlns:a16="http://schemas.microsoft.com/office/drawing/2014/main" id="{6205DD86-315C-53B6-CEEF-A9919650168E}"/>
              </a:ext>
            </a:extLst>
          </p:cNvPr>
          <p:cNvCxnSpPr>
            <a:cxnSpLocks/>
            <a:stCxn id="121" idx="2"/>
            <a:endCxn id="119" idx="7"/>
          </p:cNvCxnSpPr>
          <p:nvPr/>
        </p:nvCxnSpPr>
        <p:spPr>
          <a:xfrm flipH="1" flipV="1">
            <a:off x="7849425" y="3792801"/>
            <a:ext cx="1042314" cy="20166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4" name="Straight Connector 123">
            <a:extLst>
              <a:ext uri="{FF2B5EF4-FFF2-40B4-BE49-F238E27FC236}">
                <a16:creationId xmlns:a16="http://schemas.microsoft.com/office/drawing/2014/main" id="{6205DD86-315C-53B6-CEEF-A9919650168E}"/>
              </a:ext>
            </a:extLst>
          </p:cNvPr>
          <p:cNvCxnSpPr>
            <a:cxnSpLocks/>
            <a:stCxn id="120" idx="0"/>
            <a:endCxn id="121" idx="4"/>
          </p:cNvCxnSpPr>
          <p:nvPr/>
        </p:nvCxnSpPr>
        <p:spPr>
          <a:xfrm flipV="1">
            <a:off x="6875506" y="5881473"/>
            <a:ext cx="1944233" cy="29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5" name="Oval 124">
            <a:extLst>
              <a:ext uri="{FF2B5EF4-FFF2-40B4-BE49-F238E27FC236}">
                <a16:creationId xmlns:a16="http://schemas.microsoft.com/office/drawing/2014/main" id="{BDD11F87-DA81-9510-C1CB-0AF4093562CB}"/>
              </a:ext>
            </a:extLst>
          </p:cNvPr>
          <p:cNvSpPr/>
          <p:nvPr/>
        </p:nvSpPr>
        <p:spPr>
          <a:xfrm rot="5400000">
            <a:off x="7764828" y="4939375"/>
            <a:ext cx="147959" cy="1446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26" name="Straight Connector 125">
            <a:extLst>
              <a:ext uri="{FF2B5EF4-FFF2-40B4-BE49-F238E27FC236}">
                <a16:creationId xmlns:a16="http://schemas.microsoft.com/office/drawing/2014/main" id="{6205DD86-315C-53B6-CEEF-A9919650168E}"/>
              </a:ext>
            </a:extLst>
          </p:cNvPr>
          <p:cNvCxnSpPr>
            <a:cxnSpLocks/>
            <a:stCxn id="125" idx="2"/>
            <a:endCxn id="119" idx="6"/>
          </p:cNvCxnSpPr>
          <p:nvPr/>
        </p:nvCxnSpPr>
        <p:spPr>
          <a:xfrm flipH="1" flipV="1">
            <a:off x="7798513" y="3813889"/>
            <a:ext cx="40295" cy="112381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7" name="Straight Connector 126">
            <a:extLst>
              <a:ext uri="{FF2B5EF4-FFF2-40B4-BE49-F238E27FC236}">
                <a16:creationId xmlns:a16="http://schemas.microsoft.com/office/drawing/2014/main" id="{6205DD86-315C-53B6-CEEF-A9919650168E}"/>
              </a:ext>
            </a:extLst>
          </p:cNvPr>
          <p:cNvCxnSpPr>
            <a:cxnSpLocks/>
            <a:stCxn id="120" idx="1"/>
            <a:endCxn id="125" idx="5"/>
          </p:cNvCxnSpPr>
          <p:nvPr/>
        </p:nvCxnSpPr>
        <p:spPr>
          <a:xfrm flipV="1">
            <a:off x="6854418" y="5063993"/>
            <a:ext cx="933262" cy="7695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8" name="Straight Connector 127">
            <a:extLst>
              <a:ext uri="{FF2B5EF4-FFF2-40B4-BE49-F238E27FC236}">
                <a16:creationId xmlns:a16="http://schemas.microsoft.com/office/drawing/2014/main" id="{6205DD86-315C-53B6-CEEF-A9919650168E}"/>
              </a:ext>
            </a:extLst>
          </p:cNvPr>
          <p:cNvCxnSpPr>
            <a:cxnSpLocks/>
            <a:stCxn id="121" idx="3"/>
            <a:endCxn id="125" idx="7"/>
          </p:cNvCxnSpPr>
          <p:nvPr/>
        </p:nvCxnSpPr>
        <p:spPr>
          <a:xfrm flipH="1" flipV="1">
            <a:off x="7889936" y="5063993"/>
            <a:ext cx="950891" cy="76656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29" name="Oval 128">
            <a:extLst>
              <a:ext uri="{FF2B5EF4-FFF2-40B4-BE49-F238E27FC236}">
                <a16:creationId xmlns:a16="http://schemas.microsoft.com/office/drawing/2014/main" id="{BDD11F87-DA81-9510-C1CB-0AF4093562CB}"/>
              </a:ext>
            </a:extLst>
          </p:cNvPr>
          <p:cNvSpPr/>
          <p:nvPr/>
        </p:nvSpPr>
        <p:spPr>
          <a:xfrm rot="5400000">
            <a:off x="9428682" y="486864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0" name="Oval 129">
            <a:extLst>
              <a:ext uri="{FF2B5EF4-FFF2-40B4-BE49-F238E27FC236}">
                <a16:creationId xmlns:a16="http://schemas.microsoft.com/office/drawing/2014/main" id="{BDD11F87-DA81-9510-C1CB-0AF4093562CB}"/>
              </a:ext>
            </a:extLst>
          </p:cNvPr>
          <p:cNvSpPr/>
          <p:nvPr/>
        </p:nvSpPr>
        <p:spPr>
          <a:xfrm rot="5400000">
            <a:off x="10475914" y="352588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1" name="Straight Connector 130">
            <a:extLst>
              <a:ext uri="{FF2B5EF4-FFF2-40B4-BE49-F238E27FC236}">
                <a16:creationId xmlns:a16="http://schemas.microsoft.com/office/drawing/2014/main" id="{6205DD86-315C-53B6-CEEF-A9919650168E}"/>
              </a:ext>
            </a:extLst>
          </p:cNvPr>
          <p:cNvCxnSpPr>
            <a:cxnSpLocks/>
            <a:stCxn id="129" idx="3"/>
            <a:endCxn id="119" idx="7"/>
          </p:cNvCxnSpPr>
          <p:nvPr/>
        </p:nvCxnSpPr>
        <p:spPr>
          <a:xfrm flipH="1" flipV="1">
            <a:off x="7849425" y="3792801"/>
            <a:ext cx="1600345" cy="109692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2" name="Straight Connector 131">
            <a:extLst>
              <a:ext uri="{FF2B5EF4-FFF2-40B4-BE49-F238E27FC236}">
                <a16:creationId xmlns:a16="http://schemas.microsoft.com/office/drawing/2014/main" id="{6205DD86-315C-53B6-CEEF-A9919650168E}"/>
              </a:ext>
            </a:extLst>
          </p:cNvPr>
          <p:cNvCxnSpPr>
            <a:cxnSpLocks/>
            <a:stCxn id="138" idx="4"/>
            <a:endCxn id="119" idx="0"/>
          </p:cNvCxnSpPr>
          <p:nvPr/>
        </p:nvCxnSpPr>
        <p:spPr>
          <a:xfrm flipH="1" flipV="1">
            <a:off x="7870513" y="3741889"/>
            <a:ext cx="1142812" cy="2205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3" name="Straight Connector 132">
            <a:extLst>
              <a:ext uri="{FF2B5EF4-FFF2-40B4-BE49-F238E27FC236}">
                <a16:creationId xmlns:a16="http://schemas.microsoft.com/office/drawing/2014/main" id="{6205DD86-315C-53B6-CEEF-A9919650168E}"/>
              </a:ext>
            </a:extLst>
          </p:cNvPr>
          <p:cNvCxnSpPr>
            <a:cxnSpLocks/>
            <a:stCxn id="129" idx="2"/>
            <a:endCxn id="130" idx="5"/>
          </p:cNvCxnSpPr>
          <p:nvPr/>
        </p:nvCxnSpPr>
        <p:spPr>
          <a:xfrm flipV="1">
            <a:off x="9500682" y="3648801"/>
            <a:ext cx="996320" cy="12198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4" name="Oval 133">
            <a:extLst>
              <a:ext uri="{FF2B5EF4-FFF2-40B4-BE49-F238E27FC236}">
                <a16:creationId xmlns:a16="http://schemas.microsoft.com/office/drawing/2014/main" id="{BDD11F87-DA81-9510-C1CB-0AF4093562CB}"/>
              </a:ext>
            </a:extLst>
          </p:cNvPr>
          <p:cNvSpPr/>
          <p:nvPr/>
        </p:nvSpPr>
        <p:spPr>
          <a:xfrm rot="5400000">
            <a:off x="9037471" y="2800751"/>
            <a:ext cx="147959" cy="1446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5" name="Straight Connector 134">
            <a:extLst>
              <a:ext uri="{FF2B5EF4-FFF2-40B4-BE49-F238E27FC236}">
                <a16:creationId xmlns:a16="http://schemas.microsoft.com/office/drawing/2014/main" id="{6205DD86-315C-53B6-CEEF-A9919650168E}"/>
              </a:ext>
            </a:extLst>
          </p:cNvPr>
          <p:cNvCxnSpPr>
            <a:cxnSpLocks/>
            <a:stCxn id="134" idx="5"/>
            <a:endCxn id="119" idx="0"/>
          </p:cNvCxnSpPr>
          <p:nvPr/>
        </p:nvCxnSpPr>
        <p:spPr>
          <a:xfrm flipH="1">
            <a:off x="7870513" y="2925369"/>
            <a:ext cx="1189810" cy="8165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6" name="Straight Connector 135">
            <a:extLst>
              <a:ext uri="{FF2B5EF4-FFF2-40B4-BE49-F238E27FC236}">
                <a16:creationId xmlns:a16="http://schemas.microsoft.com/office/drawing/2014/main" id="{6205DD86-315C-53B6-CEEF-A9919650168E}"/>
              </a:ext>
            </a:extLst>
          </p:cNvPr>
          <p:cNvCxnSpPr>
            <a:cxnSpLocks/>
            <a:stCxn id="129" idx="2"/>
            <a:endCxn id="134" idx="6"/>
          </p:cNvCxnSpPr>
          <p:nvPr/>
        </p:nvCxnSpPr>
        <p:spPr>
          <a:xfrm flipH="1" flipV="1">
            <a:off x="9111451" y="2947037"/>
            <a:ext cx="389231" cy="19216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7" name="Straight Connector 136">
            <a:extLst>
              <a:ext uri="{FF2B5EF4-FFF2-40B4-BE49-F238E27FC236}">
                <a16:creationId xmlns:a16="http://schemas.microsoft.com/office/drawing/2014/main" id="{6205DD86-315C-53B6-CEEF-A9919650168E}"/>
              </a:ext>
            </a:extLst>
          </p:cNvPr>
          <p:cNvCxnSpPr>
            <a:cxnSpLocks/>
            <a:stCxn id="130" idx="3"/>
            <a:endCxn id="134" idx="7"/>
          </p:cNvCxnSpPr>
          <p:nvPr/>
        </p:nvCxnSpPr>
        <p:spPr>
          <a:xfrm flipH="1" flipV="1">
            <a:off x="9162579" y="2925369"/>
            <a:ext cx="1334423" cy="62160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38" name="Oval 137">
            <a:extLst>
              <a:ext uri="{FF2B5EF4-FFF2-40B4-BE49-F238E27FC236}">
                <a16:creationId xmlns:a16="http://schemas.microsoft.com/office/drawing/2014/main" id="{BDD11F87-DA81-9510-C1CB-0AF4093562CB}"/>
              </a:ext>
            </a:extLst>
          </p:cNvPr>
          <p:cNvSpPr/>
          <p:nvPr/>
        </p:nvSpPr>
        <p:spPr>
          <a:xfrm rot="5400000">
            <a:off x="9011651" y="3890088"/>
            <a:ext cx="147959" cy="14461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9" name="Straight Connector 138">
            <a:extLst>
              <a:ext uri="{FF2B5EF4-FFF2-40B4-BE49-F238E27FC236}">
                <a16:creationId xmlns:a16="http://schemas.microsoft.com/office/drawing/2014/main" id="{6205DD86-315C-53B6-CEEF-A9919650168E}"/>
              </a:ext>
            </a:extLst>
          </p:cNvPr>
          <p:cNvCxnSpPr>
            <a:cxnSpLocks/>
            <a:stCxn id="130" idx="4"/>
            <a:endCxn id="138" idx="0"/>
          </p:cNvCxnSpPr>
          <p:nvPr/>
        </p:nvCxnSpPr>
        <p:spPr>
          <a:xfrm flipH="1">
            <a:off x="9157937" y="3597889"/>
            <a:ext cx="1317977" cy="3645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0" name="Straight Connector 139">
            <a:extLst>
              <a:ext uri="{FF2B5EF4-FFF2-40B4-BE49-F238E27FC236}">
                <a16:creationId xmlns:a16="http://schemas.microsoft.com/office/drawing/2014/main" id="{6205DD86-315C-53B6-CEEF-A9919650168E}"/>
              </a:ext>
            </a:extLst>
          </p:cNvPr>
          <p:cNvCxnSpPr>
            <a:cxnSpLocks/>
            <a:stCxn id="138" idx="2"/>
            <a:endCxn id="134" idx="6"/>
          </p:cNvCxnSpPr>
          <p:nvPr/>
        </p:nvCxnSpPr>
        <p:spPr>
          <a:xfrm flipV="1">
            <a:off x="9085631" y="2947037"/>
            <a:ext cx="25820" cy="9413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1" name="Straight Connector 140">
            <a:extLst>
              <a:ext uri="{FF2B5EF4-FFF2-40B4-BE49-F238E27FC236}">
                <a16:creationId xmlns:a16="http://schemas.microsoft.com/office/drawing/2014/main" id="{6205DD86-315C-53B6-CEEF-A9919650168E}"/>
              </a:ext>
            </a:extLst>
          </p:cNvPr>
          <p:cNvCxnSpPr>
            <a:cxnSpLocks/>
            <a:stCxn id="138" idx="6"/>
            <a:endCxn id="129" idx="2"/>
          </p:cNvCxnSpPr>
          <p:nvPr/>
        </p:nvCxnSpPr>
        <p:spPr>
          <a:xfrm>
            <a:off x="9085631" y="4036374"/>
            <a:ext cx="415051" cy="83226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42" name="Left Arrow 141"/>
          <p:cNvSpPr/>
          <p:nvPr/>
        </p:nvSpPr>
        <p:spPr>
          <a:xfrm>
            <a:off x="4790174" y="3668502"/>
            <a:ext cx="720000" cy="1800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ight Arrow 142"/>
          <p:cNvSpPr/>
          <p:nvPr/>
        </p:nvSpPr>
        <p:spPr>
          <a:xfrm>
            <a:off x="6934513" y="3649065"/>
            <a:ext cx="720000" cy="180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TextBox 143"/>
          <p:cNvSpPr txBox="1"/>
          <p:nvPr/>
        </p:nvSpPr>
        <p:spPr>
          <a:xfrm>
            <a:off x="4329294" y="6056276"/>
            <a:ext cx="3469219" cy="523220"/>
          </a:xfrm>
          <a:prstGeom prst="rect">
            <a:avLst/>
          </a:prstGeom>
          <a:noFill/>
        </p:spPr>
        <p:txBody>
          <a:bodyPr wrap="none" rtlCol="0">
            <a:spAutoFit/>
          </a:bodyPr>
          <a:lstStyle>
            <a:defPPr>
              <a:defRPr lang="en-US"/>
            </a:defPPr>
            <a:lvl1pPr>
              <a:defRPr sz="2800" i="0"/>
            </a:lvl1pPr>
          </a:lstStyle>
          <a:p>
            <a:r>
              <a:rPr lang="en-US" b="0" i="0" dirty="0">
                <a:solidFill>
                  <a:srgbClr val="002060"/>
                </a:solidFill>
                <a:latin typeface="+mj-lt"/>
              </a:rPr>
              <a:t>Vertex connectivity is 1</a:t>
            </a:r>
            <a:endParaRPr lang="en-US" dirty="0"/>
          </a:p>
        </p:txBody>
      </p:sp>
    </p:spTree>
    <p:extLst>
      <p:ext uri="{BB962C8B-B14F-4D97-AF65-F5344CB8AC3E}">
        <p14:creationId xmlns:p14="http://schemas.microsoft.com/office/powerpoint/2010/main" val="268805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04"/>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14"/>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11"/>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13"/>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1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1" nodeType="clickEffect">
                                  <p:stCondLst>
                                    <p:cond delay="0"/>
                                  </p:stCondLst>
                                  <p:childTnLst>
                                    <p:set>
                                      <p:cBhvr>
                                        <p:cTn id="26" dur="1" fill="hold">
                                          <p:stCondLst>
                                            <p:cond delay="0"/>
                                          </p:stCondLst>
                                        </p:cTn>
                                        <p:tgtEl>
                                          <p:spTgt spid="10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19"/>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22"/>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26"/>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123"/>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31"/>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32"/>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35"/>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11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2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2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23"/>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31"/>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3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4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4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4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P spid="104" grpId="1" animBg="1"/>
      <p:bldP spid="118" grpId="0"/>
      <p:bldP spid="119" grpId="0" animBg="1"/>
      <p:bldP spid="119" grpId="1" animBg="1"/>
      <p:bldP spid="142" grpId="0" animBg="1"/>
      <p:bldP spid="143" grpId="0" animBg="1"/>
      <p:bldP spid="144"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What do you think will happen if I remove a vertex from a graph?</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131181" y="863444"/>
                <a:ext cx="8356558" cy="5590565"/>
              </a:xfrm>
            </p:spPr>
            <p:txBody>
              <a:bodyPr/>
              <a:lstStyle/>
              <a:p>
                <a:r>
                  <a:rPr lang="en-US" dirty="0"/>
                  <a:t>You already know removing a vertex can disconnect a graph...</a:t>
                </a:r>
              </a:p>
              <a:p>
                <a:r>
                  <a:rPr lang="en-US" dirty="0"/>
                  <a:t>Now we shift focus from “Disconnection” to “How Much?”</a:t>
                </a:r>
              </a:p>
              <a:p>
                <a:r>
                  <a:rPr lang="en-US" dirty="0"/>
                  <a:t>So important is </a:t>
                </a:r>
                <a:r>
                  <a:rPr lang="en-US" b="1" dirty="0"/>
                  <a:t>how many new pieces</a:t>
                </a:r>
                <a:r>
                  <a:rPr lang="en-US" dirty="0"/>
                  <a:t> it can break into?</a:t>
                </a:r>
              </a:p>
              <a:p>
                <a:r>
                  <a:rPr lang="en-US" dirty="0"/>
                  <a:t>Consider, </a:t>
                </a:r>
                <a14:m>
                  <m:oMath xmlns:m="http://schemas.openxmlformats.org/officeDocument/2006/math">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K</m:t>
                        </m:r>
                      </m:e>
                      <m:sub>
                        <m:r>
                          <a:rPr lang="en-US" b="0" i="0" smtClean="0">
                            <a:latin typeface="Cambria Math" panose="02040503050406030204" pitchFamily="18" charset="0"/>
                          </a:rPr>
                          <m:t>1,9</m:t>
                        </m:r>
                      </m:sub>
                    </m:sSub>
                  </m:oMath>
                </a14:m>
                <a:r>
                  <a:rPr lang="en-US" dirty="0"/>
                  <a:t>.</a:t>
                </a:r>
              </a:p>
              <a:p>
                <a:r>
                  <a:rPr lang="en-US" dirty="0"/>
                  <a:t>If we remove center of tree we get 9 component.</a:t>
                </a:r>
              </a:p>
              <a:p>
                <a:r>
                  <a:rPr lang="en-US" dirty="0"/>
                  <a:t>That means removal of vertex may increase more than one component.</a:t>
                </a:r>
              </a:p>
              <a:p>
                <a:r>
                  <a:rPr lang="en-US" dirty="0"/>
                  <a:t>Hence, Removing a vertex may increase the number of components by at least one.</a:t>
                </a:r>
              </a:p>
              <a:p>
                <a:pPr marL="0" indent="0">
                  <a:buNone/>
                </a:pPr>
                <a:endParaRPr lang="en-US" dirty="0"/>
              </a:p>
              <a:p>
                <a:endParaRPr lang="en-US" dirty="0"/>
              </a:p>
              <a:p>
                <a:endParaRPr lang="en-US" dirty="0"/>
              </a:p>
              <a:p>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131181" y="863444"/>
                <a:ext cx="8356558" cy="5590565"/>
              </a:xfrm>
              <a:blipFill rotWithShape="0">
                <a:blip r:embed="rId2"/>
                <a:stretch>
                  <a:fillRect l="-1387" t="-1963" r="-1533"/>
                </a:stretch>
              </a:blipFill>
            </p:spPr>
            <p:txBody>
              <a:bodyPr/>
              <a:lstStyle/>
              <a:p>
                <a:r>
                  <a:rPr lang="en-US">
                    <a:noFill/>
                  </a:rPr>
                  <a:t> </a:t>
                </a:r>
              </a:p>
            </p:txBody>
          </p:sp>
        </mc:Fallback>
      </mc:AlternateContent>
      <p:sp>
        <p:nvSpPr>
          <p:cNvPr id="46" name="Oval 45">
            <a:extLst>
              <a:ext uri="{FF2B5EF4-FFF2-40B4-BE49-F238E27FC236}">
                <a16:creationId xmlns:a16="http://schemas.microsoft.com/office/drawing/2014/main" id="{A4197692-1A04-EA71-457D-175797FDA5CE}"/>
              </a:ext>
            </a:extLst>
          </p:cNvPr>
          <p:cNvSpPr/>
          <p:nvPr/>
        </p:nvSpPr>
        <p:spPr>
          <a:xfrm rot="5400000">
            <a:off x="9678101" y="411327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7" name="Oval 46">
            <a:extLst>
              <a:ext uri="{FF2B5EF4-FFF2-40B4-BE49-F238E27FC236}">
                <a16:creationId xmlns:a16="http://schemas.microsoft.com/office/drawing/2014/main" id="{A4197692-1A04-EA71-457D-175797FDA5CE}"/>
              </a:ext>
            </a:extLst>
          </p:cNvPr>
          <p:cNvSpPr/>
          <p:nvPr/>
        </p:nvSpPr>
        <p:spPr>
          <a:xfrm rot="5400000">
            <a:off x="8959591" y="339205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8" name="Oval 47">
            <a:extLst>
              <a:ext uri="{FF2B5EF4-FFF2-40B4-BE49-F238E27FC236}">
                <a16:creationId xmlns:a16="http://schemas.microsoft.com/office/drawing/2014/main" id="{A4197692-1A04-EA71-457D-175797FDA5CE}"/>
              </a:ext>
            </a:extLst>
          </p:cNvPr>
          <p:cNvSpPr/>
          <p:nvPr/>
        </p:nvSpPr>
        <p:spPr>
          <a:xfrm rot="5400000">
            <a:off x="8958365" y="267083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9" name="Oval 48">
            <a:extLst>
              <a:ext uri="{FF2B5EF4-FFF2-40B4-BE49-F238E27FC236}">
                <a16:creationId xmlns:a16="http://schemas.microsoft.com/office/drawing/2014/main" id="{A4197692-1A04-EA71-457D-175797FDA5CE}"/>
              </a:ext>
            </a:extLst>
          </p:cNvPr>
          <p:cNvSpPr/>
          <p:nvPr/>
        </p:nvSpPr>
        <p:spPr>
          <a:xfrm rot="5400000">
            <a:off x="10355408" y="299281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0" name="Oval 49">
            <a:extLst>
              <a:ext uri="{FF2B5EF4-FFF2-40B4-BE49-F238E27FC236}">
                <a16:creationId xmlns:a16="http://schemas.microsoft.com/office/drawing/2014/main" id="{A4197692-1A04-EA71-457D-175797FDA5CE}"/>
              </a:ext>
            </a:extLst>
          </p:cNvPr>
          <p:cNvSpPr/>
          <p:nvPr/>
        </p:nvSpPr>
        <p:spPr>
          <a:xfrm rot="5400000">
            <a:off x="9672828" y="196250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1" name="Oval 50">
            <a:extLst>
              <a:ext uri="{FF2B5EF4-FFF2-40B4-BE49-F238E27FC236}">
                <a16:creationId xmlns:a16="http://schemas.microsoft.com/office/drawing/2014/main" id="{A4197692-1A04-EA71-457D-175797FDA5CE}"/>
              </a:ext>
            </a:extLst>
          </p:cNvPr>
          <p:cNvSpPr/>
          <p:nvPr/>
        </p:nvSpPr>
        <p:spPr>
          <a:xfrm rot="5400000">
            <a:off x="11118336" y="196250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2" name="Oval 51">
            <a:extLst>
              <a:ext uri="{FF2B5EF4-FFF2-40B4-BE49-F238E27FC236}">
                <a16:creationId xmlns:a16="http://schemas.microsoft.com/office/drawing/2014/main" id="{A4197692-1A04-EA71-457D-175797FDA5CE}"/>
              </a:ext>
            </a:extLst>
          </p:cNvPr>
          <p:cNvSpPr/>
          <p:nvPr/>
        </p:nvSpPr>
        <p:spPr>
          <a:xfrm rot="5400000">
            <a:off x="11838327" y="268371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3" name="Oval 52">
            <a:extLst>
              <a:ext uri="{FF2B5EF4-FFF2-40B4-BE49-F238E27FC236}">
                <a16:creationId xmlns:a16="http://schemas.microsoft.com/office/drawing/2014/main" id="{A4197692-1A04-EA71-457D-175797FDA5CE}"/>
              </a:ext>
            </a:extLst>
          </p:cNvPr>
          <p:cNvSpPr/>
          <p:nvPr/>
        </p:nvSpPr>
        <p:spPr>
          <a:xfrm rot="5400000">
            <a:off x="11837101" y="340492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4" name="Oval 53">
            <a:extLst>
              <a:ext uri="{FF2B5EF4-FFF2-40B4-BE49-F238E27FC236}">
                <a16:creationId xmlns:a16="http://schemas.microsoft.com/office/drawing/2014/main" id="{A4197692-1A04-EA71-457D-175797FDA5CE}"/>
              </a:ext>
            </a:extLst>
          </p:cNvPr>
          <p:cNvSpPr/>
          <p:nvPr/>
        </p:nvSpPr>
        <p:spPr>
          <a:xfrm rot="5400000">
            <a:off x="11114658" y="41132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5" name="Straight Connector 54">
            <a:extLst>
              <a:ext uri="{FF2B5EF4-FFF2-40B4-BE49-F238E27FC236}">
                <a16:creationId xmlns:a16="http://schemas.microsoft.com/office/drawing/2014/main" id="{66EA08EA-10E8-07B3-809B-572189B302D2}"/>
              </a:ext>
            </a:extLst>
          </p:cNvPr>
          <p:cNvCxnSpPr>
            <a:cxnSpLocks/>
            <a:stCxn id="49" idx="6"/>
            <a:endCxn id="54" idx="3"/>
          </p:cNvCxnSpPr>
          <p:nvPr/>
        </p:nvCxnSpPr>
        <p:spPr>
          <a:xfrm>
            <a:off x="10427408" y="3136811"/>
            <a:ext cx="708338" cy="99755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6" name="Straight Connector 55">
            <a:extLst>
              <a:ext uri="{FF2B5EF4-FFF2-40B4-BE49-F238E27FC236}">
                <a16:creationId xmlns:a16="http://schemas.microsoft.com/office/drawing/2014/main" id="{66EA08EA-10E8-07B3-809B-572189B302D2}"/>
              </a:ext>
            </a:extLst>
          </p:cNvPr>
          <p:cNvCxnSpPr>
            <a:cxnSpLocks/>
            <a:stCxn id="47" idx="0"/>
            <a:endCxn id="49" idx="5"/>
          </p:cNvCxnSpPr>
          <p:nvPr/>
        </p:nvCxnSpPr>
        <p:spPr>
          <a:xfrm flipV="1">
            <a:off x="9103591" y="3115723"/>
            <a:ext cx="1272905" cy="34833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66EA08EA-10E8-07B3-809B-572189B302D2}"/>
              </a:ext>
            </a:extLst>
          </p:cNvPr>
          <p:cNvCxnSpPr>
            <a:cxnSpLocks/>
            <a:stCxn id="50" idx="7"/>
            <a:endCxn id="49" idx="3"/>
          </p:cNvCxnSpPr>
          <p:nvPr/>
        </p:nvCxnSpPr>
        <p:spPr>
          <a:xfrm>
            <a:off x="9795740" y="2085414"/>
            <a:ext cx="580756" cy="92848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66EA08EA-10E8-07B3-809B-572189B302D2}"/>
              </a:ext>
            </a:extLst>
          </p:cNvPr>
          <p:cNvCxnSpPr>
            <a:cxnSpLocks/>
            <a:stCxn id="46" idx="1"/>
            <a:endCxn id="49" idx="6"/>
          </p:cNvCxnSpPr>
          <p:nvPr/>
        </p:nvCxnSpPr>
        <p:spPr>
          <a:xfrm flipV="1">
            <a:off x="9801013" y="3136811"/>
            <a:ext cx="626395" cy="99755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66EA08EA-10E8-07B3-809B-572189B302D2}"/>
              </a:ext>
            </a:extLst>
          </p:cNvPr>
          <p:cNvCxnSpPr>
            <a:cxnSpLocks/>
            <a:stCxn id="48" idx="7"/>
            <a:endCxn id="49" idx="4"/>
          </p:cNvCxnSpPr>
          <p:nvPr/>
        </p:nvCxnSpPr>
        <p:spPr>
          <a:xfrm>
            <a:off x="9081277" y="2793750"/>
            <a:ext cx="1274131" cy="27106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a:extLst>
              <a:ext uri="{FF2B5EF4-FFF2-40B4-BE49-F238E27FC236}">
                <a16:creationId xmlns:a16="http://schemas.microsoft.com/office/drawing/2014/main" id="{66EA08EA-10E8-07B3-809B-572189B302D2}"/>
              </a:ext>
            </a:extLst>
          </p:cNvPr>
          <p:cNvCxnSpPr>
            <a:cxnSpLocks/>
            <a:stCxn id="49" idx="7"/>
            <a:endCxn id="53" idx="4"/>
          </p:cNvCxnSpPr>
          <p:nvPr/>
        </p:nvCxnSpPr>
        <p:spPr>
          <a:xfrm>
            <a:off x="10478320" y="3115723"/>
            <a:ext cx="1358781" cy="36120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66EA08EA-10E8-07B3-809B-572189B302D2}"/>
              </a:ext>
            </a:extLst>
          </p:cNvPr>
          <p:cNvCxnSpPr>
            <a:cxnSpLocks/>
            <a:stCxn id="49" idx="1"/>
            <a:endCxn id="51" idx="5"/>
          </p:cNvCxnSpPr>
          <p:nvPr/>
        </p:nvCxnSpPr>
        <p:spPr>
          <a:xfrm flipV="1">
            <a:off x="10478320" y="2085413"/>
            <a:ext cx="661104" cy="92848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6EA08EA-10E8-07B3-809B-572189B302D2}"/>
              </a:ext>
            </a:extLst>
          </p:cNvPr>
          <p:cNvCxnSpPr>
            <a:cxnSpLocks/>
            <a:stCxn id="49" idx="0"/>
            <a:endCxn id="52" idx="4"/>
          </p:cNvCxnSpPr>
          <p:nvPr/>
        </p:nvCxnSpPr>
        <p:spPr>
          <a:xfrm flipV="1">
            <a:off x="10499408" y="2755718"/>
            <a:ext cx="1338919" cy="3090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3" name="Oval 62">
            <a:extLst>
              <a:ext uri="{FF2B5EF4-FFF2-40B4-BE49-F238E27FC236}">
                <a16:creationId xmlns:a16="http://schemas.microsoft.com/office/drawing/2014/main" id="{A4197692-1A04-EA71-457D-175797FDA5CE}"/>
              </a:ext>
            </a:extLst>
          </p:cNvPr>
          <p:cNvSpPr/>
          <p:nvPr/>
        </p:nvSpPr>
        <p:spPr>
          <a:xfrm rot="5400000">
            <a:off x="10355408" y="192937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4" name="Straight Connector 63">
            <a:extLst>
              <a:ext uri="{FF2B5EF4-FFF2-40B4-BE49-F238E27FC236}">
                <a16:creationId xmlns:a16="http://schemas.microsoft.com/office/drawing/2014/main" id="{66EA08EA-10E8-07B3-809B-572189B302D2}"/>
              </a:ext>
            </a:extLst>
          </p:cNvPr>
          <p:cNvCxnSpPr>
            <a:cxnSpLocks/>
            <a:stCxn id="49" idx="2"/>
            <a:endCxn id="63" idx="6"/>
          </p:cNvCxnSpPr>
          <p:nvPr/>
        </p:nvCxnSpPr>
        <p:spPr>
          <a:xfrm flipV="1">
            <a:off x="10427408" y="2073370"/>
            <a:ext cx="0" cy="919441"/>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4087293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6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3"/>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6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9" presetClass="emph" presetSubtype="0" fill="hold" grpId="1" nodeType="clickEffect">
                                  <p:stCondLst>
                                    <p:cond delay="0"/>
                                  </p:stCondLst>
                                  <p:childTnLst>
                                    <p:animClr clrSpc="rgb" dir="cw">
                                      <p:cBhvr override="childStyle">
                                        <p:cTn id="66" dur="500" fill="hold"/>
                                        <p:tgtEl>
                                          <p:spTgt spid="49"/>
                                        </p:tgtEl>
                                        <p:attrNameLst>
                                          <p:attrName>style.color</p:attrName>
                                        </p:attrNameLst>
                                      </p:cBhvr>
                                      <p:to>
                                        <a:srgbClr val="FFFF00"/>
                                      </p:to>
                                    </p:animClr>
                                    <p:animClr clrSpc="rgb" dir="cw">
                                      <p:cBhvr>
                                        <p:cTn id="67" dur="500" fill="hold"/>
                                        <p:tgtEl>
                                          <p:spTgt spid="49"/>
                                        </p:tgtEl>
                                        <p:attrNameLst>
                                          <p:attrName>fillcolor</p:attrName>
                                        </p:attrNameLst>
                                      </p:cBhvr>
                                      <p:to>
                                        <a:srgbClr val="FFFF00"/>
                                      </p:to>
                                    </p:animClr>
                                    <p:set>
                                      <p:cBhvr>
                                        <p:cTn id="68" dur="500" fill="hold"/>
                                        <p:tgtEl>
                                          <p:spTgt spid="49"/>
                                        </p:tgtEl>
                                        <p:attrNameLst>
                                          <p:attrName>fill.type</p:attrName>
                                        </p:attrNameLst>
                                      </p:cBhvr>
                                      <p:to>
                                        <p:strVal val="solid"/>
                                      </p:to>
                                    </p:set>
                                    <p:set>
                                      <p:cBhvr>
                                        <p:cTn id="69" dur="500" fill="hold"/>
                                        <p:tgtEl>
                                          <p:spTgt spid="49"/>
                                        </p:tgtEl>
                                        <p:attrNameLst>
                                          <p:attrName>fill.on</p:attrName>
                                        </p:attrNameLst>
                                      </p:cBhvr>
                                      <p:to>
                                        <p:strVal val="true"/>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grpId="2" nodeType="clickEffect">
                                  <p:stCondLst>
                                    <p:cond delay="0"/>
                                  </p:stCondLst>
                                  <p:childTnLst>
                                    <p:set>
                                      <p:cBhvr>
                                        <p:cTn id="73" dur="1" fill="hold">
                                          <p:stCondLst>
                                            <p:cond delay="0"/>
                                          </p:stCondLst>
                                        </p:cTn>
                                        <p:tgtEl>
                                          <p:spTgt spid="49"/>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55"/>
                                        </p:tgtEl>
                                        <p:attrNameLst>
                                          <p:attrName>style.visibility</p:attrName>
                                        </p:attrNameLst>
                                      </p:cBhvr>
                                      <p:to>
                                        <p:strVal val="hidden"/>
                                      </p:to>
                                    </p:set>
                                  </p:childTnLst>
                                </p:cTn>
                              </p:par>
                              <p:par>
                                <p:cTn id="76" presetID="1" presetClass="exit" presetSubtype="0" fill="hold" nodeType="withEffect">
                                  <p:stCondLst>
                                    <p:cond delay="0"/>
                                  </p:stCondLst>
                                  <p:childTnLst>
                                    <p:set>
                                      <p:cBhvr>
                                        <p:cTn id="77" dur="1" fill="hold">
                                          <p:stCondLst>
                                            <p:cond delay="0"/>
                                          </p:stCondLst>
                                        </p:cTn>
                                        <p:tgtEl>
                                          <p:spTgt spid="56"/>
                                        </p:tgtEl>
                                        <p:attrNameLst>
                                          <p:attrName>style.visibility</p:attrName>
                                        </p:attrNameLst>
                                      </p:cBhvr>
                                      <p:to>
                                        <p:strVal val="hidden"/>
                                      </p:to>
                                    </p:set>
                                  </p:childTnLst>
                                </p:cTn>
                              </p:par>
                              <p:par>
                                <p:cTn id="78" presetID="1" presetClass="exit" presetSubtype="0" fill="hold" nodeType="withEffect">
                                  <p:stCondLst>
                                    <p:cond delay="0"/>
                                  </p:stCondLst>
                                  <p:childTnLst>
                                    <p:set>
                                      <p:cBhvr>
                                        <p:cTn id="79" dur="1" fill="hold">
                                          <p:stCondLst>
                                            <p:cond delay="0"/>
                                          </p:stCondLst>
                                        </p:cTn>
                                        <p:tgtEl>
                                          <p:spTgt spid="57"/>
                                        </p:tgtEl>
                                        <p:attrNameLst>
                                          <p:attrName>style.visibility</p:attrName>
                                        </p:attrNameLst>
                                      </p:cBhvr>
                                      <p:to>
                                        <p:strVal val="hidden"/>
                                      </p:to>
                                    </p:set>
                                  </p:childTnLst>
                                </p:cTn>
                              </p:par>
                              <p:par>
                                <p:cTn id="80" presetID="1" presetClass="exit" presetSubtype="0" fill="hold" nodeType="withEffect">
                                  <p:stCondLst>
                                    <p:cond delay="0"/>
                                  </p:stCondLst>
                                  <p:childTnLst>
                                    <p:set>
                                      <p:cBhvr>
                                        <p:cTn id="81" dur="1" fill="hold">
                                          <p:stCondLst>
                                            <p:cond delay="0"/>
                                          </p:stCondLst>
                                        </p:cTn>
                                        <p:tgtEl>
                                          <p:spTgt spid="58"/>
                                        </p:tgtEl>
                                        <p:attrNameLst>
                                          <p:attrName>style.visibility</p:attrName>
                                        </p:attrNameLst>
                                      </p:cBhvr>
                                      <p:to>
                                        <p:strVal val="hidden"/>
                                      </p:to>
                                    </p:set>
                                  </p:childTnLst>
                                </p:cTn>
                              </p:par>
                              <p:par>
                                <p:cTn id="82" presetID="1" presetClass="exit" presetSubtype="0" fill="hold" nodeType="withEffect">
                                  <p:stCondLst>
                                    <p:cond delay="0"/>
                                  </p:stCondLst>
                                  <p:childTnLst>
                                    <p:set>
                                      <p:cBhvr>
                                        <p:cTn id="83" dur="1" fill="hold">
                                          <p:stCondLst>
                                            <p:cond delay="0"/>
                                          </p:stCondLst>
                                        </p:cTn>
                                        <p:tgtEl>
                                          <p:spTgt spid="59"/>
                                        </p:tgtEl>
                                        <p:attrNameLst>
                                          <p:attrName>style.visibility</p:attrName>
                                        </p:attrNameLst>
                                      </p:cBhvr>
                                      <p:to>
                                        <p:strVal val="hidden"/>
                                      </p:to>
                                    </p:set>
                                  </p:childTnLst>
                                </p:cTn>
                              </p:par>
                              <p:par>
                                <p:cTn id="84" presetID="1" presetClass="exit" presetSubtype="0" fill="hold" nodeType="withEffect">
                                  <p:stCondLst>
                                    <p:cond delay="0"/>
                                  </p:stCondLst>
                                  <p:childTnLst>
                                    <p:set>
                                      <p:cBhvr>
                                        <p:cTn id="85" dur="1" fill="hold">
                                          <p:stCondLst>
                                            <p:cond delay="0"/>
                                          </p:stCondLst>
                                        </p:cTn>
                                        <p:tgtEl>
                                          <p:spTgt spid="60"/>
                                        </p:tgtEl>
                                        <p:attrNameLst>
                                          <p:attrName>style.visibility</p:attrName>
                                        </p:attrNameLst>
                                      </p:cBhvr>
                                      <p:to>
                                        <p:strVal val="hidden"/>
                                      </p:to>
                                    </p:set>
                                  </p:childTnLst>
                                </p:cTn>
                              </p:par>
                              <p:par>
                                <p:cTn id="86" presetID="1" presetClass="exit" presetSubtype="0" fill="hold" nodeType="withEffect">
                                  <p:stCondLst>
                                    <p:cond delay="0"/>
                                  </p:stCondLst>
                                  <p:childTnLst>
                                    <p:set>
                                      <p:cBhvr>
                                        <p:cTn id="87" dur="1" fill="hold">
                                          <p:stCondLst>
                                            <p:cond delay="0"/>
                                          </p:stCondLst>
                                        </p:cTn>
                                        <p:tgtEl>
                                          <p:spTgt spid="61"/>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62"/>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64"/>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nodeType="clickEffect">
                                  <p:stCondLst>
                                    <p:cond delay="0"/>
                                  </p:stCondLst>
                                  <p:childTnLst>
                                    <p:set>
                                      <p:cBhvr>
                                        <p:cTn id="99"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49" grpId="0" animBg="1"/>
      <p:bldP spid="49" grpId="1" animBg="1"/>
      <p:bldP spid="49" grpId="2" animBg="1"/>
      <p:bldP spid="50" grpId="0" animBg="1"/>
      <p:bldP spid="51" grpId="0" animBg="1"/>
      <p:bldP spid="52" grpId="0" animBg="1"/>
      <p:bldP spid="53" grpId="0" animBg="1"/>
      <p:bldP spid="54" grpId="0" animBg="1"/>
      <p:bldP spid="6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lstStyle/>
          <a:p>
            <a:r>
              <a:rPr lang="en-US" dirty="0"/>
              <a:t>What happen if I remove a edge from a graph?</a:t>
            </a:r>
          </a:p>
        </p:txBody>
      </p:sp>
      <p:sp>
        <p:nvSpPr>
          <p:cNvPr id="5" name="Content Placeholder 4"/>
          <p:cNvSpPr>
            <a:spLocks noGrp="1"/>
          </p:cNvSpPr>
          <p:nvPr>
            <p:ph idx="1"/>
          </p:nvPr>
        </p:nvSpPr>
        <p:spPr>
          <a:xfrm>
            <a:off x="131181" y="863444"/>
            <a:ext cx="11862036" cy="5590565"/>
          </a:xfrm>
        </p:spPr>
        <p:txBody>
          <a:bodyPr/>
          <a:lstStyle/>
          <a:p>
            <a:r>
              <a:rPr lang="en-US" dirty="0"/>
              <a:t>You already know removing a edge can disconnect a graph...</a:t>
            </a:r>
          </a:p>
          <a:p>
            <a:r>
              <a:rPr lang="en-US" dirty="0"/>
              <a:t>Removing one edge:</a:t>
            </a:r>
          </a:p>
          <a:p>
            <a:endParaRPr lang="en-US" dirty="0"/>
          </a:p>
          <a:p>
            <a:pPr lvl="1"/>
            <a:r>
              <a:rPr lang="en-US" dirty="0"/>
              <a:t>Either keeps the number of components the same Or increases it by exactly one.</a:t>
            </a:r>
          </a:p>
          <a:p>
            <a:pPr lvl="1"/>
            <a:r>
              <a:rPr lang="en-US" dirty="0"/>
              <a:t>Since, one edge connects only two vertices.</a:t>
            </a:r>
          </a:p>
          <a:p>
            <a:pPr lvl="1"/>
            <a:r>
              <a:rPr lang="en-US" dirty="0"/>
              <a:t>At most, it can split one component into two.</a:t>
            </a:r>
          </a:p>
          <a:p>
            <a:pPr lvl="1"/>
            <a:r>
              <a:rPr lang="en-US" dirty="0"/>
              <a:t>Hence, Removing an edge may increase the number of components by at most one. </a:t>
            </a:r>
          </a:p>
          <a:p>
            <a:endParaRPr lang="en-US" dirty="0"/>
          </a:p>
          <a:p>
            <a:endParaRPr lang="en-US" dirty="0"/>
          </a:p>
          <a:p>
            <a:endParaRPr lang="en-US" dirty="0"/>
          </a:p>
        </p:txBody>
      </p:sp>
    </p:spTree>
    <p:extLst>
      <p:ext uri="{BB962C8B-B14F-4D97-AF65-F5344CB8AC3E}">
        <p14:creationId xmlns:p14="http://schemas.microsoft.com/office/powerpoint/2010/main" val="345477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6FC04-B0BC-0292-9149-2C3E65AAD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78825-D13A-A50C-6795-7EC98495BAAF}"/>
              </a:ext>
            </a:extLst>
          </p:cNvPr>
          <p:cNvSpPr>
            <a:spLocks noGrp="1"/>
          </p:cNvSpPr>
          <p:nvPr>
            <p:ph type="title"/>
          </p:nvPr>
        </p:nvSpPr>
        <p:spPr/>
        <p:txBody>
          <a:bodyPr>
            <a:normAutofit/>
          </a:bodyPr>
          <a:lstStyle/>
          <a:p>
            <a:r>
              <a:rPr lang="en-US" dirty="0"/>
              <a:t>Remarks:</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lstStyle/>
              <a:p>
                <a:pPr lvl="0">
                  <a:lnSpc>
                    <a:spcPct val="150000"/>
                  </a:lnSpc>
                </a:pPr>
                <a:r>
                  <a:rPr lang="en-IN" i="0" dirty="0">
                    <a:latin typeface="+mj-lt"/>
                  </a:rPr>
                  <a:t>Edge Connectivity</a:t>
                </a:r>
                <a14:m>
                  <m:oMath xmlns:m="http://schemas.openxmlformats.org/officeDocument/2006/math">
                    <m:r>
                      <a:rPr lang="en-IN" i="1" dirty="0" smtClean="0">
                        <a:latin typeface="Cambria Math" panose="02040503050406030204" pitchFamily="18" charset="0"/>
                      </a:rPr>
                      <m:t> ≤ </m:t>
                    </m:r>
                  </m:oMath>
                </a14:m>
                <a:r>
                  <a:rPr lang="en-IN" i="0" dirty="0">
                    <a:latin typeface="+mj-lt"/>
                  </a:rPr>
                  <a:t>Minimum Degree</a:t>
                </a:r>
                <a:endParaRPr lang="en-US" dirty="0"/>
              </a:p>
              <a:p>
                <a:pPr lvl="0">
                  <a:lnSpc>
                    <a:spcPct val="150000"/>
                  </a:lnSpc>
                </a:pPr>
                <a:r>
                  <a:rPr lang="en-US" i="0" dirty="0">
                    <a:latin typeface="+mj-lt"/>
                  </a:rPr>
                  <a:t>Vertex connectivity </a:t>
                </a:r>
                <a14:m>
                  <m:oMath xmlns:m="http://schemas.openxmlformats.org/officeDocument/2006/math">
                    <m:r>
                      <a:rPr lang="en-IN" i="1" dirty="0" smtClean="0">
                        <a:latin typeface="Cambria Math" panose="02040503050406030204" pitchFamily="18" charset="0"/>
                      </a:rPr>
                      <m:t>≤</m:t>
                    </m:r>
                    <m:r>
                      <a:rPr lang="en-IN" b="0" i="1" dirty="0" smtClean="0">
                        <a:latin typeface="Cambria Math" panose="02040503050406030204" pitchFamily="18" charset="0"/>
                      </a:rPr>
                      <m:t> </m:t>
                    </m:r>
                  </m:oMath>
                </a14:m>
                <a:r>
                  <a:rPr lang="en-IN" i="0" dirty="0">
                    <a:latin typeface="+mj-lt"/>
                  </a:rPr>
                  <a:t>Edg</a:t>
                </a:r>
                <a:r>
                  <a:rPr lang="en-US" i="0" dirty="0">
                    <a:latin typeface="+mj-lt"/>
                  </a:rPr>
                  <a:t>e connectivity</a:t>
                </a:r>
                <a:endParaRPr lang="en-US" dirty="0"/>
              </a:p>
              <a:p>
                <a:pPr lvl="0">
                  <a:lnSpc>
                    <a:spcPct val="150000"/>
                  </a:lnSpc>
                </a:pPr>
                <a:r>
                  <a:rPr lang="en-US" dirty="0"/>
                  <a:t>Removal of a vertex may increase the number of components in a graph by </a:t>
                </a:r>
                <a:r>
                  <a:rPr lang="en-US" b="1" dirty="0"/>
                  <a:t>at least one</a:t>
                </a:r>
                <a:r>
                  <a:rPr lang="en-US" dirty="0"/>
                  <a:t>.</a:t>
                </a:r>
              </a:p>
              <a:p>
                <a:pPr lvl="0">
                  <a:lnSpc>
                    <a:spcPct val="150000"/>
                  </a:lnSpc>
                </a:pPr>
                <a:r>
                  <a:rPr lang="en-US" dirty="0"/>
                  <a:t>Removal of an edge may increase the number of components by </a:t>
                </a:r>
                <a:r>
                  <a:rPr lang="en-US" b="1" dirty="0"/>
                  <a:t>at most one</a:t>
                </a:r>
                <a:r>
                  <a:rPr lang="en-US" dirty="0"/>
                  <a:t>. </a:t>
                </a:r>
              </a:p>
              <a:p>
                <a:pPr lvl="0">
                  <a:lnSpc>
                    <a:spcPct val="150000"/>
                  </a:lnSpc>
                </a:pPr>
                <a:r>
                  <a:rPr lang="en-IN" dirty="0"/>
                  <a:t>End vertices of a cut edge are cut vertices (</a:t>
                </a:r>
                <a14:m>
                  <m:oMath xmlns:m="http://schemas.openxmlformats.org/officeDocument/2006/math">
                    <m:r>
                      <m:rPr>
                        <m:sty m:val="p"/>
                      </m:rPr>
                      <a:rPr lang="en-IN" b="0" i="0" dirty="0" smtClean="0">
                        <a:latin typeface="Cambria Math" panose="02040503050406030204" pitchFamily="18" charset="0"/>
                      </a:rPr>
                      <m:t>D</m:t>
                    </m:r>
                    <m:r>
                      <m:rPr>
                        <m:sty m:val="p"/>
                      </m:rPr>
                      <a:rPr lang="en-IN" i="0" dirty="0" smtClean="0">
                        <a:latin typeface="Cambria Math" panose="02040503050406030204" pitchFamily="18" charset="0"/>
                      </a:rPr>
                      <m:t>egree</m:t>
                    </m:r>
                    <m:r>
                      <a:rPr lang="en-IN" i="0" dirty="0" smtClean="0">
                        <a:latin typeface="Cambria Math" panose="02040503050406030204" pitchFamily="18" charset="0"/>
                      </a:rPr>
                      <m:t> &gt;1</m:t>
                    </m:r>
                  </m:oMath>
                </a14:m>
                <a:r>
                  <a:rPr lang="en-IN" dirty="0"/>
                  <a:t>)</a:t>
                </a:r>
              </a:p>
              <a:p>
                <a:pPr lvl="0">
                  <a:lnSpc>
                    <a:spcPct val="150000"/>
                  </a:lnSpc>
                </a:pPr>
                <a:r>
                  <a:rPr lang="en-US" dirty="0"/>
                  <a:t>Every non-pendant vertex of a tree is a cut vertex.</a:t>
                </a:r>
              </a:p>
              <a:p>
                <a:endParaRPr lang="en-US" dirty="0"/>
              </a:p>
              <a:p>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a:blip r:embed="rId2"/>
                <a:stretch>
                  <a:fillRect l="-971" r="-1074"/>
                </a:stretch>
              </a:blipFill>
            </p:spPr>
            <p:txBody>
              <a:bodyPr/>
              <a:lstStyle/>
              <a:p>
                <a:r>
                  <a:rPr lang="en-IN">
                    <a:noFill/>
                  </a:rPr>
                  <a:t> </a:t>
                </a:r>
              </a:p>
            </p:txBody>
          </p:sp>
        </mc:Fallback>
      </mc:AlternateContent>
    </p:spTree>
    <p:extLst>
      <p:ext uri="{BB962C8B-B14F-4D97-AF65-F5344CB8AC3E}">
        <p14:creationId xmlns:p14="http://schemas.microsoft.com/office/powerpoint/2010/main" val="2569644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Method-4</a:t>
            </a:r>
          </a:p>
        </p:txBody>
      </p:sp>
    </p:spTree>
    <p:extLst>
      <p:ext uri="{BB962C8B-B14F-4D97-AF65-F5344CB8AC3E}">
        <p14:creationId xmlns:p14="http://schemas.microsoft.com/office/powerpoint/2010/main" val="40420810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1</a:t>
            </a:r>
            <a:endParaRPr lang="en-US" dirty="0"/>
          </a:p>
        </p:txBody>
      </p:sp>
      <p:sp>
        <p:nvSpPr>
          <p:cNvPr id="47" name="Rectangle 46"/>
          <p:cNvSpPr/>
          <p:nvPr/>
        </p:nvSpPr>
        <p:spPr>
          <a:xfrm>
            <a:off x="16409" y="1216891"/>
            <a:ext cx="12175591" cy="666849"/>
          </a:xfrm>
          <a:prstGeom prst="rect">
            <a:avLst/>
          </a:prstGeom>
        </p:spPr>
        <p:txBody>
          <a:bodyPr wrap="square">
            <a:spAutoFit/>
          </a:bodyPr>
          <a:lstStyle/>
          <a:p>
            <a:pPr marL="265113" indent="-265113" algn="just">
              <a:lnSpc>
                <a:spcPct val="150000"/>
              </a:lnSpc>
              <a:spcBef>
                <a:spcPts val="1000"/>
              </a:spcBef>
              <a:buClr>
                <a:srgbClr val="B84742"/>
              </a:buClr>
              <a:buFont typeface="Wingdings 3" panose="05040102010807070707" pitchFamily="18" charset="2"/>
              <a:buChar char=""/>
            </a:pPr>
            <a:endParaRPr lang="en-US" sz="2800" dirty="0">
              <a:solidFill>
                <a:srgbClr val="002060"/>
              </a:solidFill>
            </a:endParaRPr>
          </a:p>
        </p:txBody>
      </p:sp>
      <p:sp>
        <p:nvSpPr>
          <p:cNvPr id="42" name="Content Placeholder 2"/>
          <p:cNvSpPr txBox="1">
            <a:spLocks/>
          </p:cNvSpPr>
          <p:nvPr/>
        </p:nvSpPr>
        <p:spPr>
          <a:xfrm>
            <a:off x="131176" y="867840"/>
            <a:ext cx="12024000" cy="902903"/>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Show that the edge connectivity and vertex connectivity of the below graphs are equal and three.</a:t>
            </a:r>
          </a:p>
        </p:txBody>
      </p:sp>
      <p:pic>
        <p:nvPicPr>
          <p:cNvPr id="31" name="Picture 30"/>
          <p:cNvPicPr/>
          <p:nvPr/>
        </p:nvPicPr>
        <p:blipFill>
          <a:blip r:embed="rId2">
            <a:extLst>
              <a:ext uri="{28A0092B-C50C-407E-A947-70E740481C1C}">
                <a14:useLocalDpi xmlns:a14="http://schemas.microsoft.com/office/drawing/2010/main" val="0"/>
              </a:ext>
            </a:extLst>
          </a:blip>
          <a:srcRect/>
          <a:stretch>
            <a:fillRect/>
          </a:stretch>
        </p:blipFill>
        <p:spPr bwMode="auto">
          <a:xfrm>
            <a:off x="6837181" y="2522819"/>
            <a:ext cx="3424419" cy="3014390"/>
          </a:xfrm>
          <a:prstGeom prst="rect">
            <a:avLst/>
          </a:prstGeom>
          <a:noFill/>
        </p:spPr>
      </p:pic>
      <p:pic>
        <p:nvPicPr>
          <p:cNvPr id="2" name="Picture 1"/>
          <p:cNvPicPr>
            <a:picLocks noChangeAspect="1"/>
          </p:cNvPicPr>
          <p:nvPr/>
        </p:nvPicPr>
        <p:blipFill>
          <a:blip r:embed="rId3"/>
          <a:stretch>
            <a:fillRect/>
          </a:stretch>
        </p:blipFill>
        <p:spPr>
          <a:xfrm>
            <a:off x="1020791" y="2522819"/>
            <a:ext cx="3328704" cy="3755461"/>
          </a:xfrm>
          <a:prstGeom prst="rect">
            <a:avLst/>
          </a:prstGeom>
        </p:spPr>
      </p:pic>
    </p:spTree>
    <p:extLst>
      <p:ext uri="{BB962C8B-B14F-4D97-AF65-F5344CB8AC3E}">
        <p14:creationId xmlns:p14="http://schemas.microsoft.com/office/powerpoint/2010/main" val="202668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1(Cont.)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229649" y="7989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a:solidFill>
                  <a:schemeClr val="bg1"/>
                </a:solidFill>
              </a:rPr>
              <a:t>Solution </a:t>
            </a:r>
            <a:endParaRPr lang="en-US" sz="2800" dirty="0">
              <a:solidFill>
                <a:schemeClr val="bg1"/>
              </a:solidFill>
            </a:endParaRPr>
          </a:p>
        </p:txBody>
      </p:sp>
      <p:sp>
        <p:nvSpPr>
          <p:cNvPr id="29" name="Oval 28">
            <a:extLst>
              <a:ext uri="{FF2B5EF4-FFF2-40B4-BE49-F238E27FC236}">
                <a16:creationId xmlns:a16="http://schemas.microsoft.com/office/drawing/2014/main" id="{BDD11F87-DA81-9510-C1CB-0AF4093562CB}"/>
              </a:ext>
            </a:extLst>
          </p:cNvPr>
          <p:cNvSpPr/>
          <p:nvPr/>
        </p:nvSpPr>
        <p:spPr>
          <a:xfrm rot="5400000">
            <a:off x="11817733" y="315860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0" name="Oval 29">
            <a:extLst>
              <a:ext uri="{FF2B5EF4-FFF2-40B4-BE49-F238E27FC236}">
                <a16:creationId xmlns:a16="http://schemas.microsoft.com/office/drawing/2014/main" id="{BDD11F87-DA81-9510-C1CB-0AF4093562CB}"/>
              </a:ext>
            </a:extLst>
          </p:cNvPr>
          <p:cNvSpPr/>
          <p:nvPr/>
        </p:nvSpPr>
        <p:spPr>
          <a:xfrm rot="5400000">
            <a:off x="10089557" y="315860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2" name="Oval 31">
            <a:extLst>
              <a:ext uri="{FF2B5EF4-FFF2-40B4-BE49-F238E27FC236}">
                <a16:creationId xmlns:a16="http://schemas.microsoft.com/office/drawing/2014/main" id="{BDD11F87-DA81-9510-C1CB-0AF4093562CB}"/>
              </a:ext>
            </a:extLst>
          </p:cNvPr>
          <p:cNvSpPr/>
          <p:nvPr/>
        </p:nvSpPr>
        <p:spPr>
          <a:xfrm rot="5400000">
            <a:off x="11817733" y="100125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3" name="Oval 32">
            <a:extLst>
              <a:ext uri="{FF2B5EF4-FFF2-40B4-BE49-F238E27FC236}">
                <a16:creationId xmlns:a16="http://schemas.microsoft.com/office/drawing/2014/main" id="{BDD11F87-DA81-9510-C1CB-0AF4093562CB}"/>
              </a:ext>
            </a:extLst>
          </p:cNvPr>
          <p:cNvSpPr/>
          <p:nvPr/>
        </p:nvSpPr>
        <p:spPr>
          <a:xfrm rot="5400000">
            <a:off x="10089557" y="101027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4" name="Straight Connector 33">
            <a:extLst>
              <a:ext uri="{FF2B5EF4-FFF2-40B4-BE49-F238E27FC236}">
                <a16:creationId xmlns:a16="http://schemas.microsoft.com/office/drawing/2014/main" id="{6205DD86-315C-53B6-CEEF-A9919650168E}"/>
              </a:ext>
            </a:extLst>
          </p:cNvPr>
          <p:cNvCxnSpPr>
            <a:cxnSpLocks/>
            <a:stCxn id="32" idx="6"/>
            <a:endCxn id="29" idx="2"/>
          </p:cNvCxnSpPr>
          <p:nvPr/>
        </p:nvCxnSpPr>
        <p:spPr>
          <a:xfrm>
            <a:off x="11888296" y="1143821"/>
            <a:ext cx="0" cy="20162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6" name="Straight Connector 35">
            <a:extLst>
              <a:ext uri="{FF2B5EF4-FFF2-40B4-BE49-F238E27FC236}">
                <a16:creationId xmlns:a16="http://schemas.microsoft.com/office/drawing/2014/main" id="{6205DD86-315C-53B6-CEEF-A9919650168E}"/>
              </a:ext>
            </a:extLst>
          </p:cNvPr>
          <p:cNvCxnSpPr>
            <a:cxnSpLocks/>
            <a:stCxn id="33" idx="6"/>
            <a:endCxn id="30" idx="2"/>
          </p:cNvCxnSpPr>
          <p:nvPr/>
        </p:nvCxnSpPr>
        <p:spPr>
          <a:xfrm>
            <a:off x="10160120" y="1152841"/>
            <a:ext cx="0" cy="20072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6205DD86-315C-53B6-CEEF-A9919650168E}"/>
              </a:ext>
            </a:extLst>
          </p:cNvPr>
          <p:cNvCxnSpPr>
            <a:cxnSpLocks/>
            <a:stCxn id="32" idx="4"/>
            <a:endCxn id="33" idx="0"/>
          </p:cNvCxnSpPr>
          <p:nvPr/>
        </p:nvCxnSpPr>
        <p:spPr>
          <a:xfrm flipH="1">
            <a:off x="10232120" y="1073258"/>
            <a:ext cx="1584176" cy="90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8" name="Straight Connector 37">
            <a:extLst>
              <a:ext uri="{FF2B5EF4-FFF2-40B4-BE49-F238E27FC236}">
                <a16:creationId xmlns:a16="http://schemas.microsoft.com/office/drawing/2014/main" id="{6205DD86-315C-53B6-CEEF-A9919650168E}"/>
              </a:ext>
            </a:extLst>
          </p:cNvPr>
          <p:cNvCxnSpPr>
            <a:cxnSpLocks/>
            <a:stCxn id="29" idx="4"/>
            <a:endCxn id="30" idx="0"/>
          </p:cNvCxnSpPr>
          <p:nvPr/>
        </p:nvCxnSpPr>
        <p:spPr>
          <a:xfrm flipH="1">
            <a:off x="10232120" y="3230608"/>
            <a:ext cx="158417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9" name="Oval 38">
            <a:extLst>
              <a:ext uri="{FF2B5EF4-FFF2-40B4-BE49-F238E27FC236}">
                <a16:creationId xmlns:a16="http://schemas.microsoft.com/office/drawing/2014/main" id="{BDD11F87-DA81-9510-C1CB-0AF4093562CB}"/>
              </a:ext>
            </a:extLst>
          </p:cNvPr>
          <p:cNvSpPr/>
          <p:nvPr/>
        </p:nvSpPr>
        <p:spPr>
          <a:xfrm rot="5400000">
            <a:off x="8649381" y="460165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0" name="Oval 39">
            <a:extLst>
              <a:ext uri="{FF2B5EF4-FFF2-40B4-BE49-F238E27FC236}">
                <a16:creationId xmlns:a16="http://schemas.microsoft.com/office/drawing/2014/main" id="{BDD11F87-DA81-9510-C1CB-0AF4093562CB}"/>
              </a:ext>
            </a:extLst>
          </p:cNvPr>
          <p:cNvSpPr/>
          <p:nvPr/>
        </p:nvSpPr>
        <p:spPr>
          <a:xfrm rot="5400000">
            <a:off x="10809621" y="460165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1" name="Oval 40">
            <a:extLst>
              <a:ext uri="{FF2B5EF4-FFF2-40B4-BE49-F238E27FC236}">
                <a16:creationId xmlns:a16="http://schemas.microsoft.com/office/drawing/2014/main" id="{BDD11F87-DA81-9510-C1CB-0AF4093562CB}"/>
              </a:ext>
            </a:extLst>
          </p:cNvPr>
          <p:cNvSpPr/>
          <p:nvPr/>
        </p:nvSpPr>
        <p:spPr>
          <a:xfrm rot="5400000">
            <a:off x="10809621" y="172133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43" name="Oval 42">
            <a:extLst>
              <a:ext uri="{FF2B5EF4-FFF2-40B4-BE49-F238E27FC236}">
                <a16:creationId xmlns:a16="http://schemas.microsoft.com/office/drawing/2014/main" id="{BDD11F87-DA81-9510-C1CB-0AF4093562CB}"/>
              </a:ext>
            </a:extLst>
          </p:cNvPr>
          <p:cNvSpPr/>
          <p:nvPr/>
        </p:nvSpPr>
        <p:spPr>
          <a:xfrm rot="5400000">
            <a:off x="8649397" y="173274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4" name="Straight Connector 43">
            <a:extLst>
              <a:ext uri="{FF2B5EF4-FFF2-40B4-BE49-F238E27FC236}">
                <a16:creationId xmlns:a16="http://schemas.microsoft.com/office/drawing/2014/main" id="{6205DD86-315C-53B6-CEEF-A9919650168E}"/>
              </a:ext>
            </a:extLst>
          </p:cNvPr>
          <p:cNvCxnSpPr>
            <a:cxnSpLocks/>
            <a:stCxn id="41" idx="0"/>
            <a:endCxn id="32" idx="5"/>
          </p:cNvCxnSpPr>
          <p:nvPr/>
        </p:nvCxnSpPr>
        <p:spPr>
          <a:xfrm flipV="1">
            <a:off x="10952184" y="1123154"/>
            <a:ext cx="885200" cy="67018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6205DD86-315C-53B6-CEEF-A9919650168E}"/>
              </a:ext>
            </a:extLst>
          </p:cNvPr>
          <p:cNvCxnSpPr>
            <a:cxnSpLocks/>
            <a:stCxn id="43" idx="1"/>
            <a:endCxn id="33" idx="5"/>
          </p:cNvCxnSpPr>
          <p:nvPr/>
        </p:nvCxnSpPr>
        <p:spPr>
          <a:xfrm flipV="1">
            <a:off x="8770872" y="1132174"/>
            <a:ext cx="1338336" cy="62267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Straight Connector 45">
            <a:extLst>
              <a:ext uri="{FF2B5EF4-FFF2-40B4-BE49-F238E27FC236}">
                <a16:creationId xmlns:a16="http://schemas.microsoft.com/office/drawing/2014/main" id="{6205DD86-315C-53B6-CEEF-A9919650168E}"/>
              </a:ext>
            </a:extLst>
          </p:cNvPr>
          <p:cNvCxnSpPr>
            <a:cxnSpLocks/>
            <a:stCxn id="30" idx="5"/>
            <a:endCxn id="39" idx="1"/>
          </p:cNvCxnSpPr>
          <p:nvPr/>
        </p:nvCxnSpPr>
        <p:spPr>
          <a:xfrm flipH="1">
            <a:off x="8770856" y="3280504"/>
            <a:ext cx="1338352" cy="134325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6205DD86-315C-53B6-CEEF-A9919650168E}"/>
              </a:ext>
            </a:extLst>
          </p:cNvPr>
          <p:cNvCxnSpPr>
            <a:cxnSpLocks/>
            <a:stCxn id="29" idx="5"/>
            <a:endCxn id="40" idx="1"/>
          </p:cNvCxnSpPr>
          <p:nvPr/>
        </p:nvCxnSpPr>
        <p:spPr>
          <a:xfrm flipH="1">
            <a:off x="10931096" y="3280504"/>
            <a:ext cx="906288" cy="134325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9" name="Straight Connector 48">
            <a:extLst>
              <a:ext uri="{FF2B5EF4-FFF2-40B4-BE49-F238E27FC236}">
                <a16:creationId xmlns:a16="http://schemas.microsoft.com/office/drawing/2014/main" id="{6205DD86-315C-53B6-CEEF-A9919650168E}"/>
              </a:ext>
            </a:extLst>
          </p:cNvPr>
          <p:cNvCxnSpPr>
            <a:cxnSpLocks/>
            <a:stCxn id="41" idx="4"/>
            <a:endCxn id="43" idx="0"/>
          </p:cNvCxnSpPr>
          <p:nvPr/>
        </p:nvCxnSpPr>
        <p:spPr>
          <a:xfrm flipH="1">
            <a:off x="8791960" y="1793338"/>
            <a:ext cx="2016224" cy="1140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0" name="Straight Connector 49">
            <a:extLst>
              <a:ext uri="{FF2B5EF4-FFF2-40B4-BE49-F238E27FC236}">
                <a16:creationId xmlns:a16="http://schemas.microsoft.com/office/drawing/2014/main" id="{6205DD86-315C-53B6-CEEF-A9919650168E}"/>
              </a:ext>
            </a:extLst>
          </p:cNvPr>
          <p:cNvCxnSpPr>
            <a:cxnSpLocks/>
            <a:stCxn id="41" idx="6"/>
            <a:endCxn id="40" idx="2"/>
          </p:cNvCxnSpPr>
          <p:nvPr/>
        </p:nvCxnSpPr>
        <p:spPr>
          <a:xfrm>
            <a:off x="10880184" y="1863901"/>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a:extLst>
              <a:ext uri="{FF2B5EF4-FFF2-40B4-BE49-F238E27FC236}">
                <a16:creationId xmlns:a16="http://schemas.microsoft.com/office/drawing/2014/main" id="{6205DD86-315C-53B6-CEEF-A9919650168E}"/>
              </a:ext>
            </a:extLst>
          </p:cNvPr>
          <p:cNvCxnSpPr>
            <a:cxnSpLocks/>
            <a:stCxn id="43" idx="6"/>
            <a:endCxn id="39" idx="2"/>
          </p:cNvCxnSpPr>
          <p:nvPr/>
        </p:nvCxnSpPr>
        <p:spPr>
          <a:xfrm flipH="1">
            <a:off x="8719944" y="1875306"/>
            <a:ext cx="16" cy="272778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2" name="Straight Connector 51">
            <a:extLst>
              <a:ext uri="{FF2B5EF4-FFF2-40B4-BE49-F238E27FC236}">
                <a16:creationId xmlns:a16="http://schemas.microsoft.com/office/drawing/2014/main" id="{6205DD86-315C-53B6-CEEF-A9919650168E}"/>
              </a:ext>
            </a:extLst>
          </p:cNvPr>
          <p:cNvCxnSpPr>
            <a:cxnSpLocks/>
            <a:stCxn id="40" idx="4"/>
            <a:endCxn id="39" idx="0"/>
          </p:cNvCxnSpPr>
          <p:nvPr/>
        </p:nvCxnSpPr>
        <p:spPr>
          <a:xfrm flipH="1">
            <a:off x="8791944" y="4673658"/>
            <a:ext cx="201624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 name="Content Placeholder 5"/>
          <p:cNvSpPr>
            <a:spLocks noGrp="1"/>
          </p:cNvSpPr>
          <p:nvPr>
            <p:ph idx="1"/>
          </p:nvPr>
        </p:nvSpPr>
        <p:spPr>
          <a:xfrm>
            <a:off x="131180" y="1378636"/>
            <a:ext cx="8126555" cy="5187917"/>
          </a:xfrm>
        </p:spPr>
        <p:txBody>
          <a:bodyPr/>
          <a:lstStyle/>
          <a:p>
            <a:r>
              <a:rPr lang="en-US" dirty="0"/>
              <a:t>To determine the edge connectivity of the graph, we first check if removing a single edge can disconnect the graph. Clearly, removing just one edge does not disconnect the graph.</a:t>
            </a:r>
          </a:p>
          <a:p>
            <a:r>
              <a:rPr lang="en-US" dirty="0"/>
              <a:t>Also, removing two edges can not disconnect the graph.</a:t>
            </a:r>
          </a:p>
          <a:p>
            <a:pPr lvl="0"/>
            <a:r>
              <a:rPr lang="en-US" dirty="0"/>
              <a:t>We know that the edge connectivity of a graph G cannot exceed the degree of the vertex with the smallest degree in G.</a:t>
            </a:r>
          </a:p>
          <a:p>
            <a:pPr lvl="0"/>
            <a:r>
              <a:rPr lang="en-US" dirty="0"/>
              <a:t>Here degree of each vertex is 3 so, edge connectivity can not be greater than 3.</a:t>
            </a:r>
          </a:p>
          <a:p>
            <a:r>
              <a:rPr lang="en-US" b="1" dirty="0"/>
              <a:t>Hence, the edge connectivity of the graph is 3.</a:t>
            </a:r>
          </a:p>
          <a:p>
            <a:endParaRPr lang="en-US" dirty="0"/>
          </a:p>
          <a:p>
            <a:endParaRPr lang="en-US" dirty="0"/>
          </a:p>
        </p:txBody>
      </p:sp>
    </p:spTree>
    <p:extLst>
      <p:ext uri="{BB962C8B-B14F-4D97-AF65-F5344CB8AC3E}">
        <p14:creationId xmlns:p14="http://schemas.microsoft.com/office/powerpoint/2010/main" val="2048402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36"/>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38"/>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46"/>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1(Cont.)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229649" y="7989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a:solidFill>
                  <a:schemeClr val="bg1"/>
                </a:solidFill>
              </a:rPr>
              <a:t>Solution </a:t>
            </a:r>
            <a:endParaRPr lang="en-US" sz="2800" dirty="0">
              <a:solidFill>
                <a:schemeClr val="bg1"/>
              </a:solidFill>
            </a:endParaRPr>
          </a:p>
        </p:txBody>
      </p:sp>
      <p:sp>
        <p:nvSpPr>
          <p:cNvPr id="6" name="Content Placeholder 5"/>
          <p:cNvSpPr>
            <a:spLocks noGrp="1"/>
          </p:cNvSpPr>
          <p:nvPr>
            <p:ph idx="1"/>
          </p:nvPr>
        </p:nvSpPr>
        <p:spPr>
          <a:xfrm>
            <a:off x="131180" y="1378636"/>
            <a:ext cx="8126555" cy="5187917"/>
          </a:xfrm>
        </p:spPr>
        <p:txBody>
          <a:bodyPr/>
          <a:lstStyle/>
          <a:p>
            <a:r>
              <a:rPr lang="en-US" dirty="0"/>
              <a:t>To determine the edge connectivity of the graph, we first check if removing a single edge can disconnect the graph. Clearly, removing just one edge does not disconnect the graph.</a:t>
            </a:r>
          </a:p>
          <a:p>
            <a:r>
              <a:rPr lang="en-US" dirty="0"/>
              <a:t>Also, removing two edges can not disconnect the graph.</a:t>
            </a:r>
          </a:p>
          <a:p>
            <a:pPr lvl="0"/>
            <a:r>
              <a:rPr lang="en-US" dirty="0"/>
              <a:t>We know that the edge connectivity of a graph G cannot exceed the degree of the vertex with the smallest degree in G.</a:t>
            </a:r>
          </a:p>
          <a:p>
            <a:pPr lvl="0"/>
            <a:r>
              <a:rPr lang="en-US" dirty="0"/>
              <a:t>Here degree of each vertex is 3 so, edge connectivity can not be greater than 3.</a:t>
            </a:r>
          </a:p>
          <a:p>
            <a:r>
              <a:rPr lang="en-US" b="1" dirty="0"/>
              <a:t>Hence, the edge connectivity of the graph is 3.</a:t>
            </a:r>
          </a:p>
          <a:p>
            <a:endParaRPr lang="en-US" dirty="0"/>
          </a:p>
          <a:p>
            <a:endParaRPr lang="en-US" dirty="0"/>
          </a:p>
        </p:txBody>
      </p:sp>
      <p:sp>
        <p:nvSpPr>
          <p:cNvPr id="25" name="Oval 24">
            <a:extLst>
              <a:ext uri="{FF2B5EF4-FFF2-40B4-BE49-F238E27FC236}">
                <a16:creationId xmlns:a16="http://schemas.microsoft.com/office/drawing/2014/main" id="{BDD11F87-DA81-9510-C1CB-0AF4093562CB}"/>
              </a:ext>
            </a:extLst>
          </p:cNvPr>
          <p:cNvSpPr/>
          <p:nvPr/>
        </p:nvSpPr>
        <p:spPr>
          <a:xfrm rot="5400000">
            <a:off x="11037667" y="370426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6" name="Oval 25">
            <a:extLst>
              <a:ext uri="{FF2B5EF4-FFF2-40B4-BE49-F238E27FC236}">
                <a16:creationId xmlns:a16="http://schemas.microsoft.com/office/drawing/2014/main" id="{BDD11F87-DA81-9510-C1CB-0AF4093562CB}"/>
              </a:ext>
            </a:extLst>
          </p:cNvPr>
          <p:cNvSpPr/>
          <p:nvPr/>
        </p:nvSpPr>
        <p:spPr>
          <a:xfrm rot="5400000">
            <a:off x="9597523" y="370382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 name="Oval 26">
            <a:extLst>
              <a:ext uri="{FF2B5EF4-FFF2-40B4-BE49-F238E27FC236}">
                <a16:creationId xmlns:a16="http://schemas.microsoft.com/office/drawing/2014/main" id="{BDD11F87-DA81-9510-C1CB-0AF4093562CB}"/>
              </a:ext>
            </a:extLst>
          </p:cNvPr>
          <p:cNvSpPr/>
          <p:nvPr/>
        </p:nvSpPr>
        <p:spPr>
          <a:xfrm rot="5400000">
            <a:off x="11037667" y="227757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8" name="Oval 27">
            <a:extLst>
              <a:ext uri="{FF2B5EF4-FFF2-40B4-BE49-F238E27FC236}">
                <a16:creationId xmlns:a16="http://schemas.microsoft.com/office/drawing/2014/main" id="{BDD11F87-DA81-9510-C1CB-0AF4093562CB}"/>
              </a:ext>
            </a:extLst>
          </p:cNvPr>
          <p:cNvSpPr/>
          <p:nvPr/>
        </p:nvSpPr>
        <p:spPr>
          <a:xfrm rot="5400000">
            <a:off x="9597523" y="227757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1" name="Straight Connector 30">
            <a:extLst>
              <a:ext uri="{FF2B5EF4-FFF2-40B4-BE49-F238E27FC236}">
                <a16:creationId xmlns:a16="http://schemas.microsoft.com/office/drawing/2014/main" id="{6205DD86-315C-53B6-CEEF-A9919650168E}"/>
              </a:ext>
            </a:extLst>
          </p:cNvPr>
          <p:cNvCxnSpPr>
            <a:cxnSpLocks/>
            <a:endCxn id="25" idx="2"/>
          </p:cNvCxnSpPr>
          <p:nvPr/>
        </p:nvCxnSpPr>
        <p:spPr>
          <a:xfrm>
            <a:off x="11108230" y="2415827"/>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28" idx="6"/>
            <a:endCxn id="26" idx="2"/>
          </p:cNvCxnSpPr>
          <p:nvPr/>
        </p:nvCxnSpPr>
        <p:spPr>
          <a:xfrm>
            <a:off x="9668086" y="2420142"/>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6205DD86-315C-53B6-CEEF-A9919650168E}"/>
              </a:ext>
            </a:extLst>
          </p:cNvPr>
          <p:cNvCxnSpPr>
            <a:cxnSpLocks/>
            <a:stCxn id="27" idx="4"/>
            <a:endCxn id="28" idx="0"/>
          </p:cNvCxnSpPr>
          <p:nvPr/>
        </p:nvCxnSpPr>
        <p:spPr>
          <a:xfrm flipH="1">
            <a:off x="9740086" y="2349579"/>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6205DD86-315C-53B6-CEEF-A9919650168E}"/>
              </a:ext>
            </a:extLst>
          </p:cNvPr>
          <p:cNvCxnSpPr>
            <a:cxnSpLocks/>
            <a:stCxn id="25" idx="4"/>
            <a:endCxn id="26" idx="0"/>
          </p:cNvCxnSpPr>
          <p:nvPr/>
        </p:nvCxnSpPr>
        <p:spPr>
          <a:xfrm flipH="1" flipV="1">
            <a:off x="9740086" y="3775822"/>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54" name="Oval 53">
            <a:extLst>
              <a:ext uri="{FF2B5EF4-FFF2-40B4-BE49-F238E27FC236}">
                <a16:creationId xmlns:a16="http://schemas.microsoft.com/office/drawing/2014/main" id="{BDD11F87-DA81-9510-C1CB-0AF4093562CB}"/>
              </a:ext>
            </a:extLst>
          </p:cNvPr>
          <p:cNvSpPr/>
          <p:nvPr/>
        </p:nvSpPr>
        <p:spPr>
          <a:xfrm rot="5400000">
            <a:off x="8877427" y="443061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5" name="Oval 54">
            <a:extLst>
              <a:ext uri="{FF2B5EF4-FFF2-40B4-BE49-F238E27FC236}">
                <a16:creationId xmlns:a16="http://schemas.microsoft.com/office/drawing/2014/main" id="{BDD11F87-DA81-9510-C1CB-0AF4093562CB}"/>
              </a:ext>
            </a:extLst>
          </p:cNvPr>
          <p:cNvSpPr/>
          <p:nvPr/>
        </p:nvSpPr>
        <p:spPr>
          <a:xfrm rot="5400000">
            <a:off x="11757747" y="443562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6" name="Oval 55">
            <a:extLst>
              <a:ext uri="{FF2B5EF4-FFF2-40B4-BE49-F238E27FC236}">
                <a16:creationId xmlns:a16="http://schemas.microsoft.com/office/drawing/2014/main" id="{BDD11F87-DA81-9510-C1CB-0AF4093562CB}"/>
              </a:ext>
            </a:extLst>
          </p:cNvPr>
          <p:cNvSpPr/>
          <p:nvPr/>
        </p:nvSpPr>
        <p:spPr>
          <a:xfrm rot="5400000">
            <a:off x="11757747" y="155029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7" name="Oval 56">
            <a:extLst>
              <a:ext uri="{FF2B5EF4-FFF2-40B4-BE49-F238E27FC236}">
                <a16:creationId xmlns:a16="http://schemas.microsoft.com/office/drawing/2014/main" id="{BDD11F87-DA81-9510-C1CB-0AF4093562CB}"/>
              </a:ext>
            </a:extLst>
          </p:cNvPr>
          <p:cNvSpPr/>
          <p:nvPr/>
        </p:nvSpPr>
        <p:spPr>
          <a:xfrm rot="5400000">
            <a:off x="8877427" y="155029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8" name="Straight Connector 57">
            <a:extLst>
              <a:ext uri="{FF2B5EF4-FFF2-40B4-BE49-F238E27FC236}">
                <a16:creationId xmlns:a16="http://schemas.microsoft.com/office/drawing/2014/main" id="{6205DD86-315C-53B6-CEEF-A9919650168E}"/>
              </a:ext>
            </a:extLst>
          </p:cNvPr>
          <p:cNvCxnSpPr>
            <a:cxnSpLocks/>
            <a:stCxn id="56" idx="5"/>
            <a:endCxn id="27" idx="1"/>
          </p:cNvCxnSpPr>
          <p:nvPr/>
        </p:nvCxnSpPr>
        <p:spPr>
          <a:xfrm flipH="1">
            <a:off x="11159142" y="1672190"/>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9" name="Straight Connector 58">
            <a:extLst>
              <a:ext uri="{FF2B5EF4-FFF2-40B4-BE49-F238E27FC236}">
                <a16:creationId xmlns:a16="http://schemas.microsoft.com/office/drawing/2014/main" id="{6205DD86-315C-53B6-CEEF-A9919650168E}"/>
              </a:ext>
            </a:extLst>
          </p:cNvPr>
          <p:cNvCxnSpPr>
            <a:cxnSpLocks/>
            <a:stCxn id="57" idx="7"/>
            <a:endCxn id="28" idx="3"/>
          </p:cNvCxnSpPr>
          <p:nvPr/>
        </p:nvCxnSpPr>
        <p:spPr>
          <a:xfrm>
            <a:off x="8998902" y="1672190"/>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a:extLst>
              <a:ext uri="{FF2B5EF4-FFF2-40B4-BE49-F238E27FC236}">
                <a16:creationId xmlns:a16="http://schemas.microsoft.com/office/drawing/2014/main" id="{6205DD86-315C-53B6-CEEF-A9919650168E}"/>
              </a:ext>
            </a:extLst>
          </p:cNvPr>
          <p:cNvCxnSpPr>
            <a:cxnSpLocks/>
            <a:stCxn id="26" idx="5"/>
            <a:endCxn id="54" idx="1"/>
          </p:cNvCxnSpPr>
          <p:nvPr/>
        </p:nvCxnSpPr>
        <p:spPr>
          <a:xfrm flipH="1">
            <a:off x="8998902" y="3825718"/>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6205DD86-315C-53B6-CEEF-A9919650168E}"/>
              </a:ext>
            </a:extLst>
          </p:cNvPr>
          <p:cNvCxnSpPr>
            <a:cxnSpLocks/>
            <a:stCxn id="25" idx="7"/>
            <a:endCxn id="55" idx="3"/>
          </p:cNvCxnSpPr>
          <p:nvPr/>
        </p:nvCxnSpPr>
        <p:spPr>
          <a:xfrm>
            <a:off x="11159142" y="3826165"/>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56" idx="4"/>
            <a:endCxn id="57" idx="0"/>
          </p:cNvCxnSpPr>
          <p:nvPr/>
        </p:nvCxnSpPr>
        <p:spPr>
          <a:xfrm flipH="1">
            <a:off x="9019990" y="1622294"/>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3" name="Straight Connector 62">
            <a:extLst>
              <a:ext uri="{FF2B5EF4-FFF2-40B4-BE49-F238E27FC236}">
                <a16:creationId xmlns:a16="http://schemas.microsoft.com/office/drawing/2014/main" id="{6205DD86-315C-53B6-CEEF-A9919650168E}"/>
              </a:ext>
            </a:extLst>
          </p:cNvPr>
          <p:cNvCxnSpPr>
            <a:cxnSpLocks/>
            <a:stCxn id="56" idx="6"/>
            <a:endCxn id="55" idx="2"/>
          </p:cNvCxnSpPr>
          <p:nvPr/>
        </p:nvCxnSpPr>
        <p:spPr>
          <a:xfrm>
            <a:off x="11828310" y="1692857"/>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6205DD86-315C-53B6-CEEF-A9919650168E}"/>
              </a:ext>
            </a:extLst>
          </p:cNvPr>
          <p:cNvCxnSpPr>
            <a:cxnSpLocks/>
            <a:stCxn id="57" idx="6"/>
            <a:endCxn id="54" idx="2"/>
          </p:cNvCxnSpPr>
          <p:nvPr/>
        </p:nvCxnSpPr>
        <p:spPr>
          <a:xfrm>
            <a:off x="8947990" y="1692857"/>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205DD86-315C-53B6-CEEF-A9919650168E}"/>
              </a:ext>
            </a:extLst>
          </p:cNvPr>
          <p:cNvCxnSpPr>
            <a:cxnSpLocks/>
            <a:stCxn id="55" idx="4"/>
            <a:endCxn id="54" idx="0"/>
          </p:cNvCxnSpPr>
          <p:nvPr/>
        </p:nvCxnSpPr>
        <p:spPr>
          <a:xfrm flipH="1" flipV="1">
            <a:off x="9019990" y="4502614"/>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599696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62"/>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64"/>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5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1(Cont.)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229649" y="7989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a:solidFill>
                  <a:schemeClr val="bg1"/>
                </a:solidFill>
              </a:rPr>
              <a:t>Solution </a:t>
            </a:r>
            <a:endParaRPr lang="en-US" sz="2800" dirty="0">
              <a:solidFill>
                <a:schemeClr val="bg1"/>
              </a:solidFill>
            </a:endParaRPr>
          </a:p>
        </p:txBody>
      </p:sp>
      <p:sp>
        <p:nvSpPr>
          <p:cNvPr id="6" name="Content Placeholder 5"/>
          <p:cNvSpPr>
            <a:spLocks noGrp="1"/>
          </p:cNvSpPr>
          <p:nvPr>
            <p:ph idx="1"/>
          </p:nvPr>
        </p:nvSpPr>
        <p:spPr>
          <a:xfrm>
            <a:off x="131180" y="1378636"/>
            <a:ext cx="8126555" cy="5187917"/>
          </a:xfrm>
        </p:spPr>
        <p:txBody>
          <a:bodyPr/>
          <a:lstStyle/>
          <a:p>
            <a:r>
              <a:rPr lang="en-US" dirty="0"/>
              <a:t>To determine the vertex connectivity of the graph, we first check if removing a single vertex can disconnect the graph. Clearly, removing just one vertex does not disconnect the graph.</a:t>
            </a:r>
          </a:p>
          <a:p>
            <a:pPr lvl="0"/>
            <a:r>
              <a:rPr lang="en-US" dirty="0"/>
              <a:t>We know that the vertex connectivity of any graph G can never exceed the edge connectivity of G.</a:t>
            </a:r>
          </a:p>
          <a:p>
            <a:pPr lvl="0"/>
            <a:r>
              <a:rPr lang="en-US" dirty="0"/>
              <a:t>Here, </a:t>
            </a:r>
            <a:r>
              <a:rPr lang="en-US" b="1" dirty="0"/>
              <a:t>the edge connectivity of the graph is 3.</a:t>
            </a:r>
          </a:p>
          <a:p>
            <a:pPr lvl="0"/>
            <a:r>
              <a:rPr lang="en-US" dirty="0"/>
              <a:t>So, vertex connectivity is either 2 or 3.</a:t>
            </a:r>
          </a:p>
          <a:p>
            <a:pPr lvl="0"/>
            <a:r>
              <a:rPr lang="en-US" dirty="0"/>
              <a:t>But 2 vertex does not disconnect the graph.</a:t>
            </a:r>
          </a:p>
          <a:p>
            <a:pPr lvl="0"/>
            <a:r>
              <a:rPr lang="en-US" b="1" dirty="0"/>
              <a:t>Hence the vertex connectivity of the graph is 3.</a:t>
            </a:r>
          </a:p>
          <a:p>
            <a:endParaRPr lang="en-US" dirty="0"/>
          </a:p>
          <a:p>
            <a:endParaRPr lang="en-US" dirty="0"/>
          </a:p>
        </p:txBody>
      </p:sp>
      <p:sp>
        <p:nvSpPr>
          <p:cNvPr id="55" name="Oval 54">
            <a:extLst>
              <a:ext uri="{FF2B5EF4-FFF2-40B4-BE49-F238E27FC236}">
                <a16:creationId xmlns:a16="http://schemas.microsoft.com/office/drawing/2014/main" id="{BDD11F87-DA81-9510-C1CB-0AF4093562CB}"/>
              </a:ext>
            </a:extLst>
          </p:cNvPr>
          <p:cNvSpPr/>
          <p:nvPr/>
        </p:nvSpPr>
        <p:spPr>
          <a:xfrm rot="5400000">
            <a:off x="11817733" y="315860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6" name="Oval 55">
            <a:extLst>
              <a:ext uri="{FF2B5EF4-FFF2-40B4-BE49-F238E27FC236}">
                <a16:creationId xmlns:a16="http://schemas.microsoft.com/office/drawing/2014/main" id="{BDD11F87-DA81-9510-C1CB-0AF4093562CB}"/>
              </a:ext>
            </a:extLst>
          </p:cNvPr>
          <p:cNvSpPr/>
          <p:nvPr/>
        </p:nvSpPr>
        <p:spPr>
          <a:xfrm rot="5400000">
            <a:off x="10089557" y="315860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7" name="Oval 56">
            <a:extLst>
              <a:ext uri="{FF2B5EF4-FFF2-40B4-BE49-F238E27FC236}">
                <a16:creationId xmlns:a16="http://schemas.microsoft.com/office/drawing/2014/main" id="{BDD11F87-DA81-9510-C1CB-0AF4093562CB}"/>
              </a:ext>
            </a:extLst>
          </p:cNvPr>
          <p:cNvSpPr/>
          <p:nvPr/>
        </p:nvSpPr>
        <p:spPr>
          <a:xfrm rot="5400000">
            <a:off x="11817733" y="100125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8" name="Oval 57">
            <a:extLst>
              <a:ext uri="{FF2B5EF4-FFF2-40B4-BE49-F238E27FC236}">
                <a16:creationId xmlns:a16="http://schemas.microsoft.com/office/drawing/2014/main" id="{BDD11F87-DA81-9510-C1CB-0AF4093562CB}"/>
              </a:ext>
            </a:extLst>
          </p:cNvPr>
          <p:cNvSpPr/>
          <p:nvPr/>
        </p:nvSpPr>
        <p:spPr>
          <a:xfrm rot="5400000">
            <a:off x="10089557" y="101027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9" name="Straight Connector 58">
            <a:extLst>
              <a:ext uri="{FF2B5EF4-FFF2-40B4-BE49-F238E27FC236}">
                <a16:creationId xmlns:a16="http://schemas.microsoft.com/office/drawing/2014/main" id="{6205DD86-315C-53B6-CEEF-A9919650168E}"/>
              </a:ext>
            </a:extLst>
          </p:cNvPr>
          <p:cNvCxnSpPr>
            <a:cxnSpLocks/>
            <a:stCxn id="57" idx="6"/>
            <a:endCxn id="55" idx="2"/>
          </p:cNvCxnSpPr>
          <p:nvPr/>
        </p:nvCxnSpPr>
        <p:spPr>
          <a:xfrm>
            <a:off x="11888296" y="1143821"/>
            <a:ext cx="0" cy="20162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0" name="Straight Connector 59">
            <a:extLst>
              <a:ext uri="{FF2B5EF4-FFF2-40B4-BE49-F238E27FC236}">
                <a16:creationId xmlns:a16="http://schemas.microsoft.com/office/drawing/2014/main" id="{6205DD86-315C-53B6-CEEF-A9919650168E}"/>
              </a:ext>
            </a:extLst>
          </p:cNvPr>
          <p:cNvCxnSpPr>
            <a:cxnSpLocks/>
            <a:stCxn id="58" idx="6"/>
            <a:endCxn id="56" idx="2"/>
          </p:cNvCxnSpPr>
          <p:nvPr/>
        </p:nvCxnSpPr>
        <p:spPr>
          <a:xfrm>
            <a:off x="10160120" y="1152841"/>
            <a:ext cx="0" cy="2007204"/>
          </a:xfrm>
          <a:prstGeom prst="line">
            <a:avLst/>
          </a:prstGeom>
          <a:solidFill>
            <a:schemeClr val="bg1"/>
          </a:solid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6205DD86-315C-53B6-CEEF-A9919650168E}"/>
              </a:ext>
            </a:extLst>
          </p:cNvPr>
          <p:cNvCxnSpPr>
            <a:cxnSpLocks/>
            <a:stCxn id="57" idx="4"/>
            <a:endCxn id="58" idx="0"/>
          </p:cNvCxnSpPr>
          <p:nvPr/>
        </p:nvCxnSpPr>
        <p:spPr>
          <a:xfrm flipH="1">
            <a:off x="10232120" y="1073258"/>
            <a:ext cx="1584176" cy="90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2" name="Straight Connector 61">
            <a:extLst>
              <a:ext uri="{FF2B5EF4-FFF2-40B4-BE49-F238E27FC236}">
                <a16:creationId xmlns:a16="http://schemas.microsoft.com/office/drawing/2014/main" id="{6205DD86-315C-53B6-CEEF-A9919650168E}"/>
              </a:ext>
            </a:extLst>
          </p:cNvPr>
          <p:cNvCxnSpPr>
            <a:cxnSpLocks/>
            <a:stCxn id="55" idx="4"/>
            <a:endCxn id="56" idx="0"/>
          </p:cNvCxnSpPr>
          <p:nvPr/>
        </p:nvCxnSpPr>
        <p:spPr>
          <a:xfrm flipH="1">
            <a:off x="10232120" y="3230608"/>
            <a:ext cx="1584176" cy="0"/>
          </a:xfrm>
          <a:prstGeom prst="line">
            <a:avLst/>
          </a:prstGeom>
          <a:solidFill>
            <a:schemeClr val="bg1"/>
          </a:solid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cxnSp>
      <p:sp>
        <p:nvSpPr>
          <p:cNvPr id="63" name="Oval 62">
            <a:extLst>
              <a:ext uri="{FF2B5EF4-FFF2-40B4-BE49-F238E27FC236}">
                <a16:creationId xmlns:a16="http://schemas.microsoft.com/office/drawing/2014/main" id="{BDD11F87-DA81-9510-C1CB-0AF4093562CB}"/>
              </a:ext>
            </a:extLst>
          </p:cNvPr>
          <p:cNvSpPr/>
          <p:nvPr/>
        </p:nvSpPr>
        <p:spPr>
          <a:xfrm rot="5400000">
            <a:off x="8649381" y="460165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4" name="Oval 63">
            <a:extLst>
              <a:ext uri="{FF2B5EF4-FFF2-40B4-BE49-F238E27FC236}">
                <a16:creationId xmlns:a16="http://schemas.microsoft.com/office/drawing/2014/main" id="{BDD11F87-DA81-9510-C1CB-0AF4093562CB}"/>
              </a:ext>
            </a:extLst>
          </p:cNvPr>
          <p:cNvSpPr/>
          <p:nvPr/>
        </p:nvSpPr>
        <p:spPr>
          <a:xfrm rot="5400000">
            <a:off x="10809621" y="460165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5" name="Oval 64">
            <a:extLst>
              <a:ext uri="{FF2B5EF4-FFF2-40B4-BE49-F238E27FC236}">
                <a16:creationId xmlns:a16="http://schemas.microsoft.com/office/drawing/2014/main" id="{BDD11F87-DA81-9510-C1CB-0AF4093562CB}"/>
              </a:ext>
            </a:extLst>
          </p:cNvPr>
          <p:cNvSpPr/>
          <p:nvPr/>
        </p:nvSpPr>
        <p:spPr>
          <a:xfrm rot="5400000">
            <a:off x="10809621" y="1721338"/>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6" name="Oval 65">
            <a:extLst>
              <a:ext uri="{FF2B5EF4-FFF2-40B4-BE49-F238E27FC236}">
                <a16:creationId xmlns:a16="http://schemas.microsoft.com/office/drawing/2014/main" id="{BDD11F87-DA81-9510-C1CB-0AF4093562CB}"/>
              </a:ext>
            </a:extLst>
          </p:cNvPr>
          <p:cNvSpPr/>
          <p:nvPr/>
        </p:nvSpPr>
        <p:spPr>
          <a:xfrm rot="5400000">
            <a:off x="8649397" y="1732743"/>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7" name="Straight Connector 66">
            <a:extLst>
              <a:ext uri="{FF2B5EF4-FFF2-40B4-BE49-F238E27FC236}">
                <a16:creationId xmlns:a16="http://schemas.microsoft.com/office/drawing/2014/main" id="{6205DD86-315C-53B6-CEEF-A9919650168E}"/>
              </a:ext>
            </a:extLst>
          </p:cNvPr>
          <p:cNvCxnSpPr>
            <a:cxnSpLocks/>
            <a:stCxn id="65" idx="0"/>
            <a:endCxn id="57" idx="5"/>
          </p:cNvCxnSpPr>
          <p:nvPr/>
        </p:nvCxnSpPr>
        <p:spPr>
          <a:xfrm flipV="1">
            <a:off x="10952184" y="1123154"/>
            <a:ext cx="885200" cy="67018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8" name="Straight Connector 67">
            <a:extLst>
              <a:ext uri="{FF2B5EF4-FFF2-40B4-BE49-F238E27FC236}">
                <a16:creationId xmlns:a16="http://schemas.microsoft.com/office/drawing/2014/main" id="{6205DD86-315C-53B6-CEEF-A9919650168E}"/>
              </a:ext>
            </a:extLst>
          </p:cNvPr>
          <p:cNvCxnSpPr>
            <a:cxnSpLocks/>
            <a:stCxn id="66" idx="1"/>
            <a:endCxn id="58" idx="5"/>
          </p:cNvCxnSpPr>
          <p:nvPr/>
        </p:nvCxnSpPr>
        <p:spPr>
          <a:xfrm flipV="1">
            <a:off x="8770872" y="1132174"/>
            <a:ext cx="1338336" cy="62267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9" name="Straight Connector 68">
            <a:extLst>
              <a:ext uri="{FF2B5EF4-FFF2-40B4-BE49-F238E27FC236}">
                <a16:creationId xmlns:a16="http://schemas.microsoft.com/office/drawing/2014/main" id="{6205DD86-315C-53B6-CEEF-A9919650168E}"/>
              </a:ext>
            </a:extLst>
          </p:cNvPr>
          <p:cNvCxnSpPr>
            <a:cxnSpLocks/>
            <a:stCxn id="56" idx="5"/>
            <a:endCxn id="63" idx="1"/>
          </p:cNvCxnSpPr>
          <p:nvPr/>
        </p:nvCxnSpPr>
        <p:spPr>
          <a:xfrm flipH="1">
            <a:off x="8770856" y="3280504"/>
            <a:ext cx="1338352" cy="1343258"/>
          </a:xfrm>
          <a:prstGeom prst="line">
            <a:avLst/>
          </a:prstGeom>
          <a:solidFill>
            <a:schemeClr val="bg1"/>
          </a:solidFill>
          <a:ln w="38100">
            <a:solidFill>
              <a:srgbClr val="C00000"/>
            </a:solidFill>
            <a:prstDash val="sysDot"/>
          </a:ln>
        </p:spPr>
        <p:style>
          <a:lnRef idx="2">
            <a:schemeClr val="accent1">
              <a:shade val="50000"/>
            </a:schemeClr>
          </a:lnRef>
          <a:fillRef idx="1">
            <a:schemeClr val="accent1"/>
          </a:fillRef>
          <a:effectRef idx="0">
            <a:schemeClr val="accent1"/>
          </a:effectRef>
          <a:fontRef idx="minor">
            <a:schemeClr val="lt1"/>
          </a:fontRef>
        </p:style>
      </p:cxnSp>
      <p:cxnSp>
        <p:nvCxnSpPr>
          <p:cNvPr id="70" name="Straight Connector 69">
            <a:extLst>
              <a:ext uri="{FF2B5EF4-FFF2-40B4-BE49-F238E27FC236}">
                <a16:creationId xmlns:a16="http://schemas.microsoft.com/office/drawing/2014/main" id="{6205DD86-315C-53B6-CEEF-A9919650168E}"/>
              </a:ext>
            </a:extLst>
          </p:cNvPr>
          <p:cNvCxnSpPr>
            <a:cxnSpLocks/>
            <a:stCxn id="55" idx="5"/>
            <a:endCxn id="64" idx="1"/>
          </p:cNvCxnSpPr>
          <p:nvPr/>
        </p:nvCxnSpPr>
        <p:spPr>
          <a:xfrm flipH="1">
            <a:off x="10931096" y="3280504"/>
            <a:ext cx="906288" cy="134325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1" name="Straight Connector 70">
            <a:extLst>
              <a:ext uri="{FF2B5EF4-FFF2-40B4-BE49-F238E27FC236}">
                <a16:creationId xmlns:a16="http://schemas.microsoft.com/office/drawing/2014/main" id="{6205DD86-315C-53B6-CEEF-A9919650168E}"/>
              </a:ext>
            </a:extLst>
          </p:cNvPr>
          <p:cNvCxnSpPr>
            <a:cxnSpLocks/>
            <a:stCxn id="65" idx="4"/>
            <a:endCxn id="66" idx="0"/>
          </p:cNvCxnSpPr>
          <p:nvPr/>
        </p:nvCxnSpPr>
        <p:spPr>
          <a:xfrm flipH="1">
            <a:off x="8791960" y="1793338"/>
            <a:ext cx="2016224" cy="1140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Straight Connector 71">
            <a:extLst>
              <a:ext uri="{FF2B5EF4-FFF2-40B4-BE49-F238E27FC236}">
                <a16:creationId xmlns:a16="http://schemas.microsoft.com/office/drawing/2014/main" id="{6205DD86-315C-53B6-CEEF-A9919650168E}"/>
              </a:ext>
            </a:extLst>
          </p:cNvPr>
          <p:cNvCxnSpPr>
            <a:cxnSpLocks/>
            <a:stCxn id="65" idx="6"/>
            <a:endCxn id="64" idx="2"/>
          </p:cNvCxnSpPr>
          <p:nvPr/>
        </p:nvCxnSpPr>
        <p:spPr>
          <a:xfrm>
            <a:off x="10880184" y="1863901"/>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Straight Connector 72">
            <a:extLst>
              <a:ext uri="{FF2B5EF4-FFF2-40B4-BE49-F238E27FC236}">
                <a16:creationId xmlns:a16="http://schemas.microsoft.com/office/drawing/2014/main" id="{6205DD86-315C-53B6-CEEF-A9919650168E}"/>
              </a:ext>
            </a:extLst>
          </p:cNvPr>
          <p:cNvCxnSpPr>
            <a:cxnSpLocks/>
            <a:stCxn id="66" idx="6"/>
            <a:endCxn id="63" idx="2"/>
          </p:cNvCxnSpPr>
          <p:nvPr/>
        </p:nvCxnSpPr>
        <p:spPr>
          <a:xfrm flipH="1">
            <a:off x="8719944" y="1875306"/>
            <a:ext cx="16" cy="272778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Straight Connector 73">
            <a:extLst>
              <a:ext uri="{FF2B5EF4-FFF2-40B4-BE49-F238E27FC236}">
                <a16:creationId xmlns:a16="http://schemas.microsoft.com/office/drawing/2014/main" id="{6205DD86-315C-53B6-CEEF-A9919650168E}"/>
              </a:ext>
            </a:extLst>
          </p:cNvPr>
          <p:cNvCxnSpPr>
            <a:cxnSpLocks/>
            <a:stCxn id="64" idx="4"/>
            <a:endCxn id="63" idx="0"/>
          </p:cNvCxnSpPr>
          <p:nvPr/>
        </p:nvCxnSpPr>
        <p:spPr>
          <a:xfrm flipH="1">
            <a:off x="8791944" y="4673658"/>
            <a:ext cx="201624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3563575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9" presetClass="emph" presetSubtype="0" fill="hold" grpId="1" nodeType="clickEffect">
                                  <p:stCondLst>
                                    <p:cond delay="0"/>
                                  </p:stCondLst>
                                  <p:childTnLst>
                                    <p:animClr clrSpc="rgb" dir="cw">
                                      <p:cBhvr override="childStyle">
                                        <p:cTn id="26" dur="500" fill="hold"/>
                                        <p:tgtEl>
                                          <p:spTgt spid="56"/>
                                        </p:tgtEl>
                                        <p:attrNameLst>
                                          <p:attrName>style.color</p:attrName>
                                        </p:attrNameLst>
                                      </p:cBhvr>
                                      <p:to>
                                        <a:srgbClr val="FFFF00"/>
                                      </p:to>
                                    </p:animClr>
                                    <p:animClr clrSpc="rgb" dir="cw">
                                      <p:cBhvr>
                                        <p:cTn id="27" dur="500" fill="hold"/>
                                        <p:tgtEl>
                                          <p:spTgt spid="56"/>
                                        </p:tgtEl>
                                        <p:attrNameLst>
                                          <p:attrName>fillcolor</p:attrName>
                                        </p:attrNameLst>
                                      </p:cBhvr>
                                      <p:to>
                                        <a:srgbClr val="FFFF00"/>
                                      </p:to>
                                    </p:animClr>
                                    <p:set>
                                      <p:cBhvr>
                                        <p:cTn id="28" dur="500" fill="hold"/>
                                        <p:tgtEl>
                                          <p:spTgt spid="56"/>
                                        </p:tgtEl>
                                        <p:attrNameLst>
                                          <p:attrName>fill.type</p:attrName>
                                        </p:attrNameLst>
                                      </p:cBhvr>
                                      <p:to>
                                        <p:strVal val="solid"/>
                                      </p:to>
                                    </p:set>
                                    <p:set>
                                      <p:cBhvr>
                                        <p:cTn id="29" dur="500" fill="hold"/>
                                        <p:tgtEl>
                                          <p:spTgt spid="56"/>
                                        </p:tgtEl>
                                        <p:attrNameLst>
                                          <p:attrName>fill.on</p:attrName>
                                        </p:attrNameLst>
                                      </p:cBhvr>
                                      <p:to>
                                        <p:strVal val="true"/>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0" nodeType="clickEffect">
                                  <p:stCondLst>
                                    <p:cond delay="0"/>
                                  </p:stCondLst>
                                  <p:childTnLst>
                                    <p:set>
                                      <p:cBhvr>
                                        <p:cTn id="33" dur="1" fill="hold">
                                          <p:stCondLst>
                                            <p:cond delay="0"/>
                                          </p:stCondLst>
                                        </p:cTn>
                                        <p:tgtEl>
                                          <p:spTgt spid="56"/>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60"/>
                                        </p:tgtEl>
                                        <p:attrNameLst>
                                          <p:attrName>style.visibility</p:attrName>
                                        </p:attrNameLst>
                                      </p:cBhvr>
                                      <p:to>
                                        <p:strVal val="hidden"/>
                                      </p:to>
                                    </p:set>
                                  </p:childTnLst>
                                </p:cTn>
                              </p:par>
                              <p:par>
                                <p:cTn id="36" presetID="1" presetClass="exit" presetSubtype="0" fill="hold" nodeType="withEffect">
                                  <p:stCondLst>
                                    <p:cond delay="0"/>
                                  </p:stCondLst>
                                  <p:childTnLst>
                                    <p:set>
                                      <p:cBhvr>
                                        <p:cTn id="37" dur="1" fill="hold">
                                          <p:stCondLst>
                                            <p:cond delay="0"/>
                                          </p:stCondLst>
                                        </p:cTn>
                                        <p:tgtEl>
                                          <p:spTgt spid="62"/>
                                        </p:tgtEl>
                                        <p:attrNameLst>
                                          <p:attrName>style.visibility</p:attrName>
                                        </p:attrNameLst>
                                      </p:cBhvr>
                                      <p:to>
                                        <p:strVal val="hidden"/>
                                      </p:to>
                                    </p:set>
                                  </p:childTnLst>
                                </p:cTn>
                              </p:par>
                              <p:par>
                                <p:cTn id="38" presetID="1" presetClass="exit" presetSubtype="0" fill="hold" nodeType="withEffect">
                                  <p:stCondLst>
                                    <p:cond delay="0"/>
                                  </p:stCondLst>
                                  <p:childTnLst>
                                    <p:set>
                                      <p:cBhvr>
                                        <p:cTn id="39" dur="1" fill="hold">
                                          <p:stCondLst>
                                            <p:cond delay="0"/>
                                          </p:stCondLst>
                                        </p:cTn>
                                        <p:tgtEl>
                                          <p:spTgt spid="69"/>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9" presetClass="emph" presetSubtype="0" fill="hold" grpId="1" nodeType="clickEffect">
                                  <p:stCondLst>
                                    <p:cond delay="0"/>
                                  </p:stCondLst>
                                  <p:childTnLst>
                                    <p:animClr clrSpc="rgb" dir="cw">
                                      <p:cBhvr override="childStyle">
                                        <p:cTn id="43" dur="500" fill="hold"/>
                                        <p:tgtEl>
                                          <p:spTgt spid="66"/>
                                        </p:tgtEl>
                                        <p:attrNameLst>
                                          <p:attrName>style.color</p:attrName>
                                        </p:attrNameLst>
                                      </p:cBhvr>
                                      <p:to>
                                        <a:srgbClr val="FFFF00"/>
                                      </p:to>
                                    </p:animClr>
                                    <p:animClr clrSpc="rgb" dir="cw">
                                      <p:cBhvr>
                                        <p:cTn id="44" dur="500" fill="hold"/>
                                        <p:tgtEl>
                                          <p:spTgt spid="66"/>
                                        </p:tgtEl>
                                        <p:attrNameLst>
                                          <p:attrName>fillcolor</p:attrName>
                                        </p:attrNameLst>
                                      </p:cBhvr>
                                      <p:to>
                                        <a:srgbClr val="FFFF00"/>
                                      </p:to>
                                    </p:animClr>
                                    <p:set>
                                      <p:cBhvr>
                                        <p:cTn id="45" dur="500" fill="hold"/>
                                        <p:tgtEl>
                                          <p:spTgt spid="66"/>
                                        </p:tgtEl>
                                        <p:attrNameLst>
                                          <p:attrName>fill.type</p:attrName>
                                        </p:attrNameLst>
                                      </p:cBhvr>
                                      <p:to>
                                        <p:strVal val="solid"/>
                                      </p:to>
                                    </p:set>
                                    <p:set>
                                      <p:cBhvr>
                                        <p:cTn id="46" dur="500" fill="hold"/>
                                        <p:tgtEl>
                                          <p:spTgt spid="66"/>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0" nodeType="clickEffect">
                                  <p:stCondLst>
                                    <p:cond delay="0"/>
                                  </p:stCondLst>
                                  <p:childTnLst>
                                    <p:set>
                                      <p:cBhvr>
                                        <p:cTn id="50" dur="1" fill="hold">
                                          <p:stCondLst>
                                            <p:cond delay="0"/>
                                          </p:stCondLst>
                                        </p:cTn>
                                        <p:tgtEl>
                                          <p:spTgt spid="66"/>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68"/>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71"/>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73"/>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9" presetClass="emph" presetSubtype="0" fill="hold" grpId="1" nodeType="clickEffect">
                                  <p:stCondLst>
                                    <p:cond delay="0"/>
                                  </p:stCondLst>
                                  <p:childTnLst>
                                    <p:animClr clrSpc="rgb" dir="cw">
                                      <p:cBhvr override="childStyle">
                                        <p:cTn id="60" dur="500" fill="hold"/>
                                        <p:tgtEl>
                                          <p:spTgt spid="57"/>
                                        </p:tgtEl>
                                        <p:attrNameLst>
                                          <p:attrName>style.color</p:attrName>
                                        </p:attrNameLst>
                                      </p:cBhvr>
                                      <p:to>
                                        <a:srgbClr val="FFFF00"/>
                                      </p:to>
                                    </p:animClr>
                                    <p:animClr clrSpc="rgb" dir="cw">
                                      <p:cBhvr>
                                        <p:cTn id="61" dur="500" fill="hold"/>
                                        <p:tgtEl>
                                          <p:spTgt spid="57"/>
                                        </p:tgtEl>
                                        <p:attrNameLst>
                                          <p:attrName>fillcolor</p:attrName>
                                        </p:attrNameLst>
                                      </p:cBhvr>
                                      <p:to>
                                        <a:srgbClr val="FFFF00"/>
                                      </p:to>
                                    </p:animClr>
                                    <p:set>
                                      <p:cBhvr>
                                        <p:cTn id="62" dur="500" fill="hold"/>
                                        <p:tgtEl>
                                          <p:spTgt spid="57"/>
                                        </p:tgtEl>
                                        <p:attrNameLst>
                                          <p:attrName>fill.type</p:attrName>
                                        </p:attrNameLst>
                                      </p:cBhvr>
                                      <p:to>
                                        <p:strVal val="solid"/>
                                      </p:to>
                                    </p:set>
                                    <p:set>
                                      <p:cBhvr>
                                        <p:cTn id="63" dur="500" fill="hold"/>
                                        <p:tgtEl>
                                          <p:spTgt spid="57"/>
                                        </p:tgtEl>
                                        <p:attrNameLst>
                                          <p:attrName>fill.on</p:attrName>
                                        </p:attrNameLst>
                                      </p:cBhvr>
                                      <p:to>
                                        <p:strVal val="true"/>
                                      </p:to>
                                    </p:se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0" nodeType="clickEffect">
                                  <p:stCondLst>
                                    <p:cond delay="0"/>
                                  </p:stCondLst>
                                  <p:childTnLst>
                                    <p:set>
                                      <p:cBhvr>
                                        <p:cTn id="67" dur="1" fill="hold">
                                          <p:stCondLst>
                                            <p:cond delay="0"/>
                                          </p:stCondLst>
                                        </p:cTn>
                                        <p:tgtEl>
                                          <p:spTgt spid="57"/>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59"/>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67"/>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61"/>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6" grpId="1" animBg="1"/>
      <p:bldP spid="57" grpId="0" animBg="1"/>
      <p:bldP spid="57" grpId="1" animBg="1"/>
      <p:bldP spid="66" grpId="0" animBg="1"/>
      <p:bldP spid="66"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1(Cont.)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229649" y="798955"/>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a:solidFill>
                  <a:schemeClr val="bg1"/>
                </a:solidFill>
              </a:rPr>
              <a:t>Solution </a:t>
            </a:r>
            <a:endParaRPr lang="en-US" sz="2800" dirty="0">
              <a:solidFill>
                <a:schemeClr val="bg1"/>
              </a:solidFill>
            </a:endParaRPr>
          </a:p>
        </p:txBody>
      </p:sp>
      <p:sp>
        <p:nvSpPr>
          <p:cNvPr id="6" name="Content Placeholder 5"/>
          <p:cNvSpPr>
            <a:spLocks noGrp="1"/>
          </p:cNvSpPr>
          <p:nvPr>
            <p:ph idx="1"/>
          </p:nvPr>
        </p:nvSpPr>
        <p:spPr>
          <a:xfrm>
            <a:off x="131180" y="1378636"/>
            <a:ext cx="8126555" cy="5187917"/>
          </a:xfrm>
        </p:spPr>
        <p:txBody>
          <a:bodyPr/>
          <a:lstStyle/>
          <a:p>
            <a:r>
              <a:rPr lang="en-US" dirty="0"/>
              <a:t>To determine the vertex connectivity of the graph, we first check if removing a single vertex can disconnect the graph. Clearly, removing just one vertex does not disconnect the graph.</a:t>
            </a:r>
          </a:p>
          <a:p>
            <a:pPr lvl="0"/>
            <a:r>
              <a:rPr lang="en-US" dirty="0"/>
              <a:t>We know that the vertex connectivity of any graph G can never exceed the edge connectivity of G.</a:t>
            </a:r>
          </a:p>
          <a:p>
            <a:pPr lvl="0"/>
            <a:r>
              <a:rPr lang="en-US" dirty="0"/>
              <a:t>Here, </a:t>
            </a:r>
            <a:r>
              <a:rPr lang="en-US" b="1" dirty="0"/>
              <a:t>the edge connectivity of the graph is 3.</a:t>
            </a:r>
          </a:p>
          <a:p>
            <a:pPr lvl="0"/>
            <a:r>
              <a:rPr lang="en-US" dirty="0"/>
              <a:t>So, vertex connectivity is either 2 or 3.</a:t>
            </a:r>
          </a:p>
          <a:p>
            <a:pPr lvl="0"/>
            <a:r>
              <a:rPr lang="en-US" dirty="0"/>
              <a:t>But 2 vertex does not disconnect the graph.</a:t>
            </a:r>
          </a:p>
          <a:p>
            <a:pPr lvl="0"/>
            <a:r>
              <a:rPr lang="en-US" b="1" dirty="0"/>
              <a:t>Hence the vertex connectivity of the graph is 3.</a:t>
            </a:r>
          </a:p>
          <a:p>
            <a:endParaRPr lang="en-US" dirty="0"/>
          </a:p>
          <a:p>
            <a:endParaRPr lang="en-US" dirty="0"/>
          </a:p>
        </p:txBody>
      </p:sp>
      <p:sp>
        <p:nvSpPr>
          <p:cNvPr id="25" name="Oval 24">
            <a:extLst>
              <a:ext uri="{FF2B5EF4-FFF2-40B4-BE49-F238E27FC236}">
                <a16:creationId xmlns:a16="http://schemas.microsoft.com/office/drawing/2014/main" id="{BDD11F87-DA81-9510-C1CB-0AF4093562CB}"/>
              </a:ext>
            </a:extLst>
          </p:cNvPr>
          <p:cNvSpPr/>
          <p:nvPr/>
        </p:nvSpPr>
        <p:spPr>
          <a:xfrm rot="5400000">
            <a:off x="11037667" y="370426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6" name="Oval 25">
            <a:extLst>
              <a:ext uri="{FF2B5EF4-FFF2-40B4-BE49-F238E27FC236}">
                <a16:creationId xmlns:a16="http://schemas.microsoft.com/office/drawing/2014/main" id="{BDD11F87-DA81-9510-C1CB-0AF4093562CB}"/>
              </a:ext>
            </a:extLst>
          </p:cNvPr>
          <p:cNvSpPr/>
          <p:nvPr/>
        </p:nvSpPr>
        <p:spPr>
          <a:xfrm rot="5400000">
            <a:off x="9597523" y="3703822"/>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 name="Oval 26">
            <a:extLst>
              <a:ext uri="{FF2B5EF4-FFF2-40B4-BE49-F238E27FC236}">
                <a16:creationId xmlns:a16="http://schemas.microsoft.com/office/drawing/2014/main" id="{BDD11F87-DA81-9510-C1CB-0AF4093562CB}"/>
              </a:ext>
            </a:extLst>
          </p:cNvPr>
          <p:cNvSpPr/>
          <p:nvPr/>
        </p:nvSpPr>
        <p:spPr>
          <a:xfrm rot="5400000">
            <a:off x="11037667" y="227757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8" name="Oval 27">
            <a:extLst>
              <a:ext uri="{FF2B5EF4-FFF2-40B4-BE49-F238E27FC236}">
                <a16:creationId xmlns:a16="http://schemas.microsoft.com/office/drawing/2014/main" id="{BDD11F87-DA81-9510-C1CB-0AF4093562CB}"/>
              </a:ext>
            </a:extLst>
          </p:cNvPr>
          <p:cNvSpPr/>
          <p:nvPr/>
        </p:nvSpPr>
        <p:spPr>
          <a:xfrm rot="5400000">
            <a:off x="9597523" y="2277579"/>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9" name="Straight Connector 28">
            <a:extLst>
              <a:ext uri="{FF2B5EF4-FFF2-40B4-BE49-F238E27FC236}">
                <a16:creationId xmlns:a16="http://schemas.microsoft.com/office/drawing/2014/main" id="{6205DD86-315C-53B6-CEEF-A9919650168E}"/>
              </a:ext>
            </a:extLst>
          </p:cNvPr>
          <p:cNvCxnSpPr>
            <a:cxnSpLocks/>
            <a:endCxn id="25" idx="2"/>
          </p:cNvCxnSpPr>
          <p:nvPr/>
        </p:nvCxnSpPr>
        <p:spPr>
          <a:xfrm>
            <a:off x="11108230" y="2415827"/>
            <a:ext cx="0" cy="12898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0" name="Straight Connector 29">
            <a:extLst>
              <a:ext uri="{FF2B5EF4-FFF2-40B4-BE49-F238E27FC236}">
                <a16:creationId xmlns:a16="http://schemas.microsoft.com/office/drawing/2014/main" id="{6205DD86-315C-53B6-CEEF-A9919650168E}"/>
              </a:ext>
            </a:extLst>
          </p:cNvPr>
          <p:cNvCxnSpPr>
            <a:cxnSpLocks/>
            <a:stCxn id="28" idx="6"/>
            <a:endCxn id="26" idx="2"/>
          </p:cNvCxnSpPr>
          <p:nvPr/>
        </p:nvCxnSpPr>
        <p:spPr>
          <a:xfrm>
            <a:off x="9668086" y="2420142"/>
            <a:ext cx="0" cy="128511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a:extLst>
              <a:ext uri="{FF2B5EF4-FFF2-40B4-BE49-F238E27FC236}">
                <a16:creationId xmlns:a16="http://schemas.microsoft.com/office/drawing/2014/main" id="{6205DD86-315C-53B6-CEEF-A9919650168E}"/>
              </a:ext>
            </a:extLst>
          </p:cNvPr>
          <p:cNvCxnSpPr>
            <a:cxnSpLocks/>
            <a:stCxn id="27" idx="4"/>
            <a:endCxn id="28" idx="0"/>
          </p:cNvCxnSpPr>
          <p:nvPr/>
        </p:nvCxnSpPr>
        <p:spPr>
          <a:xfrm flipH="1">
            <a:off x="9740086" y="2349579"/>
            <a:ext cx="1296144"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2" name="Straight Connector 31">
            <a:extLst>
              <a:ext uri="{FF2B5EF4-FFF2-40B4-BE49-F238E27FC236}">
                <a16:creationId xmlns:a16="http://schemas.microsoft.com/office/drawing/2014/main" id="{6205DD86-315C-53B6-CEEF-A9919650168E}"/>
              </a:ext>
            </a:extLst>
          </p:cNvPr>
          <p:cNvCxnSpPr>
            <a:cxnSpLocks/>
            <a:stCxn id="25" idx="4"/>
            <a:endCxn id="26" idx="0"/>
          </p:cNvCxnSpPr>
          <p:nvPr/>
        </p:nvCxnSpPr>
        <p:spPr>
          <a:xfrm flipH="1" flipV="1">
            <a:off x="9740086" y="3775822"/>
            <a:ext cx="1296144" cy="447"/>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3" name="Oval 32">
            <a:extLst>
              <a:ext uri="{FF2B5EF4-FFF2-40B4-BE49-F238E27FC236}">
                <a16:creationId xmlns:a16="http://schemas.microsoft.com/office/drawing/2014/main" id="{BDD11F87-DA81-9510-C1CB-0AF4093562CB}"/>
              </a:ext>
            </a:extLst>
          </p:cNvPr>
          <p:cNvSpPr/>
          <p:nvPr/>
        </p:nvSpPr>
        <p:spPr>
          <a:xfrm rot="5400000">
            <a:off x="8877427" y="443061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4" name="Oval 33">
            <a:extLst>
              <a:ext uri="{FF2B5EF4-FFF2-40B4-BE49-F238E27FC236}">
                <a16:creationId xmlns:a16="http://schemas.microsoft.com/office/drawing/2014/main" id="{BDD11F87-DA81-9510-C1CB-0AF4093562CB}"/>
              </a:ext>
            </a:extLst>
          </p:cNvPr>
          <p:cNvSpPr/>
          <p:nvPr/>
        </p:nvSpPr>
        <p:spPr>
          <a:xfrm rot="5400000">
            <a:off x="11757747" y="4435626"/>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6" name="Oval 35">
            <a:extLst>
              <a:ext uri="{FF2B5EF4-FFF2-40B4-BE49-F238E27FC236}">
                <a16:creationId xmlns:a16="http://schemas.microsoft.com/office/drawing/2014/main" id="{BDD11F87-DA81-9510-C1CB-0AF4093562CB}"/>
              </a:ext>
            </a:extLst>
          </p:cNvPr>
          <p:cNvSpPr/>
          <p:nvPr/>
        </p:nvSpPr>
        <p:spPr>
          <a:xfrm rot="5400000">
            <a:off x="11757747" y="155029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7" name="Oval 36">
            <a:extLst>
              <a:ext uri="{FF2B5EF4-FFF2-40B4-BE49-F238E27FC236}">
                <a16:creationId xmlns:a16="http://schemas.microsoft.com/office/drawing/2014/main" id="{BDD11F87-DA81-9510-C1CB-0AF4093562CB}"/>
              </a:ext>
            </a:extLst>
          </p:cNvPr>
          <p:cNvSpPr/>
          <p:nvPr/>
        </p:nvSpPr>
        <p:spPr>
          <a:xfrm rot="5400000">
            <a:off x="8877427" y="1550294"/>
            <a:ext cx="141126"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38" name="Straight Connector 37">
            <a:extLst>
              <a:ext uri="{FF2B5EF4-FFF2-40B4-BE49-F238E27FC236}">
                <a16:creationId xmlns:a16="http://schemas.microsoft.com/office/drawing/2014/main" id="{6205DD86-315C-53B6-CEEF-A9919650168E}"/>
              </a:ext>
            </a:extLst>
          </p:cNvPr>
          <p:cNvCxnSpPr>
            <a:cxnSpLocks/>
            <a:stCxn id="36" idx="5"/>
            <a:endCxn id="27" idx="1"/>
          </p:cNvCxnSpPr>
          <p:nvPr/>
        </p:nvCxnSpPr>
        <p:spPr>
          <a:xfrm flipH="1">
            <a:off x="11159142" y="1672190"/>
            <a:ext cx="618256"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Connector 38">
            <a:extLst>
              <a:ext uri="{FF2B5EF4-FFF2-40B4-BE49-F238E27FC236}">
                <a16:creationId xmlns:a16="http://schemas.microsoft.com/office/drawing/2014/main" id="{6205DD86-315C-53B6-CEEF-A9919650168E}"/>
              </a:ext>
            </a:extLst>
          </p:cNvPr>
          <p:cNvCxnSpPr>
            <a:cxnSpLocks/>
            <a:stCxn id="37" idx="7"/>
            <a:endCxn id="28" idx="3"/>
          </p:cNvCxnSpPr>
          <p:nvPr/>
        </p:nvCxnSpPr>
        <p:spPr>
          <a:xfrm>
            <a:off x="8998902" y="1672190"/>
            <a:ext cx="618272" cy="6274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0" name="Straight Connector 39">
            <a:extLst>
              <a:ext uri="{FF2B5EF4-FFF2-40B4-BE49-F238E27FC236}">
                <a16:creationId xmlns:a16="http://schemas.microsoft.com/office/drawing/2014/main" id="{6205DD86-315C-53B6-CEEF-A9919650168E}"/>
              </a:ext>
            </a:extLst>
          </p:cNvPr>
          <p:cNvCxnSpPr>
            <a:cxnSpLocks/>
            <a:stCxn id="26" idx="5"/>
            <a:endCxn id="33" idx="1"/>
          </p:cNvCxnSpPr>
          <p:nvPr/>
        </p:nvCxnSpPr>
        <p:spPr>
          <a:xfrm flipH="1">
            <a:off x="8998902" y="3825718"/>
            <a:ext cx="618272" cy="6270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1" name="Straight Connector 40">
            <a:extLst>
              <a:ext uri="{FF2B5EF4-FFF2-40B4-BE49-F238E27FC236}">
                <a16:creationId xmlns:a16="http://schemas.microsoft.com/office/drawing/2014/main" id="{6205DD86-315C-53B6-CEEF-A9919650168E}"/>
              </a:ext>
            </a:extLst>
          </p:cNvPr>
          <p:cNvCxnSpPr>
            <a:cxnSpLocks/>
            <a:stCxn id="25" idx="7"/>
            <a:endCxn id="34" idx="3"/>
          </p:cNvCxnSpPr>
          <p:nvPr/>
        </p:nvCxnSpPr>
        <p:spPr>
          <a:xfrm>
            <a:off x="11159142" y="3826165"/>
            <a:ext cx="618256" cy="63156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6205DD86-315C-53B6-CEEF-A9919650168E}"/>
              </a:ext>
            </a:extLst>
          </p:cNvPr>
          <p:cNvCxnSpPr>
            <a:cxnSpLocks/>
            <a:stCxn id="36" idx="4"/>
            <a:endCxn id="37" idx="0"/>
          </p:cNvCxnSpPr>
          <p:nvPr/>
        </p:nvCxnSpPr>
        <p:spPr>
          <a:xfrm flipH="1">
            <a:off x="9019990" y="1622294"/>
            <a:ext cx="2736320"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Connector 42">
            <a:extLst>
              <a:ext uri="{FF2B5EF4-FFF2-40B4-BE49-F238E27FC236}">
                <a16:creationId xmlns:a16="http://schemas.microsoft.com/office/drawing/2014/main" id="{6205DD86-315C-53B6-CEEF-A9919650168E}"/>
              </a:ext>
            </a:extLst>
          </p:cNvPr>
          <p:cNvCxnSpPr>
            <a:cxnSpLocks/>
            <a:stCxn id="36" idx="6"/>
            <a:endCxn id="34" idx="2"/>
          </p:cNvCxnSpPr>
          <p:nvPr/>
        </p:nvCxnSpPr>
        <p:spPr>
          <a:xfrm>
            <a:off x="11828310" y="1692857"/>
            <a:ext cx="0" cy="274420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Connector 43">
            <a:extLst>
              <a:ext uri="{FF2B5EF4-FFF2-40B4-BE49-F238E27FC236}">
                <a16:creationId xmlns:a16="http://schemas.microsoft.com/office/drawing/2014/main" id="{6205DD86-315C-53B6-CEEF-A9919650168E}"/>
              </a:ext>
            </a:extLst>
          </p:cNvPr>
          <p:cNvCxnSpPr>
            <a:cxnSpLocks/>
            <a:stCxn id="37" idx="6"/>
            <a:endCxn id="33" idx="2"/>
          </p:cNvCxnSpPr>
          <p:nvPr/>
        </p:nvCxnSpPr>
        <p:spPr>
          <a:xfrm>
            <a:off x="8947990" y="1692857"/>
            <a:ext cx="0" cy="27391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6205DD86-315C-53B6-CEEF-A9919650168E}"/>
              </a:ext>
            </a:extLst>
          </p:cNvPr>
          <p:cNvCxnSpPr>
            <a:cxnSpLocks/>
            <a:stCxn id="34" idx="4"/>
            <a:endCxn id="33" idx="0"/>
          </p:cNvCxnSpPr>
          <p:nvPr/>
        </p:nvCxnSpPr>
        <p:spPr>
          <a:xfrm flipH="1" flipV="1">
            <a:off x="9019990" y="4502614"/>
            <a:ext cx="2736320" cy="50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782537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9" presetClass="emph" presetSubtype="0" fill="hold" grpId="0" nodeType="clickEffect">
                                  <p:stCondLst>
                                    <p:cond delay="0"/>
                                  </p:stCondLst>
                                  <p:childTnLst>
                                    <p:animClr clrSpc="rgb" dir="cw">
                                      <p:cBhvr override="childStyle">
                                        <p:cTn id="26" dur="500" fill="hold"/>
                                        <p:tgtEl>
                                          <p:spTgt spid="28"/>
                                        </p:tgtEl>
                                        <p:attrNameLst>
                                          <p:attrName>style.color</p:attrName>
                                        </p:attrNameLst>
                                      </p:cBhvr>
                                      <p:to>
                                        <a:srgbClr val="FFFF00"/>
                                      </p:to>
                                    </p:animClr>
                                    <p:animClr clrSpc="rgb" dir="cw">
                                      <p:cBhvr>
                                        <p:cTn id="27" dur="500" fill="hold"/>
                                        <p:tgtEl>
                                          <p:spTgt spid="28"/>
                                        </p:tgtEl>
                                        <p:attrNameLst>
                                          <p:attrName>fillcolor</p:attrName>
                                        </p:attrNameLst>
                                      </p:cBhvr>
                                      <p:to>
                                        <a:srgbClr val="FFFF00"/>
                                      </p:to>
                                    </p:animClr>
                                    <p:set>
                                      <p:cBhvr>
                                        <p:cTn id="28" dur="500" fill="hold"/>
                                        <p:tgtEl>
                                          <p:spTgt spid="28"/>
                                        </p:tgtEl>
                                        <p:attrNameLst>
                                          <p:attrName>fill.type</p:attrName>
                                        </p:attrNameLst>
                                      </p:cBhvr>
                                      <p:to>
                                        <p:strVal val="solid"/>
                                      </p:to>
                                    </p:set>
                                    <p:set>
                                      <p:cBhvr>
                                        <p:cTn id="29" dur="500" fill="hold"/>
                                        <p:tgtEl>
                                          <p:spTgt spid="28"/>
                                        </p:tgtEl>
                                        <p:attrNameLst>
                                          <p:attrName>fill.on</p:attrName>
                                        </p:attrNameLst>
                                      </p:cBhvr>
                                      <p:to>
                                        <p:strVal val="true"/>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28"/>
                                        </p:tgtEl>
                                        <p:attrNameLst>
                                          <p:attrName>style.visibility</p:attrName>
                                        </p:attrNameLst>
                                      </p:cBhvr>
                                      <p:to>
                                        <p:strVal val="hidden"/>
                                      </p:to>
                                    </p:set>
                                  </p:childTnLst>
                                </p:cTn>
                              </p:par>
                              <p:par>
                                <p:cTn id="34" presetID="1" presetClass="exit" presetSubtype="0" fill="hold" nodeType="withEffect">
                                  <p:stCondLst>
                                    <p:cond delay="0"/>
                                  </p:stCondLst>
                                  <p:childTnLst>
                                    <p:set>
                                      <p:cBhvr>
                                        <p:cTn id="35" dur="1" fill="hold">
                                          <p:stCondLst>
                                            <p:cond delay="0"/>
                                          </p:stCondLst>
                                        </p:cTn>
                                        <p:tgtEl>
                                          <p:spTgt spid="39"/>
                                        </p:tgtEl>
                                        <p:attrNameLst>
                                          <p:attrName>style.visibility</p:attrName>
                                        </p:attrNameLst>
                                      </p:cBhvr>
                                      <p:to>
                                        <p:strVal val="hidden"/>
                                      </p:to>
                                    </p:set>
                                  </p:childTnLst>
                                </p:cTn>
                              </p:par>
                              <p:par>
                                <p:cTn id="36" presetID="1" presetClass="exit" presetSubtype="0" fill="hold" nodeType="withEffect">
                                  <p:stCondLst>
                                    <p:cond delay="0"/>
                                  </p:stCondLst>
                                  <p:childTnLst>
                                    <p:set>
                                      <p:cBhvr>
                                        <p:cTn id="37" dur="1" fill="hold">
                                          <p:stCondLst>
                                            <p:cond delay="0"/>
                                          </p:stCondLst>
                                        </p:cTn>
                                        <p:tgtEl>
                                          <p:spTgt spid="31"/>
                                        </p:tgtEl>
                                        <p:attrNameLst>
                                          <p:attrName>style.visibility</p:attrName>
                                        </p:attrNameLst>
                                      </p:cBhvr>
                                      <p:to>
                                        <p:strVal val="hidden"/>
                                      </p:to>
                                    </p:set>
                                  </p:childTnLst>
                                </p:cTn>
                              </p:par>
                              <p:par>
                                <p:cTn id="38" presetID="1" presetClass="exit" presetSubtype="0" fill="hold" nodeType="withEffect">
                                  <p:stCondLst>
                                    <p:cond delay="0"/>
                                  </p:stCondLst>
                                  <p:childTnLst>
                                    <p:set>
                                      <p:cBhvr>
                                        <p:cTn id="39" dur="1" fill="hold">
                                          <p:stCondLst>
                                            <p:cond delay="0"/>
                                          </p:stCondLst>
                                        </p:cTn>
                                        <p:tgtEl>
                                          <p:spTgt spid="30"/>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19" presetClass="emph" presetSubtype="0" fill="hold" grpId="0" nodeType="clickEffect">
                                  <p:stCondLst>
                                    <p:cond delay="0"/>
                                  </p:stCondLst>
                                  <p:childTnLst>
                                    <p:animClr clrSpc="rgb" dir="cw">
                                      <p:cBhvr override="childStyle">
                                        <p:cTn id="43" dur="500" fill="hold"/>
                                        <p:tgtEl>
                                          <p:spTgt spid="25"/>
                                        </p:tgtEl>
                                        <p:attrNameLst>
                                          <p:attrName>style.color</p:attrName>
                                        </p:attrNameLst>
                                      </p:cBhvr>
                                      <p:to>
                                        <a:srgbClr val="FFFF00"/>
                                      </p:to>
                                    </p:animClr>
                                    <p:animClr clrSpc="rgb" dir="cw">
                                      <p:cBhvr>
                                        <p:cTn id="44" dur="500" fill="hold"/>
                                        <p:tgtEl>
                                          <p:spTgt spid="25"/>
                                        </p:tgtEl>
                                        <p:attrNameLst>
                                          <p:attrName>fillcolor</p:attrName>
                                        </p:attrNameLst>
                                      </p:cBhvr>
                                      <p:to>
                                        <a:srgbClr val="FFFF00"/>
                                      </p:to>
                                    </p:animClr>
                                    <p:set>
                                      <p:cBhvr>
                                        <p:cTn id="45" dur="500" fill="hold"/>
                                        <p:tgtEl>
                                          <p:spTgt spid="25"/>
                                        </p:tgtEl>
                                        <p:attrNameLst>
                                          <p:attrName>fill.type</p:attrName>
                                        </p:attrNameLst>
                                      </p:cBhvr>
                                      <p:to>
                                        <p:strVal val="solid"/>
                                      </p:to>
                                    </p:set>
                                    <p:set>
                                      <p:cBhvr>
                                        <p:cTn id="46" dur="500" fill="hold"/>
                                        <p:tgtEl>
                                          <p:spTgt spid="25"/>
                                        </p:tgtEl>
                                        <p:attrNameLst>
                                          <p:attrName>fill.on</p:attrName>
                                        </p:attrNameLst>
                                      </p:cBhvr>
                                      <p:to>
                                        <p:strVal val="tru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25"/>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29"/>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41"/>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32"/>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9" presetClass="emph" presetSubtype="0" fill="hold" grpId="1" nodeType="clickEffect">
                                  <p:stCondLst>
                                    <p:cond delay="0"/>
                                  </p:stCondLst>
                                  <p:childTnLst>
                                    <p:animClr clrSpc="rgb" dir="cw">
                                      <p:cBhvr override="childStyle">
                                        <p:cTn id="60" dur="500" fill="hold"/>
                                        <p:tgtEl>
                                          <p:spTgt spid="33"/>
                                        </p:tgtEl>
                                        <p:attrNameLst>
                                          <p:attrName>style.color</p:attrName>
                                        </p:attrNameLst>
                                      </p:cBhvr>
                                      <p:to>
                                        <a:srgbClr val="FFFF00"/>
                                      </p:to>
                                    </p:animClr>
                                    <p:animClr clrSpc="rgb" dir="cw">
                                      <p:cBhvr>
                                        <p:cTn id="61" dur="500" fill="hold"/>
                                        <p:tgtEl>
                                          <p:spTgt spid="33"/>
                                        </p:tgtEl>
                                        <p:attrNameLst>
                                          <p:attrName>fillcolor</p:attrName>
                                        </p:attrNameLst>
                                      </p:cBhvr>
                                      <p:to>
                                        <a:srgbClr val="FFFF00"/>
                                      </p:to>
                                    </p:animClr>
                                    <p:set>
                                      <p:cBhvr>
                                        <p:cTn id="62" dur="500" fill="hold"/>
                                        <p:tgtEl>
                                          <p:spTgt spid="33"/>
                                        </p:tgtEl>
                                        <p:attrNameLst>
                                          <p:attrName>fill.type</p:attrName>
                                        </p:attrNameLst>
                                      </p:cBhvr>
                                      <p:to>
                                        <p:strVal val="solid"/>
                                      </p:to>
                                    </p:set>
                                    <p:set>
                                      <p:cBhvr>
                                        <p:cTn id="63" dur="500" fill="hold"/>
                                        <p:tgtEl>
                                          <p:spTgt spid="33"/>
                                        </p:tgtEl>
                                        <p:attrNameLst>
                                          <p:attrName>fill.on</p:attrName>
                                        </p:attrNameLst>
                                      </p:cBhvr>
                                      <p:to>
                                        <p:strVal val="true"/>
                                      </p:to>
                                    </p:se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0" nodeType="clickEffect">
                                  <p:stCondLst>
                                    <p:cond delay="0"/>
                                  </p:stCondLst>
                                  <p:childTnLst>
                                    <p:set>
                                      <p:cBhvr>
                                        <p:cTn id="67" dur="1" fill="hold">
                                          <p:stCondLst>
                                            <p:cond delay="0"/>
                                          </p:stCondLst>
                                        </p:cTn>
                                        <p:tgtEl>
                                          <p:spTgt spid="33"/>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40"/>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44"/>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45"/>
                                        </p:tgtEl>
                                        <p:attrNameLst>
                                          <p:attrName>style.visibility</p:attrName>
                                        </p:attrNameLst>
                                      </p:cBhvr>
                                      <p:to>
                                        <p:strVal val="hidden"/>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5" grpId="1" animBg="1"/>
      <p:bldP spid="28" grpId="0" animBg="1"/>
      <p:bldP spid="28" grpId="1" animBg="1"/>
      <p:bldP spid="33" grpId="0" animBg="1"/>
      <p:bldP spid="33"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2</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383502"/>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42" name="Content Placeholder 2"/>
          <p:cNvSpPr txBox="1">
            <a:spLocks/>
          </p:cNvSpPr>
          <p:nvPr/>
        </p:nvSpPr>
        <p:spPr>
          <a:xfrm>
            <a:off x="131176" y="809784"/>
            <a:ext cx="12024000" cy="523671"/>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What is the edge connectivity of the complete graph and cycle graph of n vertices?</a:t>
            </a:r>
          </a:p>
        </p:txBody>
      </p:sp>
      <p:graphicFrame>
        <p:nvGraphicFramePr>
          <p:cNvPr id="2" name="Table 1"/>
          <p:cNvGraphicFramePr>
            <a:graphicFrameLocks noGrp="1"/>
          </p:cNvGraphicFramePr>
          <p:nvPr>
            <p:extLst>
              <p:ext uri="{D42A27DB-BD31-4B8C-83A1-F6EECF244321}">
                <p14:modId xmlns:p14="http://schemas.microsoft.com/office/powerpoint/2010/main" val="3786788276"/>
              </p:ext>
            </p:extLst>
          </p:nvPr>
        </p:nvGraphicFramePr>
        <p:xfrm>
          <a:off x="377372" y="2104571"/>
          <a:ext cx="7101958" cy="3806832"/>
        </p:xfrm>
        <a:graphic>
          <a:graphicData uri="http://schemas.openxmlformats.org/drawingml/2006/table">
            <a:tbl>
              <a:tblPr firstRow="1" bandRow="1">
                <a:tableStyleId>{5C22544A-7EE6-4342-B048-85BDC9FD1C3A}</a:tableStyleId>
              </a:tblPr>
              <a:tblGrid>
                <a:gridCol w="3550979">
                  <a:extLst>
                    <a:ext uri="{9D8B030D-6E8A-4147-A177-3AD203B41FA5}">
                      <a16:colId xmlns:a16="http://schemas.microsoft.com/office/drawing/2014/main" val="20000"/>
                    </a:ext>
                  </a:extLst>
                </a:gridCol>
                <a:gridCol w="3550979">
                  <a:extLst>
                    <a:ext uri="{9D8B030D-6E8A-4147-A177-3AD203B41FA5}">
                      <a16:colId xmlns:a16="http://schemas.microsoft.com/office/drawing/2014/main" val="20001"/>
                    </a:ext>
                  </a:extLst>
                </a:gridCol>
              </a:tblGrid>
              <a:tr h="1268944">
                <a:tc>
                  <a:txBody>
                    <a:bodyPr/>
                    <a:lstStyle/>
                    <a:p>
                      <a:pPr algn="ctr"/>
                      <a:endParaRPr lang="en-US" dirty="0"/>
                    </a:p>
                  </a:txBody>
                  <a:tcPr/>
                </a:tc>
                <a:tc>
                  <a:txBody>
                    <a:bodyPr/>
                    <a:lstStyle/>
                    <a:p>
                      <a:pPr algn="l"/>
                      <a:endParaRPr lang="en-US" dirty="0"/>
                    </a:p>
                  </a:txBody>
                  <a:tcPr/>
                </a:tc>
                <a:extLst>
                  <a:ext uri="{0D108BD9-81ED-4DB2-BD59-A6C34878D82A}">
                    <a16:rowId xmlns:a16="http://schemas.microsoft.com/office/drawing/2014/main" val="10000"/>
                  </a:ext>
                </a:extLst>
              </a:tr>
              <a:tr h="1268944">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1"/>
                  </a:ext>
                </a:extLst>
              </a:tr>
              <a:tr h="1268944">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2"/>
                  </a:ext>
                </a:extLst>
              </a:tr>
            </a:tbl>
          </a:graphicData>
        </a:graphic>
      </p:graphicFrame>
      <p:sp>
        <p:nvSpPr>
          <p:cNvPr id="3" name="TextBox 2"/>
          <p:cNvSpPr txBox="1"/>
          <p:nvPr/>
        </p:nvSpPr>
        <p:spPr>
          <a:xfrm>
            <a:off x="948174" y="2381403"/>
            <a:ext cx="2569028" cy="523220"/>
          </a:xfrm>
          <a:prstGeom prst="rect">
            <a:avLst/>
          </a:prstGeom>
          <a:noFill/>
        </p:spPr>
        <p:txBody>
          <a:bodyPr wrap="square" rtlCol="0">
            <a:spAutoFit/>
          </a:bodyPr>
          <a:lstStyle/>
          <a:p>
            <a:pPr algn="ctr"/>
            <a:r>
              <a:rPr lang="en-US" sz="2800" dirty="0"/>
              <a:t>Graph Type </a:t>
            </a:r>
          </a:p>
        </p:txBody>
      </p:sp>
      <p:sp>
        <p:nvSpPr>
          <p:cNvPr id="7" name="TextBox 6"/>
          <p:cNvSpPr txBox="1"/>
          <p:nvPr/>
        </p:nvSpPr>
        <p:spPr>
          <a:xfrm>
            <a:off x="4503834" y="2381403"/>
            <a:ext cx="2714397" cy="523220"/>
          </a:xfrm>
          <a:prstGeom prst="rect">
            <a:avLst/>
          </a:prstGeom>
          <a:noFill/>
        </p:spPr>
        <p:txBody>
          <a:bodyPr wrap="square" rtlCol="0">
            <a:spAutoFit/>
          </a:bodyPr>
          <a:lstStyle/>
          <a:p>
            <a:pPr algn="ctr"/>
            <a:r>
              <a:rPr lang="en-US" sz="2800" dirty="0"/>
              <a:t>Edge Connectivity </a:t>
            </a:r>
          </a:p>
        </p:txBody>
      </p:sp>
      <mc:AlternateContent xmlns:mc="http://schemas.openxmlformats.org/markup-compatibility/2006" xmlns:a14="http://schemas.microsoft.com/office/drawing/2010/main">
        <mc:Choice Requires="a14">
          <p:sp>
            <p:nvSpPr>
              <p:cNvPr id="10" name="TextBox 9"/>
              <p:cNvSpPr txBox="1"/>
              <p:nvPr/>
            </p:nvSpPr>
            <p:spPr>
              <a:xfrm>
                <a:off x="948174" y="4722179"/>
                <a:ext cx="2569028" cy="523220"/>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C</m:t>
                          </m:r>
                        </m:e>
                        <m:sub>
                          <m:r>
                            <m:rPr>
                              <m:sty m:val="p"/>
                            </m:rPr>
                            <a:rPr lang="en-US" sz="2800" b="0" i="0" dirty="0" smtClean="0">
                              <a:latin typeface="Cambria Math" panose="02040503050406030204" pitchFamily="18" charset="0"/>
                            </a:rPr>
                            <m:t>n</m:t>
                          </m:r>
                        </m:sub>
                      </m:sSub>
                    </m:oMath>
                  </m:oMathPara>
                </a14:m>
                <a:endParaRPr lang="en-US" sz="2800" dirty="0"/>
              </a:p>
            </p:txBody>
          </p:sp>
        </mc:Choice>
        <mc:Fallback xmlns="">
          <p:sp>
            <p:nvSpPr>
              <p:cNvPr id="10" name="TextBox 9"/>
              <p:cNvSpPr txBox="1">
                <a:spLocks noRot="1" noChangeAspect="1" noMove="1" noResize="1" noEditPoints="1" noAdjustHandles="1" noChangeArrowheads="1" noChangeShapeType="1" noTextEdit="1"/>
              </p:cNvSpPr>
              <p:nvPr/>
            </p:nvSpPr>
            <p:spPr>
              <a:xfrm>
                <a:off x="948174" y="4722179"/>
                <a:ext cx="2569028" cy="52322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948174" y="3682596"/>
                <a:ext cx="2569028" cy="523220"/>
              </a:xfrm>
              <a:prstGeom prst="rect">
                <a:avLst/>
              </a:prstGeom>
              <a:noFill/>
            </p:spPr>
            <p:txBody>
              <a:bodyPr wrap="square" rtlCol="0">
                <a:spAutoFit/>
              </a:bodyPr>
              <a:lstStyle/>
              <a:p>
                <a:pPr algn="ctr"/>
                <a14:m>
                  <m:oMath xmlns:m="http://schemas.openxmlformats.org/officeDocument/2006/math">
                    <m:sSub>
                      <m:sSubPr>
                        <m:ctrlPr>
                          <a:rPr lang="en-US" sz="2800" i="1" dirty="0" smtClean="0">
                            <a:latin typeface="Cambria Math" panose="02040503050406030204" pitchFamily="18" charset="0"/>
                          </a:rPr>
                        </m:ctrlPr>
                      </m:sSubPr>
                      <m:e>
                        <m:r>
                          <m:rPr>
                            <m:sty m:val="p"/>
                          </m:rPr>
                          <a:rPr lang="en-US" sz="2800" i="0" dirty="0" smtClean="0">
                            <a:latin typeface="Cambria Math" panose="02040503050406030204" pitchFamily="18" charset="0"/>
                          </a:rPr>
                          <m:t>K</m:t>
                        </m:r>
                      </m:e>
                      <m:sub>
                        <m:r>
                          <m:rPr>
                            <m:sty m:val="p"/>
                          </m:rPr>
                          <a:rPr lang="en-US" sz="2800" i="0" dirty="0" smtClean="0">
                            <a:latin typeface="Cambria Math" panose="02040503050406030204" pitchFamily="18" charset="0"/>
                          </a:rPr>
                          <m:t>n</m:t>
                        </m:r>
                      </m:sub>
                    </m:sSub>
                  </m:oMath>
                </a14:m>
                <a:r>
                  <a:rPr lang="en-US" sz="2800" dirty="0"/>
                  <a:t> </a:t>
                </a:r>
              </a:p>
            </p:txBody>
          </p:sp>
        </mc:Choice>
        <mc:Fallback xmlns="">
          <p:sp>
            <p:nvSpPr>
              <p:cNvPr id="11" name="TextBox 10"/>
              <p:cNvSpPr txBox="1">
                <a:spLocks noRot="1" noChangeAspect="1" noMove="1" noResize="1" noEditPoints="1" noAdjustHandles="1" noChangeArrowheads="1" noChangeShapeType="1" noTextEdit="1"/>
              </p:cNvSpPr>
              <p:nvPr/>
            </p:nvSpPr>
            <p:spPr>
              <a:xfrm>
                <a:off x="948174" y="3682596"/>
                <a:ext cx="2569028" cy="523220"/>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257431" y="3682596"/>
                <a:ext cx="2569028" cy="523220"/>
              </a:xfrm>
              <a:prstGeom prst="rect">
                <a:avLst/>
              </a:prstGeom>
              <a:noFill/>
            </p:spPr>
            <p:txBody>
              <a:bodyPr wrap="square" rtlCol="0">
                <a:spAutoFit/>
              </a:bodyPr>
              <a:lstStyle/>
              <a:p>
                <a:pPr algn="ctr"/>
                <a14:m>
                  <m:oMath xmlns:m="http://schemas.openxmlformats.org/officeDocument/2006/math">
                    <m:r>
                      <m:rPr>
                        <m:sty m:val="p"/>
                      </m:rPr>
                      <a:rPr lang="en-US" sz="2800" b="0" i="0" smtClean="0">
                        <a:latin typeface="Cambria Math" panose="02040503050406030204" pitchFamily="18" charset="0"/>
                      </a:rPr>
                      <m:t>n</m:t>
                    </m:r>
                    <m:r>
                      <a:rPr lang="en-US" sz="2800" b="0" i="0" smtClean="0">
                        <a:latin typeface="Cambria Math" panose="02040503050406030204" pitchFamily="18" charset="0"/>
                      </a:rPr>
                      <m:t>−1</m:t>
                    </m:r>
                  </m:oMath>
                </a14:m>
                <a:r>
                  <a:rPr lang="en-US" sz="2800" dirty="0"/>
                  <a:t> </a:t>
                </a:r>
              </a:p>
            </p:txBody>
          </p:sp>
        </mc:Choice>
        <mc:Fallback xmlns="">
          <p:sp>
            <p:nvSpPr>
              <p:cNvPr id="13" name="TextBox 12"/>
              <p:cNvSpPr txBox="1">
                <a:spLocks noRot="1" noChangeAspect="1" noMove="1" noResize="1" noEditPoints="1" noAdjustHandles="1" noChangeArrowheads="1" noChangeShapeType="1" noTextEdit="1"/>
              </p:cNvSpPr>
              <p:nvPr/>
            </p:nvSpPr>
            <p:spPr>
              <a:xfrm>
                <a:off x="4257431" y="3682596"/>
                <a:ext cx="2569028" cy="523220"/>
              </a:xfrm>
              <a:prstGeom prst="rect">
                <a:avLst/>
              </a:prstGeom>
              <a:blipFill rotWithShape="0">
                <a:blip r:embed="rId4"/>
                <a:stretch>
                  <a:fillRect/>
                </a:stretch>
              </a:blipFill>
            </p:spPr>
            <p:txBody>
              <a:bodyPr/>
              <a:lstStyle/>
              <a:p>
                <a:r>
                  <a:rPr lang="en-US">
                    <a:noFill/>
                  </a:rPr>
                  <a:t> </a:t>
                </a:r>
              </a:p>
            </p:txBody>
          </p:sp>
        </mc:Fallback>
      </mc:AlternateContent>
      <p:sp>
        <p:nvSpPr>
          <p:cNvPr id="14" name="TextBox 13"/>
          <p:cNvSpPr txBox="1"/>
          <p:nvPr/>
        </p:nvSpPr>
        <p:spPr>
          <a:xfrm>
            <a:off x="4257431" y="4722179"/>
            <a:ext cx="2569028" cy="523220"/>
          </a:xfrm>
          <a:prstGeom prst="rect">
            <a:avLst/>
          </a:prstGeom>
          <a:noFill/>
        </p:spPr>
        <p:txBody>
          <a:bodyPr wrap="square" rtlCol="0">
            <a:spAutoFit/>
          </a:bodyPr>
          <a:lstStyle/>
          <a:p>
            <a:pPr algn="ctr"/>
            <a:r>
              <a:rPr lang="en-US" sz="2800" dirty="0"/>
              <a:t>2 </a:t>
            </a:r>
          </a:p>
        </p:txBody>
      </p:sp>
      <p:graphicFrame>
        <p:nvGraphicFramePr>
          <p:cNvPr id="4" name="Table 3"/>
          <p:cNvGraphicFramePr>
            <a:graphicFrameLocks noGrp="1"/>
          </p:cNvGraphicFramePr>
          <p:nvPr>
            <p:extLst>
              <p:ext uri="{D42A27DB-BD31-4B8C-83A1-F6EECF244321}">
                <p14:modId xmlns:p14="http://schemas.microsoft.com/office/powerpoint/2010/main" val="532940806"/>
              </p:ext>
            </p:extLst>
          </p:nvPr>
        </p:nvGraphicFramePr>
        <p:xfrm>
          <a:off x="7457568" y="2101397"/>
          <a:ext cx="4361351" cy="3797127"/>
        </p:xfrm>
        <a:graphic>
          <a:graphicData uri="http://schemas.openxmlformats.org/drawingml/2006/table">
            <a:tbl>
              <a:tblPr firstRow="1" bandRow="1">
                <a:tableStyleId>{5C22544A-7EE6-4342-B048-85BDC9FD1C3A}</a:tableStyleId>
              </a:tblPr>
              <a:tblGrid>
                <a:gridCol w="4361351">
                  <a:extLst>
                    <a:ext uri="{9D8B030D-6E8A-4147-A177-3AD203B41FA5}">
                      <a16:colId xmlns:a16="http://schemas.microsoft.com/office/drawing/2014/main" val="20000"/>
                    </a:ext>
                  </a:extLst>
                </a:gridCol>
              </a:tblGrid>
              <a:tr h="1265709">
                <a:tc>
                  <a:txBody>
                    <a:bodyPr/>
                    <a:lstStyle/>
                    <a:p>
                      <a:pPr algn="ctr"/>
                      <a:endParaRPr lang="en-US" dirty="0"/>
                    </a:p>
                  </a:txBody>
                  <a:tcPr/>
                </a:tc>
                <a:extLst>
                  <a:ext uri="{0D108BD9-81ED-4DB2-BD59-A6C34878D82A}">
                    <a16:rowId xmlns:a16="http://schemas.microsoft.com/office/drawing/2014/main" val="10000"/>
                  </a:ext>
                </a:extLst>
              </a:tr>
              <a:tr h="1265709">
                <a:tc>
                  <a:txBody>
                    <a:bodyPr/>
                    <a:lstStyle/>
                    <a:p>
                      <a:pPr algn="ctr"/>
                      <a:endParaRPr lang="en-US" dirty="0"/>
                    </a:p>
                  </a:txBody>
                  <a:tcPr/>
                </a:tc>
                <a:extLst>
                  <a:ext uri="{0D108BD9-81ED-4DB2-BD59-A6C34878D82A}">
                    <a16:rowId xmlns:a16="http://schemas.microsoft.com/office/drawing/2014/main" val="10001"/>
                  </a:ext>
                </a:extLst>
              </a:tr>
              <a:tr h="1265709">
                <a:tc>
                  <a:txBody>
                    <a:bodyPr/>
                    <a:lstStyle/>
                    <a:p>
                      <a:pPr algn="ctr"/>
                      <a:endParaRPr lang="en-US" dirty="0"/>
                    </a:p>
                  </a:txBody>
                  <a:tcPr/>
                </a:tc>
                <a:extLst>
                  <a:ext uri="{0D108BD9-81ED-4DB2-BD59-A6C34878D82A}">
                    <a16:rowId xmlns:a16="http://schemas.microsoft.com/office/drawing/2014/main" val="10002"/>
                  </a:ext>
                </a:extLst>
              </a:tr>
            </a:tbl>
          </a:graphicData>
        </a:graphic>
      </p:graphicFrame>
      <p:sp>
        <p:nvSpPr>
          <p:cNvPr id="16" name="TextBox 15"/>
          <p:cNvSpPr txBox="1"/>
          <p:nvPr/>
        </p:nvSpPr>
        <p:spPr>
          <a:xfrm>
            <a:off x="7965491" y="2379916"/>
            <a:ext cx="2714397" cy="523220"/>
          </a:xfrm>
          <a:prstGeom prst="rect">
            <a:avLst/>
          </a:prstGeom>
          <a:noFill/>
        </p:spPr>
        <p:txBody>
          <a:bodyPr wrap="square" rtlCol="0">
            <a:spAutoFit/>
          </a:bodyPr>
          <a:lstStyle/>
          <a:p>
            <a:pPr algn="ctr"/>
            <a:r>
              <a:rPr lang="en-US" sz="2800" dirty="0"/>
              <a:t>Justification</a:t>
            </a:r>
          </a:p>
        </p:txBody>
      </p:sp>
      <mc:AlternateContent xmlns:mc="http://schemas.openxmlformats.org/markup-compatibility/2006" xmlns:a14="http://schemas.microsoft.com/office/drawing/2010/main">
        <mc:Choice Requires="a14">
          <p:sp>
            <p:nvSpPr>
              <p:cNvPr id="15" name="TextBox 14"/>
              <p:cNvSpPr txBox="1"/>
              <p:nvPr/>
            </p:nvSpPr>
            <p:spPr>
              <a:xfrm>
                <a:off x="7502958" y="3356920"/>
                <a:ext cx="4268333" cy="1200329"/>
              </a:xfrm>
              <a:prstGeom prst="rect">
                <a:avLst/>
              </a:prstGeom>
              <a:noFill/>
            </p:spPr>
            <p:txBody>
              <a:bodyPr wrap="square" rtlCol="0">
                <a:spAutoFit/>
              </a:bodyPr>
              <a:lstStyle/>
              <a:p>
                <a:pPr algn="ctr"/>
                <a:r>
                  <a:rPr lang="en-US" sz="2400" dirty="0"/>
                  <a:t>In</a:t>
                </a:r>
                <a14:m>
                  <m:oMath xmlns:m="http://schemas.openxmlformats.org/officeDocument/2006/math">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K</m:t>
                        </m:r>
                      </m:e>
                      <m:sub>
                        <m:r>
                          <m:rPr>
                            <m:sty m:val="p"/>
                          </m:rPr>
                          <a:rPr lang="en-US" sz="2400" b="0" i="0" smtClean="0">
                            <a:latin typeface="Cambria Math" panose="02040503050406030204" pitchFamily="18" charset="0"/>
                          </a:rPr>
                          <m:t>n</m:t>
                        </m:r>
                      </m:sub>
                    </m:sSub>
                  </m:oMath>
                </a14:m>
                <a:r>
                  <a:rPr lang="en-US" sz="2400" dirty="0"/>
                  <a:t> each vertex having degree</a:t>
                </a:r>
                <a14:m>
                  <m:oMath xmlns:m="http://schemas.openxmlformats.org/officeDocument/2006/math">
                    <m:r>
                      <a:rPr lang="en-US" sz="2400" b="0" i="1" smtClean="0">
                        <a:latin typeface="Cambria Math" panose="02040503050406030204" pitchFamily="18" charset="0"/>
                      </a:rPr>
                      <m:t> </m:t>
                    </m:r>
                    <m:r>
                      <m:rPr>
                        <m:sty m:val="p"/>
                      </m:rPr>
                      <a:rPr lang="en-US" sz="2400" b="0" i="0" smtClean="0">
                        <a:latin typeface="Cambria Math" panose="02040503050406030204" pitchFamily="18" charset="0"/>
                      </a:rPr>
                      <m:t>n</m:t>
                    </m:r>
                    <m:r>
                      <a:rPr lang="en-US" sz="2400" b="0" i="0" smtClean="0">
                        <a:latin typeface="Cambria Math" panose="02040503050406030204" pitchFamily="18" charset="0"/>
                      </a:rPr>
                      <m:t>−1</m:t>
                    </m:r>
                  </m:oMath>
                </a14:m>
                <a:r>
                  <a:rPr lang="en-US" sz="2400" dirty="0"/>
                  <a:t> so for disconnect graph we need to cut</a:t>
                </a:r>
                <a14:m>
                  <m:oMath xmlns:m="http://schemas.openxmlformats.org/officeDocument/2006/math">
                    <m:r>
                      <a:rPr lang="en-US" sz="2400" i="0" dirty="0" smtClean="0">
                        <a:latin typeface="Cambria Math" panose="02040503050406030204" pitchFamily="18" charset="0"/>
                      </a:rPr>
                      <m:t> </m:t>
                    </m:r>
                    <m:r>
                      <m:rPr>
                        <m:sty m:val="p"/>
                      </m:rPr>
                      <a:rPr lang="en-US" sz="2400" i="0" dirty="0" smtClean="0">
                        <a:latin typeface="Cambria Math" panose="02040503050406030204" pitchFamily="18" charset="0"/>
                      </a:rPr>
                      <m:t>n</m:t>
                    </m:r>
                    <m:r>
                      <a:rPr lang="en-US" sz="2400" i="0" dirty="0" smtClean="0">
                        <a:latin typeface="Cambria Math" panose="02040503050406030204" pitchFamily="18" charset="0"/>
                      </a:rPr>
                      <m:t>−1 </m:t>
                    </m:r>
                  </m:oMath>
                </a14:m>
                <a:r>
                  <a:rPr lang="en-US" sz="2400" dirty="0"/>
                  <a:t>edges </a:t>
                </a:r>
                <a:endParaRPr lang="en-US" sz="2800" dirty="0"/>
              </a:p>
            </p:txBody>
          </p:sp>
        </mc:Choice>
        <mc:Fallback xmlns="">
          <p:sp>
            <p:nvSpPr>
              <p:cNvPr id="15" name="TextBox 14"/>
              <p:cNvSpPr txBox="1">
                <a:spLocks noRot="1" noChangeAspect="1" noMove="1" noResize="1" noEditPoints="1" noAdjustHandles="1" noChangeArrowheads="1" noChangeShapeType="1" noTextEdit="1"/>
              </p:cNvSpPr>
              <p:nvPr/>
            </p:nvSpPr>
            <p:spPr>
              <a:xfrm>
                <a:off x="7502958" y="3356920"/>
                <a:ext cx="4268333" cy="1200329"/>
              </a:xfrm>
              <a:prstGeom prst="rect">
                <a:avLst/>
              </a:prstGeom>
              <a:blipFill rotWithShape="0">
                <a:blip r:embed="rId5"/>
                <a:stretch>
                  <a:fillRect l="-2286" t="-3553" r="-3571" b="-111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7502957" y="4645234"/>
                <a:ext cx="4268333" cy="1200329"/>
              </a:xfrm>
              <a:prstGeom prst="rect">
                <a:avLst/>
              </a:prstGeom>
              <a:noFill/>
            </p:spPr>
            <p:txBody>
              <a:bodyPr wrap="square" rtlCol="0">
                <a:spAutoFit/>
              </a:bodyPr>
              <a:lstStyle/>
              <a:p>
                <a:pPr algn="ctr"/>
                <a:r>
                  <a:rPr lang="en-US" sz="2400" dirty="0"/>
                  <a:t>In</a:t>
                </a:r>
                <a14:m>
                  <m:oMath xmlns:m="http://schemas.openxmlformats.org/officeDocument/2006/math">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m:rPr>
                            <m:sty m:val="p"/>
                          </m:rPr>
                          <a:rPr lang="en-US" sz="2400" b="0" i="0" smtClean="0">
                            <a:latin typeface="Cambria Math" panose="02040503050406030204" pitchFamily="18" charset="0"/>
                          </a:rPr>
                          <m:t>C</m:t>
                        </m:r>
                      </m:e>
                      <m:sub>
                        <m:r>
                          <m:rPr>
                            <m:sty m:val="p"/>
                          </m:rPr>
                          <a:rPr lang="en-US" sz="2400" b="0" i="0" smtClean="0">
                            <a:latin typeface="Cambria Math" panose="02040503050406030204" pitchFamily="18" charset="0"/>
                          </a:rPr>
                          <m:t>n</m:t>
                        </m:r>
                      </m:sub>
                    </m:sSub>
                  </m:oMath>
                </a14:m>
                <a:r>
                  <a:rPr lang="en-US" sz="2400" dirty="0"/>
                  <a:t> each vertex having degree</a:t>
                </a:r>
                <a14:m>
                  <m:oMath xmlns:m="http://schemas.openxmlformats.org/officeDocument/2006/math">
                    <m:r>
                      <a:rPr lang="en-US" sz="2400" b="0" i="1" smtClean="0">
                        <a:latin typeface="Cambria Math" panose="02040503050406030204" pitchFamily="18" charset="0"/>
                      </a:rPr>
                      <m:t> </m:t>
                    </m:r>
                    <m:r>
                      <a:rPr lang="en-US" sz="2400" b="0" i="0" smtClean="0">
                        <a:latin typeface="Cambria Math" panose="02040503050406030204" pitchFamily="18" charset="0"/>
                      </a:rPr>
                      <m:t>2</m:t>
                    </m:r>
                  </m:oMath>
                </a14:m>
                <a:r>
                  <a:rPr lang="en-US" sz="2400" dirty="0"/>
                  <a:t> so for disconnect graph we need to cut</a:t>
                </a:r>
                <a14:m>
                  <m:oMath xmlns:m="http://schemas.openxmlformats.org/officeDocument/2006/math">
                    <m:r>
                      <a:rPr lang="en-US" sz="2400" i="0" dirty="0" smtClean="0">
                        <a:latin typeface="Cambria Math" panose="02040503050406030204" pitchFamily="18" charset="0"/>
                      </a:rPr>
                      <m:t> </m:t>
                    </m:r>
                    <m:r>
                      <a:rPr lang="en-US" sz="2400" b="0" i="0" dirty="0" smtClean="0">
                        <a:latin typeface="Cambria Math" panose="02040503050406030204" pitchFamily="18" charset="0"/>
                      </a:rPr>
                      <m:t>2</m:t>
                    </m:r>
                  </m:oMath>
                </a14:m>
                <a:r>
                  <a:rPr lang="en-US" sz="2400" dirty="0"/>
                  <a:t> edges </a:t>
                </a:r>
                <a:endParaRPr lang="en-US" sz="2800" dirty="0"/>
              </a:p>
            </p:txBody>
          </p:sp>
        </mc:Choice>
        <mc:Fallback xmlns="">
          <p:sp>
            <p:nvSpPr>
              <p:cNvPr id="17" name="TextBox 16"/>
              <p:cNvSpPr txBox="1">
                <a:spLocks noRot="1" noChangeAspect="1" noMove="1" noResize="1" noEditPoints="1" noAdjustHandles="1" noChangeArrowheads="1" noChangeShapeType="1" noTextEdit="1"/>
              </p:cNvSpPr>
              <p:nvPr/>
            </p:nvSpPr>
            <p:spPr>
              <a:xfrm>
                <a:off x="7502957" y="4645234"/>
                <a:ext cx="4268333" cy="1200329"/>
              </a:xfrm>
              <a:prstGeom prst="rect">
                <a:avLst/>
              </a:prstGeom>
              <a:blipFill rotWithShape="0">
                <a:blip r:embed="rId6"/>
                <a:stretch>
                  <a:fillRect l="-2000" t="-3553" r="-1857" b="-11168"/>
                </a:stretch>
              </a:blipFill>
            </p:spPr>
            <p:txBody>
              <a:bodyPr/>
              <a:lstStyle/>
              <a:p>
                <a:r>
                  <a:rPr lang="en-US">
                    <a:noFill/>
                  </a:rPr>
                  <a:t> </a:t>
                </a:r>
              </a:p>
            </p:txBody>
          </p:sp>
        </mc:Fallback>
      </mc:AlternateContent>
    </p:spTree>
    <p:extLst>
      <p:ext uri="{BB962C8B-B14F-4D97-AF65-F5344CB8AC3E}">
        <p14:creationId xmlns:p14="http://schemas.microsoft.com/office/powerpoint/2010/main" val="3330271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0" grpId="0"/>
      <p:bldP spid="11" grpId="0"/>
      <p:bldP spid="13" grpId="0"/>
      <p:bldP spid="14" grpId="0"/>
      <p:bldP spid="16" grpId="0"/>
      <p:bldP spid="15" grpId="0"/>
      <p:bldP spid="17"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3</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87100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42" name="Content Placeholder 2"/>
          <p:cNvSpPr txBox="1">
            <a:spLocks/>
          </p:cNvSpPr>
          <p:nvPr/>
        </p:nvSpPr>
        <p:spPr>
          <a:xfrm>
            <a:off x="131176" y="867839"/>
            <a:ext cx="12024000" cy="91875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Prove that a nonseparable simple graph has a nullity 1 if and only if the graph is a circuit.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2467160"/>
                <a:ext cx="11929641" cy="1030783"/>
              </a:xfrm>
            </p:spPr>
            <p:txBody>
              <a:bodyPr/>
              <a:lstStyle/>
              <a:p>
                <a:pPr marL="0" indent="0">
                  <a:buNone/>
                </a:pP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the graph is </a:t>
                </a:r>
                <a:r>
                  <a:rPr lang="en-US" b="1" dirty="0"/>
                  <a:t>nonseparable</a:t>
                </a:r>
                <a:r>
                  <a:rPr lang="en-US" dirty="0"/>
                  <a:t> and has </a:t>
                </a:r>
                <a:r>
                  <a:rPr lang="en-US" b="1" dirty="0"/>
                  <a:t>nullity 1 </a:t>
                </a:r>
                <a:r>
                  <a:rPr lang="en-US" dirty="0"/>
                  <a:t>then it is a </a:t>
                </a:r>
                <a:r>
                  <a:rPr lang="en-US" b="1" dirty="0"/>
                  <a:t>circuit</a:t>
                </a:r>
              </a:p>
              <a:p>
                <a:r>
                  <a:rPr lang="en-US" dirty="0"/>
                  <a:t>Here, Nullity is 1</a:t>
                </a:r>
              </a:p>
              <a:p>
                <a:r>
                  <a:rPr lang="en-US" dirty="0"/>
                  <a:t>That means, number of vertices is equal to number of edges.</a:t>
                </a:r>
              </a:p>
              <a:p>
                <a:r>
                  <a:rPr lang="en-US" dirty="0"/>
                  <a:t>Also, since it's </a:t>
                </a:r>
                <a:r>
                  <a:rPr lang="en-US" b="1" dirty="0"/>
                  <a:t>connected</a:t>
                </a:r>
                <a:r>
                  <a:rPr lang="en-US" dirty="0"/>
                  <a:t>, </a:t>
                </a:r>
                <a:r>
                  <a:rPr lang="en-US" b="1" dirty="0"/>
                  <a:t>simple</a:t>
                </a:r>
                <a:r>
                  <a:rPr lang="en-US" dirty="0"/>
                  <a:t>, and has</a:t>
                </a:r>
                <a14:m>
                  <m:oMath xmlns:m="http://schemas.openxmlformats.org/officeDocument/2006/math">
                    <m:r>
                      <a:rPr lang="en-US" i="0" dirty="0" smtClean="0">
                        <a:latin typeface="Cambria Math" panose="02040503050406030204" pitchFamily="18" charset="0"/>
                      </a:rPr>
                      <m:t> </m:t>
                    </m:r>
                    <m:r>
                      <m:rPr>
                        <m:sty m:val="p"/>
                      </m:rPr>
                      <a:rPr lang="en-US" i="0" dirty="0" smtClean="0">
                        <a:latin typeface="Cambria Math" panose="02040503050406030204" pitchFamily="18" charset="0"/>
                      </a:rPr>
                      <m:t>m</m:t>
                    </m:r>
                    <m:r>
                      <a:rPr lang="en-US" i="0" dirty="0" smtClean="0">
                        <a:latin typeface="Cambria Math" panose="02040503050406030204" pitchFamily="18" charset="0"/>
                      </a:rPr>
                      <m:t>=</m:t>
                    </m:r>
                    <m:r>
                      <m:rPr>
                        <m:sty m:val="p"/>
                      </m:rPr>
                      <a:rPr lang="en-US" i="0" dirty="0" smtClean="0">
                        <a:latin typeface="Cambria Math" panose="02040503050406030204" pitchFamily="18" charset="0"/>
                      </a:rPr>
                      <m:t>n</m:t>
                    </m:r>
                  </m:oMath>
                </a14:m>
                <a:r>
                  <a:rPr lang="en-US" dirty="0"/>
                  <a:t>, the graph contains </a:t>
                </a:r>
                <a:r>
                  <a:rPr lang="en-US" b="1" dirty="0"/>
                  <a:t>exactly one cycle</a:t>
                </a:r>
                <a:r>
                  <a:rPr lang="en-US" dirty="0"/>
                  <a:t>. </a:t>
                </a:r>
              </a:p>
              <a:p>
                <a:r>
                  <a:rPr lang="en-US" dirty="0"/>
                  <a:t>Since it is </a:t>
                </a:r>
                <a:r>
                  <a:rPr lang="en-US" b="1" dirty="0"/>
                  <a:t>nonseparable</a:t>
                </a:r>
                <a:r>
                  <a:rPr lang="en-US" dirty="0"/>
                  <a:t>, it has </a:t>
                </a:r>
                <a:r>
                  <a:rPr lang="en-US" b="1" dirty="0"/>
                  <a:t>no cut vertex</a:t>
                </a:r>
                <a:r>
                  <a:rPr lang="en-US" dirty="0"/>
                  <a:t>, so the only possibility is that all vertices are in this single cycle.</a:t>
                </a:r>
              </a:p>
              <a:p>
                <a:r>
                  <a:rPr lang="en-US" dirty="0"/>
                  <a:t> i.e., the graph </a:t>
                </a:r>
                <a:r>
                  <a:rPr lang="en-US" b="1" dirty="0"/>
                  <a:t>must be a circuit</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2467160"/>
                <a:ext cx="11929641" cy="1030783"/>
              </a:xfrm>
              <a:blipFill rotWithShape="0">
                <a:blip r:embed="rId2"/>
                <a:stretch>
                  <a:fillRect l="-971" t="-10651" r="-1074" b="-2857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p:cNvSpPr txBox="1">
                <a:spLocks/>
              </p:cNvSpPr>
              <p:nvPr/>
            </p:nvSpPr>
            <p:spPr>
              <a:xfrm>
                <a:off x="2779539" y="2980950"/>
                <a:ext cx="3134538" cy="51539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r>
                        <a:rPr lang="en-US" b="1" i="0" smtClean="0">
                          <a:latin typeface="Cambria Math" panose="02040503050406030204" pitchFamily="18" charset="0"/>
                        </a:rPr>
                        <m:t>𝐦</m:t>
                      </m:r>
                      <m:r>
                        <a:rPr lang="en-US" b="1">
                          <a:latin typeface="Cambria Math" panose="02040503050406030204" pitchFamily="18" charset="0"/>
                        </a:rPr>
                        <m:t>−</m:t>
                      </m:r>
                      <m:r>
                        <a:rPr lang="en-US" b="1" i="0" smtClean="0">
                          <a:latin typeface="Cambria Math" panose="02040503050406030204" pitchFamily="18" charset="0"/>
                        </a:rPr>
                        <m:t>𝐧</m:t>
                      </m:r>
                      <m:r>
                        <a:rPr lang="en-US" b="1">
                          <a:latin typeface="Cambria Math" panose="02040503050406030204" pitchFamily="18" charset="0"/>
                        </a:rPr>
                        <m:t>+</m:t>
                      </m:r>
                      <m:r>
                        <a:rPr lang="en-US" b="1">
                          <a:latin typeface="Cambria Math" panose="02040503050406030204" pitchFamily="18" charset="0"/>
                        </a:rPr>
                        <m:t>𝟏</m:t>
                      </m:r>
                      <m:r>
                        <a:rPr lang="en-US" b="1">
                          <a:latin typeface="Cambria Math" panose="02040503050406030204" pitchFamily="18" charset="0"/>
                        </a:rPr>
                        <m:t>=</m:t>
                      </m:r>
                      <m:r>
                        <a:rPr lang="en-US" b="1">
                          <a:latin typeface="Cambria Math" panose="02040503050406030204" pitchFamily="18" charset="0"/>
                        </a:rPr>
                        <m:t>𝟏</m:t>
                      </m:r>
                    </m:oMath>
                  </m:oMathPara>
                </a14:m>
                <a:endParaRPr lang="en-US" dirty="0">
                  <a:effectLst/>
                </a:endParaRPr>
              </a:p>
            </p:txBody>
          </p:sp>
        </mc:Choice>
        <mc:Fallback xmlns="">
          <p:sp>
            <p:nvSpPr>
              <p:cNvPr id="7" name="Content Placeholder 2"/>
              <p:cNvSpPr txBox="1">
                <a:spLocks noRot="1" noChangeAspect="1" noMove="1" noResize="1" noEditPoints="1" noAdjustHandles="1" noChangeArrowheads="1" noChangeShapeType="1" noTextEdit="1"/>
              </p:cNvSpPr>
              <p:nvPr/>
            </p:nvSpPr>
            <p:spPr>
              <a:xfrm>
                <a:off x="2779539" y="2980950"/>
                <a:ext cx="3134538" cy="515392"/>
              </a:xfrm>
              <a:prstGeom prst="rect">
                <a:avLst/>
              </a:prstGeom>
              <a:blipFill rotWithShape="0">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p:cNvSpPr txBox="1">
                <a:spLocks/>
              </p:cNvSpPr>
              <p:nvPr/>
            </p:nvSpPr>
            <p:spPr>
              <a:xfrm>
                <a:off x="5638846" y="2980950"/>
                <a:ext cx="1733957" cy="515392"/>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rgbClr val="002060"/>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800" kern="1200">
                    <a:solidFill>
                      <a:srgbClr val="002060"/>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800" kern="1200">
                    <a:solidFill>
                      <a:srgbClr val="002060"/>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8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m:t>
                      </m:r>
                      <m:r>
                        <a:rPr lang="en-US" b="1">
                          <a:latin typeface="Cambria Math" panose="02040503050406030204" pitchFamily="18" charset="0"/>
                        </a:rPr>
                        <m:t>𝐧</m:t>
                      </m:r>
                      <m:r>
                        <a:rPr lang="en-US" b="1">
                          <a:latin typeface="Cambria Math" panose="02040503050406030204" pitchFamily="18" charset="0"/>
                        </a:rPr>
                        <m:t>=</m:t>
                      </m:r>
                      <m:r>
                        <a:rPr lang="en-US" b="1">
                          <a:latin typeface="Cambria Math" panose="02040503050406030204" pitchFamily="18" charset="0"/>
                        </a:rPr>
                        <m:t>𝐦</m:t>
                      </m:r>
                    </m:oMath>
                  </m:oMathPara>
                </a14:m>
                <a:endParaRPr lang="en-US" dirty="0">
                  <a:effectLst/>
                </a:endParaRPr>
              </a:p>
              <a:p>
                <a:pPr marL="0" indent="0">
                  <a:buNone/>
                </a:pPr>
                <a:endParaRPr lang="en-US" dirty="0"/>
              </a:p>
              <a:p>
                <a:endParaRPr lang="en-US" dirty="0"/>
              </a:p>
            </p:txBody>
          </p:sp>
        </mc:Choice>
        <mc:Fallback xmlns="">
          <p:sp>
            <p:nvSpPr>
              <p:cNvPr id="8" name="Content Placeholder 2"/>
              <p:cNvSpPr txBox="1">
                <a:spLocks noRot="1" noChangeAspect="1" noMove="1" noResize="1" noEditPoints="1" noAdjustHandles="1" noChangeArrowheads="1" noChangeShapeType="1" noTextEdit="1"/>
              </p:cNvSpPr>
              <p:nvPr/>
            </p:nvSpPr>
            <p:spPr>
              <a:xfrm>
                <a:off x="5638846" y="2980950"/>
                <a:ext cx="1733957" cy="515392"/>
              </a:xfrm>
              <a:prstGeom prst="rect">
                <a:avLst/>
              </a:prstGeom>
              <a:blipFill rotWithShape="0">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32630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3(Cont.)</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1176" y="1871004"/>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p:sp>
        <p:nvSpPr>
          <p:cNvPr id="42" name="Content Placeholder 2"/>
          <p:cNvSpPr txBox="1">
            <a:spLocks/>
          </p:cNvSpPr>
          <p:nvPr/>
        </p:nvSpPr>
        <p:spPr>
          <a:xfrm>
            <a:off x="131176" y="867839"/>
            <a:ext cx="12024000" cy="918757"/>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Prove that a nonseparable simple graph has a nullity 1 if and only if the graph is a circuit.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2467160"/>
                <a:ext cx="11929641" cy="1030783"/>
              </a:xfrm>
            </p:spPr>
            <p:txBody>
              <a:bodyPr/>
              <a:lstStyle/>
              <a:p>
                <a:pPr marL="0" indent="0">
                  <a:buNone/>
                </a:pP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the graph is a circuit.</a:t>
                </a:r>
              </a:p>
              <a:p>
                <a:r>
                  <a:rPr lang="en-US" dirty="0"/>
                  <a:t>Since, it has </a:t>
                </a:r>
                <a14:m>
                  <m:oMath xmlns:m="http://schemas.openxmlformats.org/officeDocument/2006/math">
                    <m:r>
                      <m:rPr>
                        <m:sty m:val="p"/>
                      </m:rPr>
                      <a:rPr lang="en-US" b="0" i="0" dirty="0" smtClean="0">
                        <a:latin typeface="Cambria Math" panose="02040503050406030204" pitchFamily="18" charset="0"/>
                      </a:rPr>
                      <m:t>n</m:t>
                    </m:r>
                    <m:r>
                      <a:rPr lang="en-US" b="0" i="0" dirty="0" smtClean="0">
                        <a:latin typeface="Cambria Math" panose="02040503050406030204" pitchFamily="18" charset="0"/>
                      </a:rPr>
                      <m:t> </m:t>
                    </m:r>
                  </m:oMath>
                </a14:m>
                <a:r>
                  <a:rPr lang="en-US" b="0" i="0" dirty="0">
                    <a:latin typeface="+mj-lt"/>
                  </a:rPr>
                  <a:t>vertex,</a:t>
                </a:r>
                <a14:m>
                  <m:oMath xmlns:m="http://schemas.openxmlformats.org/officeDocument/2006/math">
                    <m:r>
                      <a:rPr lang="en-US" b="0" i="0" dirty="0" smtClean="0">
                        <a:latin typeface="Cambria Math" panose="02040503050406030204" pitchFamily="18" charset="0"/>
                      </a:rPr>
                      <m:t>   </m:t>
                    </m:r>
                    <m:r>
                      <m:rPr>
                        <m:sty m:val="p"/>
                      </m:rPr>
                      <a:rPr lang="en-US" dirty="0">
                        <a:latin typeface="Cambria Math" panose="02040503050406030204" pitchFamily="18" charset="0"/>
                      </a:rPr>
                      <m:t>n</m:t>
                    </m:r>
                    <m:r>
                      <m:rPr>
                        <m:nor/>
                      </m:rPr>
                      <a:rPr lang="en-US" dirty="0"/>
                      <m:t> </m:t>
                    </m:r>
                  </m:oMath>
                </a14:m>
                <a:r>
                  <a:rPr lang="en-US" i="0" dirty="0">
                    <a:latin typeface="+mj-lt"/>
                  </a:rPr>
                  <a:t>edges </a:t>
                </a:r>
                <a:r>
                  <a:rPr lang="en-US" dirty="0"/>
                  <a:t>and </a:t>
                </a:r>
                <a14:m>
                  <m:oMath xmlns:m="http://schemas.openxmlformats.org/officeDocument/2006/math">
                    <m:r>
                      <m:rPr>
                        <m:sty m:val="p"/>
                      </m:rPr>
                      <a:rPr lang="en-US" dirty="0">
                        <a:latin typeface="Cambria Math" panose="02040503050406030204" pitchFamily="18" charset="0"/>
                      </a:rPr>
                      <m:t>n</m:t>
                    </m:r>
                    <m:r>
                      <a:rPr lang="en-US" dirty="0">
                        <a:latin typeface="Cambria Math" panose="02040503050406030204" pitchFamily="18" charset="0"/>
                      </a:rPr>
                      <m:t>−1</m:t>
                    </m:r>
                  </m:oMath>
                </a14:m>
                <a:r>
                  <a:rPr lang="en-US" dirty="0"/>
                  <a:t> rank . </a:t>
                </a:r>
              </a:p>
              <a:p>
                <a:r>
                  <a:rPr lang="en-US" dirty="0"/>
                  <a:t>That means, nullity is equals to number of edges – rank of graph.</a:t>
                </a:r>
              </a:p>
              <a:p>
                <a:r>
                  <a:rPr lang="en-US" dirty="0"/>
                  <a:t>So, nullity </a:t>
                </a:r>
                <a14:m>
                  <m:oMath xmlns:m="http://schemas.openxmlformats.org/officeDocument/2006/math">
                    <m:r>
                      <a:rPr lang="en-US" b="0" i="0" smtClean="0">
                        <a:latin typeface="Cambria Math" panose="02040503050406030204" pitchFamily="18" charset="0"/>
                      </a:rPr>
                      <m:t>=</m:t>
                    </m:r>
                    <m:r>
                      <m:rPr>
                        <m:sty m:val="p"/>
                      </m:rPr>
                      <a:rPr lang="en-US" b="0" i="0" smtClean="0">
                        <a:latin typeface="Cambria Math" panose="02040503050406030204" pitchFamily="18" charset="0"/>
                      </a:rPr>
                      <m:t>n</m:t>
                    </m:r>
                    <m:r>
                      <a:rPr lang="en-US" b="0" i="0" smtClean="0">
                        <a:latin typeface="Cambria Math" panose="02040503050406030204" pitchFamily="18" charset="0"/>
                      </a:rPr>
                      <m:t>−</m:t>
                    </m:r>
                    <m:r>
                      <m:rPr>
                        <m:sty m:val="p"/>
                      </m:rPr>
                      <a:rPr lang="en-US" b="0" i="0" smtClean="0">
                        <a:latin typeface="Cambria Math" panose="02040503050406030204" pitchFamily="18" charset="0"/>
                      </a:rPr>
                      <m:t>n</m:t>
                    </m:r>
                    <m:r>
                      <a:rPr lang="en-US" b="0" i="0" smtClean="0">
                        <a:latin typeface="Cambria Math" panose="02040503050406030204" pitchFamily="18" charset="0"/>
                      </a:rPr>
                      <m:t>+1.</m:t>
                    </m:r>
                  </m:oMath>
                </a14:m>
                <a:endParaRPr lang="en-US" b="0" dirty="0"/>
              </a:p>
              <a:p>
                <a:r>
                  <a:rPr lang="en-US" dirty="0"/>
                  <a:t>Hence nullity</a:t>
                </a:r>
                <a14:m>
                  <m:oMath xmlns:m="http://schemas.openxmlformats.org/officeDocument/2006/math">
                    <m:r>
                      <a:rPr lang="en-US" b="0" i="0" smtClean="0">
                        <a:latin typeface="Cambria Math" panose="02040503050406030204" pitchFamily="18" charset="0"/>
                      </a:rPr>
                      <m:t> </m:t>
                    </m:r>
                    <m:r>
                      <a:rPr lang="en-US" b="0" i="1" smtClean="0">
                        <a:latin typeface="Cambria Math" panose="02040503050406030204" pitchFamily="18" charset="0"/>
                      </a:rPr>
                      <m:t>=1</m:t>
                    </m:r>
                  </m:oMath>
                </a14:m>
                <a:r>
                  <a:rPr lang="en-US" dirty="0"/>
                  <a:t>.</a:t>
                </a:r>
              </a:p>
              <a:p>
                <a:r>
                  <a:rPr lang="en-US" dirty="0"/>
                  <a:t>Clearly vertex connectivity of cycle graph is 2.</a:t>
                </a:r>
              </a:p>
              <a:p>
                <a:r>
                  <a:rPr lang="en-US" dirty="0"/>
                  <a:t>Hence it is nonseparable.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2467160"/>
                <a:ext cx="11929641" cy="1030783"/>
              </a:xfrm>
              <a:blipFill rotWithShape="0">
                <a:blip r:embed="rId2"/>
                <a:stretch>
                  <a:fillRect l="-971" t="-10651" b="-260355"/>
                </a:stretch>
              </a:blipFill>
            </p:spPr>
            <p:txBody>
              <a:bodyPr/>
              <a:lstStyle/>
              <a:p>
                <a:r>
                  <a:rPr lang="en-US">
                    <a:noFill/>
                  </a:rPr>
                  <a:t> </a:t>
                </a:r>
              </a:p>
            </p:txBody>
          </p:sp>
        </mc:Fallback>
      </mc:AlternateContent>
    </p:spTree>
    <p:extLst>
      <p:ext uri="{BB962C8B-B14F-4D97-AF65-F5344CB8AC3E}">
        <p14:creationId xmlns:p14="http://schemas.microsoft.com/office/powerpoint/2010/main" val="280628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5CD07E8-CBAA-45BA-85CF-1233D4AA86C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Method 4 ⇝ Example 4</a:t>
            </a:r>
            <a:endParaRPr lang="en-US" dirty="0"/>
          </a:p>
        </p:txBody>
      </p:sp>
      <p:sp>
        <p:nvSpPr>
          <p:cNvPr id="35" name="Content Placeholder 2">
            <a:extLst>
              <a:ext uri="{FF2B5EF4-FFF2-40B4-BE49-F238E27FC236}">
                <a16:creationId xmlns:a16="http://schemas.microsoft.com/office/drawing/2014/main" id="{635C8299-099D-4E74-A7B7-29B2E1FD450E}"/>
              </a:ext>
            </a:extLst>
          </p:cNvPr>
          <p:cNvSpPr txBox="1">
            <a:spLocks/>
          </p:cNvSpPr>
          <p:nvPr/>
        </p:nvSpPr>
        <p:spPr>
          <a:xfrm>
            <a:off x="130626" y="1936200"/>
            <a:ext cx="1407338" cy="523220"/>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IN" sz="2800" dirty="0">
                <a:solidFill>
                  <a:schemeClr val="bg1"/>
                </a:solidFill>
              </a:rPr>
              <a:t>Solution </a:t>
            </a:r>
            <a:endParaRPr lang="en-US" sz="2800" dirty="0">
              <a:solidFill>
                <a:schemeClr val="bg1"/>
              </a:solidFill>
            </a:endParaRPr>
          </a:p>
        </p:txBody>
      </p:sp>
      <mc:AlternateContent xmlns:mc="http://schemas.openxmlformats.org/markup-compatibility/2006" xmlns:a14="http://schemas.microsoft.com/office/drawing/2010/main">
        <mc:Choice Requires="a14">
          <p:sp>
            <p:nvSpPr>
              <p:cNvPr id="42" name="Content Placeholder 2"/>
              <p:cNvSpPr txBox="1">
                <a:spLocks/>
              </p:cNvSpPr>
              <p:nvPr/>
            </p:nvSpPr>
            <p:spPr>
              <a:xfrm>
                <a:off x="131176" y="867839"/>
                <a:ext cx="12024000" cy="989989"/>
              </a:xfrm>
              <a:prstGeom prst="rect">
                <a:avLst/>
              </a:pr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US" sz="2800" dirty="0">
                    <a:solidFill>
                      <a:schemeClr val="bg1"/>
                    </a:solidFill>
                  </a:rPr>
                  <a:t>Is every regular graph of degree</a:t>
                </a:r>
                <a14:m>
                  <m:oMath xmlns:m="http://schemas.openxmlformats.org/officeDocument/2006/math">
                    <m:r>
                      <a:rPr lang="en-US" sz="2800" i="0" dirty="0" smtClean="0">
                        <a:solidFill>
                          <a:schemeClr val="bg1"/>
                        </a:solidFill>
                        <a:latin typeface="Cambria Math" panose="02040503050406030204" pitchFamily="18" charset="0"/>
                      </a:rPr>
                      <m:t> (</m:t>
                    </m:r>
                    <m:r>
                      <m:rPr>
                        <m:sty m:val="p"/>
                      </m:rPr>
                      <a:rPr lang="en-US" sz="2800" i="0" dirty="0" smtClean="0">
                        <a:solidFill>
                          <a:schemeClr val="bg1"/>
                        </a:solidFill>
                        <a:latin typeface="Cambria Math" panose="02040503050406030204" pitchFamily="18" charset="0"/>
                      </a:rPr>
                      <m:t>d</m:t>
                    </m:r>
                    <m:r>
                      <a:rPr lang="en-US" sz="2800" i="0" dirty="0" smtClean="0">
                        <a:solidFill>
                          <a:schemeClr val="bg1"/>
                        </a:solidFill>
                        <a:latin typeface="Cambria Math" panose="02040503050406030204" pitchFamily="18" charset="0"/>
                      </a:rPr>
                      <m:t> ≥ 3)</m:t>
                    </m:r>
                  </m:oMath>
                </a14:m>
                <a:r>
                  <a:rPr lang="en-US" sz="2800" dirty="0">
                    <a:solidFill>
                      <a:schemeClr val="bg1"/>
                    </a:solidFill>
                  </a:rPr>
                  <a:t> nonseparable? If not, give a simple regular graph of degree three that is separable.</a:t>
                </a:r>
              </a:p>
            </p:txBody>
          </p:sp>
        </mc:Choice>
        <mc:Fallback xmlns="">
          <p:sp>
            <p:nvSpPr>
              <p:cNvPr id="42" name="Content Placeholder 2"/>
              <p:cNvSpPr txBox="1">
                <a:spLocks noRot="1" noChangeAspect="1" noMove="1" noResize="1" noEditPoints="1" noAdjustHandles="1" noChangeArrowheads="1" noChangeShapeType="1" noTextEdit="1"/>
              </p:cNvSpPr>
              <p:nvPr/>
            </p:nvSpPr>
            <p:spPr>
              <a:xfrm>
                <a:off x="131176" y="867839"/>
                <a:ext cx="12024000" cy="989989"/>
              </a:xfrm>
              <a:prstGeom prst="rect">
                <a:avLst/>
              </a:prstGeom>
              <a:blipFill rotWithShape="0">
                <a:blip r:embed="rId2"/>
                <a:stretch>
                  <a:fillRect l="-1065" t="-6135" r="-1420" b="-1227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1180" y="2551563"/>
                <a:ext cx="11929641" cy="1132857"/>
              </a:xfrm>
            </p:spPr>
            <p:txBody>
              <a:bodyPr/>
              <a:lstStyle/>
              <a:p>
                <a:r>
                  <a:rPr lang="en-US" dirty="0"/>
                  <a:t>No, </a:t>
                </a:r>
                <a:r>
                  <a:rPr lang="en-US" b="1" dirty="0"/>
                  <a:t>not every regular graph of degree </a:t>
                </a:r>
                <a14:m>
                  <m:oMath xmlns:m="http://schemas.openxmlformats.org/officeDocument/2006/math">
                    <m:r>
                      <a:rPr lang="en-US" b="1" i="0" smtClean="0">
                        <a:latin typeface="Cambria Math" panose="02040503050406030204" pitchFamily="18" charset="0"/>
                      </a:rPr>
                      <m:t>𝐝</m:t>
                    </m:r>
                    <m:r>
                      <a:rPr lang="en-US" b="1" i="0" smtClean="0">
                        <a:latin typeface="Cambria Math" panose="02040503050406030204" pitchFamily="18" charset="0"/>
                      </a:rPr>
                      <m:t>≥</m:t>
                    </m:r>
                    <m:r>
                      <a:rPr lang="en-US" b="1" i="0" smtClean="0">
                        <a:latin typeface="Cambria Math" panose="02040503050406030204" pitchFamily="18" charset="0"/>
                      </a:rPr>
                      <m:t>𝟑</m:t>
                    </m:r>
                  </m:oMath>
                </a14:m>
                <a:r>
                  <a:rPr lang="en-US" b="1" dirty="0"/>
                  <a:t> is nonseparable</a:t>
                </a:r>
                <a:r>
                  <a:rPr lang="en-US" dirty="0"/>
                  <a:t>.</a:t>
                </a:r>
              </a:p>
              <a:p>
                <a:r>
                  <a:rPr lang="en-US" dirty="0"/>
                  <a:t>Consider, example of a simple 3 regular graph of degree three that is separable.</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1180" y="2551563"/>
                <a:ext cx="11929641" cy="1132857"/>
              </a:xfrm>
              <a:blipFill>
                <a:blip r:embed="rId3"/>
                <a:stretch>
                  <a:fillRect l="-971" t="-9730" b="-2703"/>
                </a:stretch>
              </a:blipFill>
            </p:spPr>
            <p:txBody>
              <a:bodyPr/>
              <a:lstStyle/>
              <a:p>
                <a:r>
                  <a:rPr lang="en-IN">
                    <a:noFill/>
                  </a:rPr>
                  <a:t> </a:t>
                </a:r>
              </a:p>
            </p:txBody>
          </p:sp>
        </mc:Fallback>
      </mc:AlternateContent>
      <p:sp>
        <p:nvSpPr>
          <p:cNvPr id="8" name="Oval 7">
            <a:extLst>
              <a:ext uri="{FF2B5EF4-FFF2-40B4-BE49-F238E27FC236}">
                <a16:creationId xmlns:a16="http://schemas.microsoft.com/office/drawing/2014/main" id="{BDD11F87-DA81-9510-C1CB-0AF4093562CB}"/>
              </a:ext>
            </a:extLst>
          </p:cNvPr>
          <p:cNvSpPr/>
          <p:nvPr/>
        </p:nvSpPr>
        <p:spPr>
          <a:xfrm rot="5400000">
            <a:off x="4547500" y="479672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BDD11F87-DA81-9510-C1CB-0AF4093562CB}"/>
              </a:ext>
            </a:extLst>
          </p:cNvPr>
          <p:cNvSpPr/>
          <p:nvPr/>
        </p:nvSpPr>
        <p:spPr>
          <a:xfrm rot="5400000">
            <a:off x="4546545" y="55211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3" name="Straight Connector 12">
            <a:extLst>
              <a:ext uri="{FF2B5EF4-FFF2-40B4-BE49-F238E27FC236}">
                <a16:creationId xmlns:a16="http://schemas.microsoft.com/office/drawing/2014/main" id="{6205DD86-315C-53B6-CEEF-A9919650168E}"/>
              </a:ext>
            </a:extLst>
          </p:cNvPr>
          <p:cNvCxnSpPr>
            <a:cxnSpLocks/>
            <a:stCxn id="8" idx="4"/>
            <a:endCxn id="40" idx="4"/>
          </p:cNvCxnSpPr>
          <p:nvPr/>
        </p:nvCxnSpPr>
        <p:spPr>
          <a:xfrm flipH="1">
            <a:off x="3824849" y="4868725"/>
            <a:ext cx="72265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6205DD86-315C-53B6-CEEF-A9919650168E}"/>
              </a:ext>
            </a:extLst>
          </p:cNvPr>
          <p:cNvCxnSpPr>
            <a:cxnSpLocks/>
            <a:stCxn id="10" idx="2"/>
            <a:endCxn id="8" idx="6"/>
          </p:cNvCxnSpPr>
          <p:nvPr/>
        </p:nvCxnSpPr>
        <p:spPr>
          <a:xfrm flipV="1">
            <a:off x="4618545" y="4940725"/>
            <a:ext cx="955" cy="5803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0" name="Oval 39">
            <a:extLst>
              <a:ext uri="{FF2B5EF4-FFF2-40B4-BE49-F238E27FC236}">
                <a16:creationId xmlns:a16="http://schemas.microsoft.com/office/drawing/2014/main" id="{BDD11F87-DA81-9510-C1CB-0AF4093562CB}"/>
              </a:ext>
            </a:extLst>
          </p:cNvPr>
          <p:cNvSpPr/>
          <p:nvPr/>
        </p:nvSpPr>
        <p:spPr>
          <a:xfrm rot="5400000">
            <a:off x="3824849" y="479672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6205DD86-315C-53B6-CEEF-A9919650168E}"/>
              </a:ext>
            </a:extLst>
          </p:cNvPr>
          <p:cNvCxnSpPr>
            <a:cxnSpLocks/>
            <a:stCxn id="40" idx="1"/>
            <a:endCxn id="43" idx="5"/>
          </p:cNvCxnSpPr>
          <p:nvPr/>
        </p:nvCxnSpPr>
        <p:spPr>
          <a:xfrm flipV="1">
            <a:off x="3947761" y="4200433"/>
            <a:ext cx="617668"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3" name="Oval 42">
            <a:extLst>
              <a:ext uri="{FF2B5EF4-FFF2-40B4-BE49-F238E27FC236}">
                <a16:creationId xmlns:a16="http://schemas.microsoft.com/office/drawing/2014/main" id="{BDD11F87-DA81-9510-C1CB-0AF4093562CB}"/>
              </a:ext>
            </a:extLst>
          </p:cNvPr>
          <p:cNvSpPr/>
          <p:nvPr/>
        </p:nvSpPr>
        <p:spPr>
          <a:xfrm rot="5400000">
            <a:off x="4544341" y="40775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4" name="Straight Connector 43">
            <a:extLst>
              <a:ext uri="{FF2B5EF4-FFF2-40B4-BE49-F238E27FC236}">
                <a16:creationId xmlns:a16="http://schemas.microsoft.com/office/drawing/2014/main" id="{6205DD86-315C-53B6-CEEF-A9919650168E}"/>
              </a:ext>
            </a:extLst>
          </p:cNvPr>
          <p:cNvCxnSpPr>
            <a:cxnSpLocks/>
            <a:stCxn id="8" idx="2"/>
            <a:endCxn id="43" idx="6"/>
          </p:cNvCxnSpPr>
          <p:nvPr/>
        </p:nvCxnSpPr>
        <p:spPr>
          <a:xfrm flipH="1" flipV="1">
            <a:off x="4616341" y="4221521"/>
            <a:ext cx="3159" cy="5752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1" name="Straight Connector 50">
            <a:extLst>
              <a:ext uri="{FF2B5EF4-FFF2-40B4-BE49-F238E27FC236}">
                <a16:creationId xmlns:a16="http://schemas.microsoft.com/office/drawing/2014/main" id="{6205DD86-315C-53B6-CEEF-A9919650168E}"/>
              </a:ext>
            </a:extLst>
          </p:cNvPr>
          <p:cNvCxnSpPr>
            <a:cxnSpLocks/>
            <a:stCxn id="40" idx="7"/>
            <a:endCxn id="10" idx="3"/>
          </p:cNvCxnSpPr>
          <p:nvPr/>
        </p:nvCxnSpPr>
        <p:spPr>
          <a:xfrm>
            <a:off x="3947761" y="4919637"/>
            <a:ext cx="61987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8" name="Straight Connector 57">
            <a:extLst>
              <a:ext uri="{FF2B5EF4-FFF2-40B4-BE49-F238E27FC236}">
                <a16:creationId xmlns:a16="http://schemas.microsoft.com/office/drawing/2014/main" id="{6205DD86-315C-53B6-CEEF-A9919650168E}"/>
              </a:ext>
            </a:extLst>
          </p:cNvPr>
          <p:cNvCxnSpPr>
            <a:cxnSpLocks/>
            <a:stCxn id="64" idx="3"/>
            <a:endCxn id="43" idx="7"/>
          </p:cNvCxnSpPr>
          <p:nvPr/>
        </p:nvCxnSpPr>
        <p:spPr>
          <a:xfrm flipH="1" flipV="1">
            <a:off x="4667253" y="4200433"/>
            <a:ext cx="612022"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1" name="Straight Connector 60">
            <a:extLst>
              <a:ext uri="{FF2B5EF4-FFF2-40B4-BE49-F238E27FC236}">
                <a16:creationId xmlns:a16="http://schemas.microsoft.com/office/drawing/2014/main" id="{6205DD86-315C-53B6-CEEF-A9919650168E}"/>
              </a:ext>
            </a:extLst>
          </p:cNvPr>
          <p:cNvCxnSpPr>
            <a:cxnSpLocks/>
            <a:stCxn id="64" idx="5"/>
            <a:endCxn id="10" idx="1"/>
          </p:cNvCxnSpPr>
          <p:nvPr/>
        </p:nvCxnSpPr>
        <p:spPr>
          <a:xfrm flipH="1">
            <a:off x="4669457" y="4919637"/>
            <a:ext cx="609818"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4" name="Oval 63">
            <a:extLst>
              <a:ext uri="{FF2B5EF4-FFF2-40B4-BE49-F238E27FC236}">
                <a16:creationId xmlns:a16="http://schemas.microsoft.com/office/drawing/2014/main" id="{BDD11F87-DA81-9510-C1CB-0AF4093562CB}"/>
              </a:ext>
            </a:extLst>
          </p:cNvPr>
          <p:cNvSpPr/>
          <p:nvPr/>
        </p:nvSpPr>
        <p:spPr>
          <a:xfrm rot="5400000">
            <a:off x="5258187" y="479672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69" name="Oval 68">
            <a:extLst>
              <a:ext uri="{FF2B5EF4-FFF2-40B4-BE49-F238E27FC236}">
                <a16:creationId xmlns:a16="http://schemas.microsoft.com/office/drawing/2014/main" id="{BDD11F87-DA81-9510-C1CB-0AF4093562CB}"/>
              </a:ext>
            </a:extLst>
          </p:cNvPr>
          <p:cNvSpPr/>
          <p:nvPr/>
        </p:nvSpPr>
        <p:spPr>
          <a:xfrm rot="5400000">
            <a:off x="7423296" y="47968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0" name="Oval 69">
            <a:extLst>
              <a:ext uri="{FF2B5EF4-FFF2-40B4-BE49-F238E27FC236}">
                <a16:creationId xmlns:a16="http://schemas.microsoft.com/office/drawing/2014/main" id="{BDD11F87-DA81-9510-C1CB-0AF4093562CB}"/>
              </a:ext>
            </a:extLst>
          </p:cNvPr>
          <p:cNvSpPr/>
          <p:nvPr/>
        </p:nvSpPr>
        <p:spPr>
          <a:xfrm rot="5400000">
            <a:off x="7423296" y="551430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1" name="Straight Connector 70">
            <a:extLst>
              <a:ext uri="{FF2B5EF4-FFF2-40B4-BE49-F238E27FC236}">
                <a16:creationId xmlns:a16="http://schemas.microsoft.com/office/drawing/2014/main" id="{6205DD86-315C-53B6-CEEF-A9919650168E}"/>
              </a:ext>
            </a:extLst>
          </p:cNvPr>
          <p:cNvCxnSpPr>
            <a:cxnSpLocks/>
            <a:stCxn id="69" idx="0"/>
            <a:endCxn id="73" idx="4"/>
          </p:cNvCxnSpPr>
          <p:nvPr/>
        </p:nvCxnSpPr>
        <p:spPr>
          <a:xfrm flipV="1">
            <a:off x="7567296" y="4868725"/>
            <a:ext cx="586772" cy="13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Straight Connector 71">
            <a:extLst>
              <a:ext uri="{FF2B5EF4-FFF2-40B4-BE49-F238E27FC236}">
                <a16:creationId xmlns:a16="http://schemas.microsoft.com/office/drawing/2014/main" id="{6205DD86-315C-53B6-CEEF-A9919650168E}"/>
              </a:ext>
            </a:extLst>
          </p:cNvPr>
          <p:cNvCxnSpPr>
            <a:cxnSpLocks/>
            <a:stCxn id="70" idx="2"/>
            <a:endCxn id="69" idx="6"/>
          </p:cNvCxnSpPr>
          <p:nvPr/>
        </p:nvCxnSpPr>
        <p:spPr>
          <a:xfrm flipV="1">
            <a:off x="7495296" y="4940863"/>
            <a:ext cx="0" cy="57344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3" name="Oval 72">
            <a:extLst>
              <a:ext uri="{FF2B5EF4-FFF2-40B4-BE49-F238E27FC236}">
                <a16:creationId xmlns:a16="http://schemas.microsoft.com/office/drawing/2014/main" id="{BDD11F87-DA81-9510-C1CB-0AF4093562CB}"/>
              </a:ext>
            </a:extLst>
          </p:cNvPr>
          <p:cNvSpPr/>
          <p:nvPr/>
        </p:nvSpPr>
        <p:spPr>
          <a:xfrm rot="5400000">
            <a:off x="8154068" y="479672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4" name="Straight Connector 73">
            <a:extLst>
              <a:ext uri="{FF2B5EF4-FFF2-40B4-BE49-F238E27FC236}">
                <a16:creationId xmlns:a16="http://schemas.microsoft.com/office/drawing/2014/main" id="{6205DD86-315C-53B6-CEEF-A9919650168E}"/>
              </a:ext>
            </a:extLst>
          </p:cNvPr>
          <p:cNvCxnSpPr>
            <a:cxnSpLocks/>
            <a:stCxn id="73" idx="3"/>
            <a:endCxn id="75" idx="7"/>
          </p:cNvCxnSpPr>
          <p:nvPr/>
        </p:nvCxnSpPr>
        <p:spPr>
          <a:xfrm flipH="1" flipV="1">
            <a:off x="7541931" y="4200433"/>
            <a:ext cx="633225"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5" name="Oval 74">
            <a:extLst>
              <a:ext uri="{FF2B5EF4-FFF2-40B4-BE49-F238E27FC236}">
                <a16:creationId xmlns:a16="http://schemas.microsoft.com/office/drawing/2014/main" id="{BDD11F87-DA81-9510-C1CB-0AF4093562CB}"/>
              </a:ext>
            </a:extLst>
          </p:cNvPr>
          <p:cNvSpPr/>
          <p:nvPr/>
        </p:nvSpPr>
        <p:spPr>
          <a:xfrm rot="5400000">
            <a:off x="7419019" y="407752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76" name="Straight Connector 75">
            <a:extLst>
              <a:ext uri="{FF2B5EF4-FFF2-40B4-BE49-F238E27FC236}">
                <a16:creationId xmlns:a16="http://schemas.microsoft.com/office/drawing/2014/main" id="{6205DD86-315C-53B6-CEEF-A9919650168E}"/>
              </a:ext>
            </a:extLst>
          </p:cNvPr>
          <p:cNvCxnSpPr>
            <a:cxnSpLocks/>
            <a:stCxn id="69" idx="2"/>
            <a:endCxn id="75" idx="6"/>
          </p:cNvCxnSpPr>
          <p:nvPr/>
        </p:nvCxnSpPr>
        <p:spPr>
          <a:xfrm flipH="1" flipV="1">
            <a:off x="7491019" y="4221521"/>
            <a:ext cx="4277" cy="57534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Straight Connector 76">
            <a:extLst>
              <a:ext uri="{FF2B5EF4-FFF2-40B4-BE49-F238E27FC236}">
                <a16:creationId xmlns:a16="http://schemas.microsoft.com/office/drawing/2014/main" id="{6205DD86-315C-53B6-CEEF-A9919650168E}"/>
              </a:ext>
            </a:extLst>
          </p:cNvPr>
          <p:cNvCxnSpPr>
            <a:cxnSpLocks/>
            <a:stCxn id="73" idx="5"/>
            <a:endCxn id="70" idx="1"/>
          </p:cNvCxnSpPr>
          <p:nvPr/>
        </p:nvCxnSpPr>
        <p:spPr>
          <a:xfrm flipH="1">
            <a:off x="7546208" y="4919637"/>
            <a:ext cx="628948" cy="61575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8" name="Straight Connector 77">
            <a:extLst>
              <a:ext uri="{FF2B5EF4-FFF2-40B4-BE49-F238E27FC236}">
                <a16:creationId xmlns:a16="http://schemas.microsoft.com/office/drawing/2014/main" id="{6205DD86-315C-53B6-CEEF-A9919650168E}"/>
              </a:ext>
            </a:extLst>
          </p:cNvPr>
          <p:cNvCxnSpPr>
            <a:cxnSpLocks/>
            <a:stCxn id="80" idx="1"/>
            <a:endCxn id="75" idx="5"/>
          </p:cNvCxnSpPr>
          <p:nvPr/>
        </p:nvCxnSpPr>
        <p:spPr>
          <a:xfrm flipV="1">
            <a:off x="6839700" y="4200433"/>
            <a:ext cx="600407" cy="6078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9" name="Straight Connector 78">
            <a:extLst>
              <a:ext uri="{FF2B5EF4-FFF2-40B4-BE49-F238E27FC236}">
                <a16:creationId xmlns:a16="http://schemas.microsoft.com/office/drawing/2014/main" id="{6205DD86-315C-53B6-CEEF-A9919650168E}"/>
              </a:ext>
            </a:extLst>
          </p:cNvPr>
          <p:cNvCxnSpPr>
            <a:cxnSpLocks/>
            <a:stCxn id="80" idx="4"/>
            <a:endCxn id="70" idx="3"/>
          </p:cNvCxnSpPr>
          <p:nvPr/>
        </p:nvCxnSpPr>
        <p:spPr>
          <a:xfrm>
            <a:off x="6716788" y="4859200"/>
            <a:ext cx="727596" cy="6761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80" name="Oval 79">
            <a:extLst>
              <a:ext uri="{FF2B5EF4-FFF2-40B4-BE49-F238E27FC236}">
                <a16:creationId xmlns:a16="http://schemas.microsoft.com/office/drawing/2014/main" id="{BDD11F87-DA81-9510-C1CB-0AF4093562CB}"/>
              </a:ext>
            </a:extLst>
          </p:cNvPr>
          <p:cNvSpPr/>
          <p:nvPr/>
        </p:nvSpPr>
        <p:spPr>
          <a:xfrm rot="5400000">
            <a:off x="6716788" y="47872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6" name="Straight Connector 85">
            <a:extLst>
              <a:ext uri="{FF2B5EF4-FFF2-40B4-BE49-F238E27FC236}">
                <a16:creationId xmlns:a16="http://schemas.microsoft.com/office/drawing/2014/main" id="{6205DD86-315C-53B6-CEEF-A9919650168E}"/>
              </a:ext>
            </a:extLst>
          </p:cNvPr>
          <p:cNvCxnSpPr>
            <a:cxnSpLocks/>
            <a:stCxn id="64" idx="0"/>
            <a:endCxn id="80" idx="4"/>
          </p:cNvCxnSpPr>
          <p:nvPr/>
        </p:nvCxnSpPr>
        <p:spPr>
          <a:xfrm flipV="1">
            <a:off x="5402187" y="4859200"/>
            <a:ext cx="1314601" cy="95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50034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5"/>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7"/>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78"/>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9" presetClass="emph" presetSubtype="0" fill="hold" grpId="1" nodeType="clickEffect">
                                  <p:stCondLst>
                                    <p:cond delay="0"/>
                                  </p:stCondLst>
                                  <p:childTnLst>
                                    <p:animClr clrSpc="rgb" dir="cw">
                                      <p:cBhvr override="childStyle">
                                        <p:cTn id="66" dur="500" fill="hold"/>
                                        <p:tgtEl>
                                          <p:spTgt spid="64"/>
                                        </p:tgtEl>
                                        <p:attrNameLst>
                                          <p:attrName>style.color</p:attrName>
                                        </p:attrNameLst>
                                      </p:cBhvr>
                                      <p:to>
                                        <a:srgbClr val="FFFF00"/>
                                      </p:to>
                                    </p:animClr>
                                    <p:animClr clrSpc="rgb" dir="cw">
                                      <p:cBhvr>
                                        <p:cTn id="67" dur="500" fill="hold"/>
                                        <p:tgtEl>
                                          <p:spTgt spid="64"/>
                                        </p:tgtEl>
                                        <p:attrNameLst>
                                          <p:attrName>fillcolor</p:attrName>
                                        </p:attrNameLst>
                                      </p:cBhvr>
                                      <p:to>
                                        <a:srgbClr val="FFFF00"/>
                                      </p:to>
                                    </p:animClr>
                                    <p:set>
                                      <p:cBhvr>
                                        <p:cTn id="68" dur="500" fill="hold"/>
                                        <p:tgtEl>
                                          <p:spTgt spid="64"/>
                                        </p:tgtEl>
                                        <p:attrNameLst>
                                          <p:attrName>fill.type</p:attrName>
                                        </p:attrNameLst>
                                      </p:cBhvr>
                                      <p:to>
                                        <p:strVal val="solid"/>
                                      </p:to>
                                    </p:set>
                                    <p:set>
                                      <p:cBhvr>
                                        <p:cTn id="69" dur="500" fill="hold"/>
                                        <p:tgtEl>
                                          <p:spTgt spid="64"/>
                                        </p:tgtEl>
                                        <p:attrNameLst>
                                          <p:attrName>fill.on</p:attrName>
                                        </p:attrNameLst>
                                      </p:cBhvr>
                                      <p:to>
                                        <p:strVal val="true"/>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nodeType="clickEffect">
                                  <p:stCondLst>
                                    <p:cond delay="0"/>
                                  </p:stCondLst>
                                  <p:childTnLst>
                                    <p:set>
                                      <p:cBhvr>
                                        <p:cTn id="73" dur="1" fill="hold">
                                          <p:stCondLst>
                                            <p:cond delay="0"/>
                                          </p:stCondLst>
                                        </p:cTn>
                                        <p:tgtEl>
                                          <p:spTgt spid="58"/>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61"/>
                                        </p:tgtEl>
                                        <p:attrNameLst>
                                          <p:attrName>style.visibility</p:attrName>
                                        </p:attrNameLst>
                                      </p:cBhvr>
                                      <p:to>
                                        <p:strVal val="hidden"/>
                                      </p:to>
                                    </p:set>
                                  </p:childTnLst>
                                </p:cTn>
                              </p:par>
                              <p:par>
                                <p:cTn id="76" presetID="1" presetClass="exit" presetSubtype="0" fill="hold" grpId="2" nodeType="withEffect">
                                  <p:stCondLst>
                                    <p:cond delay="0"/>
                                  </p:stCondLst>
                                  <p:childTnLst>
                                    <p:set>
                                      <p:cBhvr>
                                        <p:cTn id="77" dur="1" fill="hold">
                                          <p:stCondLst>
                                            <p:cond delay="0"/>
                                          </p:stCondLst>
                                        </p:cTn>
                                        <p:tgtEl>
                                          <p:spTgt spid="64"/>
                                        </p:tgtEl>
                                        <p:attrNameLst>
                                          <p:attrName>style.visibility</p:attrName>
                                        </p:attrNameLst>
                                      </p:cBhvr>
                                      <p:to>
                                        <p:strVal val="hidden"/>
                                      </p:to>
                                    </p:set>
                                  </p:childTnLst>
                                </p:cTn>
                              </p:par>
                              <p:par>
                                <p:cTn id="78" presetID="1" presetClass="exit" presetSubtype="0" fill="hold" nodeType="withEffect">
                                  <p:stCondLst>
                                    <p:cond delay="0"/>
                                  </p:stCondLst>
                                  <p:childTnLst>
                                    <p:set>
                                      <p:cBhvr>
                                        <p:cTn id="79" dur="1" fill="hold">
                                          <p:stCondLst>
                                            <p:cond delay="0"/>
                                          </p:stCondLst>
                                        </p:cTn>
                                        <p:tgtEl>
                                          <p:spTgt spid="8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40" grpId="0" animBg="1"/>
      <p:bldP spid="43" grpId="0" animBg="1"/>
      <p:bldP spid="64" grpId="0" animBg="1"/>
      <p:bldP spid="64" grpId="1" animBg="1"/>
      <p:bldP spid="64" grpId="2" animBg="1"/>
      <p:bldP spid="69" grpId="0" animBg="1"/>
      <p:bldP spid="70" grpId="0" animBg="1"/>
      <p:bldP spid="73" grpId="0" animBg="1"/>
      <p:bldP spid="75" grpId="0" animBg="1"/>
      <p:bldP spid="80"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723E9-F32D-D5B8-9263-EA5237E52778}"/>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418729E7-F7E0-F0E2-939A-4F3818B3AB48}"/>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4" name="Content Placeholder 3">
            <a:extLst>
              <a:ext uri="{FF2B5EF4-FFF2-40B4-BE49-F238E27FC236}">
                <a16:creationId xmlns:a16="http://schemas.microsoft.com/office/drawing/2014/main" id="{F88CC7FB-51CC-C6C6-1AFC-0B8BB1D5FC63}"/>
              </a:ext>
            </a:extLst>
          </p:cNvPr>
          <p:cNvSpPr>
            <a:spLocks noGrp="1"/>
          </p:cNvSpPr>
          <p:nvPr>
            <p:ph idx="1"/>
          </p:nvPr>
        </p:nvSpPr>
        <p:spPr/>
        <p:txBody>
          <a:bodyPr/>
          <a:lstStyle/>
          <a:p>
            <a:pPr marL="514350" indent="-514350">
              <a:buFont typeface="+mj-lt"/>
              <a:buAutoNum type="arabicPeriod"/>
            </a:pPr>
            <a:r>
              <a:rPr lang="en-IN" dirty="0"/>
              <a:t>In a connected graph G the complement of a cut-set in G does not contain a spanning tree and the complement of a spanning tree does not contain a cut-set. (True/False)</a:t>
            </a:r>
          </a:p>
          <a:p>
            <a:pPr marL="514350" indent="-514350">
              <a:buFont typeface="+mj-lt"/>
              <a:buAutoNum type="arabicPeriod"/>
            </a:pPr>
            <a:r>
              <a:rPr lang="en-US" dirty="0"/>
              <a:t>For </a:t>
            </a:r>
            <a:r>
              <a:rPr lang="en-IN" dirty="0"/>
              <a:t>_________________graph </a:t>
            </a:r>
            <a:r>
              <a:rPr lang="en-US" dirty="0"/>
              <a:t>the set of edges incident on each vertex of G is a cut-set</a:t>
            </a:r>
            <a:r>
              <a:rPr lang="en-IN" dirty="0"/>
              <a:t>. (separable/non separable)</a:t>
            </a:r>
          </a:p>
          <a:p>
            <a:pPr marL="514350" indent="-514350">
              <a:buFont typeface="+mj-lt"/>
              <a:buAutoNum type="arabicPeriod"/>
            </a:pPr>
            <a:r>
              <a:rPr lang="en-US" dirty="0"/>
              <a:t>Prove that in a tree every vertex of degree greater than one is a cut vertex.</a:t>
            </a:r>
          </a:p>
          <a:p>
            <a:pPr marL="514350" indent="-514350">
              <a:buFont typeface="+mj-lt"/>
              <a:buAutoNum type="arabicPeriod"/>
            </a:pPr>
            <a:r>
              <a:rPr lang="en-US" dirty="0"/>
              <a:t>Construct a graph G with the following properties: Edge connectivity of G = 4, vertex connectivity of G = 4, and degree of every vertex of G ≥ 4.</a:t>
            </a:r>
          </a:p>
          <a:p>
            <a:pPr marL="514350" indent="-514350">
              <a:buFont typeface="+mj-lt"/>
              <a:buAutoNum type="arabicPeriod"/>
            </a:pPr>
            <a:r>
              <a:rPr lang="en-IN" dirty="0"/>
              <a:t>Euler graph cannot have a cut-set with an odd number of edges. (True/False)</a:t>
            </a:r>
          </a:p>
          <a:p>
            <a:endParaRPr lang="en-US" dirty="0"/>
          </a:p>
          <a:p>
            <a:endParaRPr lang="en-IN" dirty="0"/>
          </a:p>
        </p:txBody>
      </p:sp>
    </p:spTree>
    <p:extLst>
      <p:ext uri="{BB962C8B-B14F-4D97-AF65-F5344CB8AC3E}">
        <p14:creationId xmlns:p14="http://schemas.microsoft.com/office/powerpoint/2010/main" val="10582607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6677B-5737-9C26-6BDF-94F72C7F6BED}"/>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7F521B6-B9BA-37AE-E3A3-DC5A4839D5A5}"/>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a:t>
            </a:r>
            <a:endParaRPr lang="en-US" dirty="0"/>
          </a:p>
        </p:txBody>
      </p:sp>
      <p:sp>
        <p:nvSpPr>
          <p:cNvPr id="4" name="Content Placeholder 3">
            <a:extLst>
              <a:ext uri="{FF2B5EF4-FFF2-40B4-BE49-F238E27FC236}">
                <a16:creationId xmlns:a16="http://schemas.microsoft.com/office/drawing/2014/main" id="{8AE4CEE2-4DCF-EC6B-2564-1BEEF8927D72}"/>
              </a:ext>
            </a:extLst>
          </p:cNvPr>
          <p:cNvSpPr>
            <a:spLocks noGrp="1"/>
          </p:cNvSpPr>
          <p:nvPr>
            <p:ph idx="1"/>
          </p:nvPr>
        </p:nvSpPr>
        <p:spPr/>
        <p:txBody>
          <a:bodyPr/>
          <a:lstStyle/>
          <a:p>
            <a:pPr marL="0" indent="0">
              <a:buNone/>
            </a:pPr>
            <a:r>
              <a:rPr lang="en-IN" b="1" dirty="0">
                <a:solidFill>
                  <a:srgbClr val="FF0000"/>
                </a:solidFill>
              </a:rPr>
              <a:t>?</a:t>
            </a:r>
            <a:r>
              <a:rPr lang="en-IN" dirty="0">
                <a:solidFill>
                  <a:srgbClr val="FF0000"/>
                </a:solidFill>
              </a:rPr>
              <a:t> In a connected graph G the complement of a cut-set in G does not contain a spanning tree and the complement of a spanning tree does not contain a cut-set</a:t>
            </a:r>
            <a:r>
              <a:rPr lang="en-IN" dirty="0"/>
              <a:t>. </a:t>
            </a:r>
            <a:endParaRPr lang="en-IN" b="1" dirty="0"/>
          </a:p>
          <a:p>
            <a:pPr>
              <a:lnSpc>
                <a:spcPct val="150000"/>
              </a:lnSpc>
            </a:pPr>
            <a:r>
              <a:rPr lang="en-IN" b="1" dirty="0"/>
              <a:t>Part 1:</a:t>
            </a:r>
            <a:r>
              <a:rPr lang="en-IN" dirty="0"/>
              <a:t> A cut-set is defined as a minimal set of edges whose removal disconnects the graph. Because removing the cut-set disconnects the graph, the remaining edges (the complement of the cut-set) cannot possibly connect all the vertices. </a:t>
            </a:r>
            <a:r>
              <a:rPr lang="en-IN" b="1" dirty="0"/>
              <a:t>Part 2:</a:t>
            </a:r>
            <a:r>
              <a:rPr lang="en-IN" dirty="0"/>
              <a:t> A spanning tree T is minimally connected. Its complement consists of the remaining edges in the graph (often called chords). If you remove all of these chords (which is the complement of the spanning tree), the graph that remains is exactly the spanning tree T. </a:t>
            </a:r>
          </a:p>
          <a:p>
            <a:endParaRPr lang="en-IN" dirty="0"/>
          </a:p>
          <a:p>
            <a:endParaRPr lang="en-US" dirty="0"/>
          </a:p>
          <a:p>
            <a:endParaRPr lang="en-IN" dirty="0"/>
          </a:p>
        </p:txBody>
      </p:sp>
    </p:spTree>
    <p:extLst>
      <p:ext uri="{BB962C8B-B14F-4D97-AF65-F5344CB8AC3E}">
        <p14:creationId xmlns:p14="http://schemas.microsoft.com/office/powerpoint/2010/main" val="951250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DDA2D-B645-9516-C82E-B9F90AD711A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6BB0ED45-095C-1E4C-A9F9-91F057F626BD}"/>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a:t>
            </a:r>
            <a:endParaRPr lang="en-US" dirty="0"/>
          </a:p>
        </p:txBody>
      </p:sp>
      <p:sp>
        <p:nvSpPr>
          <p:cNvPr id="4" name="Content Placeholder 3">
            <a:extLst>
              <a:ext uri="{FF2B5EF4-FFF2-40B4-BE49-F238E27FC236}">
                <a16:creationId xmlns:a16="http://schemas.microsoft.com/office/drawing/2014/main" id="{EB294287-DB15-A72C-E7E6-AF12123D5812}"/>
              </a:ext>
            </a:extLst>
          </p:cNvPr>
          <p:cNvSpPr>
            <a:spLocks noGrp="1"/>
          </p:cNvSpPr>
          <p:nvPr>
            <p:ph idx="1"/>
          </p:nvPr>
        </p:nvSpPr>
        <p:spPr/>
        <p:txBody>
          <a:bodyPr/>
          <a:lstStyle/>
          <a:p>
            <a:pPr marL="0" indent="0">
              <a:buNone/>
            </a:pPr>
            <a:r>
              <a:rPr lang="en-IN" dirty="0">
                <a:solidFill>
                  <a:srgbClr val="FF0000"/>
                </a:solidFill>
              </a:rPr>
              <a:t>?</a:t>
            </a:r>
            <a:r>
              <a:rPr lang="en-US" dirty="0">
                <a:solidFill>
                  <a:srgbClr val="FF0000"/>
                </a:solidFill>
              </a:rPr>
              <a:t> For </a:t>
            </a:r>
            <a:r>
              <a:rPr lang="en-IN" dirty="0">
                <a:solidFill>
                  <a:srgbClr val="FF0000"/>
                </a:solidFill>
              </a:rPr>
              <a:t>_________________graph </a:t>
            </a:r>
            <a:r>
              <a:rPr lang="en-US" dirty="0">
                <a:solidFill>
                  <a:srgbClr val="FF0000"/>
                </a:solidFill>
              </a:rPr>
              <a:t>the set of edges incident on each vertex of G is a cut-set</a:t>
            </a:r>
            <a:r>
              <a:rPr lang="en-IN" dirty="0">
                <a:solidFill>
                  <a:srgbClr val="FF0000"/>
                </a:solidFill>
              </a:rPr>
              <a:t>. (separable/non separable)</a:t>
            </a:r>
          </a:p>
          <a:p>
            <a:pPr marL="0" indent="0">
              <a:buNone/>
            </a:pPr>
            <a:endParaRPr lang="en-IN" dirty="0"/>
          </a:p>
          <a:p>
            <a:r>
              <a:rPr lang="en-US" dirty="0"/>
              <a:t>Is this set a cut-set?</a:t>
            </a:r>
          </a:p>
          <a:p>
            <a:r>
              <a:rPr lang="en-US" dirty="0"/>
              <a:t>No </a:t>
            </a:r>
          </a:p>
          <a:p>
            <a:r>
              <a:rPr lang="en-US" dirty="0"/>
              <a:t>So, Graph is non separable.</a:t>
            </a:r>
          </a:p>
          <a:p>
            <a:r>
              <a:rPr lang="en-US" dirty="0"/>
              <a:t>Why?</a:t>
            </a:r>
          </a:p>
          <a:p>
            <a:r>
              <a:rPr lang="en-IN" dirty="0"/>
              <a:t>As, there are no cut-vertices. Removing the incidence set of any vertex isolates it and disconnects the graph, and no proper subset of those edges will do the same. Thus, the incidence set is minimal.</a:t>
            </a:r>
          </a:p>
          <a:p>
            <a:endParaRPr lang="en-IN" dirty="0"/>
          </a:p>
        </p:txBody>
      </p:sp>
      <p:sp>
        <p:nvSpPr>
          <p:cNvPr id="2" name="Oval 1">
            <a:extLst>
              <a:ext uri="{FF2B5EF4-FFF2-40B4-BE49-F238E27FC236}">
                <a16:creationId xmlns:a16="http://schemas.microsoft.com/office/drawing/2014/main" id="{2BC66921-53A0-B334-5263-29380D2FED33}"/>
              </a:ext>
            </a:extLst>
          </p:cNvPr>
          <p:cNvSpPr/>
          <p:nvPr/>
        </p:nvSpPr>
        <p:spPr>
          <a:xfrm rot="5400000">
            <a:off x="6362445" y="279034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 name="Oval 2">
            <a:extLst>
              <a:ext uri="{FF2B5EF4-FFF2-40B4-BE49-F238E27FC236}">
                <a16:creationId xmlns:a16="http://schemas.microsoft.com/office/drawing/2014/main" id="{9F916D47-C955-ED5F-DDE2-033AD007A2CD}"/>
              </a:ext>
            </a:extLst>
          </p:cNvPr>
          <p:cNvSpPr/>
          <p:nvPr/>
        </p:nvSpPr>
        <p:spPr>
          <a:xfrm rot="5400000">
            <a:off x="6361490" y="351472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 name="Straight Connector 4">
            <a:extLst>
              <a:ext uri="{FF2B5EF4-FFF2-40B4-BE49-F238E27FC236}">
                <a16:creationId xmlns:a16="http://schemas.microsoft.com/office/drawing/2014/main" id="{30A9A2DE-7220-9FF1-74D2-22851F429609}"/>
              </a:ext>
            </a:extLst>
          </p:cNvPr>
          <p:cNvCxnSpPr>
            <a:cxnSpLocks/>
            <a:stCxn id="2" idx="4"/>
            <a:endCxn id="7" idx="4"/>
          </p:cNvCxnSpPr>
          <p:nvPr/>
        </p:nvCxnSpPr>
        <p:spPr>
          <a:xfrm flipH="1">
            <a:off x="5639794" y="2862347"/>
            <a:ext cx="722651"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a:extLst>
              <a:ext uri="{FF2B5EF4-FFF2-40B4-BE49-F238E27FC236}">
                <a16:creationId xmlns:a16="http://schemas.microsoft.com/office/drawing/2014/main" id="{3DB965D4-6AD6-4453-DBBE-FD72E2730D61}"/>
              </a:ext>
            </a:extLst>
          </p:cNvPr>
          <p:cNvCxnSpPr>
            <a:cxnSpLocks/>
            <a:stCxn id="3" idx="2"/>
            <a:endCxn id="2" idx="6"/>
          </p:cNvCxnSpPr>
          <p:nvPr/>
        </p:nvCxnSpPr>
        <p:spPr>
          <a:xfrm flipV="1">
            <a:off x="6433490" y="2934347"/>
            <a:ext cx="955" cy="58037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07712104-F720-8AD8-8812-37CC3559335A}"/>
              </a:ext>
            </a:extLst>
          </p:cNvPr>
          <p:cNvSpPr/>
          <p:nvPr/>
        </p:nvSpPr>
        <p:spPr>
          <a:xfrm rot="5400000">
            <a:off x="5639794" y="279034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 name="Straight Connector 7">
            <a:extLst>
              <a:ext uri="{FF2B5EF4-FFF2-40B4-BE49-F238E27FC236}">
                <a16:creationId xmlns:a16="http://schemas.microsoft.com/office/drawing/2014/main" id="{8F44EF8E-5648-52A6-D09B-8FF115650C75}"/>
              </a:ext>
            </a:extLst>
          </p:cNvPr>
          <p:cNvCxnSpPr>
            <a:cxnSpLocks/>
            <a:stCxn id="7" idx="1"/>
            <a:endCxn id="10" idx="5"/>
          </p:cNvCxnSpPr>
          <p:nvPr/>
        </p:nvCxnSpPr>
        <p:spPr>
          <a:xfrm flipV="1">
            <a:off x="5762706" y="2194055"/>
            <a:ext cx="617668"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a:extLst>
              <a:ext uri="{FF2B5EF4-FFF2-40B4-BE49-F238E27FC236}">
                <a16:creationId xmlns:a16="http://schemas.microsoft.com/office/drawing/2014/main" id="{901BACCD-781F-7FAC-9159-9E54627E3A6F}"/>
              </a:ext>
            </a:extLst>
          </p:cNvPr>
          <p:cNvSpPr/>
          <p:nvPr/>
        </p:nvSpPr>
        <p:spPr>
          <a:xfrm rot="5400000">
            <a:off x="6359286" y="207114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1" name="Straight Connector 10">
            <a:extLst>
              <a:ext uri="{FF2B5EF4-FFF2-40B4-BE49-F238E27FC236}">
                <a16:creationId xmlns:a16="http://schemas.microsoft.com/office/drawing/2014/main" id="{4A65B5FA-0C3C-FBFF-CDCA-98216BCCD916}"/>
              </a:ext>
            </a:extLst>
          </p:cNvPr>
          <p:cNvCxnSpPr>
            <a:cxnSpLocks/>
            <a:stCxn id="2" idx="2"/>
            <a:endCxn id="10" idx="6"/>
          </p:cNvCxnSpPr>
          <p:nvPr/>
        </p:nvCxnSpPr>
        <p:spPr>
          <a:xfrm flipH="1" flipV="1">
            <a:off x="6431286" y="2215143"/>
            <a:ext cx="3159" cy="57520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7105D30F-FC60-50F5-CFCD-8B9F29323DC7}"/>
              </a:ext>
            </a:extLst>
          </p:cNvPr>
          <p:cNvCxnSpPr>
            <a:cxnSpLocks/>
            <a:stCxn id="7" idx="7"/>
            <a:endCxn id="3" idx="3"/>
          </p:cNvCxnSpPr>
          <p:nvPr/>
        </p:nvCxnSpPr>
        <p:spPr>
          <a:xfrm>
            <a:off x="5762706" y="2913259"/>
            <a:ext cx="61987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00070BBA-D4B7-D3D4-E0FD-54A4CD52E10C}"/>
              </a:ext>
            </a:extLst>
          </p:cNvPr>
          <p:cNvCxnSpPr>
            <a:cxnSpLocks/>
            <a:stCxn id="15" idx="3"/>
            <a:endCxn id="10" idx="7"/>
          </p:cNvCxnSpPr>
          <p:nvPr/>
        </p:nvCxnSpPr>
        <p:spPr>
          <a:xfrm flipH="1" flipV="1">
            <a:off x="6482198" y="2194055"/>
            <a:ext cx="612022"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4" name="Straight Connector 13">
            <a:extLst>
              <a:ext uri="{FF2B5EF4-FFF2-40B4-BE49-F238E27FC236}">
                <a16:creationId xmlns:a16="http://schemas.microsoft.com/office/drawing/2014/main" id="{0B39B928-57E3-4381-D3E4-EB104A101C27}"/>
              </a:ext>
            </a:extLst>
          </p:cNvPr>
          <p:cNvCxnSpPr>
            <a:cxnSpLocks/>
            <a:stCxn id="15" idx="5"/>
            <a:endCxn id="3" idx="1"/>
          </p:cNvCxnSpPr>
          <p:nvPr/>
        </p:nvCxnSpPr>
        <p:spPr>
          <a:xfrm flipH="1">
            <a:off x="6484402" y="2913259"/>
            <a:ext cx="609818"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5" name="Oval 14">
            <a:extLst>
              <a:ext uri="{FF2B5EF4-FFF2-40B4-BE49-F238E27FC236}">
                <a16:creationId xmlns:a16="http://schemas.microsoft.com/office/drawing/2014/main" id="{B386CA90-4015-5F23-D76B-BD6793C1F6C9}"/>
              </a:ext>
            </a:extLst>
          </p:cNvPr>
          <p:cNvSpPr/>
          <p:nvPr/>
        </p:nvSpPr>
        <p:spPr>
          <a:xfrm rot="5400000">
            <a:off x="7073132" y="279034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7" name="Oval 26">
            <a:extLst>
              <a:ext uri="{FF2B5EF4-FFF2-40B4-BE49-F238E27FC236}">
                <a16:creationId xmlns:a16="http://schemas.microsoft.com/office/drawing/2014/main" id="{992CBDEA-6F7D-25BA-D862-3C049307F8BF}"/>
              </a:ext>
            </a:extLst>
          </p:cNvPr>
          <p:cNvSpPr/>
          <p:nvPr/>
        </p:nvSpPr>
        <p:spPr>
          <a:xfrm rot="5400000">
            <a:off x="8531733" y="278082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8" name="Straight Connector 27">
            <a:extLst>
              <a:ext uri="{FF2B5EF4-FFF2-40B4-BE49-F238E27FC236}">
                <a16:creationId xmlns:a16="http://schemas.microsoft.com/office/drawing/2014/main" id="{8AB1FFAD-45B3-A9D7-A998-39E562713982}"/>
              </a:ext>
            </a:extLst>
          </p:cNvPr>
          <p:cNvCxnSpPr>
            <a:cxnSpLocks/>
            <a:stCxn id="15" idx="0"/>
            <a:endCxn id="27" idx="4"/>
          </p:cNvCxnSpPr>
          <p:nvPr/>
        </p:nvCxnSpPr>
        <p:spPr>
          <a:xfrm flipV="1">
            <a:off x="7217132" y="2852822"/>
            <a:ext cx="1314601" cy="95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31" name="Arc 30">
            <a:extLst>
              <a:ext uri="{FF2B5EF4-FFF2-40B4-BE49-F238E27FC236}">
                <a16:creationId xmlns:a16="http://schemas.microsoft.com/office/drawing/2014/main" id="{11D001B1-53E3-39EA-160B-414D7E162B6E}"/>
              </a:ext>
            </a:extLst>
          </p:cNvPr>
          <p:cNvSpPr/>
          <p:nvPr/>
        </p:nvSpPr>
        <p:spPr>
          <a:xfrm rot="16200000">
            <a:off x="6431951" y="2729545"/>
            <a:ext cx="1334356" cy="524005"/>
          </a:xfrm>
          <a:prstGeom prst="arc">
            <a:avLst>
              <a:gd name="adj1" fmla="val 11115140"/>
              <a:gd name="adj2" fmla="val 8333325"/>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52013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3" nodeType="clickEffect">
                                  <p:stCondLst>
                                    <p:cond delay="0"/>
                                  </p:stCondLst>
                                  <p:childTnLst>
                                    <p:animClr clrSpc="rgb" dir="cw">
                                      <p:cBhvr override="childStyle">
                                        <p:cTn id="6" dur="500" fill="hold"/>
                                        <p:tgtEl>
                                          <p:spTgt spid="15"/>
                                        </p:tgtEl>
                                        <p:attrNameLst>
                                          <p:attrName>style.color</p:attrName>
                                        </p:attrNameLst>
                                      </p:cBhvr>
                                      <p:to>
                                        <a:srgbClr val="FFFF00"/>
                                      </p:to>
                                    </p:animClr>
                                    <p:animClr clrSpc="rgb" dir="cw">
                                      <p:cBhvr>
                                        <p:cTn id="7" dur="500" fill="hold"/>
                                        <p:tgtEl>
                                          <p:spTgt spid="15"/>
                                        </p:tgtEl>
                                        <p:attrNameLst>
                                          <p:attrName>fillcolor</p:attrName>
                                        </p:attrNameLst>
                                      </p:cBhvr>
                                      <p:to>
                                        <a:srgbClr val="FFFF00"/>
                                      </p:to>
                                    </p:animClr>
                                    <p:set>
                                      <p:cBhvr>
                                        <p:cTn id="8" dur="500" fill="hold"/>
                                        <p:tgtEl>
                                          <p:spTgt spid="15"/>
                                        </p:tgtEl>
                                        <p:attrNameLst>
                                          <p:attrName>fill.type</p:attrName>
                                        </p:attrNameLst>
                                      </p:cBhvr>
                                      <p:to>
                                        <p:strVal val="solid"/>
                                      </p:to>
                                    </p:set>
                                    <p:set>
                                      <p:cBhvr>
                                        <p:cTn id="9" dur="500" fill="hold"/>
                                        <p:tgtEl>
                                          <p:spTgt spid="15"/>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7" presetClass="emph" presetSubtype="2" fill="hold" nodeType="clickEffect">
                                  <p:stCondLst>
                                    <p:cond delay="0"/>
                                  </p:stCondLst>
                                  <p:childTnLst>
                                    <p:animClr clrSpc="rgb" dir="cw">
                                      <p:cBhvr>
                                        <p:cTn id="13" dur="2000" fill="hold"/>
                                        <p:tgtEl>
                                          <p:spTgt spid="13"/>
                                        </p:tgtEl>
                                        <p:attrNameLst>
                                          <p:attrName>stroke.color</p:attrName>
                                        </p:attrNameLst>
                                      </p:cBhvr>
                                      <p:to>
                                        <a:schemeClr val="accent2"/>
                                      </p:to>
                                    </p:animClr>
                                    <p:set>
                                      <p:cBhvr>
                                        <p:cTn id="14" dur="2000" fill="hold"/>
                                        <p:tgtEl>
                                          <p:spTgt spid="13"/>
                                        </p:tgtEl>
                                        <p:attrNameLst>
                                          <p:attrName>stroke.on</p:attrName>
                                        </p:attrNameLst>
                                      </p:cBhvr>
                                      <p:to>
                                        <p:strVal val="true"/>
                                      </p:to>
                                    </p:set>
                                  </p:childTnLst>
                                </p:cTn>
                              </p:par>
                              <p:par>
                                <p:cTn id="15" presetID="7" presetClass="emph" presetSubtype="2" fill="hold" nodeType="withEffect">
                                  <p:stCondLst>
                                    <p:cond delay="0"/>
                                  </p:stCondLst>
                                  <p:childTnLst>
                                    <p:animClr clrSpc="rgb" dir="cw">
                                      <p:cBhvr>
                                        <p:cTn id="16" dur="2000" fill="hold"/>
                                        <p:tgtEl>
                                          <p:spTgt spid="14"/>
                                        </p:tgtEl>
                                        <p:attrNameLst>
                                          <p:attrName>stroke.color</p:attrName>
                                        </p:attrNameLst>
                                      </p:cBhvr>
                                      <p:to>
                                        <a:schemeClr val="accent2"/>
                                      </p:to>
                                    </p:animClr>
                                    <p:set>
                                      <p:cBhvr>
                                        <p:cTn id="17" dur="2000" fill="hold"/>
                                        <p:tgtEl>
                                          <p:spTgt spid="14"/>
                                        </p:tgtEl>
                                        <p:attrNameLst>
                                          <p:attrName>stroke.on</p:attrName>
                                        </p:attrNameLst>
                                      </p:cBhvr>
                                      <p:to>
                                        <p:strVal val="true"/>
                                      </p:to>
                                    </p:set>
                                  </p:childTnLst>
                                </p:cTn>
                              </p:par>
                              <p:par>
                                <p:cTn id="18" presetID="7" presetClass="emph" presetSubtype="2" fill="hold" nodeType="withEffect">
                                  <p:stCondLst>
                                    <p:cond delay="0"/>
                                  </p:stCondLst>
                                  <p:childTnLst>
                                    <p:animClr clrSpc="rgb" dir="cw">
                                      <p:cBhvr>
                                        <p:cTn id="19" dur="2000" fill="hold"/>
                                        <p:tgtEl>
                                          <p:spTgt spid="28"/>
                                        </p:tgtEl>
                                        <p:attrNameLst>
                                          <p:attrName>stroke.color</p:attrName>
                                        </p:attrNameLst>
                                      </p:cBhvr>
                                      <p:to>
                                        <a:schemeClr val="accent2"/>
                                      </p:to>
                                    </p:animClr>
                                    <p:set>
                                      <p:cBhvr>
                                        <p:cTn id="20" dur="2000" fill="hold"/>
                                        <p:tgtEl>
                                          <p:spTgt spid="28"/>
                                        </p:tgtEl>
                                        <p:attrNameLst>
                                          <p:attrName>stroke.on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wipe(down)">
                                      <p:cBhvr>
                                        <p:cTn id="25" dur="500"/>
                                        <p:tgtEl>
                                          <p:spTgt spid="31"/>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3" animBg="1"/>
      <p:bldP spid="31"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3CE6D-F64F-936D-37EA-9EA84F733E9E}"/>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A071901-77BC-3A39-2DF9-BFCD4816C390}"/>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a:t>
            </a:r>
            <a:endParaRPr lang="en-US" dirty="0"/>
          </a:p>
        </p:txBody>
      </p:sp>
      <mc:AlternateContent xmlns:mc="http://schemas.openxmlformats.org/markup-compatibility/2006" xmlns:a14="http://schemas.microsoft.com/office/drawing/2010/main">
        <mc:Choice Requires="a14">
          <p:sp>
            <p:nvSpPr>
              <p:cNvPr id="30" name="Content Placeholder 29">
                <a:extLst>
                  <a:ext uri="{FF2B5EF4-FFF2-40B4-BE49-F238E27FC236}">
                    <a16:creationId xmlns:a16="http://schemas.microsoft.com/office/drawing/2014/main" id="{A9A1138F-017E-13D8-A30F-F917E5762BD0}"/>
                  </a:ext>
                </a:extLst>
              </p:cNvPr>
              <p:cNvSpPr>
                <a:spLocks noGrp="1"/>
              </p:cNvSpPr>
              <p:nvPr>
                <p:ph idx="1"/>
              </p:nvPr>
            </p:nvSpPr>
            <p:spPr/>
            <p:txBody>
              <a:bodyPr/>
              <a:lstStyle/>
              <a:p>
                <a:pPr marL="0" indent="0">
                  <a:buNone/>
                </a:pPr>
                <a:r>
                  <a:rPr lang="en-US" dirty="0">
                    <a:solidFill>
                      <a:srgbClr val="FF0000"/>
                    </a:solidFill>
                  </a:rPr>
                  <a:t>? Prove that in a tree every vertex of degree greater than one is a </a:t>
                </a:r>
                <a:r>
                  <a:rPr lang="en-US" dirty="0" err="1">
                    <a:solidFill>
                      <a:srgbClr val="FF0000"/>
                    </a:solidFill>
                  </a:rPr>
                  <a:t>cutvertex</a:t>
                </a:r>
                <a:r>
                  <a:rPr lang="en-US" dirty="0">
                    <a:solidFill>
                      <a:srgbClr val="FF0000"/>
                    </a:solidFill>
                  </a:rPr>
                  <a:t>.</a:t>
                </a:r>
              </a:p>
              <a:p>
                <a:r>
                  <a:rPr lang="en-IN" dirty="0"/>
                  <a:t>Let T be a tree, and let v be a vertex in T with a degree</a:t>
                </a:r>
                <a14:m>
                  <m:oMath xmlns:m="http://schemas.openxmlformats.org/officeDocument/2006/math">
                    <m:r>
                      <a:rPr lang="en-IN" i="0" dirty="0" smtClean="0">
                        <a:latin typeface="Cambria Math" panose="02040503050406030204" pitchFamily="18" charset="0"/>
                      </a:rPr>
                      <m:t> </m:t>
                    </m:r>
                    <m:r>
                      <m:rPr>
                        <m:sty m:val="p"/>
                      </m:rPr>
                      <a:rPr lang="en-IN" i="0" dirty="0" smtClean="0">
                        <a:latin typeface="Cambria Math" panose="02040503050406030204" pitchFamily="18" charset="0"/>
                      </a:rPr>
                      <m:t>d</m:t>
                    </m:r>
                    <m:r>
                      <a:rPr lang="en-IN" i="0" dirty="0">
                        <a:latin typeface="Cambria Math" panose="02040503050406030204" pitchFamily="18" charset="0"/>
                      </a:rPr>
                      <m:t>(</m:t>
                    </m:r>
                    <m:r>
                      <m:rPr>
                        <m:sty m:val="p"/>
                      </m:rPr>
                      <a:rPr lang="en-IN" i="0" dirty="0">
                        <a:latin typeface="Cambria Math" panose="02040503050406030204" pitchFamily="18" charset="0"/>
                      </a:rPr>
                      <m:t>v</m:t>
                    </m:r>
                    <m:r>
                      <a:rPr lang="en-IN" i="0" dirty="0">
                        <a:latin typeface="Cambria Math" panose="02040503050406030204" pitchFamily="18" charset="0"/>
                      </a:rPr>
                      <m:t>) &gt; 1</m:t>
                    </m:r>
                  </m:oMath>
                </a14:m>
                <a:r>
                  <a:rPr lang="en-IN" dirty="0"/>
                  <a:t>.</a:t>
                </a:r>
              </a:p>
              <a:p>
                <a:r>
                  <a:rPr lang="en-IN" dirty="0"/>
                  <a:t>Because </a:t>
                </a:r>
                <a14:m>
                  <m:oMath xmlns:m="http://schemas.openxmlformats.org/officeDocument/2006/math">
                    <m:r>
                      <a:rPr lang="en-IN" dirty="0">
                        <a:latin typeface="Cambria Math" panose="02040503050406030204" pitchFamily="18" charset="0"/>
                      </a:rPr>
                      <m:t> </m:t>
                    </m:r>
                    <m:r>
                      <m:rPr>
                        <m:sty m:val="p"/>
                      </m:rPr>
                      <a:rPr lang="en-IN" dirty="0">
                        <a:latin typeface="Cambria Math" panose="02040503050406030204" pitchFamily="18" charset="0"/>
                      </a:rPr>
                      <m:t>d</m:t>
                    </m:r>
                    <m:d>
                      <m:dPr>
                        <m:ctrlPr>
                          <a:rPr lang="en-IN" i="1" dirty="0">
                            <a:latin typeface="Cambria Math" panose="02040503050406030204" pitchFamily="18" charset="0"/>
                          </a:rPr>
                        </m:ctrlPr>
                      </m:dPr>
                      <m:e>
                        <m:r>
                          <m:rPr>
                            <m:sty m:val="p"/>
                          </m:rPr>
                          <a:rPr lang="en-IN" dirty="0">
                            <a:latin typeface="Cambria Math" panose="02040503050406030204" pitchFamily="18" charset="0"/>
                          </a:rPr>
                          <m:t>v</m:t>
                        </m:r>
                      </m:e>
                    </m:d>
                    <m:r>
                      <a:rPr lang="en-IN" dirty="0">
                        <a:latin typeface="Cambria Math" panose="02040503050406030204" pitchFamily="18" charset="0"/>
                      </a:rPr>
                      <m:t>&gt; 1</m:t>
                    </m:r>
                    <m:r>
                      <a:rPr lang="en-IN" b="0" i="0" dirty="0" smtClean="0">
                        <a:latin typeface="Cambria Math" panose="02040503050406030204" pitchFamily="18" charset="0"/>
                      </a:rPr>
                      <m:t>,</m:t>
                    </m:r>
                  </m:oMath>
                </a14:m>
                <a:r>
                  <a:rPr lang="en-IN" dirty="0"/>
                  <a:t> there are at least two distinct vertices adjacent to v. Let's call two of them u and w.</a:t>
                </a:r>
              </a:p>
              <a:p>
                <a:r>
                  <a:rPr lang="en-IN" dirty="0"/>
                  <a:t>By the definition of a tree, there is exactly one unique path between any two vertices. Thus, the unique path between u and w must be the path u ------ v ------ w.</a:t>
                </a:r>
              </a:p>
              <a:p>
                <a:r>
                  <a:rPr lang="en-IN" dirty="0"/>
                  <a:t>If we remove vertex v from T, this unique path is destroyed. </a:t>
                </a:r>
              </a:p>
              <a:p>
                <a:r>
                  <a:rPr lang="en-IN" dirty="0"/>
                  <a:t>Therefore, in </a:t>
                </a:r>
                <a14:m>
                  <m:oMath xmlns:m="http://schemas.openxmlformats.org/officeDocument/2006/math">
                    <m:r>
                      <m:rPr>
                        <m:sty m:val="p"/>
                      </m:rPr>
                      <a:rPr lang="en-IN" i="0" dirty="0" smtClean="0">
                        <a:latin typeface="Cambria Math" panose="02040503050406030204" pitchFamily="18" charset="0"/>
                      </a:rPr>
                      <m:t>T</m:t>
                    </m:r>
                    <m:r>
                      <a:rPr lang="en-IN" i="0" dirty="0" smtClean="0">
                        <a:latin typeface="Cambria Math" panose="02040503050406030204" pitchFamily="18" charset="0"/>
                      </a:rPr>
                      <m:t>−</m:t>
                    </m:r>
                    <m:r>
                      <m:rPr>
                        <m:sty m:val="p"/>
                      </m:rPr>
                      <a:rPr lang="en-IN" i="0" dirty="0" smtClean="0">
                        <a:latin typeface="Cambria Math" panose="02040503050406030204" pitchFamily="18" charset="0"/>
                      </a:rPr>
                      <m:t>v</m:t>
                    </m:r>
                  </m:oMath>
                </a14:m>
                <a:r>
                  <a:rPr lang="en-IN" dirty="0"/>
                  <a:t>, vertices u and w are disconnected, which means removing v increases the number of connected components in the graph.</a:t>
                </a:r>
              </a:p>
              <a:p>
                <a:r>
                  <a:rPr lang="en-IN" dirty="0"/>
                  <a:t>By definition, any vertex whose removal disconnects the graph is a cut-vertex. Hence, v is a cut-vertex.</a:t>
                </a:r>
              </a:p>
              <a:p>
                <a:endParaRPr lang="en-IN" dirty="0"/>
              </a:p>
            </p:txBody>
          </p:sp>
        </mc:Choice>
        <mc:Fallback xmlns="">
          <p:sp>
            <p:nvSpPr>
              <p:cNvPr id="30" name="Content Placeholder 29">
                <a:extLst>
                  <a:ext uri="{FF2B5EF4-FFF2-40B4-BE49-F238E27FC236}">
                    <a16:creationId xmlns:a16="http://schemas.microsoft.com/office/drawing/2014/main" id="{A9A1138F-017E-13D8-A30F-F917E5762BD0}"/>
                  </a:ext>
                </a:extLst>
              </p:cNvPr>
              <p:cNvSpPr>
                <a:spLocks noGrp="1" noRot="1" noChangeAspect="1" noMove="1" noResize="1" noEditPoints="1" noAdjustHandles="1" noChangeArrowheads="1" noChangeShapeType="1" noTextEdit="1"/>
              </p:cNvSpPr>
              <p:nvPr>
                <p:ph idx="1"/>
              </p:nvPr>
            </p:nvSpPr>
            <p:spPr>
              <a:blipFill>
                <a:blip r:embed="rId2"/>
                <a:stretch>
                  <a:fillRect l="-1074"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3463362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5EAB-62A1-0284-CF1F-ACD8852F16D7}"/>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5633C1C-8AA6-7A51-2434-BD299F5003ED}"/>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a:t>
            </a:r>
            <a:endParaRPr lang="en-US" dirty="0"/>
          </a:p>
        </p:txBody>
      </p:sp>
      <p:sp>
        <p:nvSpPr>
          <p:cNvPr id="30" name="Content Placeholder 29">
            <a:extLst>
              <a:ext uri="{FF2B5EF4-FFF2-40B4-BE49-F238E27FC236}">
                <a16:creationId xmlns:a16="http://schemas.microsoft.com/office/drawing/2014/main" id="{5C3CF11D-DBD9-4300-D9B1-721DA031F534}"/>
              </a:ext>
            </a:extLst>
          </p:cNvPr>
          <p:cNvSpPr>
            <a:spLocks noGrp="1"/>
          </p:cNvSpPr>
          <p:nvPr>
            <p:ph idx="1"/>
          </p:nvPr>
        </p:nvSpPr>
        <p:spPr/>
        <p:txBody>
          <a:bodyPr/>
          <a:lstStyle/>
          <a:p>
            <a:pPr marL="0" indent="0">
              <a:buNone/>
            </a:pPr>
            <a:r>
              <a:rPr lang="en-US" dirty="0">
                <a:solidFill>
                  <a:srgbClr val="FF0000"/>
                </a:solidFill>
              </a:rPr>
              <a:t>? Prove that in a tree every vertex of degree greater than one is a cut vertex.</a:t>
            </a:r>
          </a:p>
          <a:p>
            <a:r>
              <a:rPr lang="en-IN" dirty="0"/>
              <a:t>Another Proof :</a:t>
            </a:r>
          </a:p>
          <a:p>
            <a:pPr lvl="1"/>
            <a:r>
              <a:rPr lang="en-IN" dirty="0"/>
              <a:t>Every edges of tree is bridge and we know that end vertices of bridge is cut vertex if its degree greater then 1. </a:t>
            </a:r>
          </a:p>
          <a:p>
            <a:pPr lvl="1"/>
            <a:r>
              <a:rPr lang="en-IN" dirty="0"/>
              <a:t>So, every non pendent vertices are cut vertex.</a:t>
            </a:r>
          </a:p>
          <a:p>
            <a:pPr marL="457200" lvl="1" indent="0">
              <a:buNone/>
            </a:pPr>
            <a:endParaRPr lang="en-IN" dirty="0"/>
          </a:p>
        </p:txBody>
      </p:sp>
    </p:spTree>
    <p:extLst>
      <p:ext uri="{BB962C8B-B14F-4D97-AF65-F5344CB8AC3E}">
        <p14:creationId xmlns:p14="http://schemas.microsoft.com/office/powerpoint/2010/main" val="37875048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828EF-C064-6AC5-3314-B64862C5BF71}"/>
            </a:ext>
          </a:extLst>
        </p:cNvPr>
        <p:cNvGrpSpPr/>
        <p:nvPr/>
      </p:nvGrpSpPr>
      <p:grpSpPr>
        <a:xfrm>
          <a:off x="0" y="0"/>
          <a:ext cx="0" cy="0"/>
          <a:chOff x="0" y="0"/>
          <a:chExt cx="0" cy="0"/>
        </a:xfrm>
      </p:grpSpPr>
      <p:sp>
        <p:nvSpPr>
          <p:cNvPr id="98" name="Arc 97">
            <a:extLst>
              <a:ext uri="{FF2B5EF4-FFF2-40B4-BE49-F238E27FC236}">
                <a16:creationId xmlns:a16="http://schemas.microsoft.com/office/drawing/2014/main" id="{20689CA2-EC60-D72C-B822-1F471C5AD742}"/>
              </a:ext>
            </a:extLst>
          </p:cNvPr>
          <p:cNvSpPr/>
          <p:nvPr/>
        </p:nvSpPr>
        <p:spPr>
          <a:xfrm rot="16761769">
            <a:off x="4391059" y="1924732"/>
            <a:ext cx="2856953" cy="3467265"/>
          </a:xfrm>
          <a:prstGeom prst="arc">
            <a:avLst>
              <a:gd name="adj1" fmla="val 14901165"/>
              <a:gd name="adj2" fmla="val 21547824"/>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7" name="Arc 96">
            <a:extLst>
              <a:ext uri="{FF2B5EF4-FFF2-40B4-BE49-F238E27FC236}">
                <a16:creationId xmlns:a16="http://schemas.microsoft.com/office/drawing/2014/main" id="{8080F2EC-C2D7-4F7D-3F77-1B12239B4DAC}"/>
              </a:ext>
            </a:extLst>
          </p:cNvPr>
          <p:cNvSpPr/>
          <p:nvPr/>
        </p:nvSpPr>
        <p:spPr>
          <a:xfrm>
            <a:off x="4943871" y="2204057"/>
            <a:ext cx="2998647" cy="3237591"/>
          </a:xfrm>
          <a:prstGeom prst="arc">
            <a:avLst>
              <a:gd name="adj1" fmla="val 15504973"/>
              <a:gd name="adj2" fmla="val 376883"/>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6" name="Arc 95">
            <a:extLst>
              <a:ext uri="{FF2B5EF4-FFF2-40B4-BE49-F238E27FC236}">
                <a16:creationId xmlns:a16="http://schemas.microsoft.com/office/drawing/2014/main" id="{FFEB289E-DCC4-4B83-7203-B31E06E923CD}"/>
              </a:ext>
            </a:extLst>
          </p:cNvPr>
          <p:cNvSpPr/>
          <p:nvPr/>
        </p:nvSpPr>
        <p:spPr>
          <a:xfrm rot="10099170">
            <a:off x="4123960" y="3002789"/>
            <a:ext cx="2911036" cy="3021783"/>
          </a:xfrm>
          <a:prstGeom prst="arc">
            <a:avLst>
              <a:gd name="adj1" fmla="val 15875898"/>
              <a:gd name="adj2" fmla="val 1542668"/>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Arc 94">
            <a:extLst>
              <a:ext uri="{FF2B5EF4-FFF2-40B4-BE49-F238E27FC236}">
                <a16:creationId xmlns:a16="http://schemas.microsoft.com/office/drawing/2014/main" id="{BDB9633A-1B94-9BD2-C792-F86230A7B138}"/>
              </a:ext>
            </a:extLst>
          </p:cNvPr>
          <p:cNvSpPr/>
          <p:nvPr/>
        </p:nvSpPr>
        <p:spPr>
          <a:xfrm rot="4852042">
            <a:off x="5086303" y="3082272"/>
            <a:ext cx="2888461" cy="2967365"/>
          </a:xfrm>
          <a:prstGeom prst="arc">
            <a:avLst>
              <a:gd name="adj1" fmla="val 15504973"/>
              <a:gd name="adj2" fmla="val 1476948"/>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 name="Straight Connector 6">
            <a:extLst>
              <a:ext uri="{FF2B5EF4-FFF2-40B4-BE49-F238E27FC236}">
                <a16:creationId xmlns:a16="http://schemas.microsoft.com/office/drawing/2014/main" id="{CFC85235-CE76-E9F1-D775-37A2B39C39AD}"/>
              </a:ext>
            </a:extLst>
          </p:cNvPr>
          <p:cNvCxnSpPr>
            <a:cxnSpLocks/>
            <a:stCxn id="6" idx="0"/>
            <a:endCxn id="8" idx="4"/>
          </p:cNvCxnSpPr>
          <p:nvPr/>
        </p:nvCxnSpPr>
        <p:spPr>
          <a:xfrm flipV="1">
            <a:off x="5206981" y="3141050"/>
            <a:ext cx="1728208" cy="2108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3" name="Straight Connector 12">
            <a:extLst>
              <a:ext uri="{FF2B5EF4-FFF2-40B4-BE49-F238E27FC236}">
                <a16:creationId xmlns:a16="http://schemas.microsoft.com/office/drawing/2014/main" id="{73E315B4-636A-DDB7-3C06-57E57755311E}"/>
              </a:ext>
            </a:extLst>
          </p:cNvPr>
          <p:cNvCxnSpPr>
            <a:cxnSpLocks/>
            <a:stCxn id="12" idx="0"/>
            <a:endCxn id="14" idx="4"/>
          </p:cNvCxnSpPr>
          <p:nvPr/>
        </p:nvCxnSpPr>
        <p:spPr>
          <a:xfrm>
            <a:off x="5199267" y="4994731"/>
            <a:ext cx="1735922" cy="1853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Connector 14">
            <a:extLst>
              <a:ext uri="{FF2B5EF4-FFF2-40B4-BE49-F238E27FC236}">
                <a16:creationId xmlns:a16="http://schemas.microsoft.com/office/drawing/2014/main" id="{EBB9CCCF-49EE-2F8D-84D4-96F56A72E77E}"/>
              </a:ext>
            </a:extLst>
          </p:cNvPr>
          <p:cNvCxnSpPr>
            <a:cxnSpLocks/>
            <a:stCxn id="6" idx="6"/>
            <a:endCxn id="12" idx="2"/>
          </p:cNvCxnSpPr>
          <p:nvPr/>
        </p:nvCxnSpPr>
        <p:spPr>
          <a:xfrm flipH="1">
            <a:off x="5127267" y="3234138"/>
            <a:ext cx="7714" cy="168859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2A0E5E45-F4CA-3390-6666-1B18E54351F0}"/>
              </a:ext>
            </a:extLst>
          </p:cNvPr>
          <p:cNvCxnSpPr>
            <a:cxnSpLocks/>
            <a:stCxn id="8" idx="6"/>
            <a:endCxn id="14" idx="2"/>
          </p:cNvCxnSpPr>
          <p:nvPr/>
        </p:nvCxnSpPr>
        <p:spPr>
          <a:xfrm>
            <a:off x="7007189" y="3213050"/>
            <a:ext cx="0" cy="172821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05FC01E9-2D00-1BC7-637F-C2EDD894DC78}"/>
              </a:ext>
            </a:extLst>
          </p:cNvPr>
          <p:cNvCxnSpPr>
            <a:cxnSpLocks/>
            <a:stCxn id="6" idx="1"/>
            <a:endCxn id="25" idx="5"/>
          </p:cNvCxnSpPr>
          <p:nvPr/>
        </p:nvCxnSpPr>
        <p:spPr>
          <a:xfrm flipV="1">
            <a:off x="5185893" y="2275666"/>
            <a:ext cx="851117" cy="83556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8" name="Straight Connector 27">
            <a:extLst>
              <a:ext uri="{FF2B5EF4-FFF2-40B4-BE49-F238E27FC236}">
                <a16:creationId xmlns:a16="http://schemas.microsoft.com/office/drawing/2014/main" id="{8B5426FA-A4D2-9155-D848-47ACF8066C4A}"/>
              </a:ext>
            </a:extLst>
          </p:cNvPr>
          <p:cNvCxnSpPr>
            <a:cxnSpLocks/>
            <a:stCxn id="8" idx="3"/>
            <a:endCxn id="25" idx="7"/>
          </p:cNvCxnSpPr>
          <p:nvPr/>
        </p:nvCxnSpPr>
        <p:spPr>
          <a:xfrm flipH="1" flipV="1">
            <a:off x="6138834" y="2275666"/>
            <a:ext cx="817443" cy="8144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87F137EE-37E4-6D2B-8972-3960E779DE19}"/>
              </a:ext>
            </a:extLst>
          </p:cNvPr>
          <p:cNvCxnSpPr>
            <a:cxnSpLocks/>
            <a:stCxn id="12" idx="7"/>
            <a:endCxn id="34" idx="3"/>
          </p:cNvCxnSpPr>
          <p:nvPr/>
        </p:nvCxnSpPr>
        <p:spPr>
          <a:xfrm>
            <a:off x="5178179" y="5045643"/>
            <a:ext cx="858831" cy="83059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036778C4-2E48-5CEC-CC66-46C0CE9CFA4A}"/>
              </a:ext>
            </a:extLst>
          </p:cNvPr>
          <p:cNvCxnSpPr>
            <a:cxnSpLocks/>
            <a:stCxn id="14" idx="5"/>
            <a:endCxn id="34" idx="1"/>
          </p:cNvCxnSpPr>
          <p:nvPr/>
        </p:nvCxnSpPr>
        <p:spPr>
          <a:xfrm flipH="1">
            <a:off x="6138834" y="5064178"/>
            <a:ext cx="817443" cy="81205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Straight Connector 46">
            <a:extLst>
              <a:ext uri="{FF2B5EF4-FFF2-40B4-BE49-F238E27FC236}">
                <a16:creationId xmlns:a16="http://schemas.microsoft.com/office/drawing/2014/main" id="{F7430920-335E-CFED-5E5F-08987BAC9932}"/>
              </a:ext>
            </a:extLst>
          </p:cNvPr>
          <p:cNvCxnSpPr>
            <a:cxnSpLocks/>
            <a:stCxn id="14" idx="1"/>
            <a:endCxn id="46" idx="5"/>
          </p:cNvCxnSpPr>
          <p:nvPr/>
        </p:nvCxnSpPr>
        <p:spPr>
          <a:xfrm flipV="1">
            <a:off x="7058101" y="4113625"/>
            <a:ext cx="837401" cy="84872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00463FBB-C1CC-725B-B909-407F7AB2B5C5}"/>
              </a:ext>
            </a:extLst>
          </p:cNvPr>
          <p:cNvCxnSpPr>
            <a:cxnSpLocks/>
            <a:stCxn id="6" idx="5"/>
            <a:endCxn id="84" idx="1"/>
          </p:cNvCxnSpPr>
          <p:nvPr/>
        </p:nvCxnSpPr>
        <p:spPr>
          <a:xfrm flipH="1">
            <a:off x="4227674" y="3213050"/>
            <a:ext cx="856395" cy="80902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5" name="Straight Connector 84">
            <a:extLst>
              <a:ext uri="{FF2B5EF4-FFF2-40B4-BE49-F238E27FC236}">
                <a16:creationId xmlns:a16="http://schemas.microsoft.com/office/drawing/2014/main" id="{1D903972-9D5F-324B-618D-70D7276BA51E}"/>
              </a:ext>
            </a:extLst>
          </p:cNvPr>
          <p:cNvCxnSpPr>
            <a:cxnSpLocks/>
            <a:stCxn id="12" idx="3"/>
            <a:endCxn id="84" idx="7"/>
          </p:cNvCxnSpPr>
          <p:nvPr/>
        </p:nvCxnSpPr>
        <p:spPr>
          <a:xfrm flipH="1" flipV="1">
            <a:off x="4227674" y="4123894"/>
            <a:ext cx="848681" cy="81992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11312763-0B83-09C1-F7C2-B7551E1310BD}"/>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a:t>
            </a:r>
            <a:endParaRPr lang="en-US" dirty="0"/>
          </a:p>
        </p:txBody>
      </p:sp>
      <p:sp>
        <p:nvSpPr>
          <p:cNvPr id="3" name="Content Placeholder 2">
            <a:extLst>
              <a:ext uri="{FF2B5EF4-FFF2-40B4-BE49-F238E27FC236}">
                <a16:creationId xmlns:a16="http://schemas.microsoft.com/office/drawing/2014/main" id="{D291C7D9-878B-C1C4-119D-2951FD94F471}"/>
              </a:ext>
            </a:extLst>
          </p:cNvPr>
          <p:cNvSpPr>
            <a:spLocks noGrp="1"/>
          </p:cNvSpPr>
          <p:nvPr>
            <p:ph idx="1"/>
          </p:nvPr>
        </p:nvSpPr>
        <p:spPr>
          <a:xfrm>
            <a:off x="131763" y="863600"/>
            <a:ext cx="11928475" cy="932243"/>
          </a:xfrm>
        </p:spPr>
        <p:txBody>
          <a:bodyPr/>
          <a:lstStyle/>
          <a:p>
            <a:r>
              <a:rPr lang="en-IN" dirty="0">
                <a:solidFill>
                  <a:srgbClr val="FF0000"/>
                </a:solidFill>
              </a:rPr>
              <a:t>? </a:t>
            </a:r>
            <a:r>
              <a:rPr lang="en-US" dirty="0">
                <a:solidFill>
                  <a:srgbClr val="FF0000"/>
                </a:solidFill>
              </a:rPr>
              <a:t>Construct a graph G with the following properties: Edge connectivity of G = 4, vertex connectivity of G = 4, and degree of every vertex of G ≥ 4.</a:t>
            </a:r>
            <a:endParaRPr lang="en-IN" dirty="0">
              <a:solidFill>
                <a:srgbClr val="FF0000"/>
              </a:solidFill>
            </a:endParaRPr>
          </a:p>
          <a:p>
            <a:endParaRPr lang="en-IN" dirty="0"/>
          </a:p>
        </p:txBody>
      </p:sp>
      <p:sp>
        <p:nvSpPr>
          <p:cNvPr id="6" name="Oval 5">
            <a:extLst>
              <a:ext uri="{FF2B5EF4-FFF2-40B4-BE49-F238E27FC236}">
                <a16:creationId xmlns:a16="http://schemas.microsoft.com/office/drawing/2014/main" id="{542871A3-B58F-2DF0-D2D2-3F5328F07CB6}"/>
              </a:ext>
            </a:extLst>
          </p:cNvPr>
          <p:cNvSpPr/>
          <p:nvPr/>
        </p:nvSpPr>
        <p:spPr>
          <a:xfrm rot="5400000">
            <a:off x="5062981" y="309013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188076B2-0296-E4EA-522E-6127EA75214C}"/>
              </a:ext>
            </a:extLst>
          </p:cNvPr>
          <p:cNvSpPr/>
          <p:nvPr/>
        </p:nvSpPr>
        <p:spPr>
          <a:xfrm rot="5400000">
            <a:off x="6935189" y="306905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Oval 11">
            <a:extLst>
              <a:ext uri="{FF2B5EF4-FFF2-40B4-BE49-F238E27FC236}">
                <a16:creationId xmlns:a16="http://schemas.microsoft.com/office/drawing/2014/main" id="{3471EFC1-FCB1-A1CA-A276-0B9593F9D0B7}"/>
              </a:ext>
            </a:extLst>
          </p:cNvPr>
          <p:cNvSpPr/>
          <p:nvPr/>
        </p:nvSpPr>
        <p:spPr>
          <a:xfrm rot="5400000">
            <a:off x="5055267" y="4922731"/>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16C6AFEE-D6A4-F783-96D1-DC9C4B3AF8D2}"/>
              </a:ext>
            </a:extLst>
          </p:cNvPr>
          <p:cNvSpPr/>
          <p:nvPr/>
        </p:nvSpPr>
        <p:spPr>
          <a:xfrm rot="5400000">
            <a:off x="6935189" y="494126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5" name="Oval 24">
            <a:extLst>
              <a:ext uri="{FF2B5EF4-FFF2-40B4-BE49-F238E27FC236}">
                <a16:creationId xmlns:a16="http://schemas.microsoft.com/office/drawing/2014/main" id="{077D2275-5074-9CC4-74A8-31CBEFC8BE3A}"/>
              </a:ext>
            </a:extLst>
          </p:cNvPr>
          <p:cNvSpPr/>
          <p:nvPr/>
        </p:nvSpPr>
        <p:spPr>
          <a:xfrm rot="5400000">
            <a:off x="6015922" y="21527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34" name="Oval 33">
            <a:extLst>
              <a:ext uri="{FF2B5EF4-FFF2-40B4-BE49-F238E27FC236}">
                <a16:creationId xmlns:a16="http://schemas.microsoft.com/office/drawing/2014/main" id="{0C61238D-A096-B136-F7F2-FAAE3A1F010F}"/>
              </a:ext>
            </a:extLst>
          </p:cNvPr>
          <p:cNvSpPr/>
          <p:nvPr/>
        </p:nvSpPr>
        <p:spPr>
          <a:xfrm rot="5400000">
            <a:off x="6015922" y="585514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5" name="Straight Connector 44">
            <a:extLst>
              <a:ext uri="{FF2B5EF4-FFF2-40B4-BE49-F238E27FC236}">
                <a16:creationId xmlns:a16="http://schemas.microsoft.com/office/drawing/2014/main" id="{13EAE559-32A7-061F-F6A6-7FF7E174505A}"/>
              </a:ext>
            </a:extLst>
          </p:cNvPr>
          <p:cNvCxnSpPr>
            <a:cxnSpLocks/>
            <a:stCxn id="8" idx="7"/>
            <a:endCxn id="46" idx="3"/>
          </p:cNvCxnSpPr>
          <p:nvPr/>
        </p:nvCxnSpPr>
        <p:spPr>
          <a:xfrm>
            <a:off x="7058101" y="3191962"/>
            <a:ext cx="837401" cy="81983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6" name="Oval 45">
            <a:extLst>
              <a:ext uri="{FF2B5EF4-FFF2-40B4-BE49-F238E27FC236}">
                <a16:creationId xmlns:a16="http://schemas.microsoft.com/office/drawing/2014/main" id="{895F1BA2-73D3-CAA7-9DC2-2548B17816F5}"/>
              </a:ext>
            </a:extLst>
          </p:cNvPr>
          <p:cNvSpPr/>
          <p:nvPr/>
        </p:nvSpPr>
        <p:spPr>
          <a:xfrm rot="5400000">
            <a:off x="7874414" y="399071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4" name="Oval 83">
            <a:extLst>
              <a:ext uri="{FF2B5EF4-FFF2-40B4-BE49-F238E27FC236}">
                <a16:creationId xmlns:a16="http://schemas.microsoft.com/office/drawing/2014/main" id="{62ECA2ED-D600-B392-0967-BE72D66055BD}"/>
              </a:ext>
            </a:extLst>
          </p:cNvPr>
          <p:cNvSpPr/>
          <p:nvPr/>
        </p:nvSpPr>
        <p:spPr>
          <a:xfrm rot="5400000">
            <a:off x="4104762" y="400098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 name="Arc 1">
            <a:extLst>
              <a:ext uri="{FF2B5EF4-FFF2-40B4-BE49-F238E27FC236}">
                <a16:creationId xmlns:a16="http://schemas.microsoft.com/office/drawing/2014/main" id="{71A17C1F-FFCC-F130-8BFF-95B051F6A995}"/>
              </a:ext>
            </a:extLst>
          </p:cNvPr>
          <p:cNvSpPr/>
          <p:nvPr/>
        </p:nvSpPr>
        <p:spPr>
          <a:xfrm rot="12057950">
            <a:off x="7342721" y="3603809"/>
            <a:ext cx="1334356" cy="1115947"/>
          </a:xfrm>
          <a:prstGeom prst="arc">
            <a:avLst>
              <a:gd name="adj1" fmla="val 11115140"/>
              <a:gd name="adj2" fmla="val 8333325"/>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874675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97"/>
                                        </p:tgtEl>
                                        <p:attrNameLst>
                                          <p:attrName>style.visibility</p:attrName>
                                        </p:attrNameLst>
                                      </p:cBhvr>
                                      <p:to>
                                        <p:strVal val="hidden"/>
                                      </p:to>
                                    </p:set>
                                  </p:childTnLst>
                                </p:cTn>
                              </p:par>
                              <p:par>
                                <p:cTn id="12" presetID="1" presetClass="exit" presetSubtype="0" fill="hold" nodeType="withEffect">
                                  <p:stCondLst>
                                    <p:cond delay="0"/>
                                  </p:stCondLst>
                                  <p:childTnLst>
                                    <p:set>
                                      <p:cBhvr>
                                        <p:cTn id="13" dur="1" fill="hold">
                                          <p:stCondLst>
                                            <p:cond delay="0"/>
                                          </p:stCondLst>
                                        </p:cTn>
                                        <p:tgtEl>
                                          <p:spTgt spid="45"/>
                                        </p:tgtEl>
                                        <p:attrNameLst>
                                          <p:attrName>style.visibility</p:attrName>
                                        </p:attrNameLst>
                                      </p:cBhvr>
                                      <p:to>
                                        <p:strVal val="hidden"/>
                                      </p:to>
                                    </p:set>
                                  </p:childTnLst>
                                </p:cTn>
                              </p:par>
                              <p:par>
                                <p:cTn id="14" presetID="1" presetClass="exit" presetSubtype="0" fill="hold" nodeType="withEffect">
                                  <p:stCondLst>
                                    <p:cond delay="0"/>
                                  </p:stCondLst>
                                  <p:childTnLst>
                                    <p:set>
                                      <p:cBhvr>
                                        <p:cTn id="15" dur="1" fill="hold">
                                          <p:stCondLst>
                                            <p:cond delay="0"/>
                                          </p:stCondLst>
                                        </p:cTn>
                                        <p:tgtEl>
                                          <p:spTgt spid="47"/>
                                        </p:tgtEl>
                                        <p:attrNameLst>
                                          <p:attrName>style.visibility</p:attrName>
                                        </p:attrNameLst>
                                      </p:cBhvr>
                                      <p:to>
                                        <p:strVal val="hidden"/>
                                      </p:to>
                                    </p:set>
                                  </p:childTnLst>
                                </p:cTn>
                              </p:par>
                              <p:par>
                                <p:cTn id="16" presetID="1" presetClass="exit" presetSubtype="0" fill="hold" grpId="0" nodeType="withEffect">
                                  <p:stCondLst>
                                    <p:cond delay="0"/>
                                  </p:stCondLst>
                                  <p:childTnLst>
                                    <p:set>
                                      <p:cBhvr>
                                        <p:cTn id="17" dur="1" fill="hold">
                                          <p:stCondLst>
                                            <p:cond delay="0"/>
                                          </p:stCondLst>
                                        </p:cTn>
                                        <p:tgtEl>
                                          <p:spTgt spid="95"/>
                                        </p:tgtEl>
                                        <p:attrNameLst>
                                          <p:attrName>style.visibility</p:attrName>
                                        </p:attrNameLst>
                                      </p:cBhvr>
                                      <p:to>
                                        <p:strVal val="hidden"/>
                                      </p:to>
                                    </p:set>
                                  </p:childTnLst>
                                </p:cTn>
                              </p:par>
                              <p:par>
                                <p:cTn id="18" presetID="1" presetClass="exit" presetSubtype="0" fill="hold" grpId="1" nodeType="withEffect">
                                  <p:stCondLst>
                                    <p:cond delay="0"/>
                                  </p:stCondLst>
                                  <p:childTnLst>
                                    <p:set>
                                      <p:cBhvr>
                                        <p:cTn id="19" dur="1" fill="hold">
                                          <p:stCondLst>
                                            <p:cond delay="0"/>
                                          </p:stCondLst>
                                        </p:cTn>
                                        <p:tgtEl>
                                          <p:spTgt spid="2"/>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1" nodeType="clickEffect">
                                  <p:stCondLst>
                                    <p:cond delay="0"/>
                                  </p:stCondLst>
                                  <p:childTnLst>
                                    <p:set>
                                      <p:cBhvr>
                                        <p:cTn id="23" dur="1" fill="hold">
                                          <p:stCondLst>
                                            <p:cond delay="0"/>
                                          </p:stCondLst>
                                        </p:cTn>
                                        <p:tgtEl>
                                          <p:spTgt spid="97"/>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45"/>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47"/>
                                        </p:tgtEl>
                                        <p:attrNameLst>
                                          <p:attrName>style.visibility</p:attrName>
                                        </p:attrNameLst>
                                      </p:cBhvr>
                                      <p:to>
                                        <p:strVal val="visible"/>
                                      </p:to>
                                    </p:set>
                                  </p:childTnLst>
                                </p:cTn>
                              </p:par>
                              <p:par>
                                <p:cTn id="28" presetID="1" presetClass="entr" presetSubtype="0" fill="hold" grpId="1" nodeType="withEffect">
                                  <p:stCondLst>
                                    <p:cond delay="0"/>
                                  </p:stCondLst>
                                  <p:childTnLst>
                                    <p:set>
                                      <p:cBhvr>
                                        <p:cTn id="29" dur="1" fill="hold">
                                          <p:stCondLst>
                                            <p:cond delay="0"/>
                                          </p:stCondLst>
                                        </p:cTn>
                                        <p:tgtEl>
                                          <p:spTgt spid="95"/>
                                        </p:tgtEl>
                                        <p:attrNameLst>
                                          <p:attrName>style.visibility</p:attrName>
                                        </p:attrNameLst>
                                      </p:cBhvr>
                                      <p:to>
                                        <p:strVal val="visible"/>
                                      </p:to>
                                    </p:set>
                                  </p:childTnLst>
                                </p:cTn>
                              </p:par>
                              <p:par>
                                <p:cTn id="30" presetID="1" presetClass="entr" presetSubtype="0" fill="hold" grpId="2" nodeType="with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3" nodeType="clickEffect">
                                  <p:stCondLst>
                                    <p:cond delay="0"/>
                                  </p:stCondLst>
                                  <p:childTnLst>
                                    <p:set>
                                      <p:cBhvr>
                                        <p:cTn id="35" dur="1" fill="hold">
                                          <p:stCondLst>
                                            <p:cond delay="0"/>
                                          </p:stCondLst>
                                        </p:cTn>
                                        <p:tgtEl>
                                          <p:spTgt spid="2"/>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9" presetClass="emph" presetSubtype="0" fill="hold" grpId="0" nodeType="clickEffect">
                                  <p:stCondLst>
                                    <p:cond delay="0"/>
                                  </p:stCondLst>
                                  <p:childTnLst>
                                    <p:animClr clrSpc="rgb" dir="cw">
                                      <p:cBhvr override="childStyle">
                                        <p:cTn id="39" dur="500" fill="hold"/>
                                        <p:tgtEl>
                                          <p:spTgt spid="14"/>
                                        </p:tgtEl>
                                        <p:attrNameLst>
                                          <p:attrName>style.color</p:attrName>
                                        </p:attrNameLst>
                                      </p:cBhvr>
                                      <p:to>
                                        <a:schemeClr val="accent2"/>
                                      </p:to>
                                    </p:animClr>
                                    <p:animClr clrSpc="rgb" dir="cw">
                                      <p:cBhvr>
                                        <p:cTn id="40" dur="500" fill="hold"/>
                                        <p:tgtEl>
                                          <p:spTgt spid="14"/>
                                        </p:tgtEl>
                                        <p:attrNameLst>
                                          <p:attrName>fillcolor</p:attrName>
                                        </p:attrNameLst>
                                      </p:cBhvr>
                                      <p:to>
                                        <a:schemeClr val="accent2"/>
                                      </p:to>
                                    </p:animClr>
                                    <p:set>
                                      <p:cBhvr>
                                        <p:cTn id="41" dur="500" fill="hold"/>
                                        <p:tgtEl>
                                          <p:spTgt spid="14"/>
                                        </p:tgtEl>
                                        <p:attrNameLst>
                                          <p:attrName>fill.type</p:attrName>
                                        </p:attrNameLst>
                                      </p:cBhvr>
                                      <p:to>
                                        <p:strVal val="solid"/>
                                      </p:to>
                                    </p:set>
                                    <p:set>
                                      <p:cBhvr>
                                        <p:cTn id="42" dur="500" fill="hold"/>
                                        <p:tgtEl>
                                          <p:spTgt spid="14"/>
                                        </p:tgtEl>
                                        <p:attrNameLst>
                                          <p:attrName>fill.on</p:attrName>
                                        </p:attrNameLst>
                                      </p:cBhvr>
                                      <p:to>
                                        <p:strVal val="true"/>
                                      </p:to>
                                    </p:set>
                                  </p:childTnLst>
                                </p:cTn>
                              </p:par>
                              <p:par>
                                <p:cTn id="43" presetID="19" presetClass="emph" presetSubtype="0" fill="hold" grpId="0" nodeType="withEffect">
                                  <p:stCondLst>
                                    <p:cond delay="0"/>
                                  </p:stCondLst>
                                  <p:childTnLst>
                                    <p:animClr clrSpc="rgb" dir="cw">
                                      <p:cBhvr override="childStyle">
                                        <p:cTn id="44" dur="500" fill="hold"/>
                                        <p:tgtEl>
                                          <p:spTgt spid="34"/>
                                        </p:tgtEl>
                                        <p:attrNameLst>
                                          <p:attrName>style.color</p:attrName>
                                        </p:attrNameLst>
                                      </p:cBhvr>
                                      <p:to>
                                        <a:schemeClr val="accent2"/>
                                      </p:to>
                                    </p:animClr>
                                    <p:animClr clrSpc="rgb" dir="cw">
                                      <p:cBhvr>
                                        <p:cTn id="45" dur="500" fill="hold"/>
                                        <p:tgtEl>
                                          <p:spTgt spid="34"/>
                                        </p:tgtEl>
                                        <p:attrNameLst>
                                          <p:attrName>fillcolor</p:attrName>
                                        </p:attrNameLst>
                                      </p:cBhvr>
                                      <p:to>
                                        <a:schemeClr val="accent2"/>
                                      </p:to>
                                    </p:animClr>
                                    <p:set>
                                      <p:cBhvr>
                                        <p:cTn id="46" dur="500" fill="hold"/>
                                        <p:tgtEl>
                                          <p:spTgt spid="34"/>
                                        </p:tgtEl>
                                        <p:attrNameLst>
                                          <p:attrName>fill.type</p:attrName>
                                        </p:attrNameLst>
                                      </p:cBhvr>
                                      <p:to>
                                        <p:strVal val="solid"/>
                                      </p:to>
                                    </p:set>
                                    <p:set>
                                      <p:cBhvr>
                                        <p:cTn id="47" dur="500" fill="hold"/>
                                        <p:tgtEl>
                                          <p:spTgt spid="34"/>
                                        </p:tgtEl>
                                        <p:attrNameLst>
                                          <p:attrName>fill.on</p:attrName>
                                        </p:attrNameLst>
                                      </p:cBhvr>
                                      <p:to>
                                        <p:strVal val="true"/>
                                      </p:to>
                                    </p:set>
                                  </p:childTnLst>
                                </p:cTn>
                              </p:par>
                              <p:par>
                                <p:cTn id="48" presetID="19" presetClass="emph" presetSubtype="0" fill="hold" grpId="0" nodeType="withEffect">
                                  <p:stCondLst>
                                    <p:cond delay="0"/>
                                  </p:stCondLst>
                                  <p:childTnLst>
                                    <p:animClr clrSpc="rgb" dir="cw">
                                      <p:cBhvr override="childStyle">
                                        <p:cTn id="49" dur="500" fill="hold"/>
                                        <p:tgtEl>
                                          <p:spTgt spid="6"/>
                                        </p:tgtEl>
                                        <p:attrNameLst>
                                          <p:attrName>style.color</p:attrName>
                                        </p:attrNameLst>
                                      </p:cBhvr>
                                      <p:to>
                                        <a:schemeClr val="accent2"/>
                                      </p:to>
                                    </p:animClr>
                                    <p:animClr clrSpc="rgb" dir="cw">
                                      <p:cBhvr>
                                        <p:cTn id="50" dur="500" fill="hold"/>
                                        <p:tgtEl>
                                          <p:spTgt spid="6"/>
                                        </p:tgtEl>
                                        <p:attrNameLst>
                                          <p:attrName>fillcolor</p:attrName>
                                        </p:attrNameLst>
                                      </p:cBhvr>
                                      <p:to>
                                        <a:schemeClr val="accent2"/>
                                      </p:to>
                                    </p:animClr>
                                    <p:set>
                                      <p:cBhvr>
                                        <p:cTn id="51" dur="500" fill="hold"/>
                                        <p:tgtEl>
                                          <p:spTgt spid="6"/>
                                        </p:tgtEl>
                                        <p:attrNameLst>
                                          <p:attrName>fill.type</p:attrName>
                                        </p:attrNameLst>
                                      </p:cBhvr>
                                      <p:to>
                                        <p:strVal val="solid"/>
                                      </p:to>
                                    </p:set>
                                    <p:set>
                                      <p:cBhvr>
                                        <p:cTn id="52" dur="500" fill="hold"/>
                                        <p:tgtEl>
                                          <p:spTgt spid="6"/>
                                        </p:tgtEl>
                                        <p:attrNameLst>
                                          <p:attrName>fill.on</p:attrName>
                                        </p:attrNameLst>
                                      </p:cBhvr>
                                      <p:to>
                                        <p:strVal val="true"/>
                                      </p:to>
                                    </p:set>
                                  </p:childTnLst>
                                </p:cTn>
                              </p:par>
                              <p:par>
                                <p:cTn id="53" presetID="19" presetClass="emph" presetSubtype="0" fill="hold" grpId="0" nodeType="withEffect">
                                  <p:stCondLst>
                                    <p:cond delay="0"/>
                                  </p:stCondLst>
                                  <p:childTnLst>
                                    <p:animClr clrSpc="rgb" dir="cw">
                                      <p:cBhvr override="childStyle">
                                        <p:cTn id="54" dur="500" fill="hold"/>
                                        <p:tgtEl>
                                          <p:spTgt spid="25"/>
                                        </p:tgtEl>
                                        <p:attrNameLst>
                                          <p:attrName>style.color</p:attrName>
                                        </p:attrNameLst>
                                      </p:cBhvr>
                                      <p:to>
                                        <a:schemeClr val="accent2"/>
                                      </p:to>
                                    </p:animClr>
                                    <p:animClr clrSpc="rgb" dir="cw">
                                      <p:cBhvr>
                                        <p:cTn id="55" dur="500" fill="hold"/>
                                        <p:tgtEl>
                                          <p:spTgt spid="25"/>
                                        </p:tgtEl>
                                        <p:attrNameLst>
                                          <p:attrName>fillcolor</p:attrName>
                                        </p:attrNameLst>
                                      </p:cBhvr>
                                      <p:to>
                                        <a:schemeClr val="accent2"/>
                                      </p:to>
                                    </p:animClr>
                                    <p:set>
                                      <p:cBhvr>
                                        <p:cTn id="56" dur="500" fill="hold"/>
                                        <p:tgtEl>
                                          <p:spTgt spid="25"/>
                                        </p:tgtEl>
                                        <p:attrNameLst>
                                          <p:attrName>fill.type</p:attrName>
                                        </p:attrNameLst>
                                      </p:cBhvr>
                                      <p:to>
                                        <p:strVal val="solid"/>
                                      </p:to>
                                    </p:set>
                                    <p:set>
                                      <p:cBhvr>
                                        <p:cTn id="57" dur="500" fill="hold"/>
                                        <p:tgtEl>
                                          <p:spTgt spid="25"/>
                                        </p:tgtEl>
                                        <p:attrNameLst>
                                          <p:attrName>fill.on</p:attrName>
                                        </p:attrNameLst>
                                      </p:cBhvr>
                                      <p:to>
                                        <p:strVal val="true"/>
                                      </p:to>
                                    </p:se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grpId="1" nodeType="clickEffect">
                                  <p:stCondLst>
                                    <p:cond delay="0"/>
                                  </p:stCondLst>
                                  <p:childTnLst>
                                    <p:set>
                                      <p:cBhvr>
                                        <p:cTn id="61" dur="1" fill="hold">
                                          <p:stCondLst>
                                            <p:cond delay="0"/>
                                          </p:stCondLst>
                                        </p:cTn>
                                        <p:tgtEl>
                                          <p:spTgt spid="25"/>
                                        </p:tgtEl>
                                        <p:attrNameLst>
                                          <p:attrName>style.visibility</p:attrName>
                                        </p:attrNameLst>
                                      </p:cBhvr>
                                      <p:to>
                                        <p:strVal val="hidden"/>
                                      </p:to>
                                    </p:set>
                                  </p:childTnLst>
                                </p:cTn>
                              </p:par>
                              <p:par>
                                <p:cTn id="62" presetID="1" presetClass="exit" presetSubtype="0" fill="hold" grpId="2" nodeType="withEffect">
                                  <p:stCondLst>
                                    <p:cond delay="0"/>
                                  </p:stCondLst>
                                  <p:childTnLst>
                                    <p:set>
                                      <p:cBhvr>
                                        <p:cTn id="63" dur="1" fill="hold">
                                          <p:stCondLst>
                                            <p:cond delay="0"/>
                                          </p:stCondLst>
                                        </p:cTn>
                                        <p:tgtEl>
                                          <p:spTgt spid="97"/>
                                        </p:tgtEl>
                                        <p:attrNameLst>
                                          <p:attrName>style.visibility</p:attrName>
                                        </p:attrNameLst>
                                      </p:cBhvr>
                                      <p:to>
                                        <p:strVal val="hidden"/>
                                      </p:to>
                                    </p:set>
                                  </p:childTnLst>
                                </p:cTn>
                              </p:par>
                              <p:par>
                                <p:cTn id="64" presetID="1" presetClass="exit" presetSubtype="0" fill="hold" nodeType="withEffect">
                                  <p:stCondLst>
                                    <p:cond delay="0"/>
                                  </p:stCondLst>
                                  <p:childTnLst>
                                    <p:set>
                                      <p:cBhvr>
                                        <p:cTn id="65" dur="1" fill="hold">
                                          <p:stCondLst>
                                            <p:cond delay="0"/>
                                          </p:stCondLst>
                                        </p:cTn>
                                        <p:tgtEl>
                                          <p:spTgt spid="24"/>
                                        </p:tgtEl>
                                        <p:attrNameLst>
                                          <p:attrName>style.visibility</p:attrName>
                                        </p:attrNameLst>
                                      </p:cBhvr>
                                      <p:to>
                                        <p:strVal val="hidden"/>
                                      </p:to>
                                    </p:set>
                                  </p:childTnLst>
                                </p:cTn>
                              </p:par>
                              <p:par>
                                <p:cTn id="66" presetID="1" presetClass="exit" presetSubtype="0" fill="hold" grpId="0" nodeType="withEffect">
                                  <p:stCondLst>
                                    <p:cond delay="0"/>
                                  </p:stCondLst>
                                  <p:childTnLst>
                                    <p:set>
                                      <p:cBhvr>
                                        <p:cTn id="67" dur="1" fill="hold">
                                          <p:stCondLst>
                                            <p:cond delay="0"/>
                                          </p:stCondLst>
                                        </p:cTn>
                                        <p:tgtEl>
                                          <p:spTgt spid="98"/>
                                        </p:tgtEl>
                                        <p:attrNameLst>
                                          <p:attrName>style.visibility</p:attrName>
                                        </p:attrNameLst>
                                      </p:cBhvr>
                                      <p:to>
                                        <p:strVal val="hidden"/>
                                      </p:to>
                                    </p:set>
                                  </p:childTnLst>
                                </p:cTn>
                              </p:par>
                              <p:par>
                                <p:cTn id="68" presetID="1" presetClass="exit" presetSubtype="0" fill="hold" nodeType="withEffect">
                                  <p:stCondLst>
                                    <p:cond delay="0"/>
                                  </p:stCondLst>
                                  <p:childTnLst>
                                    <p:set>
                                      <p:cBhvr>
                                        <p:cTn id="69" dur="1" fill="hold">
                                          <p:stCondLst>
                                            <p:cond delay="0"/>
                                          </p:stCondLst>
                                        </p:cTn>
                                        <p:tgtEl>
                                          <p:spTgt spid="28"/>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 presetClass="exit" presetSubtype="0" fill="hold" grpId="1" nodeType="clickEffect">
                                  <p:stCondLst>
                                    <p:cond delay="0"/>
                                  </p:stCondLst>
                                  <p:childTnLst>
                                    <p:set>
                                      <p:cBhvr>
                                        <p:cTn id="73" dur="1" fill="hold">
                                          <p:stCondLst>
                                            <p:cond delay="0"/>
                                          </p:stCondLst>
                                        </p:cTn>
                                        <p:tgtEl>
                                          <p:spTgt spid="6"/>
                                        </p:tgtEl>
                                        <p:attrNameLst>
                                          <p:attrName>style.visibility</p:attrName>
                                        </p:attrNameLst>
                                      </p:cBhvr>
                                      <p:to>
                                        <p:strVal val="hidden"/>
                                      </p:to>
                                    </p:set>
                                  </p:childTnLst>
                                </p:cTn>
                              </p:par>
                              <p:par>
                                <p:cTn id="74" presetID="1" presetClass="exit" presetSubtype="0" fill="hold" nodeType="withEffect">
                                  <p:stCondLst>
                                    <p:cond delay="0"/>
                                  </p:stCondLst>
                                  <p:childTnLst>
                                    <p:set>
                                      <p:cBhvr>
                                        <p:cTn id="75" dur="1" fill="hold">
                                          <p:stCondLst>
                                            <p:cond delay="0"/>
                                          </p:stCondLst>
                                        </p:cTn>
                                        <p:tgtEl>
                                          <p:spTgt spid="24"/>
                                        </p:tgtEl>
                                        <p:attrNameLst>
                                          <p:attrName>style.visibility</p:attrName>
                                        </p:attrNameLst>
                                      </p:cBhvr>
                                      <p:to>
                                        <p:strVal val="hidden"/>
                                      </p:to>
                                    </p:set>
                                  </p:childTnLst>
                                </p:cTn>
                              </p:par>
                              <p:par>
                                <p:cTn id="76" presetID="1" presetClass="exit" presetSubtype="0" fill="hold" nodeType="withEffect">
                                  <p:stCondLst>
                                    <p:cond delay="0"/>
                                  </p:stCondLst>
                                  <p:childTnLst>
                                    <p:set>
                                      <p:cBhvr>
                                        <p:cTn id="77" dur="1" fill="hold">
                                          <p:stCondLst>
                                            <p:cond delay="0"/>
                                          </p:stCondLst>
                                        </p:cTn>
                                        <p:tgtEl>
                                          <p:spTgt spid="83"/>
                                        </p:tgtEl>
                                        <p:attrNameLst>
                                          <p:attrName>style.visibility</p:attrName>
                                        </p:attrNameLst>
                                      </p:cBhvr>
                                      <p:to>
                                        <p:strVal val="hidden"/>
                                      </p:to>
                                    </p:set>
                                  </p:childTnLst>
                                </p:cTn>
                              </p:par>
                              <p:par>
                                <p:cTn id="78" presetID="1" presetClass="exit" presetSubtype="0" fill="hold" nodeType="withEffect">
                                  <p:stCondLst>
                                    <p:cond delay="0"/>
                                  </p:stCondLst>
                                  <p:childTnLst>
                                    <p:set>
                                      <p:cBhvr>
                                        <p:cTn id="79" dur="1" fill="hold">
                                          <p:stCondLst>
                                            <p:cond delay="0"/>
                                          </p:stCondLst>
                                        </p:cTn>
                                        <p:tgtEl>
                                          <p:spTgt spid="15"/>
                                        </p:tgtEl>
                                        <p:attrNameLst>
                                          <p:attrName>style.visibility</p:attrName>
                                        </p:attrNameLst>
                                      </p:cBhvr>
                                      <p:to>
                                        <p:strVal val="hidden"/>
                                      </p:to>
                                    </p:set>
                                  </p:childTnLst>
                                </p:cTn>
                              </p:par>
                              <p:par>
                                <p:cTn id="80" presetID="1" presetClass="exit" presetSubtype="0" fill="hold" nodeType="withEffect">
                                  <p:stCondLst>
                                    <p:cond delay="0"/>
                                  </p:stCondLst>
                                  <p:childTnLst>
                                    <p:set>
                                      <p:cBhvr>
                                        <p:cTn id="81" dur="1" fill="hold">
                                          <p:stCondLst>
                                            <p:cond delay="0"/>
                                          </p:stCondLst>
                                        </p:cTn>
                                        <p:tgtEl>
                                          <p:spTgt spid="7"/>
                                        </p:tgtEl>
                                        <p:attrNameLst>
                                          <p:attrName>style.visibility</p:attrName>
                                        </p:attrNameLst>
                                      </p:cBhvr>
                                      <p:to>
                                        <p:strVal val="hidden"/>
                                      </p:to>
                                    </p:set>
                                  </p:childTnLst>
                                </p:cTn>
                              </p:par>
                            </p:childTnLst>
                          </p:cTn>
                        </p:par>
                      </p:childTnLst>
                    </p:cTn>
                  </p:par>
                  <p:par>
                    <p:cTn id="82" fill="hold">
                      <p:stCondLst>
                        <p:cond delay="indefinite"/>
                      </p:stCondLst>
                      <p:childTnLst>
                        <p:par>
                          <p:cTn id="83" fill="hold">
                            <p:stCondLst>
                              <p:cond delay="0"/>
                            </p:stCondLst>
                            <p:childTnLst>
                              <p:par>
                                <p:cTn id="84" presetID="1" presetClass="exit" presetSubtype="0" fill="hold" nodeType="clickEffect">
                                  <p:stCondLst>
                                    <p:cond delay="0"/>
                                  </p:stCondLst>
                                  <p:childTnLst>
                                    <p:set>
                                      <p:cBhvr>
                                        <p:cTn id="85" dur="1" fill="hold">
                                          <p:stCondLst>
                                            <p:cond delay="0"/>
                                          </p:stCondLst>
                                        </p:cTn>
                                        <p:tgtEl>
                                          <p:spTgt spid="47"/>
                                        </p:tgtEl>
                                        <p:attrNameLst>
                                          <p:attrName>style.visibility</p:attrName>
                                        </p:attrNameLst>
                                      </p:cBhvr>
                                      <p:to>
                                        <p:strVal val="hidden"/>
                                      </p:to>
                                    </p:set>
                                  </p:childTnLst>
                                </p:cTn>
                              </p:par>
                              <p:par>
                                <p:cTn id="86" presetID="1" presetClass="exit" presetSubtype="0" fill="hold" grpId="1" nodeType="withEffect">
                                  <p:stCondLst>
                                    <p:cond delay="0"/>
                                  </p:stCondLst>
                                  <p:childTnLst>
                                    <p:set>
                                      <p:cBhvr>
                                        <p:cTn id="87" dur="1" fill="hold">
                                          <p:stCondLst>
                                            <p:cond delay="0"/>
                                          </p:stCondLst>
                                        </p:cTn>
                                        <p:tgtEl>
                                          <p:spTgt spid="14"/>
                                        </p:tgtEl>
                                        <p:attrNameLst>
                                          <p:attrName>style.visibility</p:attrName>
                                        </p:attrNameLst>
                                      </p:cBhvr>
                                      <p:to>
                                        <p:strVal val="hidden"/>
                                      </p:to>
                                    </p:set>
                                  </p:childTnLst>
                                </p:cTn>
                              </p:par>
                              <p:par>
                                <p:cTn id="88" presetID="1" presetClass="exit" presetSubtype="0" fill="hold" nodeType="withEffect">
                                  <p:stCondLst>
                                    <p:cond delay="0"/>
                                  </p:stCondLst>
                                  <p:childTnLst>
                                    <p:set>
                                      <p:cBhvr>
                                        <p:cTn id="89" dur="1" fill="hold">
                                          <p:stCondLst>
                                            <p:cond delay="0"/>
                                          </p:stCondLst>
                                        </p:cTn>
                                        <p:tgtEl>
                                          <p:spTgt spid="35"/>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13"/>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19"/>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1" presetClass="exit" presetSubtype="0" fill="hold" grpId="2" nodeType="clickEffect">
                                  <p:stCondLst>
                                    <p:cond delay="0"/>
                                  </p:stCondLst>
                                  <p:childTnLst>
                                    <p:set>
                                      <p:cBhvr>
                                        <p:cTn id="97" dur="1" fill="hold">
                                          <p:stCondLst>
                                            <p:cond delay="0"/>
                                          </p:stCondLst>
                                        </p:cTn>
                                        <p:tgtEl>
                                          <p:spTgt spid="95"/>
                                        </p:tgtEl>
                                        <p:attrNameLst>
                                          <p:attrName>style.visibility</p:attrName>
                                        </p:attrNameLst>
                                      </p:cBhvr>
                                      <p:to>
                                        <p:strVal val="hidden"/>
                                      </p:to>
                                    </p:set>
                                  </p:childTnLst>
                                </p:cTn>
                              </p:par>
                              <p:par>
                                <p:cTn id="98" presetID="1" presetClass="exit" presetSubtype="0" fill="hold" grpId="1" nodeType="withEffect">
                                  <p:stCondLst>
                                    <p:cond delay="0"/>
                                  </p:stCondLst>
                                  <p:childTnLst>
                                    <p:set>
                                      <p:cBhvr>
                                        <p:cTn id="99" dur="1" fill="hold">
                                          <p:stCondLst>
                                            <p:cond delay="0"/>
                                          </p:stCondLst>
                                        </p:cTn>
                                        <p:tgtEl>
                                          <p:spTgt spid="34"/>
                                        </p:tgtEl>
                                        <p:attrNameLst>
                                          <p:attrName>style.visibility</p:attrName>
                                        </p:attrNameLst>
                                      </p:cBhvr>
                                      <p:to>
                                        <p:strVal val="hidden"/>
                                      </p:to>
                                    </p:set>
                                  </p:childTnLst>
                                </p:cTn>
                              </p:par>
                              <p:par>
                                <p:cTn id="100" presetID="1" presetClass="exit" presetSubtype="0" fill="hold" nodeType="withEffect">
                                  <p:stCondLst>
                                    <p:cond delay="0"/>
                                  </p:stCondLst>
                                  <p:childTnLst>
                                    <p:set>
                                      <p:cBhvr>
                                        <p:cTn id="101" dur="1" fill="hold">
                                          <p:stCondLst>
                                            <p:cond delay="0"/>
                                          </p:stCondLst>
                                        </p:cTn>
                                        <p:tgtEl>
                                          <p:spTgt spid="35"/>
                                        </p:tgtEl>
                                        <p:attrNameLst>
                                          <p:attrName>style.visibility</p:attrName>
                                        </p:attrNameLst>
                                      </p:cBhvr>
                                      <p:to>
                                        <p:strVal val="hidden"/>
                                      </p:to>
                                    </p:set>
                                  </p:childTnLst>
                                </p:cTn>
                              </p:par>
                              <p:par>
                                <p:cTn id="102" presetID="1" presetClass="exit" presetSubtype="0" fill="hold" nodeType="withEffect">
                                  <p:stCondLst>
                                    <p:cond delay="0"/>
                                  </p:stCondLst>
                                  <p:childTnLst>
                                    <p:set>
                                      <p:cBhvr>
                                        <p:cTn id="103" dur="1" fill="hold">
                                          <p:stCondLst>
                                            <p:cond delay="0"/>
                                          </p:stCondLst>
                                        </p:cTn>
                                        <p:tgtEl>
                                          <p:spTgt spid="33"/>
                                        </p:tgtEl>
                                        <p:attrNameLst>
                                          <p:attrName>style.visibility</p:attrName>
                                        </p:attrNameLst>
                                      </p:cBhvr>
                                      <p:to>
                                        <p:strVal val="hidden"/>
                                      </p:to>
                                    </p:set>
                                  </p:childTnLst>
                                </p:cTn>
                              </p:par>
                              <p:par>
                                <p:cTn id="104" presetID="1" presetClass="exit" presetSubtype="0" fill="hold" grpId="0" nodeType="withEffect">
                                  <p:stCondLst>
                                    <p:cond delay="0"/>
                                  </p:stCondLst>
                                  <p:childTnLst>
                                    <p:set>
                                      <p:cBhvr>
                                        <p:cTn id="105" dur="1" fill="hold">
                                          <p:stCondLst>
                                            <p:cond delay="0"/>
                                          </p:stCondLst>
                                        </p:cTn>
                                        <p:tgtEl>
                                          <p:spTgt spid="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animBg="1"/>
      <p:bldP spid="97" grpId="0" animBg="1"/>
      <p:bldP spid="97" grpId="1" animBg="1"/>
      <p:bldP spid="97" grpId="2" animBg="1"/>
      <p:bldP spid="96" grpId="0" animBg="1"/>
      <p:bldP spid="95" grpId="0" animBg="1"/>
      <p:bldP spid="95" grpId="1" animBg="1"/>
      <p:bldP spid="95" grpId="2" animBg="1"/>
      <p:bldP spid="6" grpId="0" animBg="1"/>
      <p:bldP spid="6" grpId="1" animBg="1"/>
      <p:bldP spid="14" grpId="0" animBg="1"/>
      <p:bldP spid="14" grpId="1" animBg="1"/>
      <p:bldP spid="25" grpId="0" animBg="1"/>
      <p:bldP spid="25" grpId="1" animBg="1"/>
      <p:bldP spid="34" grpId="0" animBg="1"/>
      <p:bldP spid="34" grpId="1" animBg="1"/>
      <p:bldP spid="2" grpId="0" animBg="1"/>
      <p:bldP spid="2" grpId="1" animBg="1"/>
      <p:bldP spid="2" grpId="2" animBg="1"/>
      <p:bldP spid="2" grpId="3"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9176-587B-61B2-09DF-1EE313AAD2A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996BAA7-379D-5CB0-A2A5-928C405E9C02}"/>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7C955A7F-DEED-5962-6D0D-C96FD807B2BF}"/>
              </a:ext>
            </a:extLst>
          </p:cNvPr>
          <p:cNvSpPr>
            <a:spLocks noGrp="1"/>
          </p:cNvSpPr>
          <p:nvPr>
            <p:ph idx="1"/>
          </p:nvPr>
        </p:nvSpPr>
        <p:spPr>
          <a:xfrm>
            <a:off x="131180" y="863444"/>
            <a:ext cx="11929641" cy="5517883"/>
          </a:xfrm>
        </p:spPr>
        <p:txBody>
          <a:bodyPr/>
          <a:lstStyle/>
          <a:p>
            <a:pPr marL="514350" indent="-514350">
              <a:lnSpc>
                <a:spcPct val="100000"/>
              </a:lnSpc>
              <a:buFont typeface="+mj-lt"/>
              <a:buAutoNum type="arabicPeriod"/>
            </a:pPr>
            <a:r>
              <a:rPr lang="en-IN" dirty="0"/>
              <a:t>If the minimum degree of a connected graph is 4, then the edge connectivity is</a:t>
            </a:r>
          </a:p>
          <a:p>
            <a:pPr marL="457200" lvl="1" indent="0">
              <a:lnSpc>
                <a:spcPct val="100000"/>
              </a:lnSpc>
              <a:buNone/>
            </a:pPr>
            <a:r>
              <a:rPr lang="en-IN" dirty="0"/>
              <a:t>A. Always 4</a:t>
            </a:r>
          </a:p>
          <a:p>
            <a:pPr marL="457200" lvl="1" indent="0">
              <a:lnSpc>
                <a:spcPct val="100000"/>
              </a:lnSpc>
              <a:buNone/>
            </a:pPr>
            <a:r>
              <a:rPr lang="en-IN" dirty="0"/>
              <a:t>B. At least 4</a:t>
            </a:r>
          </a:p>
          <a:p>
            <a:pPr marL="457200" lvl="1" indent="0">
              <a:lnSpc>
                <a:spcPct val="100000"/>
              </a:lnSpc>
              <a:buNone/>
            </a:pPr>
            <a:r>
              <a:rPr lang="en-IN" dirty="0"/>
              <a:t>C. At most 4</a:t>
            </a:r>
          </a:p>
          <a:p>
            <a:pPr marL="457200" lvl="1" indent="0">
              <a:lnSpc>
                <a:spcPct val="100000"/>
              </a:lnSpc>
              <a:buNone/>
            </a:pPr>
            <a:r>
              <a:rPr lang="en-IN" dirty="0"/>
              <a:t>D. Cannot be determined</a:t>
            </a:r>
          </a:p>
          <a:p>
            <a:pPr marL="514350" indent="-514350">
              <a:lnSpc>
                <a:spcPct val="100000"/>
              </a:lnSpc>
              <a:buFont typeface="+mj-lt"/>
              <a:buAutoNum type="arabicPeriod"/>
            </a:pPr>
            <a:r>
              <a:rPr lang="en-IN" dirty="0"/>
              <a:t>Can a cut vertex exist without being incident to any bridge? (Yes/No)</a:t>
            </a:r>
          </a:p>
          <a:p>
            <a:pPr marL="514350" indent="-514350">
              <a:lnSpc>
                <a:spcPct val="100000"/>
              </a:lnSpc>
              <a:buFont typeface="+mj-lt"/>
              <a:buAutoNum type="arabicPeriod"/>
            </a:pPr>
            <a:r>
              <a:rPr lang="en-IN" dirty="0"/>
              <a:t>If a vertex lies on cycle then it is not a cut vertex. (True/False)</a:t>
            </a:r>
          </a:p>
          <a:p>
            <a:pPr marL="514350" indent="-514350">
              <a:lnSpc>
                <a:spcPct val="100000"/>
              </a:lnSpc>
              <a:buFont typeface="+mj-lt"/>
              <a:buAutoNum type="arabicPeriod"/>
            </a:pPr>
            <a:r>
              <a:rPr lang="en-IN" dirty="0"/>
              <a:t>If a vertex does not lies on any cycle then it is cut vertex. (True/False)</a:t>
            </a:r>
          </a:p>
          <a:p>
            <a:pPr marL="514350" indent="-514350">
              <a:lnSpc>
                <a:spcPct val="100000"/>
              </a:lnSpc>
              <a:buFont typeface="+mj-lt"/>
              <a:buAutoNum type="arabicPeriod"/>
            </a:pPr>
            <a:r>
              <a:rPr lang="en-IN" dirty="0"/>
              <a:t>A tree of order 3 or more has more cut vertices than end vertices. (True/False)</a:t>
            </a:r>
          </a:p>
          <a:p>
            <a:pPr marL="514350" indent="-514350">
              <a:lnSpc>
                <a:spcPct val="100000"/>
              </a:lnSpc>
              <a:buFont typeface="+mj-lt"/>
              <a:buAutoNum type="arabicPeriod"/>
            </a:pPr>
            <a:r>
              <a:rPr lang="en-IN" dirty="0"/>
              <a:t>A tree of order 3 or more has more cut vertices than bridges. (True/False)</a:t>
            </a:r>
          </a:p>
          <a:p>
            <a:pPr marL="514350" indent="-514350">
              <a:lnSpc>
                <a:spcPct val="100000"/>
              </a:lnSpc>
              <a:buFont typeface="+mj-lt"/>
              <a:buAutoNum type="arabicPeriod"/>
            </a:pPr>
            <a:r>
              <a:rPr lang="en-IN" dirty="0"/>
              <a:t>Give an example of graph that contains more bridges than cut vertices.</a:t>
            </a:r>
          </a:p>
          <a:p>
            <a:pPr>
              <a:lnSpc>
                <a:spcPct val="100000"/>
              </a:lnSpc>
            </a:pPr>
            <a:endParaRPr lang="en-IN" dirty="0"/>
          </a:p>
          <a:p>
            <a:pPr lvl="1">
              <a:lnSpc>
                <a:spcPct val="100000"/>
              </a:lnSpc>
            </a:pPr>
            <a:endParaRPr lang="en-IN" dirty="0"/>
          </a:p>
          <a:p>
            <a:endParaRPr lang="en-IN" dirty="0"/>
          </a:p>
        </p:txBody>
      </p:sp>
    </p:spTree>
    <p:extLst>
      <p:ext uri="{BB962C8B-B14F-4D97-AF65-F5344CB8AC3E}">
        <p14:creationId xmlns:p14="http://schemas.microsoft.com/office/powerpoint/2010/main" val="405930530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FD0FE-8B8D-A55A-00F9-3347C223369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5866F96-C9D5-CC00-A317-D1E23EF50989}"/>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Solution </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BD8562-1FFB-C466-F98B-9BACB34E28C3}"/>
                  </a:ext>
                </a:extLst>
              </p:cNvPr>
              <p:cNvSpPr>
                <a:spLocks noGrp="1"/>
              </p:cNvSpPr>
              <p:nvPr>
                <p:ph idx="1"/>
              </p:nvPr>
            </p:nvSpPr>
            <p:spPr>
              <a:xfrm>
                <a:off x="131180" y="863444"/>
                <a:ext cx="11929641" cy="5517883"/>
              </a:xfrm>
            </p:spPr>
            <p:txBody>
              <a:bodyPr/>
              <a:lstStyle/>
              <a:p>
                <a:pPr marL="0" indent="0">
                  <a:lnSpc>
                    <a:spcPct val="100000"/>
                  </a:lnSpc>
                  <a:buNone/>
                </a:pPr>
                <a:r>
                  <a:rPr lang="en-IN" dirty="0">
                    <a:solidFill>
                      <a:srgbClr val="FF0000"/>
                    </a:solidFill>
                  </a:rPr>
                  <a:t>? If the minimum degree of a connected graph is 4, then the edge connectivity is</a:t>
                </a:r>
              </a:p>
              <a:p>
                <a:pPr marL="457200" lvl="1" indent="0">
                  <a:lnSpc>
                    <a:spcPct val="100000"/>
                  </a:lnSpc>
                  <a:buNone/>
                </a:pPr>
                <a:r>
                  <a:rPr lang="en-IN" dirty="0">
                    <a:solidFill>
                      <a:srgbClr val="FF0000"/>
                    </a:solidFill>
                  </a:rPr>
                  <a:t>A. Always 4</a:t>
                </a:r>
              </a:p>
              <a:p>
                <a:pPr marL="457200" lvl="1" indent="0">
                  <a:lnSpc>
                    <a:spcPct val="100000"/>
                  </a:lnSpc>
                  <a:buNone/>
                </a:pPr>
                <a:r>
                  <a:rPr lang="en-IN" dirty="0">
                    <a:solidFill>
                      <a:srgbClr val="FF0000"/>
                    </a:solidFill>
                  </a:rPr>
                  <a:t>B. At least 4</a:t>
                </a:r>
              </a:p>
              <a:p>
                <a:pPr marL="457200" lvl="1" indent="0">
                  <a:lnSpc>
                    <a:spcPct val="100000"/>
                  </a:lnSpc>
                  <a:buNone/>
                </a:pPr>
                <a:r>
                  <a:rPr lang="en-IN" dirty="0">
                    <a:solidFill>
                      <a:srgbClr val="FF0000"/>
                    </a:solidFill>
                  </a:rPr>
                  <a:t>C. </a:t>
                </a:r>
                <a:r>
                  <a:rPr lang="en-IN" b="1" dirty="0">
                    <a:solidFill>
                      <a:srgbClr val="FF0000"/>
                    </a:solidFill>
                  </a:rPr>
                  <a:t>At most 4</a:t>
                </a:r>
              </a:p>
              <a:p>
                <a:pPr marL="457200" lvl="1" indent="0">
                  <a:lnSpc>
                    <a:spcPct val="100000"/>
                  </a:lnSpc>
                  <a:buNone/>
                </a:pPr>
                <a:r>
                  <a:rPr lang="en-IN" dirty="0">
                    <a:solidFill>
                      <a:srgbClr val="FF0000"/>
                    </a:solidFill>
                  </a:rPr>
                  <a:t>D. Cannot be determined</a:t>
                </a:r>
              </a:p>
              <a:p>
                <a:pPr>
                  <a:lnSpc>
                    <a:spcPct val="100000"/>
                  </a:lnSpc>
                </a:pPr>
                <a:r>
                  <a:rPr lang="en-IN" dirty="0"/>
                  <a:t>As edge connectivity</a:t>
                </a:r>
                <a14:m>
                  <m:oMath xmlns:m="http://schemas.openxmlformats.org/officeDocument/2006/math">
                    <m:r>
                      <a:rPr lang="en-IN" b="0" i="0" smtClean="0">
                        <a:latin typeface="Cambria Math" panose="02040503050406030204" pitchFamily="18" charset="0"/>
                      </a:rPr>
                      <m:t> </m:t>
                    </m:r>
                    <m:r>
                      <a:rPr lang="en-IN" b="0" i="1" smtClean="0">
                        <a:latin typeface="Cambria Math" panose="02040503050406030204" pitchFamily="18" charset="0"/>
                      </a:rPr>
                      <m:t>≤</m:t>
                    </m:r>
                  </m:oMath>
                </a14:m>
                <a:r>
                  <a:rPr lang="en-IN" dirty="0"/>
                  <a:t> minimum degree</a:t>
                </a:r>
                <a14:m>
                  <m:oMath xmlns:m="http://schemas.openxmlformats.org/officeDocument/2006/math">
                    <m:r>
                      <a:rPr lang="en-IN" b="0" i="0" dirty="0" smtClean="0">
                        <a:latin typeface="Cambria Math" panose="02040503050406030204" pitchFamily="18" charset="0"/>
                      </a:rPr>
                      <m:t> </m:t>
                    </m:r>
                    <m:r>
                      <a:rPr lang="en-IN" i="1" dirty="0" smtClean="0">
                        <a:latin typeface="Cambria Math" panose="02040503050406030204" pitchFamily="18" charset="0"/>
                      </a:rPr>
                      <m:t>=</m:t>
                    </m:r>
                  </m:oMath>
                </a14:m>
                <a:r>
                  <a:rPr lang="en-IN" dirty="0"/>
                  <a:t> 4.</a:t>
                </a:r>
              </a:p>
              <a:p>
                <a:pPr>
                  <a:lnSpc>
                    <a:spcPct val="100000"/>
                  </a:lnSpc>
                </a:pPr>
                <a:r>
                  <a:rPr lang="en-IN" dirty="0"/>
                  <a:t>Therefore edge connectivity is </a:t>
                </a:r>
                <a:r>
                  <a:rPr lang="en-IN" dirty="0" err="1"/>
                  <a:t>Atmost</a:t>
                </a:r>
                <a:r>
                  <a:rPr lang="en-IN" dirty="0"/>
                  <a:t> 4. </a:t>
                </a:r>
              </a:p>
              <a:p>
                <a:pPr lvl="1">
                  <a:lnSpc>
                    <a:spcPct val="100000"/>
                  </a:lnSpc>
                </a:pPr>
                <a:endParaRPr lang="en-IN" dirty="0"/>
              </a:p>
              <a:p>
                <a:endParaRPr lang="en-IN" dirty="0"/>
              </a:p>
            </p:txBody>
          </p:sp>
        </mc:Choice>
        <mc:Fallback xmlns="">
          <p:sp>
            <p:nvSpPr>
              <p:cNvPr id="3" name="Content Placeholder 2">
                <a:extLst>
                  <a:ext uri="{FF2B5EF4-FFF2-40B4-BE49-F238E27FC236}">
                    <a16:creationId xmlns:a16="http://schemas.microsoft.com/office/drawing/2014/main" id="{F2BD8562-1FFB-C466-F98B-9BACB34E28C3}"/>
                  </a:ext>
                </a:extLst>
              </p:cNvPr>
              <p:cNvSpPr>
                <a:spLocks noGrp="1" noRot="1" noChangeAspect="1" noMove="1" noResize="1" noEditPoints="1" noAdjustHandles="1" noChangeArrowheads="1" noChangeShapeType="1" noTextEdit="1"/>
              </p:cNvSpPr>
              <p:nvPr>
                <p:ph idx="1"/>
              </p:nvPr>
            </p:nvSpPr>
            <p:spPr>
              <a:xfrm>
                <a:off x="131180" y="863444"/>
                <a:ext cx="11929641" cy="5517883"/>
              </a:xfrm>
              <a:blipFill>
                <a:blip r:embed="rId2"/>
                <a:stretch>
                  <a:fillRect l="-1074" t="-1215"/>
                </a:stretch>
              </a:blipFill>
            </p:spPr>
            <p:txBody>
              <a:bodyPr/>
              <a:lstStyle/>
              <a:p>
                <a:r>
                  <a:rPr lang="en-IN">
                    <a:noFill/>
                  </a:rPr>
                  <a:t> </a:t>
                </a:r>
              </a:p>
            </p:txBody>
          </p:sp>
        </mc:Fallback>
      </mc:AlternateContent>
    </p:spTree>
    <p:extLst>
      <p:ext uri="{BB962C8B-B14F-4D97-AF65-F5344CB8AC3E}">
        <p14:creationId xmlns:p14="http://schemas.microsoft.com/office/powerpoint/2010/main" val="1447907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00A9C-0D7F-81CF-EEAC-0DA9AD78E880}"/>
            </a:ext>
          </a:extLst>
        </p:cNvPr>
        <p:cNvGrpSpPr/>
        <p:nvPr/>
      </p:nvGrpSpPr>
      <p:grpSpPr>
        <a:xfrm>
          <a:off x="0" y="0"/>
          <a:ext cx="0" cy="0"/>
          <a:chOff x="0" y="0"/>
          <a:chExt cx="0" cy="0"/>
        </a:xfrm>
      </p:grpSpPr>
      <p:cxnSp>
        <p:nvCxnSpPr>
          <p:cNvPr id="23" name="Straight Connector 22">
            <a:extLst>
              <a:ext uri="{FF2B5EF4-FFF2-40B4-BE49-F238E27FC236}">
                <a16:creationId xmlns:a16="http://schemas.microsoft.com/office/drawing/2014/main" id="{D43A436A-049A-FE49-6C40-CABA846D3470}"/>
              </a:ext>
            </a:extLst>
          </p:cNvPr>
          <p:cNvCxnSpPr>
            <a:cxnSpLocks/>
          </p:cNvCxnSpPr>
          <p:nvPr/>
        </p:nvCxnSpPr>
        <p:spPr>
          <a:xfrm flipV="1">
            <a:off x="5244581" y="3597099"/>
            <a:ext cx="2204" cy="1299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4" name="Straight Connector 23">
            <a:extLst>
              <a:ext uri="{FF2B5EF4-FFF2-40B4-BE49-F238E27FC236}">
                <a16:creationId xmlns:a16="http://schemas.microsoft.com/office/drawing/2014/main" id="{1FCC39FD-7298-8056-DA52-59259049DD88}"/>
              </a:ext>
            </a:extLst>
          </p:cNvPr>
          <p:cNvCxnSpPr>
            <a:cxnSpLocks/>
            <a:stCxn id="7" idx="3"/>
            <a:endCxn id="28" idx="5"/>
          </p:cNvCxnSpPr>
          <p:nvPr/>
        </p:nvCxnSpPr>
        <p:spPr>
          <a:xfrm flipH="1" flipV="1">
            <a:off x="5295493" y="3576012"/>
            <a:ext cx="596286"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5" name="Straight Connector 24">
            <a:extLst>
              <a:ext uri="{FF2B5EF4-FFF2-40B4-BE49-F238E27FC236}">
                <a16:creationId xmlns:a16="http://schemas.microsoft.com/office/drawing/2014/main" id="{8370413D-117D-EB84-2248-0C550CCC3E17}"/>
              </a:ext>
            </a:extLst>
          </p:cNvPr>
          <p:cNvCxnSpPr>
            <a:cxnSpLocks/>
            <a:stCxn id="7" idx="5"/>
            <a:endCxn id="26" idx="3"/>
          </p:cNvCxnSpPr>
          <p:nvPr/>
        </p:nvCxnSpPr>
        <p:spPr>
          <a:xfrm flipH="1">
            <a:off x="5297697" y="4295216"/>
            <a:ext cx="59408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a:extLst>
              <a:ext uri="{FF2B5EF4-FFF2-40B4-BE49-F238E27FC236}">
                <a16:creationId xmlns:a16="http://schemas.microsoft.com/office/drawing/2014/main" id="{C2534802-767C-4BC6-8189-44BA6EA4D0DB}"/>
              </a:ext>
            </a:extLst>
          </p:cNvPr>
          <p:cNvCxnSpPr>
            <a:cxnSpLocks/>
            <a:stCxn id="4" idx="2"/>
            <a:endCxn id="10" idx="6"/>
          </p:cNvCxnSpPr>
          <p:nvPr/>
        </p:nvCxnSpPr>
        <p:spPr>
          <a:xfrm flipH="1" flipV="1">
            <a:off x="6662183" y="3597100"/>
            <a:ext cx="2204" cy="1299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a:extLst>
              <a:ext uri="{FF2B5EF4-FFF2-40B4-BE49-F238E27FC236}">
                <a16:creationId xmlns:a16="http://schemas.microsoft.com/office/drawing/2014/main" id="{055460D2-93FE-AB04-75AB-4D4BAAD24192}"/>
              </a:ext>
            </a:extLst>
          </p:cNvPr>
          <p:cNvCxnSpPr>
            <a:cxnSpLocks/>
            <a:stCxn id="7" idx="1"/>
            <a:endCxn id="10" idx="5"/>
          </p:cNvCxnSpPr>
          <p:nvPr/>
        </p:nvCxnSpPr>
        <p:spPr>
          <a:xfrm flipV="1">
            <a:off x="5993603" y="3576012"/>
            <a:ext cx="617668"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 name="Straight Connector 11">
            <a:extLst>
              <a:ext uri="{FF2B5EF4-FFF2-40B4-BE49-F238E27FC236}">
                <a16:creationId xmlns:a16="http://schemas.microsoft.com/office/drawing/2014/main" id="{97B3170F-D5A0-608E-34F0-3E9395B636BB}"/>
              </a:ext>
            </a:extLst>
          </p:cNvPr>
          <p:cNvCxnSpPr>
            <a:cxnSpLocks/>
            <a:stCxn id="7" idx="7"/>
            <a:endCxn id="4" idx="3"/>
          </p:cNvCxnSpPr>
          <p:nvPr/>
        </p:nvCxnSpPr>
        <p:spPr>
          <a:xfrm>
            <a:off x="5993603" y="4295216"/>
            <a:ext cx="61987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7CC16389-E969-3D9C-1562-FF23112085A4}"/>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FC611A4C-4E35-79AB-F662-27AFA68BFFBE}"/>
              </a:ext>
            </a:extLst>
          </p:cNvPr>
          <p:cNvSpPr>
            <a:spLocks noGrp="1"/>
          </p:cNvSpPr>
          <p:nvPr>
            <p:ph idx="1"/>
          </p:nvPr>
        </p:nvSpPr>
        <p:spPr>
          <a:xfrm>
            <a:off x="131180" y="863444"/>
            <a:ext cx="11929641" cy="5517883"/>
          </a:xfrm>
        </p:spPr>
        <p:txBody>
          <a:bodyPr/>
          <a:lstStyle/>
          <a:p>
            <a:pPr marL="0" indent="0">
              <a:lnSpc>
                <a:spcPct val="100000"/>
              </a:lnSpc>
              <a:buNone/>
            </a:pPr>
            <a:r>
              <a:rPr lang="en-IN" dirty="0">
                <a:solidFill>
                  <a:srgbClr val="FF0000"/>
                </a:solidFill>
              </a:rPr>
              <a:t>? Can a cut vertex exist without being incident to any bridge? </a:t>
            </a:r>
          </a:p>
          <a:p>
            <a:pPr>
              <a:lnSpc>
                <a:spcPct val="100000"/>
              </a:lnSpc>
            </a:pPr>
            <a:r>
              <a:rPr lang="en-IN" dirty="0"/>
              <a:t>Yes</a:t>
            </a:r>
          </a:p>
          <a:p>
            <a:pPr marL="0" indent="0">
              <a:lnSpc>
                <a:spcPct val="100000"/>
              </a:lnSpc>
              <a:buNone/>
            </a:pPr>
            <a:r>
              <a:rPr lang="en-IN" dirty="0">
                <a:solidFill>
                  <a:srgbClr val="FF0000"/>
                </a:solidFill>
              </a:rPr>
              <a:t>? If a vertex lies on cycle then it is not a cut vertex. (True/False)</a:t>
            </a:r>
          </a:p>
          <a:p>
            <a:pPr>
              <a:lnSpc>
                <a:spcPct val="100000"/>
              </a:lnSpc>
            </a:pPr>
            <a:r>
              <a:rPr lang="en-IN" dirty="0"/>
              <a:t>False</a:t>
            </a:r>
          </a:p>
          <a:p>
            <a:pPr>
              <a:lnSpc>
                <a:spcPct val="100000"/>
              </a:lnSpc>
            </a:pPr>
            <a:endParaRPr lang="en-IN" dirty="0">
              <a:solidFill>
                <a:srgbClr val="FF0000"/>
              </a:solidFill>
            </a:endParaRPr>
          </a:p>
        </p:txBody>
      </p:sp>
      <p:sp>
        <p:nvSpPr>
          <p:cNvPr id="4" name="Oval 3">
            <a:extLst>
              <a:ext uri="{FF2B5EF4-FFF2-40B4-BE49-F238E27FC236}">
                <a16:creationId xmlns:a16="http://schemas.microsoft.com/office/drawing/2014/main" id="{A5F9BA47-37A2-746C-2507-E43D741543EF}"/>
              </a:ext>
            </a:extLst>
          </p:cNvPr>
          <p:cNvSpPr/>
          <p:nvPr/>
        </p:nvSpPr>
        <p:spPr>
          <a:xfrm rot="5400000">
            <a:off x="6592387" y="48966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 name="Oval 6">
            <a:extLst>
              <a:ext uri="{FF2B5EF4-FFF2-40B4-BE49-F238E27FC236}">
                <a16:creationId xmlns:a16="http://schemas.microsoft.com/office/drawing/2014/main" id="{33B10221-713A-F75F-89EE-532FAD2E9394}"/>
              </a:ext>
            </a:extLst>
          </p:cNvPr>
          <p:cNvSpPr/>
          <p:nvPr/>
        </p:nvSpPr>
        <p:spPr>
          <a:xfrm rot="5400000">
            <a:off x="5870691" y="41723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0" name="Oval 9">
            <a:extLst>
              <a:ext uri="{FF2B5EF4-FFF2-40B4-BE49-F238E27FC236}">
                <a16:creationId xmlns:a16="http://schemas.microsoft.com/office/drawing/2014/main" id="{A9343078-2D85-0C77-C673-03D8B9662F2A}"/>
              </a:ext>
            </a:extLst>
          </p:cNvPr>
          <p:cNvSpPr/>
          <p:nvPr/>
        </p:nvSpPr>
        <p:spPr>
          <a:xfrm rot="5400000">
            <a:off x="6590183" y="34531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6" name="Oval 25">
            <a:extLst>
              <a:ext uri="{FF2B5EF4-FFF2-40B4-BE49-F238E27FC236}">
                <a16:creationId xmlns:a16="http://schemas.microsoft.com/office/drawing/2014/main" id="{4EC52722-E3BE-8904-0B62-095C8BF07C1B}"/>
              </a:ext>
            </a:extLst>
          </p:cNvPr>
          <p:cNvSpPr/>
          <p:nvPr/>
        </p:nvSpPr>
        <p:spPr>
          <a:xfrm rot="5400000" flipV="1">
            <a:off x="5174785" y="48966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8" name="Oval 27">
            <a:extLst>
              <a:ext uri="{FF2B5EF4-FFF2-40B4-BE49-F238E27FC236}">
                <a16:creationId xmlns:a16="http://schemas.microsoft.com/office/drawing/2014/main" id="{26C1BB6E-1AD9-EDEB-EA5E-AEE6282CCE82}"/>
              </a:ext>
            </a:extLst>
          </p:cNvPr>
          <p:cNvSpPr/>
          <p:nvPr/>
        </p:nvSpPr>
        <p:spPr>
          <a:xfrm rot="5400000" flipV="1">
            <a:off x="5172581" y="34531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6" name="Straight Arrow Connector 45">
            <a:extLst>
              <a:ext uri="{FF2B5EF4-FFF2-40B4-BE49-F238E27FC236}">
                <a16:creationId xmlns:a16="http://schemas.microsoft.com/office/drawing/2014/main" id="{6E714FC1-00ED-250D-7B12-17B3DB43D1F3}"/>
              </a:ext>
            </a:extLst>
          </p:cNvPr>
          <p:cNvCxnSpPr>
            <a:cxnSpLocks/>
          </p:cNvCxnSpPr>
          <p:nvPr/>
        </p:nvCxnSpPr>
        <p:spPr>
          <a:xfrm flipH="1" flipV="1">
            <a:off x="6184985" y="4244304"/>
            <a:ext cx="2359287" cy="175257"/>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C658E7EA-C01C-B73C-A388-DBFC4ACDD72F}"/>
              </a:ext>
            </a:extLst>
          </p:cNvPr>
          <p:cNvSpPr txBox="1"/>
          <p:nvPr/>
        </p:nvSpPr>
        <p:spPr>
          <a:xfrm>
            <a:off x="8590648" y="3677283"/>
            <a:ext cx="2808883" cy="1384995"/>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IN" sz="2800" dirty="0">
                <a:solidFill>
                  <a:srgbClr val="002060"/>
                </a:solidFill>
              </a:rPr>
              <a:t>A vertex lies on cycle still it is a cut vertex</a:t>
            </a:r>
            <a:endParaRPr lang="en-IN" dirty="0">
              <a:solidFill>
                <a:srgbClr val="002060"/>
              </a:solidFill>
            </a:endParaRPr>
          </a:p>
        </p:txBody>
      </p:sp>
      <p:cxnSp>
        <p:nvCxnSpPr>
          <p:cNvPr id="50" name="Straight Arrow Connector 49">
            <a:extLst>
              <a:ext uri="{FF2B5EF4-FFF2-40B4-BE49-F238E27FC236}">
                <a16:creationId xmlns:a16="http://schemas.microsoft.com/office/drawing/2014/main" id="{2AF2F0CD-26D7-1867-E2CD-F13966E5235A}"/>
              </a:ext>
            </a:extLst>
          </p:cNvPr>
          <p:cNvCxnSpPr>
            <a:cxnSpLocks/>
          </p:cNvCxnSpPr>
          <p:nvPr/>
        </p:nvCxnSpPr>
        <p:spPr>
          <a:xfrm flipV="1">
            <a:off x="3356761" y="4244304"/>
            <a:ext cx="2343636" cy="250954"/>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58628EC-F686-5E7A-A725-C22FDDA39BB7}"/>
              </a:ext>
            </a:extLst>
          </p:cNvPr>
          <p:cNvSpPr txBox="1"/>
          <p:nvPr/>
        </p:nvSpPr>
        <p:spPr>
          <a:xfrm>
            <a:off x="394456" y="3480363"/>
            <a:ext cx="2808883" cy="18158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IN" sz="2800" dirty="0">
                <a:solidFill>
                  <a:srgbClr val="002060"/>
                </a:solidFill>
              </a:rPr>
              <a:t>A cut vertex exist without being incident to any bridge</a:t>
            </a:r>
            <a:endParaRPr lang="en-IN" dirty="0">
              <a:solidFill>
                <a:srgbClr val="002060"/>
              </a:solidFill>
            </a:endParaRPr>
          </a:p>
        </p:txBody>
      </p:sp>
    </p:spTree>
    <p:extLst>
      <p:ext uri="{BB962C8B-B14F-4D97-AF65-F5344CB8AC3E}">
        <p14:creationId xmlns:p14="http://schemas.microsoft.com/office/powerpoint/2010/main" val="2753460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9" presetClass="emph" presetSubtype="0" fill="hold" grpId="0" nodeType="clickEffect">
                                  <p:stCondLst>
                                    <p:cond delay="0"/>
                                  </p:stCondLst>
                                  <p:childTnLst>
                                    <p:animClr clrSpc="rgb" dir="cw">
                                      <p:cBhvr override="childStyle">
                                        <p:cTn id="38" dur="500" fill="hold"/>
                                        <p:tgtEl>
                                          <p:spTgt spid="7"/>
                                        </p:tgtEl>
                                        <p:attrNameLst>
                                          <p:attrName>style.color</p:attrName>
                                        </p:attrNameLst>
                                      </p:cBhvr>
                                      <p:to>
                                        <a:schemeClr val="accent2"/>
                                      </p:to>
                                    </p:animClr>
                                    <p:animClr clrSpc="rgb" dir="cw">
                                      <p:cBhvr>
                                        <p:cTn id="39" dur="500" fill="hold"/>
                                        <p:tgtEl>
                                          <p:spTgt spid="7"/>
                                        </p:tgtEl>
                                        <p:attrNameLst>
                                          <p:attrName>fillcolor</p:attrName>
                                        </p:attrNameLst>
                                      </p:cBhvr>
                                      <p:to>
                                        <a:schemeClr val="accent2"/>
                                      </p:to>
                                    </p:animClr>
                                    <p:set>
                                      <p:cBhvr>
                                        <p:cTn id="40" dur="500" fill="hold"/>
                                        <p:tgtEl>
                                          <p:spTgt spid="7"/>
                                        </p:tgtEl>
                                        <p:attrNameLst>
                                          <p:attrName>fill.type</p:attrName>
                                        </p:attrNameLst>
                                      </p:cBhvr>
                                      <p:to>
                                        <p:strVal val="solid"/>
                                      </p:to>
                                    </p:set>
                                    <p:set>
                                      <p:cBhvr>
                                        <p:cTn id="41" dur="500" fill="hold"/>
                                        <p:tgtEl>
                                          <p:spTgt spid="7"/>
                                        </p:tgtEl>
                                        <p:attrNameLst>
                                          <p:attrName>fill.on</p:attrName>
                                        </p:attrNameLst>
                                      </p:cBhvr>
                                      <p:to>
                                        <p:strVal val="true"/>
                                      </p:to>
                                    </p:set>
                                  </p:childTnLst>
                                </p:cTn>
                              </p:par>
                              <p:par>
                                <p:cTn id="42" presetID="1" presetClass="entr" presetSubtype="0" fill="hold" grpId="0" nodeType="withEffect">
                                  <p:stCondLst>
                                    <p:cond delay="0"/>
                                  </p:stCondLst>
                                  <p:childTnLst>
                                    <p:set>
                                      <p:cBhvr>
                                        <p:cTn id="43" dur="1" fill="hold">
                                          <p:stCondLst>
                                            <p:cond delay="0"/>
                                          </p:stCondLst>
                                        </p:cTn>
                                        <p:tgtEl>
                                          <p:spTgt spid="51"/>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50"/>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47"/>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7" grpId="1" animBg="1"/>
      <p:bldP spid="10" grpId="0" animBg="1"/>
      <p:bldP spid="26" grpId="0" animBg="1"/>
      <p:bldP spid="28" grpId="0" animBg="1"/>
      <p:bldP spid="47" grpId="0" animBg="1"/>
      <p:bldP spid="51"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4CCAA-6686-304B-E256-5A7D72FA0FE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0AF4EE01-B0AC-C419-2211-5065288AF39E}"/>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897411CC-FD3B-E04F-73FE-3D1627AE4CFD}"/>
              </a:ext>
            </a:extLst>
          </p:cNvPr>
          <p:cNvSpPr>
            <a:spLocks noGrp="1"/>
          </p:cNvSpPr>
          <p:nvPr>
            <p:ph idx="1"/>
          </p:nvPr>
        </p:nvSpPr>
        <p:spPr>
          <a:xfrm>
            <a:off x="131180" y="863444"/>
            <a:ext cx="11929641" cy="5517883"/>
          </a:xfrm>
        </p:spPr>
        <p:txBody>
          <a:bodyPr/>
          <a:lstStyle/>
          <a:p>
            <a:pPr marL="0" indent="0">
              <a:lnSpc>
                <a:spcPct val="100000"/>
              </a:lnSpc>
              <a:buNone/>
            </a:pPr>
            <a:r>
              <a:rPr lang="en-IN" dirty="0">
                <a:solidFill>
                  <a:srgbClr val="FF0000"/>
                </a:solidFill>
              </a:rPr>
              <a:t>? If a vertex does not lies on any cycle then it is cut vertex. (True/False)</a:t>
            </a:r>
          </a:p>
          <a:p>
            <a:pPr>
              <a:lnSpc>
                <a:spcPct val="100000"/>
              </a:lnSpc>
            </a:pPr>
            <a:r>
              <a:rPr lang="en-IN" dirty="0"/>
              <a:t>False</a:t>
            </a:r>
          </a:p>
          <a:p>
            <a:pPr marL="0" indent="0">
              <a:lnSpc>
                <a:spcPct val="100000"/>
              </a:lnSpc>
              <a:buNone/>
            </a:pPr>
            <a:endParaRPr lang="en-IN" dirty="0"/>
          </a:p>
          <a:p>
            <a:pPr lvl="1">
              <a:lnSpc>
                <a:spcPct val="100000"/>
              </a:lnSpc>
            </a:pPr>
            <a:endParaRPr lang="en-IN" dirty="0"/>
          </a:p>
          <a:p>
            <a:endParaRPr lang="en-IN" dirty="0"/>
          </a:p>
        </p:txBody>
      </p:sp>
      <p:cxnSp>
        <p:nvCxnSpPr>
          <p:cNvPr id="2" name="Straight Connector 1">
            <a:extLst>
              <a:ext uri="{FF2B5EF4-FFF2-40B4-BE49-F238E27FC236}">
                <a16:creationId xmlns:a16="http://schemas.microsoft.com/office/drawing/2014/main" id="{B272B7AC-0DA2-7A34-0343-027024306A27}"/>
              </a:ext>
            </a:extLst>
          </p:cNvPr>
          <p:cNvCxnSpPr>
            <a:cxnSpLocks/>
          </p:cNvCxnSpPr>
          <p:nvPr/>
        </p:nvCxnSpPr>
        <p:spPr>
          <a:xfrm flipV="1">
            <a:off x="5244581" y="3597099"/>
            <a:ext cx="2204" cy="1299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 name="Straight Connector 3">
            <a:extLst>
              <a:ext uri="{FF2B5EF4-FFF2-40B4-BE49-F238E27FC236}">
                <a16:creationId xmlns:a16="http://schemas.microsoft.com/office/drawing/2014/main" id="{269D7391-6AD6-1E22-5B4B-CDFCDD0DE234}"/>
              </a:ext>
            </a:extLst>
          </p:cNvPr>
          <p:cNvCxnSpPr>
            <a:cxnSpLocks/>
            <a:stCxn id="11" idx="3"/>
            <a:endCxn id="14" idx="5"/>
          </p:cNvCxnSpPr>
          <p:nvPr/>
        </p:nvCxnSpPr>
        <p:spPr>
          <a:xfrm flipH="1" flipV="1">
            <a:off x="5295493" y="3576012"/>
            <a:ext cx="596286"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a:extLst>
              <a:ext uri="{FF2B5EF4-FFF2-40B4-BE49-F238E27FC236}">
                <a16:creationId xmlns:a16="http://schemas.microsoft.com/office/drawing/2014/main" id="{1BCA44AC-D0B6-6E69-7D54-AF6C78AF8548}"/>
              </a:ext>
            </a:extLst>
          </p:cNvPr>
          <p:cNvCxnSpPr>
            <a:cxnSpLocks/>
            <a:stCxn id="10" idx="2"/>
            <a:endCxn id="12" idx="6"/>
          </p:cNvCxnSpPr>
          <p:nvPr/>
        </p:nvCxnSpPr>
        <p:spPr>
          <a:xfrm flipH="1" flipV="1">
            <a:off x="6662183" y="3597100"/>
            <a:ext cx="2204" cy="1299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 name="Straight Connector 6">
            <a:extLst>
              <a:ext uri="{FF2B5EF4-FFF2-40B4-BE49-F238E27FC236}">
                <a16:creationId xmlns:a16="http://schemas.microsoft.com/office/drawing/2014/main" id="{CFEA8312-BB4E-8F5F-A811-1BEE7FCC941C}"/>
              </a:ext>
            </a:extLst>
          </p:cNvPr>
          <p:cNvCxnSpPr>
            <a:cxnSpLocks/>
            <a:stCxn id="11" idx="1"/>
            <a:endCxn id="12" idx="5"/>
          </p:cNvCxnSpPr>
          <p:nvPr/>
        </p:nvCxnSpPr>
        <p:spPr>
          <a:xfrm flipV="1">
            <a:off x="5993603" y="3576012"/>
            <a:ext cx="617668"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a:extLst>
              <a:ext uri="{FF2B5EF4-FFF2-40B4-BE49-F238E27FC236}">
                <a16:creationId xmlns:a16="http://schemas.microsoft.com/office/drawing/2014/main" id="{4D711F29-E63B-9D6A-9EAA-0323807F44AC}"/>
              </a:ext>
            </a:extLst>
          </p:cNvPr>
          <p:cNvCxnSpPr>
            <a:cxnSpLocks/>
            <a:stCxn id="11" idx="7"/>
            <a:endCxn id="10" idx="3"/>
          </p:cNvCxnSpPr>
          <p:nvPr/>
        </p:nvCxnSpPr>
        <p:spPr>
          <a:xfrm>
            <a:off x="5993603" y="4295216"/>
            <a:ext cx="61987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a:extLst>
              <a:ext uri="{FF2B5EF4-FFF2-40B4-BE49-F238E27FC236}">
                <a16:creationId xmlns:a16="http://schemas.microsoft.com/office/drawing/2014/main" id="{4099AD0F-F6DB-0480-66EB-6F230729226F}"/>
              </a:ext>
            </a:extLst>
          </p:cNvPr>
          <p:cNvSpPr/>
          <p:nvPr/>
        </p:nvSpPr>
        <p:spPr>
          <a:xfrm rot="5400000">
            <a:off x="6592387" y="48966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6402443B-F2D5-A47D-06AE-C69C0DA306DE}"/>
              </a:ext>
            </a:extLst>
          </p:cNvPr>
          <p:cNvSpPr/>
          <p:nvPr/>
        </p:nvSpPr>
        <p:spPr>
          <a:xfrm rot="5400000">
            <a:off x="5870691" y="41723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Oval 11">
            <a:extLst>
              <a:ext uri="{FF2B5EF4-FFF2-40B4-BE49-F238E27FC236}">
                <a16:creationId xmlns:a16="http://schemas.microsoft.com/office/drawing/2014/main" id="{5B2A184F-1CB5-E776-1C2F-ABF73111A05A}"/>
              </a:ext>
            </a:extLst>
          </p:cNvPr>
          <p:cNvSpPr/>
          <p:nvPr/>
        </p:nvSpPr>
        <p:spPr>
          <a:xfrm rot="5400000">
            <a:off x="6590183" y="34531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D48EC0CE-09C4-8F79-DEF6-3D2B4D18E84E}"/>
              </a:ext>
            </a:extLst>
          </p:cNvPr>
          <p:cNvSpPr/>
          <p:nvPr/>
        </p:nvSpPr>
        <p:spPr>
          <a:xfrm rot="5400000" flipV="1">
            <a:off x="5174785" y="489668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FE14F30E-9C70-31D7-9B1A-3CC6C0F58BD3}"/>
              </a:ext>
            </a:extLst>
          </p:cNvPr>
          <p:cNvSpPr/>
          <p:nvPr/>
        </p:nvSpPr>
        <p:spPr>
          <a:xfrm rot="5400000" flipV="1">
            <a:off x="5172581" y="34531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5" name="Straight Arrow Connector 14">
            <a:extLst>
              <a:ext uri="{FF2B5EF4-FFF2-40B4-BE49-F238E27FC236}">
                <a16:creationId xmlns:a16="http://schemas.microsoft.com/office/drawing/2014/main" id="{8ADE7812-D865-3FC9-1A97-F4271D3AC1F7}"/>
              </a:ext>
            </a:extLst>
          </p:cNvPr>
          <p:cNvCxnSpPr>
            <a:cxnSpLocks/>
          </p:cNvCxnSpPr>
          <p:nvPr/>
        </p:nvCxnSpPr>
        <p:spPr>
          <a:xfrm>
            <a:off x="3356761" y="4495258"/>
            <a:ext cx="1815820" cy="42251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5F882F2-0A32-0F55-B324-B14836842FA9}"/>
              </a:ext>
            </a:extLst>
          </p:cNvPr>
          <p:cNvSpPr txBox="1"/>
          <p:nvPr/>
        </p:nvSpPr>
        <p:spPr>
          <a:xfrm>
            <a:off x="645195" y="2527132"/>
            <a:ext cx="2808883" cy="18158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IN" sz="2800" dirty="0">
                <a:solidFill>
                  <a:srgbClr val="002060"/>
                </a:solidFill>
              </a:rPr>
              <a:t>A vertex does not lies on cycle and still it is not cut vertex.</a:t>
            </a:r>
            <a:endParaRPr lang="en-IN" dirty="0">
              <a:solidFill>
                <a:srgbClr val="002060"/>
              </a:solidFill>
            </a:endParaRPr>
          </a:p>
        </p:txBody>
      </p:sp>
    </p:spTree>
    <p:extLst>
      <p:ext uri="{BB962C8B-B14F-4D97-AF65-F5344CB8AC3E}">
        <p14:creationId xmlns:p14="http://schemas.microsoft.com/office/powerpoint/2010/main" val="2844325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9" presetClass="emph" presetSubtype="0" fill="hold" grpId="1" nodeType="clickEffect">
                                  <p:stCondLst>
                                    <p:cond delay="0"/>
                                  </p:stCondLst>
                                  <p:childTnLst>
                                    <p:animClr clrSpc="rgb" dir="cw">
                                      <p:cBhvr override="childStyle">
                                        <p:cTn id="36" dur="500" fill="hold"/>
                                        <p:tgtEl>
                                          <p:spTgt spid="13"/>
                                        </p:tgtEl>
                                        <p:attrNameLst>
                                          <p:attrName>style.color</p:attrName>
                                        </p:attrNameLst>
                                      </p:cBhvr>
                                      <p:to>
                                        <a:schemeClr val="accent2"/>
                                      </p:to>
                                    </p:animClr>
                                    <p:animClr clrSpc="rgb" dir="cw">
                                      <p:cBhvr>
                                        <p:cTn id="37" dur="500" fill="hold"/>
                                        <p:tgtEl>
                                          <p:spTgt spid="13"/>
                                        </p:tgtEl>
                                        <p:attrNameLst>
                                          <p:attrName>fillcolor</p:attrName>
                                        </p:attrNameLst>
                                      </p:cBhvr>
                                      <p:to>
                                        <a:schemeClr val="accent2"/>
                                      </p:to>
                                    </p:animClr>
                                    <p:set>
                                      <p:cBhvr>
                                        <p:cTn id="38" dur="500" fill="hold"/>
                                        <p:tgtEl>
                                          <p:spTgt spid="13"/>
                                        </p:tgtEl>
                                        <p:attrNameLst>
                                          <p:attrName>fill.type</p:attrName>
                                        </p:attrNameLst>
                                      </p:cBhvr>
                                      <p:to>
                                        <p:strVal val="solid"/>
                                      </p:to>
                                    </p:set>
                                    <p:set>
                                      <p:cBhvr>
                                        <p:cTn id="39" dur="500" fill="hold"/>
                                        <p:tgtEl>
                                          <p:spTgt spid="13"/>
                                        </p:tgtEl>
                                        <p:attrNameLst>
                                          <p:attrName>fill.on</p:attrName>
                                        </p:attrNameLst>
                                      </p:cBhvr>
                                      <p:to>
                                        <p:strVal val="true"/>
                                      </p:to>
                                    </p:set>
                                  </p:childTnLst>
                                </p:cTn>
                              </p:par>
                              <p:par>
                                <p:cTn id="40" presetID="1"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3" grpId="1" animBg="1"/>
      <p:bldP spid="14" grpId="0" animBg="1"/>
      <p:bldP spid="16"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7CFC4-C279-854E-8550-74D0BBD12F5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FE25348D-A1A7-913E-DAED-EB3ABC35DC2A}"/>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9A2D2A1A-A817-232E-03F2-D0493453ED9D}"/>
              </a:ext>
            </a:extLst>
          </p:cNvPr>
          <p:cNvSpPr>
            <a:spLocks noGrp="1"/>
          </p:cNvSpPr>
          <p:nvPr>
            <p:ph idx="1"/>
          </p:nvPr>
        </p:nvSpPr>
        <p:spPr>
          <a:xfrm>
            <a:off x="131180" y="863444"/>
            <a:ext cx="11929641" cy="5517883"/>
          </a:xfrm>
        </p:spPr>
        <p:txBody>
          <a:bodyPr/>
          <a:lstStyle/>
          <a:p>
            <a:pPr marL="0" indent="0">
              <a:lnSpc>
                <a:spcPct val="100000"/>
              </a:lnSpc>
              <a:buNone/>
            </a:pPr>
            <a:r>
              <a:rPr lang="en-IN" dirty="0">
                <a:solidFill>
                  <a:srgbClr val="FF0000"/>
                </a:solidFill>
              </a:rPr>
              <a:t>? A tree of order 3 or more has more cut vertices than end vertices.</a:t>
            </a:r>
          </a:p>
          <a:p>
            <a:pPr>
              <a:lnSpc>
                <a:spcPct val="100000"/>
              </a:lnSpc>
            </a:pPr>
            <a:r>
              <a:rPr lang="en-IN" dirty="0"/>
              <a:t>False</a:t>
            </a:r>
            <a:r>
              <a:rPr lang="en-IN" dirty="0">
                <a:solidFill>
                  <a:srgbClr val="FF0000"/>
                </a:solidFill>
              </a:rPr>
              <a:t> </a:t>
            </a:r>
          </a:p>
          <a:p>
            <a:pPr marL="0" indent="0">
              <a:lnSpc>
                <a:spcPct val="100000"/>
              </a:lnSpc>
              <a:buNone/>
            </a:pPr>
            <a:r>
              <a:rPr lang="en-IN" dirty="0">
                <a:solidFill>
                  <a:srgbClr val="FF0000"/>
                </a:solidFill>
              </a:rPr>
              <a:t>? A tree of order 3 or more has more cut vertices than bridges.</a:t>
            </a:r>
          </a:p>
          <a:p>
            <a:pPr>
              <a:lnSpc>
                <a:spcPct val="100000"/>
              </a:lnSpc>
            </a:pPr>
            <a:r>
              <a:rPr lang="en-IN" dirty="0"/>
              <a:t>False</a:t>
            </a:r>
          </a:p>
          <a:p>
            <a:pPr marL="0" indent="0">
              <a:lnSpc>
                <a:spcPct val="100000"/>
              </a:lnSpc>
              <a:buNone/>
            </a:pPr>
            <a:r>
              <a:rPr lang="en-IN" dirty="0">
                <a:solidFill>
                  <a:srgbClr val="FF0000"/>
                </a:solidFill>
              </a:rPr>
              <a:t>? Give an example of graph that contains more bridges than cut vertices.</a:t>
            </a:r>
          </a:p>
          <a:p>
            <a:pPr marL="0" indent="0">
              <a:lnSpc>
                <a:spcPct val="100000"/>
              </a:lnSpc>
              <a:buNone/>
            </a:pPr>
            <a:endParaRPr lang="en-IN" dirty="0"/>
          </a:p>
        </p:txBody>
      </p:sp>
      <p:cxnSp>
        <p:nvCxnSpPr>
          <p:cNvPr id="2" name="Straight Connector 1">
            <a:extLst>
              <a:ext uri="{FF2B5EF4-FFF2-40B4-BE49-F238E27FC236}">
                <a16:creationId xmlns:a16="http://schemas.microsoft.com/office/drawing/2014/main" id="{2976F315-00C9-67C5-0709-7AD43C13899B}"/>
              </a:ext>
            </a:extLst>
          </p:cNvPr>
          <p:cNvCxnSpPr>
            <a:cxnSpLocks/>
          </p:cNvCxnSpPr>
          <p:nvPr/>
        </p:nvCxnSpPr>
        <p:spPr>
          <a:xfrm flipV="1">
            <a:off x="3596816" y="4601884"/>
            <a:ext cx="2204" cy="1299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 name="Straight Connector 3">
            <a:extLst>
              <a:ext uri="{FF2B5EF4-FFF2-40B4-BE49-F238E27FC236}">
                <a16:creationId xmlns:a16="http://schemas.microsoft.com/office/drawing/2014/main" id="{A090E1AC-F70E-2BCF-FCC7-4ED900E91B48}"/>
              </a:ext>
            </a:extLst>
          </p:cNvPr>
          <p:cNvCxnSpPr>
            <a:cxnSpLocks/>
            <a:stCxn id="11" idx="3"/>
            <a:endCxn id="14" idx="5"/>
          </p:cNvCxnSpPr>
          <p:nvPr/>
        </p:nvCxnSpPr>
        <p:spPr>
          <a:xfrm flipH="1" flipV="1">
            <a:off x="3647728" y="4580797"/>
            <a:ext cx="1325651" cy="1413759"/>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1" name="Oval 10">
            <a:extLst>
              <a:ext uri="{FF2B5EF4-FFF2-40B4-BE49-F238E27FC236}">
                <a16:creationId xmlns:a16="http://schemas.microsoft.com/office/drawing/2014/main" id="{2B1C1B4E-7509-10EE-417E-17D8B07350C1}"/>
              </a:ext>
            </a:extLst>
          </p:cNvPr>
          <p:cNvSpPr/>
          <p:nvPr/>
        </p:nvSpPr>
        <p:spPr>
          <a:xfrm rot="5400000">
            <a:off x="4952291" y="59734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62121CFC-19FC-4912-979A-FEECCA83640B}"/>
              </a:ext>
            </a:extLst>
          </p:cNvPr>
          <p:cNvSpPr/>
          <p:nvPr/>
        </p:nvSpPr>
        <p:spPr>
          <a:xfrm rot="5400000" flipV="1">
            <a:off x="3527020" y="590146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C9CEB3DA-349F-669B-394B-CD84EC842C97}"/>
              </a:ext>
            </a:extLst>
          </p:cNvPr>
          <p:cNvSpPr/>
          <p:nvPr/>
        </p:nvSpPr>
        <p:spPr>
          <a:xfrm rot="5400000" flipV="1">
            <a:off x="3524816" y="4457885"/>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5" name="Thought Bubble: Cloud 4">
            <a:extLst>
              <a:ext uri="{FF2B5EF4-FFF2-40B4-BE49-F238E27FC236}">
                <a16:creationId xmlns:a16="http://schemas.microsoft.com/office/drawing/2014/main" id="{01BDD128-E2B5-4279-A89B-BF340ADF9768}"/>
              </a:ext>
            </a:extLst>
          </p:cNvPr>
          <p:cNvSpPr/>
          <p:nvPr/>
        </p:nvSpPr>
        <p:spPr>
          <a:xfrm>
            <a:off x="4883018" y="3729338"/>
            <a:ext cx="3934343" cy="2232248"/>
          </a:xfrm>
          <a:prstGeom prst="cloud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dirty="0">
                <a:solidFill>
                  <a:srgbClr val="002060"/>
                </a:solidFill>
              </a:rPr>
              <a:t>Tree has 1 cut vertex and 2 end vertices as well as 2 bridges</a:t>
            </a:r>
          </a:p>
        </p:txBody>
      </p:sp>
    </p:spTree>
    <p:extLst>
      <p:ext uri="{BB962C8B-B14F-4D97-AF65-F5344CB8AC3E}">
        <p14:creationId xmlns:p14="http://schemas.microsoft.com/office/powerpoint/2010/main" val="355042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5"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4C97C-16B2-5036-4B54-A198A14AB445}"/>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1976437-4E89-2D6A-8DB6-33F432AD69C2}"/>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7619A6F0-D736-6EAF-9662-EF5B92D616E5}"/>
              </a:ext>
            </a:extLst>
          </p:cNvPr>
          <p:cNvSpPr>
            <a:spLocks noGrp="1"/>
          </p:cNvSpPr>
          <p:nvPr>
            <p:ph idx="1"/>
          </p:nvPr>
        </p:nvSpPr>
        <p:spPr>
          <a:xfrm>
            <a:off x="131180" y="863444"/>
            <a:ext cx="11929641" cy="5589891"/>
          </a:xfrm>
        </p:spPr>
        <p:txBody>
          <a:bodyPr/>
          <a:lstStyle/>
          <a:p>
            <a:pPr marL="514350" indent="-514350">
              <a:buFont typeface="+mj-lt"/>
              <a:buAutoNum type="arabicPeriod" startAt="8"/>
            </a:pPr>
            <a:r>
              <a:rPr lang="en-IN" dirty="0"/>
              <a:t>Give an example of graph that contains more cut vertices than bridges.</a:t>
            </a:r>
          </a:p>
          <a:p>
            <a:pPr marL="514350" indent="-514350">
              <a:buFont typeface="+mj-lt"/>
              <a:buAutoNum type="arabicPeriod" startAt="8"/>
            </a:pPr>
            <a:r>
              <a:rPr lang="en-IN" dirty="0"/>
              <a:t>Every tree of order n has _________bridges and at most __________cut vertices.</a:t>
            </a:r>
          </a:p>
          <a:p>
            <a:pPr marL="514350" indent="-514350">
              <a:buFont typeface="+mj-lt"/>
              <a:buAutoNum type="arabicPeriod" startAt="8"/>
            </a:pPr>
            <a:r>
              <a:rPr lang="en-IN" dirty="0"/>
              <a:t>Give counter example of the following </a:t>
            </a:r>
          </a:p>
          <a:p>
            <a:pPr lvl="1"/>
            <a:r>
              <a:rPr lang="en-US" dirty="0"/>
              <a:t>If G is a connected graph of order 13 and v is a cut-vertex of G, then there exists a component of G−v containing at least 7 vertices.</a:t>
            </a:r>
          </a:p>
          <a:p>
            <a:pPr lvl="1"/>
            <a:r>
              <a:rPr lang="en-US" dirty="0"/>
              <a:t>If G is a connected graph containing only even vertices, then G contains no cut-vertices.</a:t>
            </a:r>
          </a:p>
          <a:p>
            <a:pPr lvl="1"/>
            <a:r>
              <a:rPr lang="en-US" dirty="0"/>
              <a:t>If G is a connected graph with a cut-vertex, then G contains a bridge.</a:t>
            </a:r>
          </a:p>
          <a:p>
            <a:pPr lvl="1"/>
            <a:r>
              <a:rPr lang="en-US" dirty="0"/>
              <a:t>If G is a connected graph with a bridge, then G contains a cut-vertex.</a:t>
            </a:r>
            <a:endParaRPr lang="en-IN" dirty="0"/>
          </a:p>
        </p:txBody>
      </p:sp>
    </p:spTree>
    <p:extLst>
      <p:ext uri="{BB962C8B-B14F-4D97-AF65-F5344CB8AC3E}">
        <p14:creationId xmlns:p14="http://schemas.microsoft.com/office/powerpoint/2010/main" val="137028946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1F386-2F95-ED21-FB9A-E4A678AEF66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D08537BE-6CE8-BEDF-166D-60BC1D52226C}"/>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E304F129-0B38-7E51-3F33-4547E595F57B}"/>
              </a:ext>
            </a:extLst>
          </p:cNvPr>
          <p:cNvSpPr>
            <a:spLocks noGrp="1"/>
          </p:cNvSpPr>
          <p:nvPr>
            <p:ph idx="1"/>
          </p:nvPr>
        </p:nvSpPr>
        <p:spPr>
          <a:xfrm>
            <a:off x="131180" y="863444"/>
            <a:ext cx="11929641" cy="5589891"/>
          </a:xfrm>
        </p:spPr>
        <p:txBody>
          <a:bodyPr/>
          <a:lstStyle/>
          <a:p>
            <a:pPr marL="0" indent="0">
              <a:buNone/>
            </a:pPr>
            <a:r>
              <a:rPr lang="en-IN" dirty="0">
                <a:solidFill>
                  <a:srgbClr val="FF0000"/>
                </a:solidFill>
              </a:rPr>
              <a:t>? Give an example of graph that contains more cut vertices than bridges.</a:t>
            </a:r>
          </a:p>
          <a:p>
            <a:endParaRPr lang="en-IN" dirty="0">
              <a:solidFill>
                <a:srgbClr val="FF0000"/>
              </a:solidFill>
            </a:endParaRPr>
          </a:p>
        </p:txBody>
      </p:sp>
      <p:cxnSp>
        <p:nvCxnSpPr>
          <p:cNvPr id="2" name="Straight Connector 1">
            <a:extLst>
              <a:ext uri="{FF2B5EF4-FFF2-40B4-BE49-F238E27FC236}">
                <a16:creationId xmlns:a16="http://schemas.microsoft.com/office/drawing/2014/main" id="{206E5790-42DD-1B2D-1480-0A2A336E33AB}"/>
              </a:ext>
            </a:extLst>
          </p:cNvPr>
          <p:cNvCxnSpPr>
            <a:cxnSpLocks/>
          </p:cNvCxnSpPr>
          <p:nvPr/>
        </p:nvCxnSpPr>
        <p:spPr>
          <a:xfrm flipV="1">
            <a:off x="3618786" y="2153943"/>
            <a:ext cx="2204" cy="1299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 name="Straight Connector 3">
            <a:extLst>
              <a:ext uri="{FF2B5EF4-FFF2-40B4-BE49-F238E27FC236}">
                <a16:creationId xmlns:a16="http://schemas.microsoft.com/office/drawing/2014/main" id="{48060B5C-6820-929C-5D5A-6F3D1E3FE518}"/>
              </a:ext>
            </a:extLst>
          </p:cNvPr>
          <p:cNvCxnSpPr>
            <a:cxnSpLocks/>
            <a:stCxn id="11" idx="3"/>
            <a:endCxn id="14" idx="5"/>
          </p:cNvCxnSpPr>
          <p:nvPr/>
        </p:nvCxnSpPr>
        <p:spPr>
          <a:xfrm flipH="1" flipV="1">
            <a:off x="3669698" y="2132856"/>
            <a:ext cx="596286"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 name="Straight Connector 4">
            <a:extLst>
              <a:ext uri="{FF2B5EF4-FFF2-40B4-BE49-F238E27FC236}">
                <a16:creationId xmlns:a16="http://schemas.microsoft.com/office/drawing/2014/main" id="{BE654441-78EF-F8F0-BF23-B577B4803993}"/>
              </a:ext>
            </a:extLst>
          </p:cNvPr>
          <p:cNvCxnSpPr>
            <a:cxnSpLocks/>
            <a:stCxn id="11" idx="5"/>
            <a:endCxn id="13" idx="3"/>
          </p:cNvCxnSpPr>
          <p:nvPr/>
        </p:nvCxnSpPr>
        <p:spPr>
          <a:xfrm flipH="1">
            <a:off x="3671902" y="2852060"/>
            <a:ext cx="59408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a:extLst>
              <a:ext uri="{FF2B5EF4-FFF2-40B4-BE49-F238E27FC236}">
                <a16:creationId xmlns:a16="http://schemas.microsoft.com/office/drawing/2014/main" id="{DD06D686-617A-CE4E-E6B5-BC1C97DCD83C}"/>
              </a:ext>
            </a:extLst>
          </p:cNvPr>
          <p:cNvCxnSpPr>
            <a:cxnSpLocks/>
            <a:stCxn id="10" idx="2"/>
            <a:endCxn id="12" idx="6"/>
          </p:cNvCxnSpPr>
          <p:nvPr/>
        </p:nvCxnSpPr>
        <p:spPr>
          <a:xfrm flipH="1" flipV="1">
            <a:off x="5036388" y="2153944"/>
            <a:ext cx="2204" cy="1299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 name="Straight Connector 6">
            <a:extLst>
              <a:ext uri="{FF2B5EF4-FFF2-40B4-BE49-F238E27FC236}">
                <a16:creationId xmlns:a16="http://schemas.microsoft.com/office/drawing/2014/main" id="{9A86FA66-5826-9BA8-6771-28F87B7C94CD}"/>
              </a:ext>
            </a:extLst>
          </p:cNvPr>
          <p:cNvCxnSpPr>
            <a:cxnSpLocks/>
            <a:stCxn id="11" idx="1"/>
            <a:endCxn id="12" idx="5"/>
          </p:cNvCxnSpPr>
          <p:nvPr/>
        </p:nvCxnSpPr>
        <p:spPr>
          <a:xfrm flipV="1">
            <a:off x="4367808" y="2132856"/>
            <a:ext cx="617668"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a:extLst>
              <a:ext uri="{FF2B5EF4-FFF2-40B4-BE49-F238E27FC236}">
                <a16:creationId xmlns:a16="http://schemas.microsoft.com/office/drawing/2014/main" id="{10121E08-B35E-A70F-15DF-2BDD5EE28BB1}"/>
              </a:ext>
            </a:extLst>
          </p:cNvPr>
          <p:cNvCxnSpPr>
            <a:cxnSpLocks/>
            <a:stCxn id="11" idx="7"/>
            <a:endCxn id="10" idx="3"/>
          </p:cNvCxnSpPr>
          <p:nvPr/>
        </p:nvCxnSpPr>
        <p:spPr>
          <a:xfrm>
            <a:off x="4367808" y="2852060"/>
            <a:ext cx="61987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a:extLst>
              <a:ext uri="{FF2B5EF4-FFF2-40B4-BE49-F238E27FC236}">
                <a16:creationId xmlns:a16="http://schemas.microsoft.com/office/drawing/2014/main" id="{E2EF10CB-1242-88B1-8C3C-057B4CDF8B7F}"/>
              </a:ext>
            </a:extLst>
          </p:cNvPr>
          <p:cNvSpPr/>
          <p:nvPr/>
        </p:nvSpPr>
        <p:spPr>
          <a:xfrm rot="5400000">
            <a:off x="4966592" y="34535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CFC8D3BE-50AE-CBB4-CF34-89048039137F}"/>
              </a:ext>
            </a:extLst>
          </p:cNvPr>
          <p:cNvSpPr/>
          <p:nvPr/>
        </p:nvSpPr>
        <p:spPr>
          <a:xfrm rot="5400000">
            <a:off x="4244896" y="272914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Oval 11">
            <a:extLst>
              <a:ext uri="{FF2B5EF4-FFF2-40B4-BE49-F238E27FC236}">
                <a16:creationId xmlns:a16="http://schemas.microsoft.com/office/drawing/2014/main" id="{7CFD5733-E199-EC60-68E4-A0FADEF4C538}"/>
              </a:ext>
            </a:extLst>
          </p:cNvPr>
          <p:cNvSpPr/>
          <p:nvPr/>
        </p:nvSpPr>
        <p:spPr>
          <a:xfrm rot="5400000">
            <a:off x="4964388" y="20099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BDAD9FF1-766E-9FB6-090E-C1AC88EFD771}"/>
              </a:ext>
            </a:extLst>
          </p:cNvPr>
          <p:cNvSpPr/>
          <p:nvPr/>
        </p:nvSpPr>
        <p:spPr>
          <a:xfrm rot="5400000" flipV="1">
            <a:off x="3548990" y="345352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D11ECEAC-C39A-E364-DDAE-92CB17102842}"/>
              </a:ext>
            </a:extLst>
          </p:cNvPr>
          <p:cNvSpPr/>
          <p:nvPr/>
        </p:nvSpPr>
        <p:spPr>
          <a:xfrm rot="5400000" flipV="1">
            <a:off x="3546786" y="200994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 name="Thought Bubble: Cloud 15">
            <a:extLst>
              <a:ext uri="{FF2B5EF4-FFF2-40B4-BE49-F238E27FC236}">
                <a16:creationId xmlns:a16="http://schemas.microsoft.com/office/drawing/2014/main" id="{5997EB2E-162D-BDEF-F9E6-2CD387033A5C}"/>
              </a:ext>
            </a:extLst>
          </p:cNvPr>
          <p:cNvSpPr/>
          <p:nvPr/>
        </p:nvSpPr>
        <p:spPr>
          <a:xfrm>
            <a:off x="5582056" y="1613024"/>
            <a:ext cx="3173833" cy="1984503"/>
          </a:xfrm>
          <a:prstGeom prst="cloud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sz="2800" dirty="0">
                <a:solidFill>
                  <a:srgbClr val="002060"/>
                </a:solidFill>
              </a:rPr>
              <a:t>Graph has 0 bridge but 1 cut vertex</a:t>
            </a:r>
          </a:p>
        </p:txBody>
      </p:sp>
    </p:spTree>
    <p:extLst>
      <p:ext uri="{BB962C8B-B14F-4D97-AF65-F5344CB8AC3E}">
        <p14:creationId xmlns:p14="http://schemas.microsoft.com/office/powerpoint/2010/main" val="118857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9" presetClass="emph" presetSubtype="0" fill="hold" grpId="0" nodeType="clickEffect">
                                  <p:stCondLst>
                                    <p:cond delay="0"/>
                                  </p:stCondLst>
                                  <p:childTnLst>
                                    <p:animClr clrSpc="rgb" dir="cw">
                                      <p:cBhvr override="childStyle">
                                        <p:cTn id="30" dur="500" fill="hold"/>
                                        <p:tgtEl>
                                          <p:spTgt spid="11"/>
                                        </p:tgtEl>
                                        <p:attrNameLst>
                                          <p:attrName>style.color</p:attrName>
                                        </p:attrNameLst>
                                      </p:cBhvr>
                                      <p:to>
                                        <a:schemeClr val="accent2"/>
                                      </p:to>
                                    </p:animClr>
                                    <p:animClr clrSpc="rgb" dir="cw">
                                      <p:cBhvr>
                                        <p:cTn id="31" dur="500" fill="hold"/>
                                        <p:tgtEl>
                                          <p:spTgt spid="11"/>
                                        </p:tgtEl>
                                        <p:attrNameLst>
                                          <p:attrName>fillcolor</p:attrName>
                                        </p:attrNameLst>
                                      </p:cBhvr>
                                      <p:to>
                                        <a:schemeClr val="accent2"/>
                                      </p:to>
                                    </p:animClr>
                                    <p:set>
                                      <p:cBhvr>
                                        <p:cTn id="32" dur="500" fill="hold"/>
                                        <p:tgtEl>
                                          <p:spTgt spid="11"/>
                                        </p:tgtEl>
                                        <p:attrNameLst>
                                          <p:attrName>fill.type</p:attrName>
                                        </p:attrNameLst>
                                      </p:cBhvr>
                                      <p:to>
                                        <p:strVal val="solid"/>
                                      </p:to>
                                    </p:set>
                                    <p:set>
                                      <p:cBhvr>
                                        <p:cTn id="33" dur="500" fill="hold"/>
                                        <p:tgtEl>
                                          <p:spTgt spid="11"/>
                                        </p:tgtEl>
                                        <p:attrNameLst>
                                          <p:attrName>fill.on</p:attrName>
                                        </p:attrNameLst>
                                      </p:cBhvr>
                                      <p:to>
                                        <p:strVal val="tru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1" grpId="1" animBg="1"/>
      <p:bldP spid="12" grpId="0" animBg="1"/>
      <p:bldP spid="13" grpId="0" animBg="1"/>
      <p:bldP spid="14" grpId="0" animBg="1"/>
      <p:bldP spid="1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BDD19-E2FC-AE44-8C75-57CD99AA32F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8D594CC-826E-F6EA-0C43-6125600E491C}"/>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C9271A-2329-8350-5FC8-099F2A9F13A8}"/>
                  </a:ext>
                </a:extLst>
              </p:cNvPr>
              <p:cNvSpPr>
                <a:spLocks noGrp="1"/>
              </p:cNvSpPr>
              <p:nvPr>
                <p:ph idx="1"/>
              </p:nvPr>
            </p:nvSpPr>
            <p:spPr>
              <a:xfrm>
                <a:off x="131180" y="863444"/>
                <a:ext cx="11929641" cy="5589891"/>
              </a:xfrm>
            </p:spPr>
            <p:txBody>
              <a:bodyPr/>
              <a:lstStyle/>
              <a:p>
                <a:pPr marL="0" indent="0">
                  <a:buNone/>
                </a:pPr>
                <a:r>
                  <a:rPr lang="en-IN" dirty="0">
                    <a:solidFill>
                      <a:srgbClr val="FF0000"/>
                    </a:solidFill>
                  </a:rPr>
                  <a:t>? Every tree of order n has _________bridges and at most __________cut vertices.</a:t>
                </a:r>
              </a:p>
              <a:p>
                <a:r>
                  <a:rPr lang="en-IN" dirty="0"/>
                  <a:t>A tree with </a:t>
                </a:r>
                <a14:m>
                  <m:oMath xmlns:m="http://schemas.openxmlformats.org/officeDocument/2006/math">
                    <m:r>
                      <m:rPr>
                        <m:sty m:val="p"/>
                      </m:rPr>
                      <a:rPr lang="en-IN" i="0" dirty="0" smtClean="0">
                        <a:latin typeface="Cambria Math" panose="02040503050406030204" pitchFamily="18" charset="0"/>
                      </a:rPr>
                      <m:t>n</m:t>
                    </m:r>
                  </m:oMath>
                </a14:m>
                <a:r>
                  <a:rPr lang="en-IN" dirty="0"/>
                  <a:t> vertices has</a:t>
                </a:r>
                <a14:m>
                  <m:oMath xmlns:m="http://schemas.openxmlformats.org/officeDocument/2006/math">
                    <m:r>
                      <a:rPr lang="en-IN" i="0" dirty="0" smtClean="0">
                        <a:latin typeface="Cambria Math" panose="02040503050406030204" pitchFamily="18" charset="0"/>
                      </a:rPr>
                      <m:t> </m:t>
                    </m:r>
                    <m:r>
                      <m:rPr>
                        <m:sty m:val="p"/>
                      </m:rPr>
                      <a:rPr lang="en-IN" i="0" dirty="0" smtClean="0">
                        <a:latin typeface="Cambria Math" panose="02040503050406030204" pitchFamily="18" charset="0"/>
                      </a:rPr>
                      <m:t>n</m:t>
                    </m:r>
                    <m:r>
                      <a:rPr lang="en-IN" i="0" dirty="0" smtClean="0">
                        <a:latin typeface="Cambria Math" panose="02040503050406030204" pitchFamily="18" charset="0"/>
                      </a:rPr>
                      <m:t>−1</m:t>
                    </m:r>
                  </m:oMath>
                </a14:m>
                <a:r>
                  <a:rPr lang="en-IN" dirty="0"/>
                  <a:t> edges and each edges is bridge so every tree of order</a:t>
                </a:r>
                <a14:m>
                  <m:oMath xmlns:m="http://schemas.openxmlformats.org/officeDocument/2006/math">
                    <m:r>
                      <a:rPr lang="en-IN" i="0" dirty="0" smtClean="0">
                        <a:latin typeface="Cambria Math" panose="02040503050406030204" pitchFamily="18" charset="0"/>
                      </a:rPr>
                      <m:t> </m:t>
                    </m:r>
                    <m:r>
                      <m:rPr>
                        <m:sty m:val="p"/>
                      </m:rPr>
                      <a:rPr lang="en-IN" i="0" dirty="0" smtClean="0">
                        <a:latin typeface="Cambria Math" panose="02040503050406030204" pitchFamily="18" charset="0"/>
                      </a:rPr>
                      <m:t>n</m:t>
                    </m:r>
                  </m:oMath>
                </a14:m>
                <a:r>
                  <a:rPr lang="en-IN" dirty="0"/>
                  <a:t> has</a:t>
                </a:r>
                <a14:m>
                  <m:oMath xmlns:m="http://schemas.openxmlformats.org/officeDocument/2006/math">
                    <m:r>
                      <a:rPr lang="en-IN" i="0" dirty="0" smtClean="0">
                        <a:latin typeface="Cambria Math" panose="02040503050406030204" pitchFamily="18" charset="0"/>
                      </a:rPr>
                      <m:t> </m:t>
                    </m:r>
                    <m:r>
                      <m:rPr>
                        <m:sty m:val="p"/>
                      </m:rPr>
                      <a:rPr lang="en-IN" i="0" dirty="0" smtClean="0">
                        <a:latin typeface="Cambria Math" panose="02040503050406030204" pitchFamily="18" charset="0"/>
                      </a:rPr>
                      <m:t>n</m:t>
                    </m:r>
                    <m:r>
                      <a:rPr lang="en-IN" i="0" dirty="0" smtClean="0">
                        <a:latin typeface="Cambria Math" panose="02040503050406030204" pitchFamily="18" charset="0"/>
                      </a:rPr>
                      <m:t>−1</m:t>
                    </m:r>
                  </m:oMath>
                </a14:m>
                <a:r>
                  <a:rPr lang="en-IN" dirty="0"/>
                  <a:t> bridges.</a:t>
                </a:r>
              </a:p>
              <a:p>
                <a:r>
                  <a:rPr lang="en-IN" dirty="0"/>
                  <a:t>Also we know that each non leaf vertices is cut vertex in tree. So, maximum non leaf vertices are in path tree of order</a:t>
                </a:r>
                <a14:m>
                  <m:oMath xmlns:m="http://schemas.openxmlformats.org/officeDocument/2006/math">
                    <m:r>
                      <a:rPr lang="en-IN" i="0" dirty="0" smtClean="0">
                        <a:latin typeface="Cambria Math" panose="02040503050406030204" pitchFamily="18" charset="0"/>
                      </a:rPr>
                      <m:t> </m:t>
                    </m:r>
                    <m:r>
                      <m:rPr>
                        <m:sty m:val="p"/>
                      </m:rPr>
                      <a:rPr lang="en-IN" i="0" dirty="0" smtClean="0">
                        <a:latin typeface="Cambria Math" panose="02040503050406030204" pitchFamily="18" charset="0"/>
                      </a:rPr>
                      <m:t>n</m:t>
                    </m:r>
                  </m:oMath>
                </a14:m>
                <a:r>
                  <a:rPr lang="en-IN" dirty="0"/>
                  <a:t>. and minimum non leaf vertex is in star tree of order</a:t>
                </a:r>
                <a14:m>
                  <m:oMath xmlns:m="http://schemas.openxmlformats.org/officeDocument/2006/math">
                    <m:r>
                      <a:rPr lang="en-IN" i="0" dirty="0" smtClean="0">
                        <a:latin typeface="Cambria Math" panose="02040503050406030204" pitchFamily="18" charset="0"/>
                      </a:rPr>
                      <m:t> </m:t>
                    </m:r>
                    <m:r>
                      <m:rPr>
                        <m:sty m:val="p"/>
                      </m:rPr>
                      <a:rPr lang="en-IN" i="0" dirty="0" smtClean="0">
                        <a:latin typeface="Cambria Math" panose="02040503050406030204" pitchFamily="18" charset="0"/>
                      </a:rPr>
                      <m:t>n</m:t>
                    </m:r>
                  </m:oMath>
                </a14:m>
                <a:r>
                  <a:rPr lang="en-IN" dirty="0"/>
                  <a:t>. That means every tree has at most</a:t>
                </a:r>
                <a14:m>
                  <m:oMath xmlns:m="http://schemas.openxmlformats.org/officeDocument/2006/math">
                    <m:r>
                      <a:rPr lang="en-IN" i="0" dirty="0" smtClean="0">
                        <a:latin typeface="Cambria Math" panose="02040503050406030204" pitchFamily="18" charset="0"/>
                      </a:rPr>
                      <m:t> </m:t>
                    </m:r>
                    <m:r>
                      <m:rPr>
                        <m:sty m:val="p"/>
                      </m:rPr>
                      <a:rPr lang="en-IN" i="0" dirty="0" smtClean="0">
                        <a:latin typeface="Cambria Math" panose="02040503050406030204" pitchFamily="18" charset="0"/>
                      </a:rPr>
                      <m:t>n</m:t>
                    </m:r>
                    <m:r>
                      <a:rPr lang="en-IN" i="0" dirty="0" smtClean="0">
                        <a:latin typeface="Cambria Math" panose="02040503050406030204" pitchFamily="18" charset="0"/>
                      </a:rPr>
                      <m:t>−2</m:t>
                    </m:r>
                  </m:oMath>
                </a14:m>
                <a:r>
                  <a:rPr lang="en-IN" dirty="0"/>
                  <a:t> cut vertices </a:t>
                </a:r>
              </a:p>
            </p:txBody>
          </p:sp>
        </mc:Choice>
        <mc:Fallback xmlns="">
          <p:sp>
            <p:nvSpPr>
              <p:cNvPr id="3" name="Content Placeholder 2">
                <a:extLst>
                  <a:ext uri="{FF2B5EF4-FFF2-40B4-BE49-F238E27FC236}">
                    <a16:creationId xmlns:a16="http://schemas.microsoft.com/office/drawing/2014/main" id="{E8C9271A-2329-8350-5FC8-099F2A9F13A8}"/>
                  </a:ext>
                </a:extLst>
              </p:cNvPr>
              <p:cNvSpPr>
                <a:spLocks noGrp="1" noRot="1" noChangeAspect="1" noMove="1" noResize="1" noEditPoints="1" noAdjustHandles="1" noChangeArrowheads="1" noChangeShapeType="1" noTextEdit="1"/>
              </p:cNvSpPr>
              <p:nvPr>
                <p:ph idx="1"/>
              </p:nvPr>
            </p:nvSpPr>
            <p:spPr>
              <a:xfrm>
                <a:off x="131180" y="863444"/>
                <a:ext cx="11929641" cy="5589891"/>
              </a:xfrm>
              <a:blipFill>
                <a:blip r:embed="rId2"/>
                <a:stretch>
                  <a:fillRect l="-1074" t="-1963" r="-1074"/>
                </a:stretch>
              </a:blipFill>
            </p:spPr>
            <p:txBody>
              <a:bodyPr/>
              <a:lstStyle/>
              <a:p>
                <a:r>
                  <a:rPr lang="en-IN">
                    <a:noFill/>
                  </a:rPr>
                  <a:t> </a:t>
                </a:r>
              </a:p>
            </p:txBody>
          </p:sp>
        </mc:Fallback>
      </mc:AlternateContent>
    </p:spTree>
    <p:extLst>
      <p:ext uri="{BB962C8B-B14F-4D97-AF65-F5344CB8AC3E}">
        <p14:creationId xmlns:p14="http://schemas.microsoft.com/office/powerpoint/2010/main" val="1637931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EED1D-2F47-306C-26B6-B0D5DF998721}"/>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F2A2A01-FC20-3937-C1FE-F0FB3742ACBF}"/>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8D9C9051-FFFC-1224-6C67-0524B2B7D0DB}"/>
              </a:ext>
            </a:extLst>
          </p:cNvPr>
          <p:cNvSpPr>
            <a:spLocks noGrp="1"/>
          </p:cNvSpPr>
          <p:nvPr>
            <p:ph idx="1"/>
          </p:nvPr>
        </p:nvSpPr>
        <p:spPr>
          <a:xfrm>
            <a:off x="131180" y="863444"/>
            <a:ext cx="11929641" cy="5589891"/>
          </a:xfrm>
        </p:spPr>
        <p:txBody>
          <a:bodyPr/>
          <a:lstStyle/>
          <a:p>
            <a:pPr marL="0" indent="0">
              <a:buNone/>
            </a:pPr>
            <a:r>
              <a:rPr lang="en-IN" dirty="0">
                <a:solidFill>
                  <a:srgbClr val="FF0000"/>
                </a:solidFill>
              </a:rPr>
              <a:t>? Give counter example of the following </a:t>
            </a:r>
          </a:p>
          <a:p>
            <a:pPr lvl="1"/>
            <a:r>
              <a:rPr lang="en-US" dirty="0">
                <a:solidFill>
                  <a:srgbClr val="FF0000"/>
                </a:solidFill>
              </a:rPr>
              <a:t>If G is a connected graph of order 13 and v is a cut-vertex of G, then there exists a component of G−v containing at least 7 vertices.</a:t>
            </a:r>
          </a:p>
          <a:p>
            <a:pPr lvl="2"/>
            <a:r>
              <a:rPr lang="en-IN" dirty="0"/>
              <a:t>For a star graph of order 13, when we remove the </a:t>
            </a:r>
            <a:r>
              <a:rPr lang="en-IN" dirty="0" err="1"/>
              <a:t>center</a:t>
            </a:r>
            <a:r>
              <a:rPr lang="en-IN" dirty="0"/>
              <a:t>, no component of the graph contains at least 7 vertices.</a:t>
            </a:r>
          </a:p>
          <a:p>
            <a:pPr lvl="1"/>
            <a:r>
              <a:rPr lang="en-US" dirty="0">
                <a:solidFill>
                  <a:srgbClr val="FF0000"/>
                </a:solidFill>
              </a:rPr>
              <a:t>If G is a connected graph containing only even vertices, then G contains no cut-vertices.</a:t>
            </a:r>
          </a:p>
          <a:p>
            <a:pPr lvl="1"/>
            <a:endParaRPr lang="en-US" dirty="0">
              <a:solidFill>
                <a:srgbClr val="FF0000"/>
              </a:solidFill>
            </a:endParaRPr>
          </a:p>
        </p:txBody>
      </p:sp>
      <p:cxnSp>
        <p:nvCxnSpPr>
          <p:cNvPr id="2" name="Straight Connector 1">
            <a:extLst>
              <a:ext uri="{FF2B5EF4-FFF2-40B4-BE49-F238E27FC236}">
                <a16:creationId xmlns:a16="http://schemas.microsoft.com/office/drawing/2014/main" id="{4C4A7EE5-4526-630B-3E6F-B47376BD3E10}"/>
              </a:ext>
            </a:extLst>
          </p:cNvPr>
          <p:cNvCxnSpPr>
            <a:cxnSpLocks/>
          </p:cNvCxnSpPr>
          <p:nvPr/>
        </p:nvCxnSpPr>
        <p:spPr>
          <a:xfrm flipV="1">
            <a:off x="3114730" y="4494662"/>
            <a:ext cx="2204" cy="1299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 name="Straight Connector 3">
            <a:extLst>
              <a:ext uri="{FF2B5EF4-FFF2-40B4-BE49-F238E27FC236}">
                <a16:creationId xmlns:a16="http://schemas.microsoft.com/office/drawing/2014/main" id="{3B70F98A-D5C1-AC2C-99AB-55F2BEF96D7B}"/>
              </a:ext>
            </a:extLst>
          </p:cNvPr>
          <p:cNvCxnSpPr>
            <a:cxnSpLocks/>
            <a:stCxn id="11" idx="3"/>
            <a:endCxn id="14" idx="5"/>
          </p:cNvCxnSpPr>
          <p:nvPr/>
        </p:nvCxnSpPr>
        <p:spPr>
          <a:xfrm flipH="1" flipV="1">
            <a:off x="3165642" y="4473575"/>
            <a:ext cx="596286"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 name="Straight Connector 4">
            <a:extLst>
              <a:ext uri="{FF2B5EF4-FFF2-40B4-BE49-F238E27FC236}">
                <a16:creationId xmlns:a16="http://schemas.microsoft.com/office/drawing/2014/main" id="{E3BB1DFF-6575-BBC5-A259-ED2083271569}"/>
              </a:ext>
            </a:extLst>
          </p:cNvPr>
          <p:cNvCxnSpPr>
            <a:cxnSpLocks/>
            <a:stCxn id="11" idx="5"/>
            <a:endCxn id="13" idx="3"/>
          </p:cNvCxnSpPr>
          <p:nvPr/>
        </p:nvCxnSpPr>
        <p:spPr>
          <a:xfrm flipH="1">
            <a:off x="3167846" y="5192779"/>
            <a:ext cx="59408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a:extLst>
              <a:ext uri="{FF2B5EF4-FFF2-40B4-BE49-F238E27FC236}">
                <a16:creationId xmlns:a16="http://schemas.microsoft.com/office/drawing/2014/main" id="{B2AE4272-8D07-D7F9-D55E-FF15B75780CB}"/>
              </a:ext>
            </a:extLst>
          </p:cNvPr>
          <p:cNvCxnSpPr>
            <a:cxnSpLocks/>
            <a:stCxn id="10" idx="2"/>
            <a:endCxn id="12" idx="6"/>
          </p:cNvCxnSpPr>
          <p:nvPr/>
        </p:nvCxnSpPr>
        <p:spPr>
          <a:xfrm flipH="1" flipV="1">
            <a:off x="4532332" y="4494663"/>
            <a:ext cx="2204" cy="1299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 name="Straight Connector 6">
            <a:extLst>
              <a:ext uri="{FF2B5EF4-FFF2-40B4-BE49-F238E27FC236}">
                <a16:creationId xmlns:a16="http://schemas.microsoft.com/office/drawing/2014/main" id="{6487F50E-9C38-FB90-B70E-AEA73DF79345}"/>
              </a:ext>
            </a:extLst>
          </p:cNvPr>
          <p:cNvCxnSpPr>
            <a:cxnSpLocks/>
            <a:stCxn id="11" idx="1"/>
            <a:endCxn id="12" idx="5"/>
          </p:cNvCxnSpPr>
          <p:nvPr/>
        </p:nvCxnSpPr>
        <p:spPr>
          <a:xfrm flipV="1">
            <a:off x="3863752" y="4473575"/>
            <a:ext cx="617668"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a:extLst>
              <a:ext uri="{FF2B5EF4-FFF2-40B4-BE49-F238E27FC236}">
                <a16:creationId xmlns:a16="http://schemas.microsoft.com/office/drawing/2014/main" id="{E69A82FE-B780-54F1-AB5C-823B3ADA13BA}"/>
              </a:ext>
            </a:extLst>
          </p:cNvPr>
          <p:cNvCxnSpPr>
            <a:cxnSpLocks/>
            <a:stCxn id="11" idx="7"/>
            <a:endCxn id="10" idx="3"/>
          </p:cNvCxnSpPr>
          <p:nvPr/>
        </p:nvCxnSpPr>
        <p:spPr>
          <a:xfrm>
            <a:off x="3863752" y="5192779"/>
            <a:ext cx="61987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a:extLst>
              <a:ext uri="{FF2B5EF4-FFF2-40B4-BE49-F238E27FC236}">
                <a16:creationId xmlns:a16="http://schemas.microsoft.com/office/drawing/2014/main" id="{7BE666EC-59BF-F7DF-98DE-133B9F9689FB}"/>
              </a:ext>
            </a:extLst>
          </p:cNvPr>
          <p:cNvSpPr/>
          <p:nvPr/>
        </p:nvSpPr>
        <p:spPr>
          <a:xfrm rot="5400000">
            <a:off x="4462536" y="57942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C1CD348E-F023-46F5-52AA-76923A2E66FF}"/>
              </a:ext>
            </a:extLst>
          </p:cNvPr>
          <p:cNvSpPr/>
          <p:nvPr/>
        </p:nvSpPr>
        <p:spPr>
          <a:xfrm rot="5400000">
            <a:off x="3740840" y="5069867"/>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Oval 11">
            <a:extLst>
              <a:ext uri="{FF2B5EF4-FFF2-40B4-BE49-F238E27FC236}">
                <a16:creationId xmlns:a16="http://schemas.microsoft.com/office/drawing/2014/main" id="{BD2CFB63-2ED5-8F34-5451-5EAC81C38299}"/>
              </a:ext>
            </a:extLst>
          </p:cNvPr>
          <p:cNvSpPr/>
          <p:nvPr/>
        </p:nvSpPr>
        <p:spPr>
          <a:xfrm rot="5400000">
            <a:off x="4460332" y="43506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1B7B4C97-D84D-E15F-E659-7A0930E1DEAC}"/>
              </a:ext>
            </a:extLst>
          </p:cNvPr>
          <p:cNvSpPr/>
          <p:nvPr/>
        </p:nvSpPr>
        <p:spPr>
          <a:xfrm rot="5400000" flipV="1">
            <a:off x="3044934" y="579424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D1849A13-7F88-C435-3435-16793CFDACA7}"/>
              </a:ext>
            </a:extLst>
          </p:cNvPr>
          <p:cNvSpPr/>
          <p:nvPr/>
        </p:nvSpPr>
        <p:spPr>
          <a:xfrm rot="5400000" flipV="1">
            <a:off x="3042730" y="435066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Thought Bubble: Cloud 14">
            <a:extLst>
              <a:ext uri="{FF2B5EF4-FFF2-40B4-BE49-F238E27FC236}">
                <a16:creationId xmlns:a16="http://schemas.microsoft.com/office/drawing/2014/main" id="{04A2991A-E3F8-EA3F-184F-C279D8374657}"/>
              </a:ext>
            </a:extLst>
          </p:cNvPr>
          <p:cNvSpPr/>
          <p:nvPr/>
        </p:nvSpPr>
        <p:spPr>
          <a:xfrm>
            <a:off x="5427582" y="3429000"/>
            <a:ext cx="5023470" cy="2509245"/>
          </a:xfrm>
          <a:prstGeom prst="cloudCallou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a:solidFill>
                  <a:srgbClr val="002060"/>
                </a:solidFill>
              </a:rPr>
              <a:t>G is a connected graph containing only even vertices, but it has cut vertex.</a:t>
            </a:r>
            <a:endParaRPr lang="en-IN" sz="2800" dirty="0">
              <a:solidFill>
                <a:srgbClr val="002060"/>
              </a:solidFill>
            </a:endParaRPr>
          </a:p>
        </p:txBody>
      </p:sp>
    </p:spTree>
    <p:extLst>
      <p:ext uri="{BB962C8B-B14F-4D97-AF65-F5344CB8AC3E}">
        <p14:creationId xmlns:p14="http://schemas.microsoft.com/office/powerpoint/2010/main" val="3528953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9" presetClass="emph" presetSubtype="0" fill="hold" grpId="0" nodeType="clickEffect">
                                  <p:stCondLst>
                                    <p:cond delay="0"/>
                                  </p:stCondLst>
                                  <p:childTnLst>
                                    <p:animClr clrSpc="rgb" dir="cw">
                                      <p:cBhvr override="childStyle">
                                        <p:cTn id="44" dur="500" fill="hold"/>
                                        <p:tgtEl>
                                          <p:spTgt spid="11"/>
                                        </p:tgtEl>
                                        <p:attrNameLst>
                                          <p:attrName>style.color</p:attrName>
                                        </p:attrNameLst>
                                      </p:cBhvr>
                                      <p:to>
                                        <a:schemeClr val="accent2"/>
                                      </p:to>
                                    </p:animClr>
                                    <p:animClr clrSpc="rgb" dir="cw">
                                      <p:cBhvr>
                                        <p:cTn id="45" dur="500" fill="hold"/>
                                        <p:tgtEl>
                                          <p:spTgt spid="11"/>
                                        </p:tgtEl>
                                        <p:attrNameLst>
                                          <p:attrName>fillcolor</p:attrName>
                                        </p:attrNameLst>
                                      </p:cBhvr>
                                      <p:to>
                                        <a:schemeClr val="accent2"/>
                                      </p:to>
                                    </p:animClr>
                                    <p:set>
                                      <p:cBhvr>
                                        <p:cTn id="46" dur="500" fill="hold"/>
                                        <p:tgtEl>
                                          <p:spTgt spid="11"/>
                                        </p:tgtEl>
                                        <p:attrNameLst>
                                          <p:attrName>fill.type</p:attrName>
                                        </p:attrNameLst>
                                      </p:cBhvr>
                                      <p:to>
                                        <p:strVal val="solid"/>
                                      </p:to>
                                    </p:set>
                                    <p:set>
                                      <p:cBhvr>
                                        <p:cTn id="47" dur="500" fill="hold"/>
                                        <p:tgtEl>
                                          <p:spTgt spid="11"/>
                                        </p:tgtEl>
                                        <p:attrNameLst>
                                          <p:attrName>fill.on</p:attrName>
                                        </p:attrNameLst>
                                      </p:cBhvr>
                                      <p:to>
                                        <p:strVal val="tru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1" grpId="1" animBg="1"/>
      <p:bldP spid="12" grpId="0" animBg="1"/>
      <p:bldP spid="13" grpId="0" animBg="1"/>
      <p:bldP spid="14" grpId="0" animBg="1"/>
      <p:bldP spid="15"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91B0A-780A-DBD9-5C02-5D2F231430D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131899A-C783-28DF-5AE8-B86808277731}"/>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D28658D8-2CA5-D623-B7E3-5BD799130F7B}"/>
              </a:ext>
            </a:extLst>
          </p:cNvPr>
          <p:cNvSpPr>
            <a:spLocks noGrp="1"/>
          </p:cNvSpPr>
          <p:nvPr>
            <p:ph idx="1"/>
          </p:nvPr>
        </p:nvSpPr>
        <p:spPr>
          <a:xfrm>
            <a:off x="131180" y="863444"/>
            <a:ext cx="11929641" cy="5589891"/>
          </a:xfrm>
        </p:spPr>
        <p:txBody>
          <a:bodyPr/>
          <a:lstStyle/>
          <a:p>
            <a:pPr marL="0" indent="0">
              <a:buNone/>
            </a:pPr>
            <a:r>
              <a:rPr lang="en-IN" dirty="0">
                <a:solidFill>
                  <a:srgbClr val="FF0000"/>
                </a:solidFill>
              </a:rPr>
              <a:t>? Give counter example of the following </a:t>
            </a:r>
          </a:p>
          <a:p>
            <a:pPr lvl="1"/>
            <a:r>
              <a:rPr lang="en-US" dirty="0">
                <a:solidFill>
                  <a:srgbClr val="FF0000"/>
                </a:solidFill>
              </a:rPr>
              <a:t>If G is a connected graph with a cut-vertex, then G contains a bridge.</a:t>
            </a:r>
          </a:p>
          <a:p>
            <a:pPr lvl="2"/>
            <a:endParaRPr lang="en-US" dirty="0">
              <a:solidFill>
                <a:srgbClr val="FF0000"/>
              </a:solidFill>
            </a:endParaRPr>
          </a:p>
          <a:p>
            <a:pPr lvl="2"/>
            <a:endParaRPr lang="en-US" dirty="0">
              <a:solidFill>
                <a:srgbClr val="FF0000"/>
              </a:solidFill>
            </a:endParaRPr>
          </a:p>
          <a:p>
            <a:pPr lvl="2"/>
            <a:endParaRPr lang="en-US" dirty="0">
              <a:solidFill>
                <a:srgbClr val="FF0000"/>
              </a:solidFill>
            </a:endParaRPr>
          </a:p>
          <a:p>
            <a:pPr lvl="2"/>
            <a:endParaRPr lang="en-US" dirty="0">
              <a:solidFill>
                <a:srgbClr val="FF0000"/>
              </a:solidFill>
            </a:endParaRPr>
          </a:p>
          <a:p>
            <a:pPr marL="914400" lvl="2" indent="0">
              <a:buNone/>
            </a:pPr>
            <a:endParaRPr lang="en-US" dirty="0">
              <a:solidFill>
                <a:srgbClr val="FF0000"/>
              </a:solidFill>
            </a:endParaRPr>
          </a:p>
          <a:p>
            <a:pPr lvl="1"/>
            <a:r>
              <a:rPr lang="en-US" dirty="0">
                <a:solidFill>
                  <a:srgbClr val="FF0000"/>
                </a:solidFill>
              </a:rPr>
              <a:t>If G is a connected graph with a bridge, then G contains a cut-vertex.</a:t>
            </a:r>
            <a:endParaRPr lang="en-IN" dirty="0">
              <a:solidFill>
                <a:srgbClr val="FF0000"/>
              </a:solidFill>
            </a:endParaRPr>
          </a:p>
        </p:txBody>
      </p:sp>
      <p:cxnSp>
        <p:nvCxnSpPr>
          <p:cNvPr id="2" name="Straight Connector 1">
            <a:extLst>
              <a:ext uri="{FF2B5EF4-FFF2-40B4-BE49-F238E27FC236}">
                <a16:creationId xmlns:a16="http://schemas.microsoft.com/office/drawing/2014/main" id="{B2422AAC-7B10-542C-591C-719617A6D86B}"/>
              </a:ext>
            </a:extLst>
          </p:cNvPr>
          <p:cNvCxnSpPr>
            <a:cxnSpLocks/>
          </p:cNvCxnSpPr>
          <p:nvPr/>
        </p:nvCxnSpPr>
        <p:spPr>
          <a:xfrm flipV="1">
            <a:off x="2106618" y="2298835"/>
            <a:ext cx="2204" cy="1299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 name="Straight Connector 3">
            <a:extLst>
              <a:ext uri="{FF2B5EF4-FFF2-40B4-BE49-F238E27FC236}">
                <a16:creationId xmlns:a16="http://schemas.microsoft.com/office/drawing/2014/main" id="{5006EF71-E87C-820D-031C-83A3EB16CB78}"/>
              </a:ext>
            </a:extLst>
          </p:cNvPr>
          <p:cNvCxnSpPr>
            <a:cxnSpLocks/>
            <a:stCxn id="11" idx="3"/>
            <a:endCxn id="14" idx="5"/>
          </p:cNvCxnSpPr>
          <p:nvPr/>
        </p:nvCxnSpPr>
        <p:spPr>
          <a:xfrm flipH="1" flipV="1">
            <a:off x="2157530" y="2277748"/>
            <a:ext cx="596286"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 name="Straight Connector 4">
            <a:extLst>
              <a:ext uri="{FF2B5EF4-FFF2-40B4-BE49-F238E27FC236}">
                <a16:creationId xmlns:a16="http://schemas.microsoft.com/office/drawing/2014/main" id="{628500DE-AE54-DC22-6FE1-EF4D31285B4F}"/>
              </a:ext>
            </a:extLst>
          </p:cNvPr>
          <p:cNvCxnSpPr>
            <a:cxnSpLocks/>
            <a:stCxn id="11" idx="5"/>
            <a:endCxn id="13" idx="3"/>
          </p:cNvCxnSpPr>
          <p:nvPr/>
        </p:nvCxnSpPr>
        <p:spPr>
          <a:xfrm flipH="1">
            <a:off x="2159734" y="2996952"/>
            <a:ext cx="59408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 name="Straight Connector 5">
            <a:extLst>
              <a:ext uri="{FF2B5EF4-FFF2-40B4-BE49-F238E27FC236}">
                <a16:creationId xmlns:a16="http://schemas.microsoft.com/office/drawing/2014/main" id="{CF915339-3128-09D6-AD37-D380ACE4270A}"/>
              </a:ext>
            </a:extLst>
          </p:cNvPr>
          <p:cNvCxnSpPr>
            <a:cxnSpLocks/>
            <a:stCxn id="10" idx="2"/>
            <a:endCxn id="12" idx="6"/>
          </p:cNvCxnSpPr>
          <p:nvPr/>
        </p:nvCxnSpPr>
        <p:spPr>
          <a:xfrm flipH="1" flipV="1">
            <a:off x="3524220" y="2298836"/>
            <a:ext cx="2204" cy="1299583"/>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7" name="Straight Connector 6">
            <a:extLst>
              <a:ext uri="{FF2B5EF4-FFF2-40B4-BE49-F238E27FC236}">
                <a16:creationId xmlns:a16="http://schemas.microsoft.com/office/drawing/2014/main" id="{ECA62C00-323B-BFB4-5F7E-4081A3CC246E}"/>
              </a:ext>
            </a:extLst>
          </p:cNvPr>
          <p:cNvCxnSpPr>
            <a:cxnSpLocks/>
            <a:stCxn id="11" idx="1"/>
            <a:endCxn id="12" idx="5"/>
          </p:cNvCxnSpPr>
          <p:nvPr/>
        </p:nvCxnSpPr>
        <p:spPr>
          <a:xfrm flipV="1">
            <a:off x="2855640" y="2277748"/>
            <a:ext cx="617668" cy="61738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 name="Straight Connector 7">
            <a:extLst>
              <a:ext uri="{FF2B5EF4-FFF2-40B4-BE49-F238E27FC236}">
                <a16:creationId xmlns:a16="http://schemas.microsoft.com/office/drawing/2014/main" id="{CBDAD0C0-FDDA-DFB1-1096-3BF057EBFA16}"/>
              </a:ext>
            </a:extLst>
          </p:cNvPr>
          <p:cNvCxnSpPr>
            <a:cxnSpLocks/>
            <a:stCxn id="11" idx="7"/>
            <a:endCxn id="10" idx="3"/>
          </p:cNvCxnSpPr>
          <p:nvPr/>
        </p:nvCxnSpPr>
        <p:spPr>
          <a:xfrm>
            <a:off x="2855640" y="2996952"/>
            <a:ext cx="61987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a:extLst>
              <a:ext uri="{FF2B5EF4-FFF2-40B4-BE49-F238E27FC236}">
                <a16:creationId xmlns:a16="http://schemas.microsoft.com/office/drawing/2014/main" id="{0C9715CA-5A18-61F5-34DC-55B2983279FB}"/>
              </a:ext>
            </a:extLst>
          </p:cNvPr>
          <p:cNvSpPr/>
          <p:nvPr/>
        </p:nvSpPr>
        <p:spPr>
          <a:xfrm rot="5400000">
            <a:off x="3454424" y="35984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DDAD5649-28B9-6DF7-301C-D9753DCC9FAD}"/>
              </a:ext>
            </a:extLst>
          </p:cNvPr>
          <p:cNvSpPr/>
          <p:nvPr/>
        </p:nvSpPr>
        <p:spPr>
          <a:xfrm rot="5400000">
            <a:off x="2732728" y="287404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Oval 11">
            <a:extLst>
              <a:ext uri="{FF2B5EF4-FFF2-40B4-BE49-F238E27FC236}">
                <a16:creationId xmlns:a16="http://schemas.microsoft.com/office/drawing/2014/main" id="{722C6560-172D-455E-D24D-0861FA1A310E}"/>
              </a:ext>
            </a:extLst>
          </p:cNvPr>
          <p:cNvSpPr/>
          <p:nvPr/>
        </p:nvSpPr>
        <p:spPr>
          <a:xfrm rot="5400000">
            <a:off x="3452220" y="21548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1F9BD229-4010-4746-9C6B-12B08F68DFA4}"/>
              </a:ext>
            </a:extLst>
          </p:cNvPr>
          <p:cNvSpPr/>
          <p:nvPr/>
        </p:nvSpPr>
        <p:spPr>
          <a:xfrm rot="5400000" flipV="1">
            <a:off x="2036822" y="3598419"/>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5AEB7443-C395-AE86-2BA1-22975D03CC85}"/>
              </a:ext>
            </a:extLst>
          </p:cNvPr>
          <p:cNvSpPr/>
          <p:nvPr/>
        </p:nvSpPr>
        <p:spPr>
          <a:xfrm rot="5400000" flipV="1">
            <a:off x="2034618" y="21548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6" name="Thought Bubble: Cloud 15">
            <a:extLst>
              <a:ext uri="{FF2B5EF4-FFF2-40B4-BE49-F238E27FC236}">
                <a16:creationId xmlns:a16="http://schemas.microsoft.com/office/drawing/2014/main" id="{FD38F1D0-EB83-B1A6-4D72-FBDE8E14DB57}"/>
              </a:ext>
            </a:extLst>
          </p:cNvPr>
          <p:cNvSpPr/>
          <p:nvPr/>
        </p:nvSpPr>
        <p:spPr>
          <a:xfrm>
            <a:off x="4435802" y="1878983"/>
            <a:ext cx="6268710" cy="1719435"/>
          </a:xfrm>
          <a:prstGeom prst="cloudCallout">
            <a:avLst/>
          </a:prstGeom>
        </p:spPr>
        <p:style>
          <a:lnRef idx="2">
            <a:schemeClr val="accent6"/>
          </a:lnRef>
          <a:fillRef idx="1">
            <a:schemeClr val="lt1"/>
          </a:fillRef>
          <a:effectRef idx="0">
            <a:schemeClr val="accent6"/>
          </a:effectRef>
          <a:fontRef idx="minor">
            <a:schemeClr val="dk1"/>
          </a:fontRef>
        </p:style>
        <p:txBody>
          <a:bodyPr rtlCol="0" anchor="ctr"/>
          <a:lstStyle/>
          <a:p>
            <a:pPr lvl="1" algn="ctr"/>
            <a:r>
              <a:rPr lang="en-US" sz="2400" dirty="0">
                <a:solidFill>
                  <a:srgbClr val="002060"/>
                </a:solidFill>
              </a:rPr>
              <a:t>G is a connected graph with a cut-vertex, but G not contains a bridge.</a:t>
            </a:r>
          </a:p>
        </p:txBody>
      </p:sp>
      <p:cxnSp>
        <p:nvCxnSpPr>
          <p:cNvPr id="17" name="Straight Connector 16">
            <a:extLst>
              <a:ext uri="{FF2B5EF4-FFF2-40B4-BE49-F238E27FC236}">
                <a16:creationId xmlns:a16="http://schemas.microsoft.com/office/drawing/2014/main" id="{C8AFACF6-A4F1-590A-7FE5-34C025927DF0}"/>
              </a:ext>
            </a:extLst>
          </p:cNvPr>
          <p:cNvCxnSpPr>
            <a:cxnSpLocks/>
            <a:stCxn id="19" idx="7"/>
            <a:endCxn id="18" idx="3"/>
          </p:cNvCxnSpPr>
          <p:nvPr/>
        </p:nvCxnSpPr>
        <p:spPr>
          <a:xfrm>
            <a:off x="2315095" y="5094145"/>
            <a:ext cx="619872" cy="622555"/>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8" name="Oval 17">
            <a:extLst>
              <a:ext uri="{FF2B5EF4-FFF2-40B4-BE49-F238E27FC236}">
                <a16:creationId xmlns:a16="http://schemas.microsoft.com/office/drawing/2014/main" id="{948763D2-52E7-8E78-B568-D28570CF20D5}"/>
              </a:ext>
            </a:extLst>
          </p:cNvPr>
          <p:cNvSpPr/>
          <p:nvPr/>
        </p:nvSpPr>
        <p:spPr>
          <a:xfrm rot="5400000">
            <a:off x="2913879" y="5695612"/>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9" name="Oval 18">
            <a:extLst>
              <a:ext uri="{FF2B5EF4-FFF2-40B4-BE49-F238E27FC236}">
                <a16:creationId xmlns:a16="http://schemas.microsoft.com/office/drawing/2014/main" id="{3B88E406-B7FA-9690-D90A-6DE4C4CFD7D0}"/>
              </a:ext>
            </a:extLst>
          </p:cNvPr>
          <p:cNvSpPr/>
          <p:nvPr/>
        </p:nvSpPr>
        <p:spPr>
          <a:xfrm rot="5400000">
            <a:off x="2192183" y="4971233"/>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0" name="Thought Bubble: Cloud 19">
            <a:extLst>
              <a:ext uri="{FF2B5EF4-FFF2-40B4-BE49-F238E27FC236}">
                <a16:creationId xmlns:a16="http://schemas.microsoft.com/office/drawing/2014/main" id="{96CD34EA-520A-4CE2-579F-FC86DB889696}"/>
              </a:ext>
            </a:extLst>
          </p:cNvPr>
          <p:cNvSpPr/>
          <p:nvPr/>
        </p:nvSpPr>
        <p:spPr>
          <a:xfrm>
            <a:off x="4431107" y="4473575"/>
            <a:ext cx="6268710" cy="1719435"/>
          </a:xfrm>
          <a:prstGeom prst="cloudCallout">
            <a:avLst/>
          </a:prstGeom>
        </p:spPr>
        <p:style>
          <a:lnRef idx="2">
            <a:schemeClr val="accent6"/>
          </a:lnRef>
          <a:fillRef idx="1">
            <a:schemeClr val="lt1"/>
          </a:fillRef>
          <a:effectRef idx="0">
            <a:schemeClr val="accent6"/>
          </a:effectRef>
          <a:fontRef idx="minor">
            <a:schemeClr val="dk1"/>
          </a:fontRef>
        </p:style>
        <p:txBody>
          <a:bodyPr rtlCol="0" anchor="ctr"/>
          <a:lstStyle/>
          <a:p>
            <a:pPr lvl="1" algn="ctr"/>
            <a:r>
              <a:rPr lang="en-US" sz="2400" dirty="0">
                <a:solidFill>
                  <a:srgbClr val="002060"/>
                </a:solidFill>
              </a:rPr>
              <a:t>G is a connected graph with a bridge, but G not contains a cut vertex.</a:t>
            </a:r>
          </a:p>
        </p:txBody>
      </p:sp>
    </p:spTree>
    <p:extLst>
      <p:ext uri="{BB962C8B-B14F-4D97-AF65-F5344CB8AC3E}">
        <p14:creationId xmlns:p14="http://schemas.microsoft.com/office/powerpoint/2010/main" val="4232327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1"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1" animBg="1"/>
      <p:bldP spid="12" grpId="0" animBg="1"/>
      <p:bldP spid="13" grpId="0" animBg="1"/>
      <p:bldP spid="14" grpId="0" animBg="1"/>
      <p:bldP spid="16" grpId="0" animBg="1"/>
      <p:bldP spid="18" grpId="0" animBg="1"/>
      <p:bldP spid="19" grpId="1" animBg="1"/>
      <p:bldP spid="20"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4F9C8-71CE-966B-C146-C0ED165F8A4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8B137D5-6A3E-68FD-8D6D-171D9540D18A}"/>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8E0508CC-F8AF-CB36-7BDF-F598395C0007}"/>
              </a:ext>
            </a:extLst>
          </p:cNvPr>
          <p:cNvSpPr>
            <a:spLocks noGrp="1"/>
          </p:cNvSpPr>
          <p:nvPr>
            <p:ph idx="1"/>
          </p:nvPr>
        </p:nvSpPr>
        <p:spPr>
          <a:xfrm>
            <a:off x="131180" y="863444"/>
            <a:ext cx="11929641" cy="5589891"/>
          </a:xfrm>
        </p:spPr>
        <p:txBody>
          <a:bodyPr/>
          <a:lstStyle/>
          <a:p>
            <a:pPr marL="514350" indent="-514350">
              <a:buFont typeface="+mj-lt"/>
              <a:buAutoNum type="arabicPeriod" startAt="11"/>
            </a:pPr>
            <a:r>
              <a:rPr lang="en-IN" dirty="0"/>
              <a:t>For the Given graph determine the cut-vertices, bridges</a:t>
            </a:r>
          </a:p>
          <a:p>
            <a:endParaRPr lang="en-IN" dirty="0"/>
          </a:p>
          <a:p>
            <a:endParaRPr lang="en-IN" dirty="0"/>
          </a:p>
          <a:p>
            <a:endParaRPr lang="en-IN" dirty="0"/>
          </a:p>
          <a:p>
            <a:pPr marL="0" indent="0">
              <a:buNone/>
            </a:pPr>
            <a:endParaRPr lang="en-IN" dirty="0"/>
          </a:p>
          <a:p>
            <a:endParaRPr lang="en-IN" dirty="0"/>
          </a:p>
          <a:p>
            <a:pPr marL="514350" indent="-514350">
              <a:buFont typeface="+mj-lt"/>
              <a:buAutoNum type="arabicPeriod" startAt="12"/>
            </a:pPr>
            <a:r>
              <a:rPr lang="en-IN" dirty="0"/>
              <a:t>Give an example of graph for which vertex connectivity is 2, edge connectivity is 3 and minimum degree of graph is 4.</a:t>
            </a:r>
          </a:p>
          <a:p>
            <a:endParaRPr lang="en-IN" dirty="0"/>
          </a:p>
          <a:p>
            <a:pPr marL="0" indent="0">
              <a:buNone/>
            </a:pPr>
            <a:endParaRPr lang="en-IN" dirty="0"/>
          </a:p>
        </p:txBody>
      </p:sp>
      <p:sp>
        <p:nvSpPr>
          <p:cNvPr id="4" name="Oval 3">
            <a:extLst>
              <a:ext uri="{FF2B5EF4-FFF2-40B4-BE49-F238E27FC236}">
                <a16:creationId xmlns:a16="http://schemas.microsoft.com/office/drawing/2014/main" id="{E230E25F-849C-9EB6-1CB3-E4847AD48F17}"/>
              </a:ext>
            </a:extLst>
          </p:cNvPr>
          <p:cNvSpPr/>
          <p:nvPr/>
        </p:nvSpPr>
        <p:spPr>
          <a:xfrm rot="5400000">
            <a:off x="1487464" y="24059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 name="Straight Connector 4">
            <a:extLst>
              <a:ext uri="{FF2B5EF4-FFF2-40B4-BE49-F238E27FC236}">
                <a16:creationId xmlns:a16="http://schemas.microsoft.com/office/drawing/2014/main" id="{79981342-A5EB-8E93-6387-60D86BC26886}"/>
              </a:ext>
            </a:extLst>
          </p:cNvPr>
          <p:cNvCxnSpPr>
            <a:cxnSpLocks/>
            <a:stCxn id="4" idx="0"/>
            <a:endCxn id="10" idx="4"/>
          </p:cNvCxnSpPr>
          <p:nvPr/>
        </p:nvCxnSpPr>
        <p:spPr>
          <a:xfrm>
            <a:off x="1631464" y="2477954"/>
            <a:ext cx="792104" cy="15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a:extLst>
              <a:ext uri="{FF2B5EF4-FFF2-40B4-BE49-F238E27FC236}">
                <a16:creationId xmlns:a16="http://schemas.microsoft.com/office/drawing/2014/main" id="{D1C7D800-3D3F-D9E7-B687-3A56B5F9850E}"/>
              </a:ext>
            </a:extLst>
          </p:cNvPr>
          <p:cNvSpPr/>
          <p:nvPr/>
        </p:nvSpPr>
        <p:spPr>
          <a:xfrm rot="5400000">
            <a:off x="2423568" y="240749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3DD6B9F7-E869-4E41-4609-166ADE3F86FD}"/>
              </a:ext>
            </a:extLst>
          </p:cNvPr>
          <p:cNvSpPr/>
          <p:nvPr/>
        </p:nvSpPr>
        <p:spPr>
          <a:xfrm rot="5400000">
            <a:off x="3287672" y="24059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18A46B5C-0F56-531E-BF97-41F6AE070028}"/>
              </a:ext>
            </a:extLst>
          </p:cNvPr>
          <p:cNvSpPr/>
          <p:nvPr/>
        </p:nvSpPr>
        <p:spPr>
          <a:xfrm rot="5400000">
            <a:off x="4151776" y="24044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A07AC3AF-D558-7150-1DDA-7568CB20C14A}"/>
              </a:ext>
            </a:extLst>
          </p:cNvPr>
          <p:cNvSpPr/>
          <p:nvPr/>
        </p:nvSpPr>
        <p:spPr>
          <a:xfrm rot="5400000">
            <a:off x="5015880" y="24028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 name="Straight Connector 15">
            <a:extLst>
              <a:ext uri="{FF2B5EF4-FFF2-40B4-BE49-F238E27FC236}">
                <a16:creationId xmlns:a16="http://schemas.microsoft.com/office/drawing/2014/main" id="{13824F88-651E-BB1B-D3A4-7299C26FCA48}"/>
              </a:ext>
            </a:extLst>
          </p:cNvPr>
          <p:cNvCxnSpPr>
            <a:cxnSpLocks/>
            <a:stCxn id="10" idx="0"/>
            <a:endCxn id="13" idx="4"/>
          </p:cNvCxnSpPr>
          <p:nvPr/>
        </p:nvCxnSpPr>
        <p:spPr>
          <a:xfrm flipV="1">
            <a:off x="2567568" y="2477954"/>
            <a:ext cx="720104" cy="15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B165CB05-E629-BDF3-DD1F-4AED14601A5B}"/>
              </a:ext>
            </a:extLst>
          </p:cNvPr>
          <p:cNvCxnSpPr>
            <a:cxnSpLocks/>
            <a:stCxn id="13" idx="0"/>
            <a:endCxn id="14" idx="4"/>
          </p:cNvCxnSpPr>
          <p:nvPr/>
        </p:nvCxnSpPr>
        <p:spPr>
          <a:xfrm flipV="1">
            <a:off x="3431672" y="2476414"/>
            <a:ext cx="720104" cy="15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2" name="Oval 21">
            <a:extLst>
              <a:ext uri="{FF2B5EF4-FFF2-40B4-BE49-F238E27FC236}">
                <a16:creationId xmlns:a16="http://schemas.microsoft.com/office/drawing/2014/main" id="{DB9171FE-C868-5A06-4019-A2B072938821}"/>
              </a:ext>
            </a:extLst>
          </p:cNvPr>
          <p:cNvSpPr/>
          <p:nvPr/>
        </p:nvSpPr>
        <p:spPr>
          <a:xfrm rot="5400000">
            <a:off x="4583808" y="190189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3" name="Oval 22">
            <a:extLst>
              <a:ext uri="{FF2B5EF4-FFF2-40B4-BE49-F238E27FC236}">
                <a16:creationId xmlns:a16="http://schemas.microsoft.com/office/drawing/2014/main" id="{D4DDF918-C1E4-FBA2-F116-CB9A3AA1C1AF}"/>
              </a:ext>
            </a:extLst>
          </p:cNvPr>
          <p:cNvSpPr/>
          <p:nvPr/>
        </p:nvSpPr>
        <p:spPr>
          <a:xfrm rot="5400000">
            <a:off x="4583808" y="28721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4" name="Straight Connector 23">
            <a:extLst>
              <a:ext uri="{FF2B5EF4-FFF2-40B4-BE49-F238E27FC236}">
                <a16:creationId xmlns:a16="http://schemas.microsoft.com/office/drawing/2014/main" id="{8B34DF47-76F0-7AD6-2DE3-76A101D68034}"/>
              </a:ext>
            </a:extLst>
          </p:cNvPr>
          <p:cNvCxnSpPr>
            <a:cxnSpLocks/>
            <a:stCxn id="14" idx="1"/>
            <a:endCxn id="22" idx="5"/>
          </p:cNvCxnSpPr>
          <p:nvPr/>
        </p:nvCxnSpPr>
        <p:spPr>
          <a:xfrm flipV="1">
            <a:off x="4274688" y="2024810"/>
            <a:ext cx="330208" cy="40069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a:extLst>
              <a:ext uri="{FF2B5EF4-FFF2-40B4-BE49-F238E27FC236}">
                <a16:creationId xmlns:a16="http://schemas.microsoft.com/office/drawing/2014/main" id="{F9372B88-4BC7-E1E5-8FC6-EE1D9DC2DEC2}"/>
              </a:ext>
            </a:extLst>
          </p:cNvPr>
          <p:cNvCxnSpPr>
            <a:cxnSpLocks/>
            <a:stCxn id="22" idx="7"/>
            <a:endCxn id="15" idx="3"/>
          </p:cNvCxnSpPr>
          <p:nvPr/>
        </p:nvCxnSpPr>
        <p:spPr>
          <a:xfrm>
            <a:off x="4706720" y="2024810"/>
            <a:ext cx="330248" cy="39915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a:extLst>
              <a:ext uri="{FF2B5EF4-FFF2-40B4-BE49-F238E27FC236}">
                <a16:creationId xmlns:a16="http://schemas.microsoft.com/office/drawing/2014/main" id="{CC28F5C6-67FC-C26F-13A7-8890DA5F3F75}"/>
              </a:ext>
            </a:extLst>
          </p:cNvPr>
          <p:cNvCxnSpPr>
            <a:cxnSpLocks/>
            <a:stCxn id="15" idx="5"/>
            <a:endCxn id="23" idx="1"/>
          </p:cNvCxnSpPr>
          <p:nvPr/>
        </p:nvCxnSpPr>
        <p:spPr>
          <a:xfrm flipH="1">
            <a:off x="4706720" y="2525786"/>
            <a:ext cx="330248" cy="36741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35744061-64A2-CE9B-DBC1-DBE1E3253F8D}"/>
              </a:ext>
            </a:extLst>
          </p:cNvPr>
          <p:cNvCxnSpPr>
            <a:cxnSpLocks/>
            <a:stCxn id="14" idx="7"/>
            <a:endCxn id="23" idx="3"/>
          </p:cNvCxnSpPr>
          <p:nvPr/>
        </p:nvCxnSpPr>
        <p:spPr>
          <a:xfrm>
            <a:off x="4274688" y="2527326"/>
            <a:ext cx="330208" cy="365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0" name="Oval 39">
            <a:extLst>
              <a:ext uri="{FF2B5EF4-FFF2-40B4-BE49-F238E27FC236}">
                <a16:creationId xmlns:a16="http://schemas.microsoft.com/office/drawing/2014/main" id="{D7CE7057-D5D0-90CE-8D48-715BD52B0BEB}"/>
              </a:ext>
            </a:extLst>
          </p:cNvPr>
          <p:cNvSpPr/>
          <p:nvPr/>
        </p:nvSpPr>
        <p:spPr>
          <a:xfrm rot="5400000">
            <a:off x="2855620" y="31554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71DA361A-B3CB-877C-41C7-3FA6EAF484DD}"/>
              </a:ext>
            </a:extLst>
          </p:cNvPr>
          <p:cNvCxnSpPr>
            <a:cxnSpLocks/>
            <a:stCxn id="13" idx="5"/>
            <a:endCxn id="40" idx="1"/>
          </p:cNvCxnSpPr>
          <p:nvPr/>
        </p:nvCxnSpPr>
        <p:spPr>
          <a:xfrm flipH="1">
            <a:off x="2978532" y="2528866"/>
            <a:ext cx="330228" cy="6477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9" name="Oval 48">
            <a:extLst>
              <a:ext uri="{FF2B5EF4-FFF2-40B4-BE49-F238E27FC236}">
                <a16:creationId xmlns:a16="http://schemas.microsoft.com/office/drawing/2014/main" id="{CCCC34B8-26F2-8251-B0E3-ECD26FE7F198}"/>
              </a:ext>
            </a:extLst>
          </p:cNvPr>
          <p:cNvSpPr/>
          <p:nvPr/>
        </p:nvSpPr>
        <p:spPr>
          <a:xfrm rot="5400000">
            <a:off x="3695336" y="31554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0" name="Straight Connector 49">
            <a:extLst>
              <a:ext uri="{FF2B5EF4-FFF2-40B4-BE49-F238E27FC236}">
                <a16:creationId xmlns:a16="http://schemas.microsoft.com/office/drawing/2014/main" id="{5251DAC6-0F34-3B7F-269E-115671E6F458}"/>
              </a:ext>
            </a:extLst>
          </p:cNvPr>
          <p:cNvCxnSpPr>
            <a:cxnSpLocks/>
            <a:stCxn id="13" idx="7"/>
            <a:endCxn id="49" idx="3"/>
          </p:cNvCxnSpPr>
          <p:nvPr/>
        </p:nvCxnSpPr>
        <p:spPr>
          <a:xfrm>
            <a:off x="3410584" y="2528866"/>
            <a:ext cx="305840" cy="6477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0F14D690-1D1C-E930-DC18-800BD0789263}"/>
              </a:ext>
            </a:extLst>
          </p:cNvPr>
          <p:cNvCxnSpPr>
            <a:cxnSpLocks/>
            <a:stCxn id="49" idx="4"/>
            <a:endCxn id="40" idx="0"/>
          </p:cNvCxnSpPr>
          <p:nvPr/>
        </p:nvCxnSpPr>
        <p:spPr>
          <a:xfrm flipH="1">
            <a:off x="2999620" y="3227490"/>
            <a:ext cx="69571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0" name="Oval 59">
            <a:extLst>
              <a:ext uri="{FF2B5EF4-FFF2-40B4-BE49-F238E27FC236}">
                <a16:creationId xmlns:a16="http://schemas.microsoft.com/office/drawing/2014/main" id="{ED79B3D5-F0F7-DB5B-1A96-179C4B34D4C4}"/>
              </a:ext>
            </a:extLst>
          </p:cNvPr>
          <p:cNvSpPr/>
          <p:nvPr/>
        </p:nvSpPr>
        <p:spPr>
          <a:xfrm rot="5400000">
            <a:off x="2881076" y="190189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B7965E88-D469-8918-5DA7-762AF5AEFB50}"/>
              </a:ext>
            </a:extLst>
          </p:cNvPr>
          <p:cNvCxnSpPr>
            <a:cxnSpLocks/>
            <a:stCxn id="10" idx="1"/>
            <a:endCxn id="60" idx="5"/>
          </p:cNvCxnSpPr>
          <p:nvPr/>
        </p:nvCxnSpPr>
        <p:spPr>
          <a:xfrm flipV="1">
            <a:off x="2546480" y="2024810"/>
            <a:ext cx="355684" cy="4037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119731BF-9608-E825-795F-10266D3CDDD6}"/>
              </a:ext>
            </a:extLst>
          </p:cNvPr>
          <p:cNvCxnSpPr>
            <a:cxnSpLocks/>
            <a:stCxn id="60" idx="7"/>
            <a:endCxn id="13" idx="3"/>
          </p:cNvCxnSpPr>
          <p:nvPr/>
        </p:nvCxnSpPr>
        <p:spPr>
          <a:xfrm>
            <a:off x="3003988" y="2024810"/>
            <a:ext cx="304772" cy="40223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7" name="TextBox 66">
            <a:extLst>
              <a:ext uri="{FF2B5EF4-FFF2-40B4-BE49-F238E27FC236}">
                <a16:creationId xmlns:a16="http://schemas.microsoft.com/office/drawing/2014/main" id="{E6843CB9-9521-EF4A-7D48-01CCE6E50182}"/>
              </a:ext>
            </a:extLst>
          </p:cNvPr>
          <p:cNvSpPr txBox="1"/>
          <p:nvPr/>
        </p:nvSpPr>
        <p:spPr>
          <a:xfrm>
            <a:off x="1378090" y="2447885"/>
            <a:ext cx="356188" cy="523220"/>
          </a:xfrm>
          <a:prstGeom prst="rect">
            <a:avLst/>
          </a:prstGeom>
          <a:noFill/>
        </p:spPr>
        <p:txBody>
          <a:bodyPr wrap="none" rtlCol="0">
            <a:spAutoFit/>
          </a:bodyPr>
          <a:lstStyle/>
          <a:p>
            <a:r>
              <a:rPr lang="en-IN" sz="2800" dirty="0">
                <a:solidFill>
                  <a:srgbClr val="002060"/>
                </a:solidFill>
              </a:rPr>
              <a:t>a</a:t>
            </a:r>
          </a:p>
        </p:txBody>
      </p:sp>
      <p:sp>
        <p:nvSpPr>
          <p:cNvPr id="68" name="TextBox 67">
            <a:extLst>
              <a:ext uri="{FF2B5EF4-FFF2-40B4-BE49-F238E27FC236}">
                <a16:creationId xmlns:a16="http://schemas.microsoft.com/office/drawing/2014/main" id="{CF4DF9A6-9AD1-814A-DE60-D37FFDE26223}"/>
              </a:ext>
            </a:extLst>
          </p:cNvPr>
          <p:cNvSpPr txBox="1"/>
          <p:nvPr/>
        </p:nvSpPr>
        <p:spPr>
          <a:xfrm>
            <a:off x="2319698" y="2474874"/>
            <a:ext cx="360996" cy="523220"/>
          </a:xfrm>
          <a:prstGeom prst="rect">
            <a:avLst/>
          </a:prstGeom>
          <a:noFill/>
        </p:spPr>
        <p:txBody>
          <a:bodyPr wrap="none" rtlCol="0">
            <a:spAutoFit/>
          </a:bodyPr>
          <a:lstStyle/>
          <a:p>
            <a:r>
              <a:rPr lang="en-IN" sz="2800" dirty="0">
                <a:solidFill>
                  <a:srgbClr val="002060"/>
                </a:solidFill>
              </a:rPr>
              <a:t>b</a:t>
            </a:r>
          </a:p>
        </p:txBody>
      </p:sp>
      <p:sp>
        <p:nvSpPr>
          <p:cNvPr id="69" name="TextBox 68">
            <a:extLst>
              <a:ext uri="{FF2B5EF4-FFF2-40B4-BE49-F238E27FC236}">
                <a16:creationId xmlns:a16="http://schemas.microsoft.com/office/drawing/2014/main" id="{80D19EFC-95B2-D8CC-C487-120ED339E37A}"/>
              </a:ext>
            </a:extLst>
          </p:cNvPr>
          <p:cNvSpPr txBox="1"/>
          <p:nvPr/>
        </p:nvSpPr>
        <p:spPr>
          <a:xfrm>
            <a:off x="3287672" y="1992100"/>
            <a:ext cx="360996" cy="523220"/>
          </a:xfrm>
          <a:prstGeom prst="rect">
            <a:avLst/>
          </a:prstGeom>
          <a:noFill/>
        </p:spPr>
        <p:txBody>
          <a:bodyPr wrap="none" rtlCol="0">
            <a:spAutoFit/>
          </a:bodyPr>
          <a:lstStyle/>
          <a:p>
            <a:r>
              <a:rPr lang="en-IN" sz="2800" dirty="0">
                <a:solidFill>
                  <a:srgbClr val="002060"/>
                </a:solidFill>
              </a:rPr>
              <a:t>c</a:t>
            </a:r>
          </a:p>
        </p:txBody>
      </p:sp>
      <p:sp>
        <p:nvSpPr>
          <p:cNvPr id="70" name="TextBox 69">
            <a:extLst>
              <a:ext uri="{FF2B5EF4-FFF2-40B4-BE49-F238E27FC236}">
                <a16:creationId xmlns:a16="http://schemas.microsoft.com/office/drawing/2014/main" id="{55823823-7ECD-70F2-F865-AD118C68FA14}"/>
              </a:ext>
            </a:extLst>
          </p:cNvPr>
          <p:cNvSpPr txBox="1"/>
          <p:nvPr/>
        </p:nvSpPr>
        <p:spPr>
          <a:xfrm>
            <a:off x="2895068" y="1511436"/>
            <a:ext cx="362600" cy="523220"/>
          </a:xfrm>
          <a:prstGeom prst="rect">
            <a:avLst/>
          </a:prstGeom>
          <a:noFill/>
        </p:spPr>
        <p:txBody>
          <a:bodyPr wrap="none" rtlCol="0">
            <a:spAutoFit/>
          </a:bodyPr>
          <a:lstStyle/>
          <a:p>
            <a:r>
              <a:rPr lang="en-IN" sz="2800" dirty="0">
                <a:solidFill>
                  <a:srgbClr val="002060"/>
                </a:solidFill>
              </a:rPr>
              <a:t>d</a:t>
            </a:r>
          </a:p>
        </p:txBody>
      </p:sp>
      <p:sp>
        <p:nvSpPr>
          <p:cNvPr id="71" name="TextBox 70">
            <a:extLst>
              <a:ext uri="{FF2B5EF4-FFF2-40B4-BE49-F238E27FC236}">
                <a16:creationId xmlns:a16="http://schemas.microsoft.com/office/drawing/2014/main" id="{583C9ED5-BE2A-26F3-22AE-DC447B1BD2C5}"/>
              </a:ext>
            </a:extLst>
          </p:cNvPr>
          <p:cNvSpPr txBox="1"/>
          <p:nvPr/>
        </p:nvSpPr>
        <p:spPr>
          <a:xfrm>
            <a:off x="2708813" y="3227490"/>
            <a:ext cx="360996" cy="523220"/>
          </a:xfrm>
          <a:prstGeom prst="rect">
            <a:avLst/>
          </a:prstGeom>
          <a:noFill/>
        </p:spPr>
        <p:txBody>
          <a:bodyPr wrap="none" rtlCol="0">
            <a:spAutoFit/>
          </a:bodyPr>
          <a:lstStyle/>
          <a:p>
            <a:r>
              <a:rPr lang="en-IN" sz="2800" dirty="0">
                <a:solidFill>
                  <a:srgbClr val="002060"/>
                </a:solidFill>
              </a:rPr>
              <a:t>e</a:t>
            </a:r>
          </a:p>
        </p:txBody>
      </p:sp>
      <p:sp>
        <p:nvSpPr>
          <p:cNvPr id="72" name="TextBox 71">
            <a:extLst>
              <a:ext uri="{FF2B5EF4-FFF2-40B4-BE49-F238E27FC236}">
                <a16:creationId xmlns:a16="http://schemas.microsoft.com/office/drawing/2014/main" id="{B57A8492-BB47-88F5-A00D-3CEE269CFE91}"/>
              </a:ext>
            </a:extLst>
          </p:cNvPr>
          <p:cNvSpPr txBox="1"/>
          <p:nvPr/>
        </p:nvSpPr>
        <p:spPr>
          <a:xfrm>
            <a:off x="3611226" y="3227490"/>
            <a:ext cx="298480" cy="523220"/>
          </a:xfrm>
          <a:prstGeom prst="rect">
            <a:avLst/>
          </a:prstGeom>
          <a:noFill/>
        </p:spPr>
        <p:txBody>
          <a:bodyPr wrap="none" rtlCol="0">
            <a:spAutoFit/>
          </a:bodyPr>
          <a:lstStyle/>
          <a:p>
            <a:r>
              <a:rPr lang="en-IN" sz="2800" dirty="0">
                <a:solidFill>
                  <a:srgbClr val="002060"/>
                </a:solidFill>
              </a:rPr>
              <a:t>f</a:t>
            </a:r>
          </a:p>
        </p:txBody>
      </p:sp>
      <p:sp>
        <p:nvSpPr>
          <p:cNvPr id="73" name="TextBox 72">
            <a:extLst>
              <a:ext uri="{FF2B5EF4-FFF2-40B4-BE49-F238E27FC236}">
                <a16:creationId xmlns:a16="http://schemas.microsoft.com/office/drawing/2014/main" id="{147DCC76-2B9C-3E04-F9CD-65A9DD4B8505}"/>
              </a:ext>
            </a:extLst>
          </p:cNvPr>
          <p:cNvSpPr txBox="1"/>
          <p:nvPr/>
        </p:nvSpPr>
        <p:spPr>
          <a:xfrm>
            <a:off x="4056148" y="2423962"/>
            <a:ext cx="360996" cy="523220"/>
          </a:xfrm>
          <a:prstGeom prst="rect">
            <a:avLst/>
          </a:prstGeom>
          <a:noFill/>
        </p:spPr>
        <p:txBody>
          <a:bodyPr wrap="none" rtlCol="0">
            <a:spAutoFit/>
          </a:bodyPr>
          <a:lstStyle/>
          <a:p>
            <a:r>
              <a:rPr lang="en-IN" sz="2800" dirty="0">
                <a:solidFill>
                  <a:srgbClr val="002060"/>
                </a:solidFill>
              </a:rPr>
              <a:t>g</a:t>
            </a:r>
          </a:p>
        </p:txBody>
      </p:sp>
      <p:sp>
        <p:nvSpPr>
          <p:cNvPr id="74" name="TextBox 73">
            <a:extLst>
              <a:ext uri="{FF2B5EF4-FFF2-40B4-BE49-F238E27FC236}">
                <a16:creationId xmlns:a16="http://schemas.microsoft.com/office/drawing/2014/main" id="{FB826EF8-3227-AF77-4958-A2B40131BE6A}"/>
              </a:ext>
            </a:extLst>
          </p:cNvPr>
          <p:cNvSpPr txBox="1"/>
          <p:nvPr/>
        </p:nvSpPr>
        <p:spPr>
          <a:xfrm>
            <a:off x="4493021" y="1440134"/>
            <a:ext cx="360996" cy="523220"/>
          </a:xfrm>
          <a:prstGeom prst="rect">
            <a:avLst/>
          </a:prstGeom>
          <a:noFill/>
        </p:spPr>
        <p:txBody>
          <a:bodyPr wrap="none" rtlCol="0">
            <a:spAutoFit/>
          </a:bodyPr>
          <a:lstStyle/>
          <a:p>
            <a:r>
              <a:rPr lang="en-IN" sz="2800" dirty="0">
                <a:solidFill>
                  <a:srgbClr val="002060"/>
                </a:solidFill>
              </a:rPr>
              <a:t>h</a:t>
            </a:r>
          </a:p>
        </p:txBody>
      </p:sp>
      <p:sp>
        <p:nvSpPr>
          <p:cNvPr id="75" name="TextBox 74">
            <a:extLst>
              <a:ext uri="{FF2B5EF4-FFF2-40B4-BE49-F238E27FC236}">
                <a16:creationId xmlns:a16="http://schemas.microsoft.com/office/drawing/2014/main" id="{3A244CD2-FFE4-D70B-DD2E-00B36991EC32}"/>
              </a:ext>
            </a:extLst>
          </p:cNvPr>
          <p:cNvSpPr txBox="1"/>
          <p:nvPr/>
        </p:nvSpPr>
        <p:spPr>
          <a:xfrm>
            <a:off x="5015880" y="2492896"/>
            <a:ext cx="266420" cy="523220"/>
          </a:xfrm>
          <a:prstGeom prst="rect">
            <a:avLst/>
          </a:prstGeom>
          <a:noFill/>
        </p:spPr>
        <p:txBody>
          <a:bodyPr wrap="none" rtlCol="0">
            <a:spAutoFit/>
          </a:bodyPr>
          <a:lstStyle/>
          <a:p>
            <a:r>
              <a:rPr lang="en-IN" sz="2800" dirty="0" err="1">
                <a:solidFill>
                  <a:srgbClr val="002060"/>
                </a:solidFill>
              </a:rPr>
              <a:t>i</a:t>
            </a:r>
            <a:endParaRPr lang="en-IN" sz="2800" dirty="0">
              <a:solidFill>
                <a:srgbClr val="002060"/>
              </a:solidFill>
            </a:endParaRPr>
          </a:p>
        </p:txBody>
      </p:sp>
      <p:sp>
        <p:nvSpPr>
          <p:cNvPr id="76" name="TextBox 75">
            <a:extLst>
              <a:ext uri="{FF2B5EF4-FFF2-40B4-BE49-F238E27FC236}">
                <a16:creationId xmlns:a16="http://schemas.microsoft.com/office/drawing/2014/main" id="{60E2E907-ABDA-219E-55BE-F2A8006B54DB}"/>
              </a:ext>
            </a:extLst>
          </p:cNvPr>
          <p:cNvSpPr txBox="1"/>
          <p:nvPr/>
        </p:nvSpPr>
        <p:spPr>
          <a:xfrm>
            <a:off x="4522598" y="2975424"/>
            <a:ext cx="266420" cy="523220"/>
          </a:xfrm>
          <a:prstGeom prst="rect">
            <a:avLst/>
          </a:prstGeom>
          <a:noFill/>
        </p:spPr>
        <p:txBody>
          <a:bodyPr wrap="none" rtlCol="0">
            <a:spAutoFit/>
          </a:bodyPr>
          <a:lstStyle/>
          <a:p>
            <a:r>
              <a:rPr lang="en-IN" sz="2800" dirty="0">
                <a:solidFill>
                  <a:srgbClr val="002060"/>
                </a:solidFill>
              </a:rPr>
              <a:t>j</a:t>
            </a:r>
          </a:p>
        </p:txBody>
      </p:sp>
    </p:spTree>
    <p:extLst>
      <p:ext uri="{BB962C8B-B14F-4D97-AF65-F5344CB8AC3E}">
        <p14:creationId xmlns:p14="http://schemas.microsoft.com/office/powerpoint/2010/main" val="23542625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D5E9C-AC3B-0C8E-ACE1-6F5ECD20B21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0DB1D482-3ED5-7AA2-FD9E-092BE0E9F614}"/>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F91BC841-6803-A258-CF53-22A249E67D06}"/>
              </a:ext>
            </a:extLst>
          </p:cNvPr>
          <p:cNvSpPr>
            <a:spLocks noGrp="1"/>
          </p:cNvSpPr>
          <p:nvPr>
            <p:ph idx="1"/>
          </p:nvPr>
        </p:nvSpPr>
        <p:spPr>
          <a:xfrm>
            <a:off x="131180" y="863444"/>
            <a:ext cx="11929641" cy="5589891"/>
          </a:xfrm>
        </p:spPr>
        <p:txBody>
          <a:bodyPr/>
          <a:lstStyle/>
          <a:p>
            <a:pPr marL="0" indent="0">
              <a:buNone/>
            </a:pPr>
            <a:r>
              <a:rPr lang="en-IN" dirty="0">
                <a:solidFill>
                  <a:srgbClr val="FF0000"/>
                </a:solidFill>
              </a:rPr>
              <a:t>? For the Given graph determine the cut-vertices, bridges</a:t>
            </a:r>
          </a:p>
          <a:p>
            <a:endParaRPr lang="en-IN" dirty="0"/>
          </a:p>
          <a:p>
            <a:endParaRPr lang="en-IN" dirty="0"/>
          </a:p>
          <a:p>
            <a:endParaRPr lang="en-IN" dirty="0"/>
          </a:p>
          <a:p>
            <a:pPr marL="0" indent="0">
              <a:buNone/>
            </a:pPr>
            <a:endParaRPr lang="en-IN" dirty="0"/>
          </a:p>
          <a:p>
            <a:endParaRPr lang="en-IN" dirty="0"/>
          </a:p>
          <a:p>
            <a:r>
              <a:rPr lang="en-IN" dirty="0"/>
              <a:t>cut-vertices: b, c, and g.</a:t>
            </a:r>
          </a:p>
          <a:p>
            <a:r>
              <a:rPr lang="en-IN" dirty="0"/>
              <a:t>Bridges: ab, cg.</a:t>
            </a:r>
          </a:p>
          <a:p>
            <a:pPr marL="0" indent="0">
              <a:buNone/>
            </a:pPr>
            <a:endParaRPr lang="en-IN" dirty="0"/>
          </a:p>
        </p:txBody>
      </p:sp>
      <p:sp>
        <p:nvSpPr>
          <p:cNvPr id="4" name="Oval 3">
            <a:extLst>
              <a:ext uri="{FF2B5EF4-FFF2-40B4-BE49-F238E27FC236}">
                <a16:creationId xmlns:a16="http://schemas.microsoft.com/office/drawing/2014/main" id="{77152DD5-0744-8DDB-E477-3800661C7EF6}"/>
              </a:ext>
            </a:extLst>
          </p:cNvPr>
          <p:cNvSpPr/>
          <p:nvPr/>
        </p:nvSpPr>
        <p:spPr>
          <a:xfrm rot="5400000">
            <a:off x="1487464" y="24059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 name="Straight Connector 4">
            <a:extLst>
              <a:ext uri="{FF2B5EF4-FFF2-40B4-BE49-F238E27FC236}">
                <a16:creationId xmlns:a16="http://schemas.microsoft.com/office/drawing/2014/main" id="{7FED5E9A-3BD5-C93D-5F22-32B60E4E4EB3}"/>
              </a:ext>
            </a:extLst>
          </p:cNvPr>
          <p:cNvCxnSpPr>
            <a:cxnSpLocks/>
            <a:stCxn id="4" idx="0"/>
            <a:endCxn id="10" idx="4"/>
          </p:cNvCxnSpPr>
          <p:nvPr/>
        </p:nvCxnSpPr>
        <p:spPr>
          <a:xfrm>
            <a:off x="1631464" y="2477954"/>
            <a:ext cx="792104" cy="15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 name="Oval 9">
            <a:extLst>
              <a:ext uri="{FF2B5EF4-FFF2-40B4-BE49-F238E27FC236}">
                <a16:creationId xmlns:a16="http://schemas.microsoft.com/office/drawing/2014/main" id="{AC97BDE5-6CA2-B65E-5478-65502B31C64C}"/>
              </a:ext>
            </a:extLst>
          </p:cNvPr>
          <p:cNvSpPr/>
          <p:nvPr/>
        </p:nvSpPr>
        <p:spPr>
          <a:xfrm rot="5400000">
            <a:off x="2423568" y="240749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3" name="Oval 12">
            <a:extLst>
              <a:ext uri="{FF2B5EF4-FFF2-40B4-BE49-F238E27FC236}">
                <a16:creationId xmlns:a16="http://schemas.microsoft.com/office/drawing/2014/main" id="{0FFE8C97-FD90-5399-CE87-1E4AF22ED37F}"/>
              </a:ext>
            </a:extLst>
          </p:cNvPr>
          <p:cNvSpPr/>
          <p:nvPr/>
        </p:nvSpPr>
        <p:spPr>
          <a:xfrm rot="5400000">
            <a:off x="3287672" y="240595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4" name="Oval 13">
            <a:extLst>
              <a:ext uri="{FF2B5EF4-FFF2-40B4-BE49-F238E27FC236}">
                <a16:creationId xmlns:a16="http://schemas.microsoft.com/office/drawing/2014/main" id="{443D8328-0371-0CA2-8E37-E7D8E53450EC}"/>
              </a:ext>
            </a:extLst>
          </p:cNvPr>
          <p:cNvSpPr/>
          <p:nvPr/>
        </p:nvSpPr>
        <p:spPr>
          <a:xfrm rot="5400000">
            <a:off x="4151776" y="240441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5" name="Oval 14">
            <a:extLst>
              <a:ext uri="{FF2B5EF4-FFF2-40B4-BE49-F238E27FC236}">
                <a16:creationId xmlns:a16="http://schemas.microsoft.com/office/drawing/2014/main" id="{67AA5EE9-A400-F75A-D6B9-0166B0759C97}"/>
              </a:ext>
            </a:extLst>
          </p:cNvPr>
          <p:cNvSpPr/>
          <p:nvPr/>
        </p:nvSpPr>
        <p:spPr>
          <a:xfrm rot="5400000">
            <a:off x="5015880" y="240287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16" name="Straight Connector 15">
            <a:extLst>
              <a:ext uri="{FF2B5EF4-FFF2-40B4-BE49-F238E27FC236}">
                <a16:creationId xmlns:a16="http://schemas.microsoft.com/office/drawing/2014/main" id="{D46634C6-25E9-70E0-00A8-470E725180EC}"/>
              </a:ext>
            </a:extLst>
          </p:cNvPr>
          <p:cNvCxnSpPr>
            <a:cxnSpLocks/>
            <a:stCxn id="10" idx="0"/>
            <a:endCxn id="13" idx="4"/>
          </p:cNvCxnSpPr>
          <p:nvPr/>
        </p:nvCxnSpPr>
        <p:spPr>
          <a:xfrm flipV="1">
            <a:off x="2567568" y="2477954"/>
            <a:ext cx="720104" cy="15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9" name="Straight Connector 18">
            <a:extLst>
              <a:ext uri="{FF2B5EF4-FFF2-40B4-BE49-F238E27FC236}">
                <a16:creationId xmlns:a16="http://schemas.microsoft.com/office/drawing/2014/main" id="{B08F3D6D-2504-3D9D-CC25-0D802C910077}"/>
              </a:ext>
            </a:extLst>
          </p:cNvPr>
          <p:cNvCxnSpPr>
            <a:cxnSpLocks/>
            <a:stCxn id="13" idx="0"/>
            <a:endCxn id="14" idx="4"/>
          </p:cNvCxnSpPr>
          <p:nvPr/>
        </p:nvCxnSpPr>
        <p:spPr>
          <a:xfrm flipV="1">
            <a:off x="3431672" y="2476414"/>
            <a:ext cx="720104" cy="154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22" name="Oval 21">
            <a:extLst>
              <a:ext uri="{FF2B5EF4-FFF2-40B4-BE49-F238E27FC236}">
                <a16:creationId xmlns:a16="http://schemas.microsoft.com/office/drawing/2014/main" id="{A39477B8-BB99-79E3-7C6B-3DD29126F559}"/>
              </a:ext>
            </a:extLst>
          </p:cNvPr>
          <p:cNvSpPr/>
          <p:nvPr/>
        </p:nvSpPr>
        <p:spPr>
          <a:xfrm rot="5400000">
            <a:off x="4583808" y="190189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23" name="Oval 22">
            <a:extLst>
              <a:ext uri="{FF2B5EF4-FFF2-40B4-BE49-F238E27FC236}">
                <a16:creationId xmlns:a16="http://schemas.microsoft.com/office/drawing/2014/main" id="{42408B83-1B53-06B5-5CF8-4CDA206106C9}"/>
              </a:ext>
            </a:extLst>
          </p:cNvPr>
          <p:cNvSpPr/>
          <p:nvPr/>
        </p:nvSpPr>
        <p:spPr>
          <a:xfrm rot="5400000">
            <a:off x="4583808" y="287211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24" name="Straight Connector 23">
            <a:extLst>
              <a:ext uri="{FF2B5EF4-FFF2-40B4-BE49-F238E27FC236}">
                <a16:creationId xmlns:a16="http://schemas.microsoft.com/office/drawing/2014/main" id="{C0EDB7C7-83DD-0C90-EAFA-7DFE6CDC60B5}"/>
              </a:ext>
            </a:extLst>
          </p:cNvPr>
          <p:cNvCxnSpPr>
            <a:cxnSpLocks/>
            <a:stCxn id="14" idx="1"/>
            <a:endCxn id="22" idx="5"/>
          </p:cNvCxnSpPr>
          <p:nvPr/>
        </p:nvCxnSpPr>
        <p:spPr>
          <a:xfrm flipV="1">
            <a:off x="4274688" y="2024810"/>
            <a:ext cx="330208" cy="40069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7" name="Straight Connector 26">
            <a:extLst>
              <a:ext uri="{FF2B5EF4-FFF2-40B4-BE49-F238E27FC236}">
                <a16:creationId xmlns:a16="http://schemas.microsoft.com/office/drawing/2014/main" id="{12663342-9E7B-AF0A-A6F5-43C7EAC2D62D}"/>
              </a:ext>
            </a:extLst>
          </p:cNvPr>
          <p:cNvCxnSpPr>
            <a:cxnSpLocks/>
            <a:stCxn id="22" idx="7"/>
            <a:endCxn id="15" idx="3"/>
          </p:cNvCxnSpPr>
          <p:nvPr/>
        </p:nvCxnSpPr>
        <p:spPr>
          <a:xfrm>
            <a:off x="4706720" y="2024810"/>
            <a:ext cx="330248" cy="39915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1" name="Straight Connector 30">
            <a:extLst>
              <a:ext uri="{FF2B5EF4-FFF2-40B4-BE49-F238E27FC236}">
                <a16:creationId xmlns:a16="http://schemas.microsoft.com/office/drawing/2014/main" id="{6C06B96E-FECB-AE7A-851C-7F18FD2D7468}"/>
              </a:ext>
            </a:extLst>
          </p:cNvPr>
          <p:cNvCxnSpPr>
            <a:cxnSpLocks/>
            <a:stCxn id="15" idx="5"/>
            <a:endCxn id="23" idx="1"/>
          </p:cNvCxnSpPr>
          <p:nvPr/>
        </p:nvCxnSpPr>
        <p:spPr>
          <a:xfrm flipH="1">
            <a:off x="4706720" y="2525786"/>
            <a:ext cx="330248" cy="36741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Connector 34">
            <a:extLst>
              <a:ext uri="{FF2B5EF4-FFF2-40B4-BE49-F238E27FC236}">
                <a16:creationId xmlns:a16="http://schemas.microsoft.com/office/drawing/2014/main" id="{C5844D85-2B10-D02F-70A5-3EA67797B27B}"/>
              </a:ext>
            </a:extLst>
          </p:cNvPr>
          <p:cNvCxnSpPr>
            <a:cxnSpLocks/>
            <a:stCxn id="14" idx="7"/>
            <a:endCxn id="23" idx="3"/>
          </p:cNvCxnSpPr>
          <p:nvPr/>
        </p:nvCxnSpPr>
        <p:spPr>
          <a:xfrm>
            <a:off x="4274688" y="2527326"/>
            <a:ext cx="330208" cy="36587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0" name="Oval 39">
            <a:extLst>
              <a:ext uri="{FF2B5EF4-FFF2-40B4-BE49-F238E27FC236}">
                <a16:creationId xmlns:a16="http://schemas.microsoft.com/office/drawing/2014/main" id="{FCE16F4B-128A-2F5D-DCF7-16C8E44612F1}"/>
              </a:ext>
            </a:extLst>
          </p:cNvPr>
          <p:cNvSpPr/>
          <p:nvPr/>
        </p:nvSpPr>
        <p:spPr>
          <a:xfrm rot="5400000">
            <a:off x="2855620" y="31554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41" name="Straight Connector 40">
            <a:extLst>
              <a:ext uri="{FF2B5EF4-FFF2-40B4-BE49-F238E27FC236}">
                <a16:creationId xmlns:a16="http://schemas.microsoft.com/office/drawing/2014/main" id="{1F72B11B-BF1E-4B7B-5E5B-A010F9100C56}"/>
              </a:ext>
            </a:extLst>
          </p:cNvPr>
          <p:cNvCxnSpPr>
            <a:cxnSpLocks/>
            <a:stCxn id="13" idx="5"/>
            <a:endCxn id="40" idx="2"/>
          </p:cNvCxnSpPr>
          <p:nvPr/>
        </p:nvCxnSpPr>
        <p:spPr>
          <a:xfrm flipH="1">
            <a:off x="2927620" y="2528866"/>
            <a:ext cx="381140" cy="62662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49" name="Oval 48">
            <a:extLst>
              <a:ext uri="{FF2B5EF4-FFF2-40B4-BE49-F238E27FC236}">
                <a16:creationId xmlns:a16="http://schemas.microsoft.com/office/drawing/2014/main" id="{15E40B0A-6AA0-4090-CDB4-B8A45CA80D0F}"/>
              </a:ext>
            </a:extLst>
          </p:cNvPr>
          <p:cNvSpPr/>
          <p:nvPr/>
        </p:nvSpPr>
        <p:spPr>
          <a:xfrm rot="5400000">
            <a:off x="3695336" y="315549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0" name="Straight Connector 49">
            <a:extLst>
              <a:ext uri="{FF2B5EF4-FFF2-40B4-BE49-F238E27FC236}">
                <a16:creationId xmlns:a16="http://schemas.microsoft.com/office/drawing/2014/main" id="{3300E8F6-59FA-DB1E-FA2F-34F4F455BCB3}"/>
              </a:ext>
            </a:extLst>
          </p:cNvPr>
          <p:cNvCxnSpPr>
            <a:cxnSpLocks/>
            <a:stCxn id="13" idx="7"/>
            <a:endCxn id="49" idx="3"/>
          </p:cNvCxnSpPr>
          <p:nvPr/>
        </p:nvCxnSpPr>
        <p:spPr>
          <a:xfrm>
            <a:off x="3410584" y="2528866"/>
            <a:ext cx="305840" cy="64771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7" name="Straight Connector 56">
            <a:extLst>
              <a:ext uri="{FF2B5EF4-FFF2-40B4-BE49-F238E27FC236}">
                <a16:creationId xmlns:a16="http://schemas.microsoft.com/office/drawing/2014/main" id="{9096D0E8-B983-F440-4687-A040163045F2}"/>
              </a:ext>
            </a:extLst>
          </p:cNvPr>
          <p:cNvCxnSpPr>
            <a:cxnSpLocks/>
            <a:stCxn id="49" idx="4"/>
            <a:endCxn id="40" idx="0"/>
          </p:cNvCxnSpPr>
          <p:nvPr/>
        </p:nvCxnSpPr>
        <p:spPr>
          <a:xfrm flipH="1">
            <a:off x="2999620" y="3227490"/>
            <a:ext cx="695716"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0" name="Oval 59">
            <a:extLst>
              <a:ext uri="{FF2B5EF4-FFF2-40B4-BE49-F238E27FC236}">
                <a16:creationId xmlns:a16="http://schemas.microsoft.com/office/drawing/2014/main" id="{F54EB7DD-EAE9-C5AD-E56E-D46D700C8ED7}"/>
              </a:ext>
            </a:extLst>
          </p:cNvPr>
          <p:cNvSpPr/>
          <p:nvPr/>
        </p:nvSpPr>
        <p:spPr>
          <a:xfrm rot="5400000">
            <a:off x="2881076" y="1901898"/>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61" name="Straight Connector 60">
            <a:extLst>
              <a:ext uri="{FF2B5EF4-FFF2-40B4-BE49-F238E27FC236}">
                <a16:creationId xmlns:a16="http://schemas.microsoft.com/office/drawing/2014/main" id="{96038C1C-D822-D16F-5CA5-12DDC6A6A913}"/>
              </a:ext>
            </a:extLst>
          </p:cNvPr>
          <p:cNvCxnSpPr>
            <a:cxnSpLocks/>
            <a:stCxn id="10" idx="1"/>
            <a:endCxn id="60" idx="5"/>
          </p:cNvCxnSpPr>
          <p:nvPr/>
        </p:nvCxnSpPr>
        <p:spPr>
          <a:xfrm flipV="1">
            <a:off x="2546480" y="2024810"/>
            <a:ext cx="355684" cy="4037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4" name="Straight Connector 63">
            <a:extLst>
              <a:ext uri="{FF2B5EF4-FFF2-40B4-BE49-F238E27FC236}">
                <a16:creationId xmlns:a16="http://schemas.microsoft.com/office/drawing/2014/main" id="{EFF28F96-D1FE-3B4A-C52B-F6A9A92DCC31}"/>
              </a:ext>
            </a:extLst>
          </p:cNvPr>
          <p:cNvCxnSpPr>
            <a:cxnSpLocks/>
            <a:stCxn id="60" idx="7"/>
            <a:endCxn id="13" idx="3"/>
          </p:cNvCxnSpPr>
          <p:nvPr/>
        </p:nvCxnSpPr>
        <p:spPr>
          <a:xfrm>
            <a:off x="3003988" y="2024810"/>
            <a:ext cx="304772" cy="40223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7" name="TextBox 66">
            <a:extLst>
              <a:ext uri="{FF2B5EF4-FFF2-40B4-BE49-F238E27FC236}">
                <a16:creationId xmlns:a16="http://schemas.microsoft.com/office/drawing/2014/main" id="{7BB48C5F-5DDF-E7B6-D4F3-528D48565CC6}"/>
              </a:ext>
            </a:extLst>
          </p:cNvPr>
          <p:cNvSpPr txBox="1"/>
          <p:nvPr/>
        </p:nvSpPr>
        <p:spPr>
          <a:xfrm>
            <a:off x="1378090" y="2447885"/>
            <a:ext cx="356188" cy="523220"/>
          </a:xfrm>
          <a:prstGeom prst="rect">
            <a:avLst/>
          </a:prstGeom>
          <a:noFill/>
        </p:spPr>
        <p:txBody>
          <a:bodyPr wrap="none" rtlCol="0">
            <a:spAutoFit/>
          </a:bodyPr>
          <a:lstStyle/>
          <a:p>
            <a:r>
              <a:rPr lang="en-IN" sz="2800" dirty="0">
                <a:solidFill>
                  <a:srgbClr val="002060"/>
                </a:solidFill>
              </a:rPr>
              <a:t>a</a:t>
            </a:r>
          </a:p>
        </p:txBody>
      </p:sp>
      <p:sp>
        <p:nvSpPr>
          <p:cNvPr id="68" name="TextBox 67">
            <a:extLst>
              <a:ext uri="{FF2B5EF4-FFF2-40B4-BE49-F238E27FC236}">
                <a16:creationId xmlns:a16="http://schemas.microsoft.com/office/drawing/2014/main" id="{A4580F6A-ECA9-8D00-43BA-19B51D2A2B0B}"/>
              </a:ext>
            </a:extLst>
          </p:cNvPr>
          <p:cNvSpPr txBox="1"/>
          <p:nvPr/>
        </p:nvSpPr>
        <p:spPr>
          <a:xfrm>
            <a:off x="2319698" y="2474874"/>
            <a:ext cx="360996" cy="523220"/>
          </a:xfrm>
          <a:prstGeom prst="rect">
            <a:avLst/>
          </a:prstGeom>
          <a:noFill/>
        </p:spPr>
        <p:txBody>
          <a:bodyPr wrap="none" rtlCol="0">
            <a:spAutoFit/>
          </a:bodyPr>
          <a:lstStyle/>
          <a:p>
            <a:r>
              <a:rPr lang="en-IN" sz="2800" dirty="0">
                <a:solidFill>
                  <a:srgbClr val="002060"/>
                </a:solidFill>
              </a:rPr>
              <a:t>b</a:t>
            </a:r>
          </a:p>
        </p:txBody>
      </p:sp>
      <p:sp>
        <p:nvSpPr>
          <p:cNvPr id="69" name="TextBox 68">
            <a:extLst>
              <a:ext uri="{FF2B5EF4-FFF2-40B4-BE49-F238E27FC236}">
                <a16:creationId xmlns:a16="http://schemas.microsoft.com/office/drawing/2014/main" id="{D26A0811-CA37-AE5B-D957-9813103C280A}"/>
              </a:ext>
            </a:extLst>
          </p:cNvPr>
          <p:cNvSpPr txBox="1"/>
          <p:nvPr/>
        </p:nvSpPr>
        <p:spPr>
          <a:xfrm>
            <a:off x="3287672" y="1992100"/>
            <a:ext cx="360996" cy="523220"/>
          </a:xfrm>
          <a:prstGeom prst="rect">
            <a:avLst/>
          </a:prstGeom>
          <a:noFill/>
        </p:spPr>
        <p:txBody>
          <a:bodyPr wrap="none" rtlCol="0">
            <a:spAutoFit/>
          </a:bodyPr>
          <a:lstStyle/>
          <a:p>
            <a:r>
              <a:rPr lang="en-IN" sz="2800" dirty="0">
                <a:solidFill>
                  <a:srgbClr val="002060"/>
                </a:solidFill>
              </a:rPr>
              <a:t>c</a:t>
            </a:r>
          </a:p>
        </p:txBody>
      </p:sp>
      <p:sp>
        <p:nvSpPr>
          <p:cNvPr id="70" name="TextBox 69">
            <a:extLst>
              <a:ext uri="{FF2B5EF4-FFF2-40B4-BE49-F238E27FC236}">
                <a16:creationId xmlns:a16="http://schemas.microsoft.com/office/drawing/2014/main" id="{7F97A3C3-B66E-DA57-0A0F-8A81EF967AC3}"/>
              </a:ext>
            </a:extLst>
          </p:cNvPr>
          <p:cNvSpPr txBox="1"/>
          <p:nvPr/>
        </p:nvSpPr>
        <p:spPr>
          <a:xfrm>
            <a:off x="2895068" y="1511436"/>
            <a:ext cx="362600" cy="523220"/>
          </a:xfrm>
          <a:prstGeom prst="rect">
            <a:avLst/>
          </a:prstGeom>
          <a:noFill/>
        </p:spPr>
        <p:txBody>
          <a:bodyPr wrap="none" rtlCol="0">
            <a:spAutoFit/>
          </a:bodyPr>
          <a:lstStyle/>
          <a:p>
            <a:r>
              <a:rPr lang="en-IN" sz="2800" dirty="0">
                <a:solidFill>
                  <a:srgbClr val="002060"/>
                </a:solidFill>
              </a:rPr>
              <a:t>d</a:t>
            </a:r>
          </a:p>
        </p:txBody>
      </p:sp>
      <p:sp>
        <p:nvSpPr>
          <p:cNvPr id="71" name="TextBox 70">
            <a:extLst>
              <a:ext uri="{FF2B5EF4-FFF2-40B4-BE49-F238E27FC236}">
                <a16:creationId xmlns:a16="http://schemas.microsoft.com/office/drawing/2014/main" id="{15BE1134-B44A-C2A9-8D74-810B2B109FBA}"/>
              </a:ext>
            </a:extLst>
          </p:cNvPr>
          <p:cNvSpPr txBox="1"/>
          <p:nvPr/>
        </p:nvSpPr>
        <p:spPr>
          <a:xfrm>
            <a:off x="2708813" y="3227490"/>
            <a:ext cx="360996" cy="523220"/>
          </a:xfrm>
          <a:prstGeom prst="rect">
            <a:avLst/>
          </a:prstGeom>
          <a:noFill/>
        </p:spPr>
        <p:txBody>
          <a:bodyPr wrap="none" rtlCol="0">
            <a:spAutoFit/>
          </a:bodyPr>
          <a:lstStyle/>
          <a:p>
            <a:r>
              <a:rPr lang="en-IN" sz="2800" dirty="0">
                <a:solidFill>
                  <a:srgbClr val="002060"/>
                </a:solidFill>
              </a:rPr>
              <a:t>e</a:t>
            </a:r>
          </a:p>
        </p:txBody>
      </p:sp>
      <p:sp>
        <p:nvSpPr>
          <p:cNvPr id="72" name="TextBox 71">
            <a:extLst>
              <a:ext uri="{FF2B5EF4-FFF2-40B4-BE49-F238E27FC236}">
                <a16:creationId xmlns:a16="http://schemas.microsoft.com/office/drawing/2014/main" id="{290160E4-6D6A-C2F7-69AC-06154AC9BCB2}"/>
              </a:ext>
            </a:extLst>
          </p:cNvPr>
          <p:cNvSpPr txBox="1"/>
          <p:nvPr/>
        </p:nvSpPr>
        <p:spPr>
          <a:xfrm>
            <a:off x="3611226" y="3227490"/>
            <a:ext cx="298480" cy="523220"/>
          </a:xfrm>
          <a:prstGeom prst="rect">
            <a:avLst/>
          </a:prstGeom>
          <a:noFill/>
        </p:spPr>
        <p:txBody>
          <a:bodyPr wrap="none" rtlCol="0">
            <a:spAutoFit/>
          </a:bodyPr>
          <a:lstStyle/>
          <a:p>
            <a:r>
              <a:rPr lang="en-IN" sz="2800" dirty="0">
                <a:solidFill>
                  <a:srgbClr val="002060"/>
                </a:solidFill>
              </a:rPr>
              <a:t>f</a:t>
            </a:r>
          </a:p>
        </p:txBody>
      </p:sp>
      <p:sp>
        <p:nvSpPr>
          <p:cNvPr id="73" name="TextBox 72">
            <a:extLst>
              <a:ext uri="{FF2B5EF4-FFF2-40B4-BE49-F238E27FC236}">
                <a16:creationId xmlns:a16="http://schemas.microsoft.com/office/drawing/2014/main" id="{F45C21A5-A002-6C75-06CD-1D1C15BD4F07}"/>
              </a:ext>
            </a:extLst>
          </p:cNvPr>
          <p:cNvSpPr txBox="1"/>
          <p:nvPr/>
        </p:nvSpPr>
        <p:spPr>
          <a:xfrm>
            <a:off x="4056148" y="2423962"/>
            <a:ext cx="360996" cy="523220"/>
          </a:xfrm>
          <a:prstGeom prst="rect">
            <a:avLst/>
          </a:prstGeom>
          <a:noFill/>
        </p:spPr>
        <p:txBody>
          <a:bodyPr wrap="none" rtlCol="0">
            <a:spAutoFit/>
          </a:bodyPr>
          <a:lstStyle/>
          <a:p>
            <a:r>
              <a:rPr lang="en-IN" sz="2800" dirty="0">
                <a:solidFill>
                  <a:srgbClr val="002060"/>
                </a:solidFill>
              </a:rPr>
              <a:t>g</a:t>
            </a:r>
          </a:p>
        </p:txBody>
      </p:sp>
      <p:sp>
        <p:nvSpPr>
          <p:cNvPr id="74" name="TextBox 73">
            <a:extLst>
              <a:ext uri="{FF2B5EF4-FFF2-40B4-BE49-F238E27FC236}">
                <a16:creationId xmlns:a16="http://schemas.microsoft.com/office/drawing/2014/main" id="{99C0D7FB-CBA9-9D6C-E7C0-1308014FC9BC}"/>
              </a:ext>
            </a:extLst>
          </p:cNvPr>
          <p:cNvSpPr txBox="1"/>
          <p:nvPr/>
        </p:nvSpPr>
        <p:spPr>
          <a:xfrm>
            <a:off x="4493021" y="1440134"/>
            <a:ext cx="360996" cy="523220"/>
          </a:xfrm>
          <a:prstGeom prst="rect">
            <a:avLst/>
          </a:prstGeom>
          <a:noFill/>
        </p:spPr>
        <p:txBody>
          <a:bodyPr wrap="none" rtlCol="0">
            <a:spAutoFit/>
          </a:bodyPr>
          <a:lstStyle/>
          <a:p>
            <a:r>
              <a:rPr lang="en-IN" sz="2800" dirty="0">
                <a:solidFill>
                  <a:srgbClr val="002060"/>
                </a:solidFill>
              </a:rPr>
              <a:t>h</a:t>
            </a:r>
          </a:p>
        </p:txBody>
      </p:sp>
      <p:sp>
        <p:nvSpPr>
          <p:cNvPr id="75" name="TextBox 74">
            <a:extLst>
              <a:ext uri="{FF2B5EF4-FFF2-40B4-BE49-F238E27FC236}">
                <a16:creationId xmlns:a16="http://schemas.microsoft.com/office/drawing/2014/main" id="{B1051112-DE09-C5FB-E783-4D6E809DB4A3}"/>
              </a:ext>
            </a:extLst>
          </p:cNvPr>
          <p:cNvSpPr txBox="1"/>
          <p:nvPr/>
        </p:nvSpPr>
        <p:spPr>
          <a:xfrm>
            <a:off x="5015880" y="2492896"/>
            <a:ext cx="266420" cy="523220"/>
          </a:xfrm>
          <a:prstGeom prst="rect">
            <a:avLst/>
          </a:prstGeom>
          <a:noFill/>
        </p:spPr>
        <p:txBody>
          <a:bodyPr wrap="none" rtlCol="0">
            <a:spAutoFit/>
          </a:bodyPr>
          <a:lstStyle/>
          <a:p>
            <a:r>
              <a:rPr lang="en-IN" sz="2800" dirty="0" err="1">
                <a:solidFill>
                  <a:srgbClr val="002060"/>
                </a:solidFill>
              </a:rPr>
              <a:t>i</a:t>
            </a:r>
            <a:endParaRPr lang="en-IN" sz="2800" dirty="0">
              <a:solidFill>
                <a:srgbClr val="002060"/>
              </a:solidFill>
            </a:endParaRPr>
          </a:p>
        </p:txBody>
      </p:sp>
      <p:sp>
        <p:nvSpPr>
          <p:cNvPr id="76" name="TextBox 75">
            <a:extLst>
              <a:ext uri="{FF2B5EF4-FFF2-40B4-BE49-F238E27FC236}">
                <a16:creationId xmlns:a16="http://schemas.microsoft.com/office/drawing/2014/main" id="{78681A0C-516E-ECDB-1E91-0D3C1E0F37BF}"/>
              </a:ext>
            </a:extLst>
          </p:cNvPr>
          <p:cNvSpPr txBox="1"/>
          <p:nvPr/>
        </p:nvSpPr>
        <p:spPr>
          <a:xfrm>
            <a:off x="4522598" y="2975424"/>
            <a:ext cx="266420" cy="523220"/>
          </a:xfrm>
          <a:prstGeom prst="rect">
            <a:avLst/>
          </a:prstGeom>
          <a:noFill/>
        </p:spPr>
        <p:txBody>
          <a:bodyPr wrap="none" rtlCol="0">
            <a:spAutoFit/>
          </a:bodyPr>
          <a:lstStyle/>
          <a:p>
            <a:r>
              <a:rPr lang="en-IN" sz="2800" dirty="0">
                <a:solidFill>
                  <a:srgbClr val="002060"/>
                </a:solidFill>
              </a:rPr>
              <a:t>j</a:t>
            </a:r>
          </a:p>
        </p:txBody>
      </p:sp>
    </p:spTree>
    <p:extLst>
      <p:ext uri="{BB962C8B-B14F-4D97-AF65-F5344CB8AC3E}">
        <p14:creationId xmlns:p14="http://schemas.microsoft.com/office/powerpoint/2010/main" val="1387654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grpId="0" nodeType="clickEffect">
                                  <p:stCondLst>
                                    <p:cond delay="0"/>
                                  </p:stCondLst>
                                  <p:childTnLst>
                                    <p:animClr clrSpc="rgb" dir="cw">
                                      <p:cBhvr override="childStyle">
                                        <p:cTn id="6" dur="500" fill="hold"/>
                                        <p:tgtEl>
                                          <p:spTgt spid="10"/>
                                        </p:tgtEl>
                                        <p:attrNameLst>
                                          <p:attrName>style.color</p:attrName>
                                        </p:attrNameLst>
                                      </p:cBhvr>
                                      <p:to>
                                        <a:schemeClr val="accent2"/>
                                      </p:to>
                                    </p:animClr>
                                    <p:animClr clrSpc="rgb" dir="cw">
                                      <p:cBhvr>
                                        <p:cTn id="7" dur="500" fill="hold"/>
                                        <p:tgtEl>
                                          <p:spTgt spid="10"/>
                                        </p:tgtEl>
                                        <p:attrNameLst>
                                          <p:attrName>fillcolor</p:attrName>
                                        </p:attrNameLst>
                                      </p:cBhvr>
                                      <p:to>
                                        <a:schemeClr val="accent2"/>
                                      </p:to>
                                    </p:animClr>
                                    <p:set>
                                      <p:cBhvr>
                                        <p:cTn id="8" dur="500" fill="hold"/>
                                        <p:tgtEl>
                                          <p:spTgt spid="10"/>
                                        </p:tgtEl>
                                        <p:attrNameLst>
                                          <p:attrName>fill.type</p:attrName>
                                        </p:attrNameLst>
                                      </p:cBhvr>
                                      <p:to>
                                        <p:strVal val="solid"/>
                                      </p:to>
                                    </p:set>
                                    <p:set>
                                      <p:cBhvr>
                                        <p:cTn id="9" dur="500" fill="hold"/>
                                        <p:tgtEl>
                                          <p:spTgt spid="10"/>
                                        </p:tgtEl>
                                        <p:attrNameLst>
                                          <p:attrName>fill.on</p:attrName>
                                        </p:attrNameLst>
                                      </p:cBhvr>
                                      <p:to>
                                        <p:strVal val="true"/>
                                      </p:to>
                                    </p:set>
                                  </p:childTnLst>
                                </p:cTn>
                              </p:par>
                              <p:par>
                                <p:cTn id="10" presetID="19" presetClass="emph" presetSubtype="0" fill="hold" grpId="0" nodeType="withEffect">
                                  <p:stCondLst>
                                    <p:cond delay="0"/>
                                  </p:stCondLst>
                                  <p:childTnLst>
                                    <p:animClr clrSpc="rgb" dir="cw">
                                      <p:cBhvr override="childStyle">
                                        <p:cTn id="11" dur="500" fill="hold"/>
                                        <p:tgtEl>
                                          <p:spTgt spid="13"/>
                                        </p:tgtEl>
                                        <p:attrNameLst>
                                          <p:attrName>style.color</p:attrName>
                                        </p:attrNameLst>
                                      </p:cBhvr>
                                      <p:to>
                                        <a:schemeClr val="accent2"/>
                                      </p:to>
                                    </p:animClr>
                                    <p:animClr clrSpc="rgb" dir="cw">
                                      <p:cBhvr>
                                        <p:cTn id="12" dur="500" fill="hold"/>
                                        <p:tgtEl>
                                          <p:spTgt spid="13"/>
                                        </p:tgtEl>
                                        <p:attrNameLst>
                                          <p:attrName>fillcolor</p:attrName>
                                        </p:attrNameLst>
                                      </p:cBhvr>
                                      <p:to>
                                        <a:schemeClr val="accent2"/>
                                      </p:to>
                                    </p:animClr>
                                    <p:set>
                                      <p:cBhvr>
                                        <p:cTn id="13" dur="500" fill="hold"/>
                                        <p:tgtEl>
                                          <p:spTgt spid="13"/>
                                        </p:tgtEl>
                                        <p:attrNameLst>
                                          <p:attrName>fill.type</p:attrName>
                                        </p:attrNameLst>
                                      </p:cBhvr>
                                      <p:to>
                                        <p:strVal val="solid"/>
                                      </p:to>
                                    </p:set>
                                    <p:set>
                                      <p:cBhvr>
                                        <p:cTn id="14" dur="500" fill="hold"/>
                                        <p:tgtEl>
                                          <p:spTgt spid="13"/>
                                        </p:tgtEl>
                                        <p:attrNameLst>
                                          <p:attrName>fill.on</p:attrName>
                                        </p:attrNameLst>
                                      </p:cBhvr>
                                      <p:to>
                                        <p:strVal val="true"/>
                                      </p:to>
                                    </p:set>
                                  </p:childTnLst>
                                </p:cTn>
                              </p:par>
                              <p:par>
                                <p:cTn id="15" presetID="19" presetClass="emph" presetSubtype="0" fill="hold" grpId="0" nodeType="withEffect">
                                  <p:stCondLst>
                                    <p:cond delay="0"/>
                                  </p:stCondLst>
                                  <p:childTnLst>
                                    <p:animClr clrSpc="rgb" dir="cw">
                                      <p:cBhvr override="childStyle">
                                        <p:cTn id="16" dur="500" fill="hold"/>
                                        <p:tgtEl>
                                          <p:spTgt spid="14"/>
                                        </p:tgtEl>
                                        <p:attrNameLst>
                                          <p:attrName>style.color</p:attrName>
                                        </p:attrNameLst>
                                      </p:cBhvr>
                                      <p:to>
                                        <a:schemeClr val="accent2"/>
                                      </p:to>
                                    </p:animClr>
                                    <p:animClr clrSpc="rgb" dir="cw">
                                      <p:cBhvr>
                                        <p:cTn id="17" dur="500" fill="hold"/>
                                        <p:tgtEl>
                                          <p:spTgt spid="14"/>
                                        </p:tgtEl>
                                        <p:attrNameLst>
                                          <p:attrName>fillcolor</p:attrName>
                                        </p:attrNameLst>
                                      </p:cBhvr>
                                      <p:to>
                                        <a:schemeClr val="accent2"/>
                                      </p:to>
                                    </p:animClr>
                                    <p:set>
                                      <p:cBhvr>
                                        <p:cTn id="18" dur="500" fill="hold"/>
                                        <p:tgtEl>
                                          <p:spTgt spid="14"/>
                                        </p:tgtEl>
                                        <p:attrNameLst>
                                          <p:attrName>fill.type</p:attrName>
                                        </p:attrNameLst>
                                      </p:cBhvr>
                                      <p:to>
                                        <p:strVal val="solid"/>
                                      </p:to>
                                    </p:set>
                                    <p:set>
                                      <p:cBhvr>
                                        <p:cTn id="19" dur="500" fill="hold"/>
                                        <p:tgtEl>
                                          <p:spTgt spid="14"/>
                                        </p:tgtEl>
                                        <p:attrNameLst>
                                          <p:attrName>fill.on</p:attrName>
                                        </p:attrNameLst>
                                      </p:cBhvr>
                                      <p:to>
                                        <p:strVal val="tru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7" presetClass="emph" presetSubtype="2" fill="hold" nodeType="clickEffect">
                                  <p:stCondLst>
                                    <p:cond delay="0"/>
                                  </p:stCondLst>
                                  <p:childTnLst>
                                    <p:animClr clrSpc="rgb" dir="cw">
                                      <p:cBhvr>
                                        <p:cTn id="27" dur="2000" fill="hold"/>
                                        <p:tgtEl>
                                          <p:spTgt spid="5"/>
                                        </p:tgtEl>
                                        <p:attrNameLst>
                                          <p:attrName>stroke.color</p:attrName>
                                        </p:attrNameLst>
                                      </p:cBhvr>
                                      <p:to>
                                        <a:srgbClr val="FFFF00"/>
                                      </p:to>
                                    </p:animClr>
                                    <p:set>
                                      <p:cBhvr>
                                        <p:cTn id="28" dur="2000" fill="hold"/>
                                        <p:tgtEl>
                                          <p:spTgt spid="5"/>
                                        </p:tgtEl>
                                        <p:attrNameLst>
                                          <p:attrName>stroke.on</p:attrName>
                                        </p:attrNameLst>
                                      </p:cBhvr>
                                      <p:to>
                                        <p:strVal val="true"/>
                                      </p:to>
                                    </p:set>
                                  </p:childTnLst>
                                </p:cTn>
                              </p:par>
                              <p:par>
                                <p:cTn id="29" presetID="7" presetClass="emph" presetSubtype="2" fill="hold" nodeType="withEffect">
                                  <p:stCondLst>
                                    <p:cond delay="0"/>
                                  </p:stCondLst>
                                  <p:childTnLst>
                                    <p:animClr clrSpc="rgb" dir="cw">
                                      <p:cBhvr>
                                        <p:cTn id="30" dur="2000" fill="hold"/>
                                        <p:tgtEl>
                                          <p:spTgt spid="19"/>
                                        </p:tgtEl>
                                        <p:attrNameLst>
                                          <p:attrName>stroke.color</p:attrName>
                                        </p:attrNameLst>
                                      </p:cBhvr>
                                      <p:to>
                                        <a:srgbClr val="FFFF00"/>
                                      </p:to>
                                    </p:animClr>
                                    <p:set>
                                      <p:cBhvr>
                                        <p:cTn id="31" dur="2000" fill="hold"/>
                                        <p:tgtEl>
                                          <p:spTgt spid="19"/>
                                        </p:tgtEl>
                                        <p:attrNameLst>
                                          <p:attrName>stroke.on</p:attrName>
                                        </p:attrNameLst>
                                      </p:cBhvr>
                                      <p:to>
                                        <p:strVal val="tru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P spid="14"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89149-8108-52CA-98EA-09217AEF836E}"/>
            </a:ext>
          </a:extLst>
        </p:cNvPr>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3028447F-5F93-202A-78CE-D03616870EDC}"/>
              </a:ext>
            </a:extLst>
          </p:cNvPr>
          <p:cNvCxnSpPr>
            <a:cxnSpLocks/>
            <a:stCxn id="6" idx="7"/>
            <a:endCxn id="11" idx="3"/>
          </p:cNvCxnSpPr>
          <p:nvPr/>
        </p:nvCxnSpPr>
        <p:spPr>
          <a:xfrm>
            <a:off x="2402488" y="2543816"/>
            <a:ext cx="834280" cy="8342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29" name="Straight Connector 28">
            <a:extLst>
              <a:ext uri="{FF2B5EF4-FFF2-40B4-BE49-F238E27FC236}">
                <a16:creationId xmlns:a16="http://schemas.microsoft.com/office/drawing/2014/main" id="{899D37E2-2E13-B7BE-E3A8-81BEA614B4E7}"/>
              </a:ext>
            </a:extLst>
          </p:cNvPr>
          <p:cNvCxnSpPr>
            <a:cxnSpLocks/>
            <a:stCxn id="11" idx="6"/>
            <a:endCxn id="17" idx="2"/>
          </p:cNvCxnSpPr>
          <p:nvPr/>
        </p:nvCxnSpPr>
        <p:spPr>
          <a:xfrm>
            <a:off x="3287680" y="3501000"/>
            <a:ext cx="0" cy="17282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3" name="Straight Connector 32">
            <a:extLst>
              <a:ext uri="{FF2B5EF4-FFF2-40B4-BE49-F238E27FC236}">
                <a16:creationId xmlns:a16="http://schemas.microsoft.com/office/drawing/2014/main" id="{C9A7D20F-8E8F-6D05-76DC-72BFE8437FCF}"/>
              </a:ext>
            </a:extLst>
          </p:cNvPr>
          <p:cNvCxnSpPr>
            <a:cxnSpLocks/>
            <a:stCxn id="8" idx="6"/>
            <a:endCxn id="12" idx="2"/>
          </p:cNvCxnSpPr>
          <p:nvPr/>
        </p:nvCxnSpPr>
        <p:spPr>
          <a:xfrm>
            <a:off x="1415472" y="3501000"/>
            <a:ext cx="0" cy="17282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37" name="Straight Connector 36">
            <a:extLst>
              <a:ext uri="{FF2B5EF4-FFF2-40B4-BE49-F238E27FC236}">
                <a16:creationId xmlns:a16="http://schemas.microsoft.com/office/drawing/2014/main" id="{168E26E6-FCF3-E681-FEED-33EABA2E29FF}"/>
              </a:ext>
            </a:extLst>
          </p:cNvPr>
          <p:cNvCxnSpPr>
            <a:cxnSpLocks/>
            <a:stCxn id="6" idx="5"/>
            <a:endCxn id="8" idx="1"/>
          </p:cNvCxnSpPr>
          <p:nvPr/>
        </p:nvCxnSpPr>
        <p:spPr>
          <a:xfrm flipH="1">
            <a:off x="1466384" y="2543816"/>
            <a:ext cx="834280" cy="8342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2" name="Straight Connector 41">
            <a:extLst>
              <a:ext uri="{FF2B5EF4-FFF2-40B4-BE49-F238E27FC236}">
                <a16:creationId xmlns:a16="http://schemas.microsoft.com/office/drawing/2014/main" id="{2D5EC3E8-E48A-9FCA-0E19-C8AAABFF4687}"/>
              </a:ext>
            </a:extLst>
          </p:cNvPr>
          <p:cNvCxnSpPr>
            <a:cxnSpLocks/>
            <a:stCxn id="17" idx="4"/>
            <a:endCxn id="12" idx="0"/>
          </p:cNvCxnSpPr>
          <p:nvPr/>
        </p:nvCxnSpPr>
        <p:spPr>
          <a:xfrm flipH="1">
            <a:off x="1487472" y="5301200"/>
            <a:ext cx="1728208"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Connector 44">
            <a:extLst>
              <a:ext uri="{FF2B5EF4-FFF2-40B4-BE49-F238E27FC236}">
                <a16:creationId xmlns:a16="http://schemas.microsoft.com/office/drawing/2014/main" id="{2806A578-84C9-B4D5-AE53-EF5AE378D46D}"/>
              </a:ext>
            </a:extLst>
          </p:cNvPr>
          <p:cNvCxnSpPr>
            <a:cxnSpLocks/>
            <a:stCxn id="6" idx="6"/>
            <a:endCxn id="12" idx="1"/>
          </p:cNvCxnSpPr>
          <p:nvPr/>
        </p:nvCxnSpPr>
        <p:spPr>
          <a:xfrm flipH="1">
            <a:off x="1466384" y="2564904"/>
            <a:ext cx="885192" cy="268538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48" name="Straight Connector 47">
            <a:extLst>
              <a:ext uri="{FF2B5EF4-FFF2-40B4-BE49-F238E27FC236}">
                <a16:creationId xmlns:a16="http://schemas.microsoft.com/office/drawing/2014/main" id="{7052DD76-0550-CDF2-B0EB-E5A372B25898}"/>
              </a:ext>
            </a:extLst>
          </p:cNvPr>
          <p:cNvCxnSpPr>
            <a:cxnSpLocks/>
            <a:stCxn id="6" idx="6"/>
            <a:endCxn id="17" idx="3"/>
          </p:cNvCxnSpPr>
          <p:nvPr/>
        </p:nvCxnSpPr>
        <p:spPr>
          <a:xfrm>
            <a:off x="2351576" y="2564904"/>
            <a:ext cx="885192" cy="268538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53" name="Straight Connector 52">
            <a:extLst>
              <a:ext uri="{FF2B5EF4-FFF2-40B4-BE49-F238E27FC236}">
                <a16:creationId xmlns:a16="http://schemas.microsoft.com/office/drawing/2014/main" id="{F62F91E6-D28E-F54C-2281-AB1E88BAF67F}"/>
              </a:ext>
            </a:extLst>
          </p:cNvPr>
          <p:cNvCxnSpPr>
            <a:cxnSpLocks/>
            <a:stCxn id="8" idx="7"/>
            <a:endCxn id="17" idx="3"/>
          </p:cNvCxnSpPr>
          <p:nvPr/>
        </p:nvCxnSpPr>
        <p:spPr>
          <a:xfrm>
            <a:off x="1466384" y="3479912"/>
            <a:ext cx="1770384" cy="17703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65" name="Straight Connector 64">
            <a:extLst>
              <a:ext uri="{FF2B5EF4-FFF2-40B4-BE49-F238E27FC236}">
                <a16:creationId xmlns:a16="http://schemas.microsoft.com/office/drawing/2014/main" id="{6773E0C7-1B69-C426-456C-F208C8A7DF86}"/>
              </a:ext>
            </a:extLst>
          </p:cNvPr>
          <p:cNvCxnSpPr>
            <a:cxnSpLocks/>
            <a:stCxn id="11" idx="5"/>
            <a:endCxn id="12" idx="1"/>
          </p:cNvCxnSpPr>
          <p:nvPr/>
        </p:nvCxnSpPr>
        <p:spPr>
          <a:xfrm flipH="1">
            <a:off x="1466384" y="3479912"/>
            <a:ext cx="1770384" cy="17703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3" name="Straight Connector 82">
            <a:extLst>
              <a:ext uri="{FF2B5EF4-FFF2-40B4-BE49-F238E27FC236}">
                <a16:creationId xmlns:a16="http://schemas.microsoft.com/office/drawing/2014/main" id="{149AB902-E4A4-CA7D-E872-F3F580B106F7}"/>
              </a:ext>
            </a:extLst>
          </p:cNvPr>
          <p:cNvCxnSpPr>
            <a:cxnSpLocks/>
            <a:stCxn id="78" idx="7"/>
            <a:endCxn id="80" idx="3"/>
          </p:cNvCxnSpPr>
          <p:nvPr/>
        </p:nvCxnSpPr>
        <p:spPr>
          <a:xfrm>
            <a:off x="6162094" y="2548752"/>
            <a:ext cx="834280" cy="8342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4" name="Straight Connector 83">
            <a:extLst>
              <a:ext uri="{FF2B5EF4-FFF2-40B4-BE49-F238E27FC236}">
                <a16:creationId xmlns:a16="http://schemas.microsoft.com/office/drawing/2014/main" id="{BC942349-5947-9B91-6E4D-1676EA798CB8}"/>
              </a:ext>
            </a:extLst>
          </p:cNvPr>
          <p:cNvCxnSpPr>
            <a:cxnSpLocks/>
            <a:stCxn id="80" idx="6"/>
            <a:endCxn id="82" idx="2"/>
          </p:cNvCxnSpPr>
          <p:nvPr/>
        </p:nvCxnSpPr>
        <p:spPr>
          <a:xfrm>
            <a:off x="7047286" y="3505936"/>
            <a:ext cx="0" cy="17282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6" name="Straight Connector 85">
            <a:extLst>
              <a:ext uri="{FF2B5EF4-FFF2-40B4-BE49-F238E27FC236}">
                <a16:creationId xmlns:a16="http://schemas.microsoft.com/office/drawing/2014/main" id="{A7E22AAF-5BF0-D5DC-49C7-B86B0299187C}"/>
              </a:ext>
            </a:extLst>
          </p:cNvPr>
          <p:cNvCxnSpPr>
            <a:cxnSpLocks/>
            <a:stCxn id="78" idx="5"/>
            <a:endCxn id="79" idx="1"/>
          </p:cNvCxnSpPr>
          <p:nvPr/>
        </p:nvCxnSpPr>
        <p:spPr>
          <a:xfrm flipH="1">
            <a:off x="5225990" y="2548752"/>
            <a:ext cx="834280" cy="834272"/>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7" name="Straight Connector 86">
            <a:extLst>
              <a:ext uri="{FF2B5EF4-FFF2-40B4-BE49-F238E27FC236}">
                <a16:creationId xmlns:a16="http://schemas.microsoft.com/office/drawing/2014/main" id="{1EE79E52-4357-94B2-7599-702FE36BD54F}"/>
              </a:ext>
            </a:extLst>
          </p:cNvPr>
          <p:cNvCxnSpPr>
            <a:cxnSpLocks/>
            <a:stCxn id="82" idx="4"/>
            <a:endCxn id="81" idx="0"/>
          </p:cNvCxnSpPr>
          <p:nvPr/>
        </p:nvCxnSpPr>
        <p:spPr>
          <a:xfrm flipH="1">
            <a:off x="5247078" y="5306136"/>
            <a:ext cx="1728208"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8" name="Straight Connector 87">
            <a:extLst>
              <a:ext uri="{FF2B5EF4-FFF2-40B4-BE49-F238E27FC236}">
                <a16:creationId xmlns:a16="http://schemas.microsoft.com/office/drawing/2014/main" id="{7A6C656B-A807-C205-11DD-39A1E421D3B1}"/>
              </a:ext>
            </a:extLst>
          </p:cNvPr>
          <p:cNvCxnSpPr>
            <a:cxnSpLocks/>
            <a:stCxn id="78" idx="6"/>
            <a:endCxn id="81" idx="1"/>
          </p:cNvCxnSpPr>
          <p:nvPr/>
        </p:nvCxnSpPr>
        <p:spPr>
          <a:xfrm flipH="1">
            <a:off x="5225990" y="2569840"/>
            <a:ext cx="885192" cy="268538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Straight Connector 88">
            <a:extLst>
              <a:ext uri="{FF2B5EF4-FFF2-40B4-BE49-F238E27FC236}">
                <a16:creationId xmlns:a16="http://schemas.microsoft.com/office/drawing/2014/main" id="{3892A348-2CDF-D185-EEB3-6767DAD864C7}"/>
              </a:ext>
            </a:extLst>
          </p:cNvPr>
          <p:cNvCxnSpPr>
            <a:cxnSpLocks/>
            <a:stCxn id="78" idx="6"/>
            <a:endCxn id="82" idx="3"/>
          </p:cNvCxnSpPr>
          <p:nvPr/>
        </p:nvCxnSpPr>
        <p:spPr>
          <a:xfrm>
            <a:off x="6111182" y="2569840"/>
            <a:ext cx="885192" cy="2685384"/>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0" name="Straight Connector 89">
            <a:extLst>
              <a:ext uri="{FF2B5EF4-FFF2-40B4-BE49-F238E27FC236}">
                <a16:creationId xmlns:a16="http://schemas.microsoft.com/office/drawing/2014/main" id="{B6ECD8BD-F539-D2E9-FB93-6CD98DFC1325}"/>
              </a:ext>
            </a:extLst>
          </p:cNvPr>
          <p:cNvCxnSpPr>
            <a:cxnSpLocks/>
            <a:stCxn id="79" idx="7"/>
            <a:endCxn id="82" idx="3"/>
          </p:cNvCxnSpPr>
          <p:nvPr/>
        </p:nvCxnSpPr>
        <p:spPr>
          <a:xfrm>
            <a:off x="5225990" y="3484848"/>
            <a:ext cx="1770384" cy="17703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2" name="Straight Connector 91">
            <a:extLst>
              <a:ext uri="{FF2B5EF4-FFF2-40B4-BE49-F238E27FC236}">
                <a16:creationId xmlns:a16="http://schemas.microsoft.com/office/drawing/2014/main" id="{64418C1C-2941-0F97-C3AC-A1044ADA1539}"/>
              </a:ext>
            </a:extLst>
          </p:cNvPr>
          <p:cNvCxnSpPr>
            <a:cxnSpLocks/>
            <a:stCxn id="80" idx="5"/>
            <a:endCxn id="81" idx="1"/>
          </p:cNvCxnSpPr>
          <p:nvPr/>
        </p:nvCxnSpPr>
        <p:spPr>
          <a:xfrm flipH="1">
            <a:off x="5225990" y="3484848"/>
            <a:ext cx="1770384" cy="177037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3" name="Straight Connector 92">
            <a:extLst>
              <a:ext uri="{FF2B5EF4-FFF2-40B4-BE49-F238E27FC236}">
                <a16:creationId xmlns:a16="http://schemas.microsoft.com/office/drawing/2014/main" id="{5911EC92-E9B5-9963-0A50-84976F6B15BB}"/>
              </a:ext>
            </a:extLst>
          </p:cNvPr>
          <p:cNvCxnSpPr>
            <a:cxnSpLocks/>
            <a:stCxn id="11" idx="0"/>
            <a:endCxn id="79" idx="4"/>
          </p:cNvCxnSpPr>
          <p:nvPr/>
        </p:nvCxnSpPr>
        <p:spPr>
          <a:xfrm>
            <a:off x="3359680" y="3429000"/>
            <a:ext cx="1743398" cy="49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8" name="Straight Connector 97">
            <a:extLst>
              <a:ext uri="{FF2B5EF4-FFF2-40B4-BE49-F238E27FC236}">
                <a16:creationId xmlns:a16="http://schemas.microsoft.com/office/drawing/2014/main" id="{D2F7AB67-89BC-437C-9CCB-B1DB908672F2}"/>
              </a:ext>
            </a:extLst>
          </p:cNvPr>
          <p:cNvCxnSpPr>
            <a:cxnSpLocks/>
            <a:stCxn id="11" idx="1"/>
            <a:endCxn id="78" idx="4"/>
          </p:cNvCxnSpPr>
          <p:nvPr/>
        </p:nvCxnSpPr>
        <p:spPr>
          <a:xfrm flipV="1">
            <a:off x="3338592" y="2497840"/>
            <a:ext cx="2700590" cy="880248"/>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Straight Connector 98">
            <a:extLst>
              <a:ext uri="{FF2B5EF4-FFF2-40B4-BE49-F238E27FC236}">
                <a16:creationId xmlns:a16="http://schemas.microsoft.com/office/drawing/2014/main" id="{E5DC6C2E-6279-0498-AA07-06E2808C077B}"/>
              </a:ext>
            </a:extLst>
          </p:cNvPr>
          <p:cNvCxnSpPr>
            <a:cxnSpLocks/>
            <a:stCxn id="17" idx="0"/>
            <a:endCxn id="81" idx="4"/>
          </p:cNvCxnSpPr>
          <p:nvPr/>
        </p:nvCxnSpPr>
        <p:spPr>
          <a:xfrm>
            <a:off x="3359680" y="5301200"/>
            <a:ext cx="1743398" cy="4936"/>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6" name="Oval 5">
            <a:extLst>
              <a:ext uri="{FF2B5EF4-FFF2-40B4-BE49-F238E27FC236}">
                <a16:creationId xmlns:a16="http://schemas.microsoft.com/office/drawing/2014/main" id="{AB31B1BF-668F-F499-B539-2410253B7693}"/>
              </a:ext>
            </a:extLst>
          </p:cNvPr>
          <p:cNvSpPr/>
          <p:nvPr/>
        </p:nvSpPr>
        <p:spPr>
          <a:xfrm rot="5400000">
            <a:off x="2279576" y="2420904"/>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 name="Oval 7">
            <a:extLst>
              <a:ext uri="{FF2B5EF4-FFF2-40B4-BE49-F238E27FC236}">
                <a16:creationId xmlns:a16="http://schemas.microsoft.com/office/drawing/2014/main" id="{1059305E-00C6-9E6F-BF6A-911FAD078DC7}"/>
              </a:ext>
            </a:extLst>
          </p:cNvPr>
          <p:cNvSpPr/>
          <p:nvPr/>
        </p:nvSpPr>
        <p:spPr>
          <a:xfrm rot="5400000">
            <a:off x="1343472" y="33570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1" name="Oval 10">
            <a:extLst>
              <a:ext uri="{FF2B5EF4-FFF2-40B4-BE49-F238E27FC236}">
                <a16:creationId xmlns:a16="http://schemas.microsoft.com/office/drawing/2014/main" id="{CFD5D7B1-1C07-562A-B252-A334691ABE0D}"/>
              </a:ext>
            </a:extLst>
          </p:cNvPr>
          <p:cNvSpPr/>
          <p:nvPr/>
        </p:nvSpPr>
        <p:spPr>
          <a:xfrm rot="5400000">
            <a:off x="3215680" y="33570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2" name="Oval 11">
            <a:extLst>
              <a:ext uri="{FF2B5EF4-FFF2-40B4-BE49-F238E27FC236}">
                <a16:creationId xmlns:a16="http://schemas.microsoft.com/office/drawing/2014/main" id="{CBBF12BC-FAB0-070D-9C53-ECD2950CD4CC}"/>
              </a:ext>
            </a:extLst>
          </p:cNvPr>
          <p:cNvSpPr/>
          <p:nvPr/>
        </p:nvSpPr>
        <p:spPr>
          <a:xfrm rot="5400000">
            <a:off x="1343472" y="52292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17" name="Oval 16">
            <a:extLst>
              <a:ext uri="{FF2B5EF4-FFF2-40B4-BE49-F238E27FC236}">
                <a16:creationId xmlns:a16="http://schemas.microsoft.com/office/drawing/2014/main" id="{D26D7A31-087F-E1C5-34DC-117787AD3551}"/>
              </a:ext>
            </a:extLst>
          </p:cNvPr>
          <p:cNvSpPr/>
          <p:nvPr/>
        </p:nvSpPr>
        <p:spPr>
          <a:xfrm rot="5400000">
            <a:off x="3215680" y="522920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58" name="Straight Connector 57">
            <a:extLst>
              <a:ext uri="{FF2B5EF4-FFF2-40B4-BE49-F238E27FC236}">
                <a16:creationId xmlns:a16="http://schemas.microsoft.com/office/drawing/2014/main" id="{02509E1B-96E1-61AE-6F54-B19AD35DF290}"/>
              </a:ext>
            </a:extLst>
          </p:cNvPr>
          <p:cNvCxnSpPr>
            <a:cxnSpLocks/>
            <a:stCxn id="11" idx="4"/>
            <a:endCxn id="8" idx="0"/>
          </p:cNvCxnSpPr>
          <p:nvPr/>
        </p:nvCxnSpPr>
        <p:spPr>
          <a:xfrm flipH="1">
            <a:off x="1487472" y="3429000"/>
            <a:ext cx="1728208"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9" name="Title 1">
            <a:extLst>
              <a:ext uri="{FF2B5EF4-FFF2-40B4-BE49-F238E27FC236}">
                <a16:creationId xmlns:a16="http://schemas.microsoft.com/office/drawing/2014/main" id="{07F9C82F-5D5D-4519-1D49-8B195E0F3420}"/>
              </a:ext>
            </a:extLst>
          </p:cNvPr>
          <p:cNvSpPr txBox="1">
            <a:spLocks/>
          </p:cNvSpPr>
          <p:nvPr/>
        </p:nvSpPr>
        <p:spPr>
          <a:xfrm>
            <a:off x="0" y="0"/>
            <a:ext cx="12192000" cy="711200"/>
          </a:xfrm>
          <a:prstGeom prst="rect">
            <a:avLst/>
          </a:prstGeom>
          <a:solidFill>
            <a:srgbClr val="C0C0C0">
              <a:alpha val="50000"/>
            </a:srgbClr>
          </a:solidFill>
          <a:ln>
            <a:noFill/>
          </a:ln>
        </p:spPr>
        <p:txBody>
          <a:bodyPr lIns="216000" tIns="108000" rIns="216000" bIns="108000">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GB" dirty="0"/>
              <a:t>?</a:t>
            </a:r>
            <a:endParaRPr lang="en-US" dirty="0"/>
          </a:p>
        </p:txBody>
      </p:sp>
      <p:sp>
        <p:nvSpPr>
          <p:cNvPr id="3" name="Content Placeholder 2">
            <a:extLst>
              <a:ext uri="{FF2B5EF4-FFF2-40B4-BE49-F238E27FC236}">
                <a16:creationId xmlns:a16="http://schemas.microsoft.com/office/drawing/2014/main" id="{9AC4399E-D87B-6A91-1A56-88A71F76EB0E}"/>
              </a:ext>
            </a:extLst>
          </p:cNvPr>
          <p:cNvSpPr>
            <a:spLocks noGrp="1"/>
          </p:cNvSpPr>
          <p:nvPr>
            <p:ph idx="1"/>
          </p:nvPr>
        </p:nvSpPr>
        <p:spPr>
          <a:xfrm>
            <a:off x="131180" y="863445"/>
            <a:ext cx="11929641" cy="4653788"/>
          </a:xfrm>
        </p:spPr>
        <p:txBody>
          <a:bodyPr/>
          <a:lstStyle/>
          <a:p>
            <a:pPr marL="0" indent="0">
              <a:buNone/>
            </a:pPr>
            <a:r>
              <a:rPr lang="en-IN" dirty="0">
                <a:solidFill>
                  <a:srgbClr val="FF0000"/>
                </a:solidFill>
              </a:rPr>
              <a:t>? Give an example of graph for which vertex connectivity is 2, edge connectivity is 3 and minimum degree of graph is 4.</a:t>
            </a:r>
          </a:p>
          <a:p>
            <a:endParaRPr lang="en-IN" dirty="0"/>
          </a:p>
        </p:txBody>
      </p:sp>
      <p:sp>
        <p:nvSpPr>
          <p:cNvPr id="78" name="Oval 77">
            <a:extLst>
              <a:ext uri="{FF2B5EF4-FFF2-40B4-BE49-F238E27FC236}">
                <a16:creationId xmlns:a16="http://schemas.microsoft.com/office/drawing/2014/main" id="{C17595DE-94B2-1884-6832-C492E6316692}"/>
              </a:ext>
            </a:extLst>
          </p:cNvPr>
          <p:cNvSpPr/>
          <p:nvPr/>
        </p:nvSpPr>
        <p:spPr>
          <a:xfrm rot="5400000">
            <a:off x="6039182" y="2425840"/>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79" name="Oval 78">
            <a:extLst>
              <a:ext uri="{FF2B5EF4-FFF2-40B4-BE49-F238E27FC236}">
                <a16:creationId xmlns:a16="http://schemas.microsoft.com/office/drawing/2014/main" id="{4EA7F1FE-1058-CCFF-95BE-FDBD78E8F6F4}"/>
              </a:ext>
            </a:extLst>
          </p:cNvPr>
          <p:cNvSpPr/>
          <p:nvPr/>
        </p:nvSpPr>
        <p:spPr>
          <a:xfrm rot="5400000">
            <a:off x="5103078" y="33619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0" name="Oval 79">
            <a:extLst>
              <a:ext uri="{FF2B5EF4-FFF2-40B4-BE49-F238E27FC236}">
                <a16:creationId xmlns:a16="http://schemas.microsoft.com/office/drawing/2014/main" id="{F2F7A926-2B65-328B-4FDE-BDB50990255D}"/>
              </a:ext>
            </a:extLst>
          </p:cNvPr>
          <p:cNvSpPr/>
          <p:nvPr/>
        </p:nvSpPr>
        <p:spPr>
          <a:xfrm rot="5400000">
            <a:off x="6975286" y="33619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1" name="Oval 80">
            <a:extLst>
              <a:ext uri="{FF2B5EF4-FFF2-40B4-BE49-F238E27FC236}">
                <a16:creationId xmlns:a16="http://schemas.microsoft.com/office/drawing/2014/main" id="{C6D355EE-FC6F-6855-0FDA-B07C3CFA4577}"/>
              </a:ext>
            </a:extLst>
          </p:cNvPr>
          <p:cNvSpPr/>
          <p:nvPr/>
        </p:nvSpPr>
        <p:spPr>
          <a:xfrm rot="5400000">
            <a:off x="5103078" y="52341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sp>
        <p:nvSpPr>
          <p:cNvPr id="82" name="Oval 81">
            <a:extLst>
              <a:ext uri="{FF2B5EF4-FFF2-40B4-BE49-F238E27FC236}">
                <a16:creationId xmlns:a16="http://schemas.microsoft.com/office/drawing/2014/main" id="{A56957B5-CD6E-14CA-5010-7AF938EB3659}"/>
              </a:ext>
            </a:extLst>
          </p:cNvPr>
          <p:cNvSpPr/>
          <p:nvPr/>
        </p:nvSpPr>
        <p:spPr>
          <a:xfrm rot="5400000">
            <a:off x="6975286" y="5234136"/>
            <a:ext cx="144000" cy="1440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n>
                <a:solidFill>
                  <a:schemeClr val="tx1"/>
                </a:solidFill>
              </a:ln>
            </a:endParaRPr>
          </a:p>
        </p:txBody>
      </p:sp>
      <p:cxnSp>
        <p:nvCxnSpPr>
          <p:cNvPr id="85" name="Straight Connector 84">
            <a:extLst>
              <a:ext uri="{FF2B5EF4-FFF2-40B4-BE49-F238E27FC236}">
                <a16:creationId xmlns:a16="http://schemas.microsoft.com/office/drawing/2014/main" id="{781802E8-3470-2FFB-B545-AEDF67E9A3DD}"/>
              </a:ext>
            </a:extLst>
          </p:cNvPr>
          <p:cNvCxnSpPr>
            <a:cxnSpLocks/>
            <a:stCxn id="79" idx="6"/>
            <a:endCxn id="81" idx="2"/>
          </p:cNvCxnSpPr>
          <p:nvPr/>
        </p:nvCxnSpPr>
        <p:spPr>
          <a:xfrm>
            <a:off x="5175078" y="3505936"/>
            <a:ext cx="0" cy="172820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91" name="Straight Connector 90">
            <a:extLst>
              <a:ext uri="{FF2B5EF4-FFF2-40B4-BE49-F238E27FC236}">
                <a16:creationId xmlns:a16="http://schemas.microsoft.com/office/drawing/2014/main" id="{05613842-BA88-B93A-DD01-944B03022190}"/>
              </a:ext>
            </a:extLst>
          </p:cNvPr>
          <p:cNvCxnSpPr>
            <a:cxnSpLocks/>
            <a:stCxn id="80" idx="4"/>
            <a:endCxn id="79" idx="0"/>
          </p:cNvCxnSpPr>
          <p:nvPr/>
        </p:nvCxnSpPr>
        <p:spPr>
          <a:xfrm flipH="1">
            <a:off x="5247078" y="3433936"/>
            <a:ext cx="1728208" cy="0"/>
          </a:xfrm>
          <a:prstGeom prst="lin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09" name="Arc 108">
            <a:extLst>
              <a:ext uri="{FF2B5EF4-FFF2-40B4-BE49-F238E27FC236}">
                <a16:creationId xmlns:a16="http://schemas.microsoft.com/office/drawing/2014/main" id="{71C92C3F-1669-2139-D686-2DD50493CEAD}"/>
              </a:ext>
            </a:extLst>
          </p:cNvPr>
          <p:cNvSpPr/>
          <p:nvPr/>
        </p:nvSpPr>
        <p:spPr>
          <a:xfrm rot="6795571">
            <a:off x="2781499" y="3477135"/>
            <a:ext cx="3347888" cy="1115947"/>
          </a:xfrm>
          <a:prstGeom prst="arc">
            <a:avLst>
              <a:gd name="adj1" fmla="val 71261"/>
              <a:gd name="adj2" fmla="val 10646805"/>
            </a:avLst>
          </a:prstGeom>
          <a:noFill/>
          <a:ln w="76200">
            <a:solidFill>
              <a:srgbClr val="3D0FE7"/>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3" name="TextBox 112">
            <a:extLst>
              <a:ext uri="{FF2B5EF4-FFF2-40B4-BE49-F238E27FC236}">
                <a16:creationId xmlns:a16="http://schemas.microsoft.com/office/drawing/2014/main" id="{E9BAB2C6-11ED-7E98-41B2-C5D96A0F2398}"/>
              </a:ext>
            </a:extLst>
          </p:cNvPr>
          <p:cNvSpPr txBox="1"/>
          <p:nvPr/>
        </p:nvSpPr>
        <p:spPr>
          <a:xfrm>
            <a:off x="7611837" y="2494717"/>
            <a:ext cx="3414717" cy="523220"/>
          </a:xfrm>
          <a:prstGeom prst="rect">
            <a:avLst/>
          </a:prstGeom>
          <a:noFill/>
        </p:spPr>
        <p:txBody>
          <a:bodyPr wrap="none" rtlCol="0">
            <a:spAutoFit/>
          </a:bodyPr>
          <a:lstStyle/>
          <a:p>
            <a:r>
              <a:rPr lang="en-IN" sz="2800" b="1" dirty="0"/>
              <a:t>Edge connectivity is 3 </a:t>
            </a:r>
          </a:p>
        </p:txBody>
      </p:sp>
      <p:sp>
        <p:nvSpPr>
          <p:cNvPr id="114" name="TextBox 113">
            <a:extLst>
              <a:ext uri="{FF2B5EF4-FFF2-40B4-BE49-F238E27FC236}">
                <a16:creationId xmlns:a16="http://schemas.microsoft.com/office/drawing/2014/main" id="{0080B109-9591-C842-D73D-8E3B2D0BDC76}"/>
              </a:ext>
            </a:extLst>
          </p:cNvPr>
          <p:cNvSpPr txBox="1"/>
          <p:nvPr/>
        </p:nvSpPr>
        <p:spPr>
          <a:xfrm>
            <a:off x="7611837" y="3196612"/>
            <a:ext cx="3565400" cy="523220"/>
          </a:xfrm>
          <a:prstGeom prst="rect">
            <a:avLst/>
          </a:prstGeom>
          <a:noFill/>
        </p:spPr>
        <p:txBody>
          <a:bodyPr wrap="none" rtlCol="0">
            <a:spAutoFit/>
          </a:bodyPr>
          <a:lstStyle/>
          <a:p>
            <a:r>
              <a:rPr lang="en-IN" sz="2800" b="1" dirty="0"/>
              <a:t>Vertex connectivity is 2</a:t>
            </a:r>
          </a:p>
        </p:txBody>
      </p:sp>
      <p:sp>
        <p:nvSpPr>
          <p:cNvPr id="116" name="TextBox 115">
            <a:extLst>
              <a:ext uri="{FF2B5EF4-FFF2-40B4-BE49-F238E27FC236}">
                <a16:creationId xmlns:a16="http://schemas.microsoft.com/office/drawing/2014/main" id="{33742F20-1588-8085-2349-7C1A43E88F35}"/>
              </a:ext>
            </a:extLst>
          </p:cNvPr>
          <p:cNvSpPr txBox="1"/>
          <p:nvPr/>
        </p:nvSpPr>
        <p:spPr>
          <a:xfrm>
            <a:off x="1883524" y="5738202"/>
            <a:ext cx="4486832" cy="523220"/>
          </a:xfrm>
          <a:prstGeom prst="rect">
            <a:avLst/>
          </a:prstGeom>
          <a:noFill/>
        </p:spPr>
        <p:txBody>
          <a:bodyPr wrap="square">
            <a:spAutoFit/>
          </a:bodyPr>
          <a:lstStyle/>
          <a:p>
            <a:pPr marL="0" indent="0" algn="ctr">
              <a:buNone/>
            </a:pPr>
            <a:r>
              <a:rPr lang="en-US" sz="2800" b="1" dirty="0"/>
              <a:t>Minimum degree of graph is 4</a:t>
            </a:r>
            <a:endParaRPr lang="en-IN" sz="2800" b="1" dirty="0"/>
          </a:p>
        </p:txBody>
      </p:sp>
    </p:spTree>
    <p:extLst>
      <p:ext uri="{BB962C8B-B14F-4D97-AF65-F5344CB8AC3E}">
        <p14:creationId xmlns:p14="http://schemas.microsoft.com/office/powerpoint/2010/main" val="75770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6"/>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8"/>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2"/>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8"/>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2"/>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1"/>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1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22" presetClass="entr" presetSubtype="1" fill="hold" grpId="0" nodeType="clickEffect">
                                  <p:stCondLst>
                                    <p:cond delay="0"/>
                                  </p:stCondLst>
                                  <p:childTnLst>
                                    <p:set>
                                      <p:cBhvr>
                                        <p:cTn id="80" dur="1" fill="hold">
                                          <p:stCondLst>
                                            <p:cond delay="0"/>
                                          </p:stCondLst>
                                        </p:cTn>
                                        <p:tgtEl>
                                          <p:spTgt spid="109"/>
                                        </p:tgtEl>
                                        <p:attrNameLst>
                                          <p:attrName>style.visibility</p:attrName>
                                        </p:attrNameLst>
                                      </p:cBhvr>
                                      <p:to>
                                        <p:strVal val="visible"/>
                                      </p:to>
                                    </p:set>
                                    <p:animEffect transition="in" filter="wipe(up)">
                                      <p:cBhvr>
                                        <p:cTn id="81" dur="500"/>
                                        <p:tgtEl>
                                          <p:spTgt spid="109"/>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113"/>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9" presetClass="emph" presetSubtype="0" fill="hold" grpId="0" nodeType="clickEffect">
                                  <p:stCondLst>
                                    <p:cond delay="0"/>
                                  </p:stCondLst>
                                  <p:childTnLst>
                                    <p:animClr clrSpc="rgb" dir="cw">
                                      <p:cBhvr override="childStyle">
                                        <p:cTn id="89" dur="500" fill="hold"/>
                                        <p:tgtEl>
                                          <p:spTgt spid="11"/>
                                        </p:tgtEl>
                                        <p:attrNameLst>
                                          <p:attrName>style.color</p:attrName>
                                        </p:attrNameLst>
                                      </p:cBhvr>
                                      <p:to>
                                        <a:schemeClr val="accent2"/>
                                      </p:to>
                                    </p:animClr>
                                    <p:animClr clrSpc="rgb" dir="cw">
                                      <p:cBhvr>
                                        <p:cTn id="90" dur="500" fill="hold"/>
                                        <p:tgtEl>
                                          <p:spTgt spid="11"/>
                                        </p:tgtEl>
                                        <p:attrNameLst>
                                          <p:attrName>fillcolor</p:attrName>
                                        </p:attrNameLst>
                                      </p:cBhvr>
                                      <p:to>
                                        <a:schemeClr val="accent2"/>
                                      </p:to>
                                    </p:animClr>
                                    <p:set>
                                      <p:cBhvr>
                                        <p:cTn id="91" dur="500" fill="hold"/>
                                        <p:tgtEl>
                                          <p:spTgt spid="11"/>
                                        </p:tgtEl>
                                        <p:attrNameLst>
                                          <p:attrName>fill.type</p:attrName>
                                        </p:attrNameLst>
                                      </p:cBhvr>
                                      <p:to>
                                        <p:strVal val="solid"/>
                                      </p:to>
                                    </p:set>
                                    <p:set>
                                      <p:cBhvr>
                                        <p:cTn id="92" dur="500" fill="hold"/>
                                        <p:tgtEl>
                                          <p:spTgt spid="11"/>
                                        </p:tgtEl>
                                        <p:attrNameLst>
                                          <p:attrName>fill.on</p:attrName>
                                        </p:attrNameLst>
                                      </p:cBhvr>
                                      <p:to>
                                        <p:strVal val="true"/>
                                      </p:to>
                                    </p:set>
                                  </p:childTnLst>
                                </p:cTn>
                              </p:par>
                              <p:par>
                                <p:cTn id="93" presetID="19" presetClass="emph" presetSubtype="0" fill="hold" grpId="0" nodeType="withEffect">
                                  <p:stCondLst>
                                    <p:cond delay="0"/>
                                  </p:stCondLst>
                                  <p:childTnLst>
                                    <p:animClr clrSpc="rgb" dir="cw">
                                      <p:cBhvr override="childStyle">
                                        <p:cTn id="94" dur="500" fill="hold"/>
                                        <p:tgtEl>
                                          <p:spTgt spid="17"/>
                                        </p:tgtEl>
                                        <p:attrNameLst>
                                          <p:attrName>style.color</p:attrName>
                                        </p:attrNameLst>
                                      </p:cBhvr>
                                      <p:to>
                                        <a:schemeClr val="accent2"/>
                                      </p:to>
                                    </p:animClr>
                                    <p:animClr clrSpc="rgb" dir="cw">
                                      <p:cBhvr>
                                        <p:cTn id="95" dur="500" fill="hold"/>
                                        <p:tgtEl>
                                          <p:spTgt spid="17"/>
                                        </p:tgtEl>
                                        <p:attrNameLst>
                                          <p:attrName>fillcolor</p:attrName>
                                        </p:attrNameLst>
                                      </p:cBhvr>
                                      <p:to>
                                        <a:schemeClr val="accent2"/>
                                      </p:to>
                                    </p:animClr>
                                    <p:set>
                                      <p:cBhvr>
                                        <p:cTn id="96" dur="500" fill="hold"/>
                                        <p:tgtEl>
                                          <p:spTgt spid="17"/>
                                        </p:tgtEl>
                                        <p:attrNameLst>
                                          <p:attrName>fill.type</p:attrName>
                                        </p:attrNameLst>
                                      </p:cBhvr>
                                      <p:to>
                                        <p:strVal val="solid"/>
                                      </p:to>
                                    </p:set>
                                    <p:set>
                                      <p:cBhvr>
                                        <p:cTn id="97" dur="500" fill="hold"/>
                                        <p:tgtEl>
                                          <p:spTgt spid="17"/>
                                        </p:tgtEl>
                                        <p:attrNameLst>
                                          <p:attrName>fill.on</p:attrName>
                                        </p:attrNameLst>
                                      </p:cBhvr>
                                      <p:to>
                                        <p:strVal val="tru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grpId="0" nodeType="clickEffect">
                                  <p:stCondLst>
                                    <p:cond delay="0"/>
                                  </p:stCondLst>
                                  <p:childTnLst>
                                    <p:set>
                                      <p:cBhvr>
                                        <p:cTn id="101"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1" grpId="0" animBg="1"/>
      <p:bldP spid="11" grpId="1" animBg="1"/>
      <p:bldP spid="12" grpId="0" animBg="1"/>
      <p:bldP spid="17" grpId="0" animBg="1"/>
      <p:bldP spid="17" grpId="1" animBg="1"/>
      <p:bldP spid="78" grpId="0" animBg="1"/>
      <p:bldP spid="79" grpId="0" animBg="1"/>
      <p:bldP spid="80" grpId="0" animBg="1"/>
      <p:bldP spid="81" grpId="0" animBg="1"/>
      <p:bldP spid="82" grpId="0" animBg="1"/>
      <p:bldP spid="109" grpId="0" animBg="1"/>
      <p:bldP spid="113" grpId="0"/>
      <p:bldP spid="114" grpId="0"/>
      <p:bldP spid="11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05EEC38D-B69A-4F45-9CFB-3F832F2054F3}"/>
              </a:ext>
            </a:extLst>
          </p:cNvPr>
          <p:cNvSpPr>
            <a:spLocks noGrp="1"/>
          </p:cNvSpPr>
          <p:nvPr>
            <p:ph type="body" sz="quarter" idx="11"/>
          </p:nvPr>
        </p:nvSpPr>
        <p:spPr/>
        <p:txBody>
          <a:bodyPr/>
          <a:lstStyle/>
          <a:p>
            <a:r>
              <a:rPr lang="en-US" dirty="0"/>
              <a:t>punit.vadher@darshan.ac.in</a:t>
            </a:r>
          </a:p>
        </p:txBody>
      </p:sp>
      <p:sp>
        <p:nvSpPr>
          <p:cNvPr id="17" name="Text Placeholder 16">
            <a:extLst>
              <a:ext uri="{FF2B5EF4-FFF2-40B4-BE49-F238E27FC236}">
                <a16:creationId xmlns:a16="http://schemas.microsoft.com/office/drawing/2014/main" id="{3B892750-977A-4A19-B627-46C829D9CDA2}"/>
              </a:ext>
            </a:extLst>
          </p:cNvPr>
          <p:cNvSpPr>
            <a:spLocks noGrp="1"/>
          </p:cNvSpPr>
          <p:nvPr>
            <p:ph type="body" sz="quarter" idx="12"/>
          </p:nvPr>
        </p:nvSpPr>
        <p:spPr/>
        <p:txBody>
          <a:bodyPr/>
          <a:lstStyle/>
          <a:p>
            <a:r>
              <a:rPr lang="en-US" dirty="0"/>
              <a:t>9662443859</a:t>
            </a:r>
          </a:p>
        </p:txBody>
      </p:sp>
      <p:sp>
        <p:nvSpPr>
          <p:cNvPr id="18" name="Text Placeholder 17">
            <a:extLst>
              <a:ext uri="{FF2B5EF4-FFF2-40B4-BE49-F238E27FC236}">
                <a16:creationId xmlns:a16="http://schemas.microsoft.com/office/drawing/2014/main" id="{DDD3C75D-9CAD-401D-B6F2-D687EEC3CDEC}"/>
              </a:ext>
            </a:extLst>
          </p:cNvPr>
          <p:cNvSpPr>
            <a:spLocks noGrp="1"/>
          </p:cNvSpPr>
          <p:nvPr>
            <p:ph type="body" sz="quarter" idx="13"/>
          </p:nvPr>
        </p:nvSpPr>
        <p:spPr/>
        <p:txBody>
          <a:bodyPr/>
          <a:lstStyle/>
          <a:p>
            <a:r>
              <a:rPr lang="en-US"/>
              <a:t>Department of Humanities &amp; Science</a:t>
            </a:r>
            <a:endParaRPr lang="en-US" dirty="0"/>
          </a:p>
        </p:txBody>
      </p:sp>
      <p:sp>
        <p:nvSpPr>
          <p:cNvPr id="19" name="Text Placeholder 18">
            <a:extLst>
              <a:ext uri="{FF2B5EF4-FFF2-40B4-BE49-F238E27FC236}">
                <a16:creationId xmlns:a16="http://schemas.microsoft.com/office/drawing/2014/main" id="{D6DA44CB-50AE-4D51-AC18-616176252887}"/>
              </a:ext>
            </a:extLst>
          </p:cNvPr>
          <p:cNvSpPr>
            <a:spLocks noGrp="1"/>
          </p:cNvSpPr>
          <p:nvPr>
            <p:ph type="body" sz="quarter" idx="14"/>
          </p:nvPr>
        </p:nvSpPr>
        <p:spPr/>
        <p:txBody>
          <a:bodyPr/>
          <a:lstStyle/>
          <a:p>
            <a:r>
              <a:rPr lang="en-US" dirty="0"/>
              <a:t>Prof. </a:t>
            </a:r>
            <a:r>
              <a:rPr lang="en-US" dirty="0" err="1"/>
              <a:t>Punit</a:t>
            </a:r>
            <a:r>
              <a:rPr lang="en-US" dirty="0"/>
              <a:t> </a:t>
            </a:r>
            <a:r>
              <a:rPr lang="en-US" dirty="0" err="1"/>
              <a:t>Vadher</a:t>
            </a:r>
            <a:endParaRPr lang="en-US" dirty="0"/>
          </a:p>
        </p:txBody>
      </p:sp>
      <mc:AlternateContent xmlns:mc="http://schemas.openxmlformats.org/markup-compatibility/2006" xmlns:a14="http://schemas.microsoft.com/office/drawing/2010/main">
        <mc:Choice Requires="a14">
          <p:sp>
            <p:nvSpPr>
              <p:cNvPr id="20" name="Text Placeholder 19">
                <a:extLst>
                  <a:ext uri="{FF2B5EF4-FFF2-40B4-BE49-F238E27FC236}">
                    <a16:creationId xmlns:a16="http://schemas.microsoft.com/office/drawing/2014/main" id="{FF5B8673-7BA1-4EA7-991A-5F4DCD3054D0}"/>
                  </a:ext>
                </a:extLst>
              </p:cNvPr>
              <p:cNvSpPr>
                <a:spLocks noGrp="1"/>
              </p:cNvSpPr>
              <p:nvPr>
                <p:ph type="body" sz="quarter" idx="16"/>
              </p:nvPr>
            </p:nvSpPr>
            <p:spPr/>
            <p:txBody>
              <a:bodyPr/>
              <a:lstStyle/>
              <a:p>
                <a:pPr>
                  <a:lnSpc>
                    <a:spcPct val="100000"/>
                  </a:lnSpc>
                </a:pPr>
                <a:r>
                  <a:rPr lang="en-US" dirty="0"/>
                  <a:t>B.Tech. </a:t>
                </a:r>
                <a14:m>
                  <m:oMath xmlns:m="http://schemas.openxmlformats.org/officeDocument/2006/math">
                    <m:r>
                      <a:rPr lang="en-US" i="1" dirty="0">
                        <a:latin typeface="Cambria Math" panose="02040503050406030204" pitchFamily="18" charset="0"/>
                      </a:rPr>
                      <m:t>→</m:t>
                    </m:r>
                    <m:r>
                      <a:rPr lang="en-US" b="0" i="0" dirty="0" smtClean="0">
                        <a:latin typeface="Cambria Math" panose="02040503050406030204" pitchFamily="18" charset="0"/>
                      </a:rPr>
                      <m:t>5</m:t>
                    </m:r>
                  </m:oMath>
                </a14:m>
                <a:r>
                  <a:rPr lang="en-US" baseline="30000" dirty="0"/>
                  <a:t>th</a:t>
                </a:r>
                <a:r>
                  <a:rPr lang="en-US" dirty="0"/>
                  <a:t>  Semester</a:t>
                </a:r>
              </a:p>
              <a:p>
                <a:pPr>
                  <a:lnSpc>
                    <a:spcPct val="125000"/>
                  </a:lnSpc>
                </a:pPr>
                <a:r>
                  <a:rPr lang="en-US" b="1" dirty="0"/>
                  <a:t> Graph Theory (</a:t>
                </a:r>
                <a:r>
                  <a:rPr lang="en-US" dirty="0"/>
                  <a:t>2301CS595</a:t>
                </a:r>
                <a:r>
                  <a:rPr lang="en-US" b="1" dirty="0"/>
                  <a:t>)</a:t>
                </a:r>
              </a:p>
            </p:txBody>
          </p:sp>
        </mc:Choice>
        <mc:Fallback xmlns="">
          <p:sp>
            <p:nvSpPr>
              <p:cNvPr id="20" name="Text Placeholder 19">
                <a:extLst>
                  <a:ext uri="{FF2B5EF4-FFF2-40B4-BE49-F238E27FC236}">
                    <a16:creationId xmlns="" xmlns:a16="http://schemas.microsoft.com/office/drawing/2014/main" xmlns:a14="http://schemas.microsoft.com/office/drawing/2010/main" id="{FF5B8673-7BA1-4EA7-991A-5F4DCD3054D0}"/>
                  </a:ext>
                </a:extLst>
              </p:cNvPr>
              <p:cNvSpPr>
                <a:spLocks noGrp="1" noRot="1" noChangeAspect="1" noMove="1" noResize="1" noEditPoints="1" noAdjustHandles="1" noChangeArrowheads="1" noChangeShapeType="1" noTextEdit="1"/>
              </p:cNvSpPr>
              <p:nvPr>
                <p:ph type="body" sz="quarter" idx="16"/>
              </p:nvPr>
            </p:nvSpPr>
            <p:spPr>
              <a:blipFill rotWithShape="0">
                <a:blip r:embed="rId2"/>
                <a:stretch>
                  <a:fillRect t="-1653" b="-7438"/>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9677FDF1-46E9-47E1-A974-B878D8645D19}"/>
              </a:ext>
            </a:extLst>
          </p:cNvPr>
          <p:cNvGrpSpPr/>
          <p:nvPr/>
        </p:nvGrpSpPr>
        <p:grpSpPr>
          <a:xfrm>
            <a:off x="26704" y="1462475"/>
            <a:ext cx="8044476" cy="3103418"/>
            <a:chOff x="-12804" y="1537545"/>
            <a:chExt cx="8044476" cy="3103418"/>
          </a:xfrm>
        </p:grpSpPr>
        <p:sp>
          <p:nvSpPr>
            <p:cNvPr id="21" name="Title 1">
              <a:extLst>
                <a:ext uri="{FF2B5EF4-FFF2-40B4-BE49-F238E27FC236}">
                  <a16:creationId xmlns:a16="http://schemas.microsoft.com/office/drawing/2014/main" id="{CA4DBECA-252D-4599-A864-6399BFFEB65B}"/>
                </a:ext>
              </a:extLst>
            </p:cNvPr>
            <p:cNvSpPr txBox="1">
              <a:spLocks/>
            </p:cNvSpPr>
            <p:nvPr/>
          </p:nvSpPr>
          <p:spPr>
            <a:xfrm>
              <a:off x="-12804" y="2160999"/>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sp>
          <p:nvSpPr>
            <p:cNvPr id="22" name="Hexagon 21">
              <a:extLst>
                <a:ext uri="{FF2B5EF4-FFF2-40B4-BE49-F238E27FC236}">
                  <a16:creationId xmlns:a16="http://schemas.microsoft.com/office/drawing/2014/main" id="{FB21F4C4-30D4-4011-8510-CF20FEFC370B}"/>
                </a:ext>
              </a:extLst>
            </p:cNvPr>
            <p:cNvSpPr/>
            <p:nvPr/>
          </p:nvSpPr>
          <p:spPr>
            <a:xfrm rot="5400000">
              <a:off x="2457725" y="1742096"/>
              <a:ext cx="3103418" cy="2694316"/>
            </a:xfrm>
            <a:prstGeom prst="hexagon">
              <a:avLst/>
            </a:prstGeom>
            <a:noFill/>
            <a:ln w="571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GB" sz="4400" b="1" dirty="0">
                  <a:solidFill>
                    <a:srgbClr val="0690DF"/>
                  </a:solidFill>
                </a:rPr>
                <a:t>THANK YOU</a:t>
              </a:r>
            </a:p>
          </p:txBody>
        </p:sp>
        <p:sp>
          <p:nvSpPr>
            <p:cNvPr id="23" name="Title 1">
              <a:extLst>
                <a:ext uri="{FF2B5EF4-FFF2-40B4-BE49-F238E27FC236}">
                  <a16:creationId xmlns:a16="http://schemas.microsoft.com/office/drawing/2014/main" id="{96D0D2A0-7D7D-452B-9ADA-174886259D92}"/>
                </a:ext>
              </a:extLst>
            </p:cNvPr>
            <p:cNvSpPr txBox="1">
              <a:spLocks/>
            </p:cNvSpPr>
            <p:nvPr/>
          </p:nvSpPr>
          <p:spPr>
            <a:xfrm rot="10800000">
              <a:off x="5437112" y="2160998"/>
              <a:ext cx="2594560" cy="1856509"/>
            </a:xfrm>
            <a:prstGeom prst="rect">
              <a:avLst/>
            </a:prstGeom>
            <a:solidFill>
              <a:schemeClr val="accent1">
                <a:lumMod val="40000"/>
                <a:lumOff val="60000"/>
              </a:schemeClr>
            </a:solidFill>
            <a:ln>
              <a:noFill/>
            </a:ln>
          </p:spPr>
          <p:txBody>
            <a:bodyPr vert="horz" wrap="square" lIns="91440" tIns="45720" rIns="91440" bIns="45720" numCol="1" anchor="t" anchorCtr="0" compatLnSpc="1">
              <a:prstTxWarp prst="textNoShape">
                <a:avLst/>
              </a:prstTxWarp>
            </a:bodyPr>
            <a:lstStyle>
              <a:defPPr>
                <a:defRPr lang="en-US"/>
              </a:defPPr>
              <a:lvl1pPr lvl="0"/>
            </a:lstStyle>
            <a:p>
              <a:r>
                <a:rPr lang="en-GB" dirty="0">
                  <a:solidFill>
                    <a:srgbClr val="ED524F"/>
                  </a:solidFill>
                </a:rPr>
                <a:t> </a:t>
              </a:r>
            </a:p>
          </p:txBody>
        </p:sp>
      </p:grpSp>
      <p:pic>
        <p:nvPicPr>
          <p:cNvPr id="5" name="Picture Placeholder 4"/>
          <p:cNvPicPr>
            <a:picLocks noGrp="1" noChangeAspect="1"/>
          </p:cNvPicPr>
          <p:nvPr>
            <p:ph type="pic" sz="quarter" idx="10"/>
          </p:nvPr>
        </p:nvPicPr>
        <p:blipFill>
          <a:blip r:embed="rId3" cstate="print">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093637412"/>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37310</TotalTime>
  <Words>6360</Words>
  <Application>Microsoft Office PowerPoint</Application>
  <PresentationFormat>Widescreen</PresentationFormat>
  <Paragraphs>1115</Paragraphs>
  <Slides>95</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95</vt:i4>
      </vt:variant>
    </vt:vector>
  </HeadingPairs>
  <TitlesOfParts>
    <vt:vector size="107" baseType="lpstr">
      <vt:lpstr>Wingdings</vt:lpstr>
      <vt:lpstr>Arial</vt:lpstr>
      <vt:lpstr>Roboto Condensed</vt:lpstr>
      <vt:lpstr>Wingdings 3</vt:lpstr>
      <vt:lpstr>Calibri Light</vt:lpstr>
      <vt:lpstr>Calibri</vt:lpstr>
      <vt:lpstr>Roboto Condensed Light</vt:lpstr>
      <vt:lpstr>Cambria</vt:lpstr>
      <vt:lpstr>Cambria Math</vt:lpstr>
      <vt:lpstr>Office Theme</vt:lpstr>
      <vt:lpstr>1_Custom Design</vt:lpstr>
      <vt:lpstr>Custom Design</vt:lpstr>
      <vt:lpstr>Unit – 2 Cut-Sets &amp; Connectivity</vt:lpstr>
      <vt:lpstr>PowerPoint Presentation</vt:lpstr>
      <vt:lpstr>Brief Introduction </vt:lpstr>
      <vt:lpstr>Unit Overview</vt:lpstr>
      <vt:lpstr>Method – 1 Introduction and Properties </vt:lpstr>
      <vt:lpstr>Cut-sets</vt:lpstr>
      <vt:lpstr>Cut-sets</vt:lpstr>
      <vt:lpstr>Observation </vt:lpstr>
      <vt:lpstr>Properties</vt:lpstr>
      <vt:lpstr>Why </vt:lpstr>
      <vt:lpstr>Why </vt:lpstr>
      <vt:lpstr>PowerPoint Presentation</vt:lpstr>
      <vt:lpstr>Examples of Method-1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 – 2 Fundamental Cut-Sets with respect to a spanning tree</vt:lpstr>
      <vt:lpstr>Fundamental cut-set</vt:lpstr>
      <vt:lpstr>Fundamental cut-set</vt:lpstr>
      <vt:lpstr>Fundamental cut-set</vt:lpstr>
      <vt:lpstr>Fundamental cut-set</vt:lpstr>
      <vt:lpstr>What Happened if we change spanning tree </vt:lpstr>
      <vt:lpstr>Remarks</vt:lpstr>
      <vt:lpstr>Examples of Method-2</vt:lpstr>
      <vt:lpstr>PowerPoint Presentation</vt:lpstr>
      <vt:lpstr>PowerPoint Presentation</vt:lpstr>
      <vt:lpstr>Method 2 ⇝ Example 2(Cont.)</vt:lpstr>
      <vt:lpstr>PowerPoint Presentation</vt:lpstr>
      <vt:lpstr>PowerPoint Presentation</vt:lpstr>
      <vt:lpstr>PowerPoint Presentation</vt:lpstr>
      <vt:lpstr>PowerPoint Presentation</vt:lpstr>
      <vt:lpstr>Method – 3 Relationship between Fundamental Cut-Set and Fundamental Circuit</vt:lpstr>
      <vt:lpstr>Relationship: Fundamental Circuits vs Cut-Sets</vt:lpstr>
      <vt:lpstr>Relationship: Chord &amp; Fundamental Cut-Sets</vt:lpstr>
      <vt:lpstr>Relationship: Chord &amp; Fundamental Cut-Sets</vt:lpstr>
      <vt:lpstr>Relationship: Branch &amp; Fundamental Circuits</vt:lpstr>
      <vt:lpstr>Relationship: Branch &amp; Fundamental Circuits</vt:lpstr>
      <vt:lpstr>Relationship: Branch &amp; Fundamental Circuits</vt:lpstr>
      <vt:lpstr>For you ?</vt:lpstr>
      <vt:lpstr>For you ?</vt:lpstr>
      <vt:lpstr>Examples of Method-3</vt:lpstr>
      <vt:lpstr>PowerPoint Presentation</vt:lpstr>
      <vt:lpstr>PowerPoint Presentation</vt:lpstr>
      <vt:lpstr>PowerPoint Presentation</vt:lpstr>
      <vt:lpstr>PowerPoint Presentation</vt:lpstr>
      <vt:lpstr>Method – 4 Connectivity and Separability</vt:lpstr>
      <vt:lpstr>Connectivity </vt:lpstr>
      <vt:lpstr>Find The edge connectivity of following graph.</vt:lpstr>
      <vt:lpstr>Solution</vt:lpstr>
      <vt:lpstr>Solution</vt:lpstr>
      <vt:lpstr>The edge connectivity of a tree, is one. </vt:lpstr>
      <vt:lpstr>Vertex Connectivity </vt:lpstr>
      <vt:lpstr>Find the vertex connectivity of following graph</vt:lpstr>
      <vt:lpstr>Find the vertex connectivity of following graph</vt:lpstr>
      <vt:lpstr>Find the vertex connectivity of following graph</vt:lpstr>
      <vt:lpstr>Separable </vt:lpstr>
      <vt:lpstr>What do you think will happen if I remove a vertex from a graph?</vt:lpstr>
      <vt:lpstr>What happen if I remove a edge from a graph?</vt:lpstr>
      <vt:lpstr>Remarks:</vt:lpstr>
      <vt:lpstr>Examples of Method-4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Vasudev </cp:lastModifiedBy>
  <cp:revision>967</cp:revision>
  <dcterms:created xsi:type="dcterms:W3CDTF">2020-05-01T05:09:15Z</dcterms:created>
  <dcterms:modified xsi:type="dcterms:W3CDTF">2026-07-15T08:01:59Z</dcterms:modified>
</cp:coreProperties>
</file>